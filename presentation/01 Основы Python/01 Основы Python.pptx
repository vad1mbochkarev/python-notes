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sldIdLst>
    <p:sldId id="256" r:id="rId3"/>
    <p:sldId id="257" r:id="rId4"/>
    <p:sldId id="258" r:id="rId5"/>
    <p:sldId id="259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77" r:id="rId24"/>
    <p:sldId id="348" r:id="rId25"/>
    <p:sldId id="349" r:id="rId26"/>
    <p:sldId id="350" r:id="rId27"/>
    <p:sldId id="351" r:id="rId28"/>
    <p:sldId id="352" r:id="rId29"/>
    <p:sldId id="353" r:id="rId30"/>
    <p:sldId id="378" r:id="rId31"/>
    <p:sldId id="354" r:id="rId32"/>
    <p:sldId id="355" r:id="rId33"/>
    <p:sldId id="379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80" r:id="rId44"/>
    <p:sldId id="366" r:id="rId45"/>
    <p:sldId id="367" r:id="rId46"/>
    <p:sldId id="368" r:id="rId47"/>
    <p:sldId id="369" r:id="rId48"/>
    <p:sldId id="370" r:id="rId49"/>
    <p:sldId id="371" r:id="rId50"/>
    <p:sldId id="372" r:id="rId51"/>
    <p:sldId id="373" r:id="rId52"/>
    <p:sldId id="374" r:id="rId53"/>
    <p:sldId id="375" r:id="rId54"/>
    <p:sldId id="381" r:id="rId55"/>
    <p:sldId id="382" r:id="rId56"/>
    <p:sldId id="383" r:id="rId57"/>
    <p:sldId id="384" r:id="rId58"/>
    <p:sldId id="385" r:id="rId59"/>
    <p:sldId id="386" r:id="rId60"/>
    <p:sldId id="387" r:id="rId61"/>
    <p:sldId id="388" r:id="rId62"/>
    <p:sldId id="389" r:id="rId63"/>
    <p:sldId id="390" r:id="rId64"/>
    <p:sldId id="391" r:id="rId65"/>
    <p:sldId id="392" r:id="rId66"/>
    <p:sldId id="393" r:id="rId67"/>
    <p:sldId id="394" r:id="rId68"/>
    <p:sldId id="395" r:id="rId69"/>
    <p:sldId id="396" r:id="rId70"/>
    <p:sldId id="397" r:id="rId71"/>
    <p:sldId id="398" r:id="rId72"/>
    <p:sldId id="401" r:id="rId73"/>
    <p:sldId id="399" r:id="rId74"/>
    <p:sldId id="400" r:id="rId75"/>
    <p:sldId id="402" r:id="rId76"/>
    <p:sldId id="403" r:id="rId77"/>
    <p:sldId id="404" r:id="rId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901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42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513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13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5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17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15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22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331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02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611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433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042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082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100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367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857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01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4298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190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000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02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29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F4E8CDF-988A-46FE-8BA3-9C5F3CD3B51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19303BF-5553-40D6-9515-E7B1957656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73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A7034-6F5E-0659-3A36-1DBFC791E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95210"/>
            <a:ext cx="8991600" cy="1645920"/>
          </a:xfrm>
        </p:spPr>
        <p:txBody>
          <a:bodyPr>
            <a:normAutofit/>
          </a:bodyPr>
          <a:lstStyle/>
          <a:p>
            <a:pPr algn="l"/>
            <a:r>
              <a:rPr lang="ru-RU" sz="4400" b="1" dirty="0">
                <a:effectLst/>
                <a:latin typeface="YS Text"/>
              </a:rPr>
              <a:t>первый код на </a:t>
            </a:r>
            <a:r>
              <a:rPr lang="en-US" sz="4400" b="1" dirty="0">
                <a:effectLst/>
                <a:latin typeface="YS Text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17423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328" y="2211457"/>
            <a:ext cx="11494939" cy="4033137"/>
          </a:xfrm>
        </p:spPr>
        <p:txBody>
          <a:bodyPr/>
          <a:lstStyle/>
          <a:p>
            <a:pPr algn="l"/>
            <a:r>
              <a:rPr lang="ru-RU" sz="2400" b="0" i="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YS Text"/>
              </a:rPr>
              <a:t>Самая простая операция в Python — это вывод данных на экран. </a:t>
            </a:r>
            <a:endParaRPr lang="en-US" sz="2400" b="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400" dirty="0">
                <a:solidFill>
                  <a:schemeClr val="bg1">
                    <a:lumMod val="95000"/>
                    <a:lumOff val="5000"/>
                  </a:schemeClr>
                </a:solidFill>
                <a:latin typeface="YS Text"/>
              </a:rPr>
              <a:t>	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YS Text"/>
              </a:rPr>
              <a:t>print('</a:t>
            </a:r>
            <a:r>
              <a:rPr lang="ru-RU" sz="2400" b="0" i="0" dirty="0">
                <a:solidFill>
                  <a:srgbClr val="0070C0"/>
                </a:solidFill>
                <a:effectLst/>
                <a:latin typeface="YS Text"/>
              </a:rPr>
              <a:t>Привет, Мир!’)</a:t>
            </a:r>
            <a:endParaRPr lang="en-US" sz="2400" b="0" i="0" dirty="0">
              <a:solidFill>
                <a:srgbClr val="0070C0"/>
              </a:solidFill>
              <a:effectLst/>
              <a:latin typeface="YS Text"/>
            </a:endParaRPr>
          </a:p>
          <a:p>
            <a:pPr algn="l"/>
            <a:r>
              <a:rPr lang="ru-RU" sz="2400" b="0" i="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YS Text"/>
              </a:rPr>
              <a:t>Программа вывела на экран сообщение </a:t>
            </a:r>
            <a:r>
              <a:rPr lang="ru-RU" sz="2400" b="0" i="0" dirty="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YS Text"/>
              </a:rPr>
              <a:t>«Привет, Мир!»</a:t>
            </a:r>
            <a:r>
              <a:rPr lang="ru-RU" sz="2400" b="0" i="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YS Text"/>
              </a:rPr>
              <a:t>: Python прочитал код, увидел в нём функцию </a:t>
            </a:r>
            <a:r>
              <a:rPr lang="ru-RU" sz="2400" b="1" i="0" dirty="0" err="1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YS Text"/>
              </a:rPr>
              <a:t>print</a:t>
            </a:r>
            <a:r>
              <a:rPr lang="ru-RU" sz="2400" b="1" i="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YS Text"/>
              </a:rPr>
              <a:t>() </a:t>
            </a:r>
            <a:r>
              <a:rPr lang="ru-RU" sz="2400" b="0" i="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YS Text"/>
              </a:rPr>
              <a:t>и выполнил её. </a:t>
            </a:r>
            <a:endParaRPr lang="en-US" sz="2400" b="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YS Text"/>
            </a:endParaRPr>
          </a:p>
          <a:p>
            <a:pPr algn="l"/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38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2739" y="138107"/>
            <a:ext cx="8187267" cy="77132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  <a:latin typeface="YS Text"/>
              </a:rPr>
              <a:t>Функция</a:t>
            </a:r>
            <a:endParaRPr lang="ru-RU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882" y="909430"/>
            <a:ext cx="11204236" cy="5769666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chemeClr val="bg1"/>
                </a:solidFill>
                <a:effectLst/>
                <a:latin typeface="YS Text"/>
              </a:rPr>
              <a:t>Функция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 — это подпрограмма, выполняющая определённые действия. Функция </a:t>
            </a:r>
            <a:r>
              <a:rPr lang="ru-RU" b="1" i="0" dirty="0" err="1">
                <a:solidFill>
                  <a:schemeClr val="bg1"/>
                </a:solidFill>
                <a:effectLst/>
                <a:latin typeface="YS Text"/>
              </a:rPr>
              <a:t>print</a:t>
            </a:r>
            <a:r>
              <a:rPr lang="ru-RU" b="1" i="0" dirty="0">
                <a:solidFill>
                  <a:schemeClr val="bg1"/>
                </a:solidFill>
                <a:effectLst/>
                <a:latin typeface="YS Text"/>
              </a:rPr>
              <a:t>() 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— это встроенная в Python подпрограмма для вывода данных на экран (или для «печати на экране»</a:t>
            </a:r>
            <a:r>
              <a:rPr lang="en-US" b="0" i="0" dirty="0">
                <a:solidFill>
                  <a:schemeClr val="bg1"/>
                </a:solidFill>
                <a:effectLst/>
                <a:latin typeface="YS Text"/>
              </a:rPr>
              <a:t>) </a:t>
            </a:r>
          </a:p>
          <a:p>
            <a:pPr algn="l"/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'Привет, Мир!' — это текст, который функция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YS Text"/>
              </a:rPr>
              <a:t>print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() напечатает. Функция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YS Text"/>
              </a:rPr>
              <a:t>print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() выводит на экран любые данные, указанные в скобках после названия функции. </a:t>
            </a:r>
          </a:p>
          <a:p>
            <a:pPr algn="l"/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Программисты называют такие данные «</a:t>
            </a:r>
            <a:r>
              <a:rPr lang="ru-RU" b="1" i="0" dirty="0">
                <a:solidFill>
                  <a:schemeClr val="bg1"/>
                </a:solidFill>
                <a:effectLst/>
                <a:latin typeface="YS Text"/>
              </a:rPr>
              <a:t>аргументы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»; их указывают в скобках после имени функции. </a:t>
            </a:r>
          </a:p>
          <a:p>
            <a:pPr algn="l"/>
            <a:endParaRPr lang="ru-RU" b="0" i="0" dirty="0">
              <a:solidFill>
                <a:schemeClr val="bg1"/>
              </a:solidFill>
              <a:effectLst/>
              <a:latin typeface="YS Tex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7F718D-04A0-73F4-E1A2-0DDCEFCA8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51" t="6623" r="20068" b="7092"/>
          <a:stretch/>
        </p:blipFill>
        <p:spPr>
          <a:xfrm>
            <a:off x="3863481" y="2755120"/>
            <a:ext cx="4465037" cy="2271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46D333-8AE7-B532-7B60-CA09518EB4B5}"/>
              </a:ext>
            </a:extLst>
          </p:cNvPr>
          <p:cNvSpPr txBox="1"/>
          <p:nvPr/>
        </p:nvSpPr>
        <p:spPr>
          <a:xfrm>
            <a:off x="423241" y="5135813"/>
            <a:ext cx="113455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YS Text"/>
              </a:rPr>
              <a:t>Говорят, что аргумент передаётся в функцию, а функция их принимает. Python выполняет код, читая строку за строкой; увидев в коде имя функции с круглыми скобками, Python вызывает эту функцию — заставляет сработать код этой функции. При необходимости функцию можно вызывать много раз.</a:t>
            </a:r>
          </a:p>
          <a:p>
            <a:r>
              <a:rPr lang="ru-RU" sz="2000" dirty="0">
                <a:solidFill>
                  <a:schemeClr val="bg1"/>
                </a:solidFill>
                <a:latin typeface="YS Text"/>
              </a:rPr>
              <a:t>Python прочтёт код сверху вниз и выполнит все инструкции, которые увидит.</a:t>
            </a:r>
            <a:endParaRPr lang="ru-RU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18990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Код для людей: комментарии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Строки, начинающиеся с символа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#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это комментарии, примечания, которые автор программы пишет для других разработчиков.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Python игнорирует любые символы на строчке после #. Обратите внимание, что комментарии автоматически выделяются цветом, это упрощает чтение.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символом комментария скрыть часть кода — Python перестанет видеть этот код и не станет его выполнять.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17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Переменные и типы данных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043609"/>
            <a:ext cx="11588072" cy="5695121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Представьте: вы читаете книгу, но не можете запомнить, сколько страниц прочли. Умеете читать, но вот сохранить в памяти номер страницы не удаётся. Вылетает из головы, где вы остановились, поэтому приходится отсчитывать страницы от начала книги. 10, 24, 140, 250 страниц — и так каждый раз.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Так же беспомощны программы, которые не могут сохранять данные. Именно поэтому настоящее программирование начинается с переменных, запоминающих результаты промежуточных действий.</a:t>
            </a:r>
          </a:p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Переменная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работает как подписанная коробка или помеченная ячейка, куда можно что-то положить и не потерять.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Когда в коде впервые пишут имя переменной, это называется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объявление переменной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Имя придумывает сам программист.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Python переменную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объявляют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присваивая ей какое-нибудь значение. Для объявления переменной достаточно просто указать имя, поставить знак «равно»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=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(этот знак в Питоне называется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оператор присваивания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) и написать значение, которое будет храниться в переменной.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Смысл оператора присваивания = отличается от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знака «равно» . В программировании выражение x = 1 означает: «теперь в переменной x хранится значение 1». После того как переменной присвоено какое-то значение, его можно заменить: для этого нужно присвоить этой переменной другое значение: x = 38. Теперь в переменной x хранится не единица, а число 38!</a:t>
            </a: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4660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318052"/>
            <a:ext cx="11588072" cy="6312203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Вернёмся к чтению. Отложив программирование и ночной сон, вы прочли 210 страниц. Теперь можно написать так: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pages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210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Здесь создана переменная с именем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pages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в этой переменной сохранено значение 210.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переменных можно сохранить не только числа: в них можно «положить» и строку. Например, строка 'Привет, Мир!' — это другой пример данных, которые могут храниться в переменной.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А теперь следующий шаг: когда переменная объявлена и ей присвоено значение — имя этой переменной можно указывать в коде, 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вместо имени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будет подставляться её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значение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5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Типы данных: числа и строки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Значения переменных различаются по своей сути: например, значения могут быть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числами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или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строками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Строка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записывается как символ или набор символов внутри 'одинарных' либо "двойных" кавычек.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Для обрамления строк можно пользоваться одинарными или двойными кавычками, но главное — открывающая и закрывающая кавычки должны быть </a:t>
            </a:r>
            <a:r>
              <a:rPr lang="ru-RU" u="sng" dirty="0">
                <a:solidFill>
                  <a:schemeClr val="bg1"/>
                </a:solidFill>
                <a:latin typeface="YS Text"/>
              </a:rPr>
              <a:t>одинаковыми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genre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'Роман'  # Строка в одинарных кавычках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author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"Джордж Оруэлл"  # Строка в двойных кавычках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title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'1984'  # Число в кавычках тоже становится строкой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space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' ' # Даже пробел — это тоже строка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Применение разных кавычек в начале и конце строки приведёт к ошибке!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Числовые значения записываются без кавычек: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twenty_five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25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about_pi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3 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9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А в чём разница?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Со значениями разных типов Python работает по-разному.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 переменными, которые содержат числа, можно проводить любые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арифметические операции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 например, складывать их при помощи оператора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+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Со строками всё происходит не так, как с числами: при сложении двух строк Python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«склеивает»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содержимое этих строк в одну. Точно так же будет работать и сложение переменных, если в этих переменных хранятся строки. Объединение нескольких строк в одну называют «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конкатенацией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» (от лат.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concatenatio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«присоединение, сцепление»).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Можно складывать числа с числами — это арифметика. Можно складывать строки со строками — это конкатенация.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А вот если складывать числа со строками — получится ошибка в программе. Складывать можно значения одинакового типа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!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27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Преобразование типов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Python позволяет перевести значение переменной из одного типа в другой (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конвертировать тип данных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; иначе говорят «привести к типу»).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Преобразованием данных из одного типа в другой занимаются специальные функции. Так, для превращения числа в строку вызывают функцию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str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():</a:t>
            </a:r>
            <a:endParaRPr lang="en-US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en-US" b="1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number = 100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  <a:latin typeface="YS Text"/>
              </a:rPr>
              <a:t>	apples = '</a:t>
            </a:r>
            <a:r>
              <a:rPr lang="en-US" sz="1800" dirty="0" err="1">
                <a:solidFill>
                  <a:srgbClr val="0070C0"/>
                </a:solidFill>
                <a:latin typeface="YS Text"/>
              </a:rPr>
              <a:t>яблок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’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  <a:latin typeface="YS Text"/>
              </a:rPr>
              <a:t>	print(str(number) + apples)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А преобразовать строку в целое число можно функцией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int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en-US" b="1" dirty="0">
                <a:solidFill>
                  <a:schemeClr val="bg1"/>
                </a:solidFill>
                <a:latin typeface="YS Text"/>
              </a:rPr>
              <a:t>: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 err="1">
                <a:solidFill>
                  <a:srgbClr val="0070C0"/>
                </a:solidFill>
                <a:latin typeface="YS Text"/>
              </a:rPr>
              <a:t>one_hundred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 = '100’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 err="1">
                <a:solidFill>
                  <a:srgbClr val="0070C0"/>
                </a:solidFill>
                <a:latin typeface="YS Text"/>
              </a:rPr>
              <a:t>five_hundred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 = '500’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	print(int(</a:t>
            </a:r>
            <a:r>
              <a:rPr lang="en-US" dirty="0" err="1">
                <a:solidFill>
                  <a:srgbClr val="0070C0"/>
                </a:solidFill>
                <a:latin typeface="YS Text"/>
              </a:rPr>
              <a:t>one_hundred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) + int(</a:t>
            </a:r>
            <a:r>
              <a:rPr lang="en-US" dirty="0" err="1">
                <a:solidFill>
                  <a:srgbClr val="0070C0"/>
                </a:solidFill>
                <a:latin typeface="YS Text"/>
              </a:rPr>
              <a:t>five_hundred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))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851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Ошибки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Изучение новой области знаний всегда начинается с проб и ошибок (взять хотя бы искусство кулинарии). Разработка — не исключение: во время обучения вы постоянно будете делать ошибки в коде. Написать код, а затем отловить и исправить баги — это стандартный путь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!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Python изо всех сил постарается помочь вам найти ошибку, предоставляя всю возможную информацию о проблеме: «Я сломался, ошибка на строке 8, там забыли закрыть скобку!»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Разговаривает Python по-английски, но понять его несложно, даже если у вас нет глубоких познаний в языке. Читайте всё, что он пишет: это поможет самостоятельно разобраться с ошибкой. Сообщения об ошибках называются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traceback</a:t>
            </a:r>
            <a:r>
              <a:rPr lang="en-US" b="1" dirty="0">
                <a:solidFill>
                  <a:schemeClr val="bg1"/>
                </a:solidFill>
                <a:latin typeface="YS Text"/>
              </a:rPr>
              <a:t>.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CA17DB-F9C6-F817-754A-C6C40BD2C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0" t="12491" r="4187" b="12693"/>
          <a:stretch/>
        </p:blipFill>
        <p:spPr>
          <a:xfrm>
            <a:off x="2314161" y="4017652"/>
            <a:ext cx="7563678" cy="267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2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Ошибки </a:t>
            </a:r>
            <a:r>
              <a:rPr lang="ru-RU" sz="4000" b="1" dirty="0" err="1">
                <a:solidFill>
                  <a:schemeClr val="bg1"/>
                </a:solidFill>
                <a:latin typeface="YS Text"/>
              </a:rPr>
              <a:t>NameError</a:t>
            </a:r>
            <a:r>
              <a:rPr lang="ru-RU" sz="4000" b="1" dirty="0">
                <a:solidFill>
                  <a:schemeClr val="bg1"/>
                </a:solidFill>
                <a:latin typeface="YS Text"/>
              </a:rPr>
              <a:t> и </a:t>
            </a:r>
            <a:r>
              <a:rPr lang="en-US" sz="4000" b="1" dirty="0" err="1">
                <a:solidFill>
                  <a:schemeClr val="bg1"/>
                </a:solidFill>
                <a:latin typeface="YS Text"/>
              </a:rPr>
              <a:t>SyntaxError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048578"/>
            <a:ext cx="11588072" cy="5581677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Ошибка «неизвестное имя»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NameError</a:t>
            </a:r>
            <a:endParaRPr lang="en-US" sz="2400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Когда в строке допущена опечатка: например, в имени переменной пропущено подчёркивание.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sz="1800" dirty="0" err="1">
                <a:solidFill>
                  <a:srgbClr val="0070C0"/>
                </a:solidFill>
                <a:latin typeface="YS Text"/>
              </a:rPr>
              <a:t>one_hundred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 = 100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print(</a:t>
            </a:r>
            <a:r>
              <a:rPr lang="en-US" sz="1800" dirty="0" err="1">
                <a:solidFill>
                  <a:srgbClr val="0070C0"/>
                </a:solidFill>
                <a:latin typeface="YS Text"/>
              </a:rPr>
              <a:t>onehundred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)</a:t>
            </a:r>
            <a:endParaRPr lang="ru-RU" sz="1800" dirty="0">
              <a:solidFill>
                <a:srgbClr val="0070C0"/>
              </a:solidFill>
              <a:latin typeface="YS Text"/>
            </a:endParaRPr>
          </a:p>
          <a:p>
            <a:pPr algn="l"/>
            <a:endParaRPr lang="ru-RU" sz="18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Ошибки синтаксиса </a:t>
            </a:r>
            <a:r>
              <a:rPr lang="en-US" sz="2400" b="1" dirty="0" err="1">
                <a:solidFill>
                  <a:schemeClr val="bg1"/>
                </a:solidFill>
                <a:latin typeface="YS Text"/>
              </a:rPr>
              <a:t>SyntaxError</a:t>
            </a:r>
            <a:endParaRPr lang="ru-RU" sz="2400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Например, </a:t>
            </a:r>
            <a:r>
              <a:rPr lang="ru-RU" i="0" dirty="0">
                <a:solidFill>
                  <a:schemeClr val="bg1"/>
                </a:solidFill>
                <a:effectLst/>
                <a:latin typeface="YS Text"/>
              </a:rPr>
              <a:t>при сложении забыли написать одно слагаемое. 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Сообщение </a:t>
            </a:r>
            <a:r>
              <a:rPr lang="ru-RU" b="0" i="1" dirty="0" err="1">
                <a:solidFill>
                  <a:schemeClr val="bg1"/>
                </a:solidFill>
                <a:effectLst/>
                <a:latin typeface="YS Text"/>
              </a:rPr>
              <a:t>invalid</a:t>
            </a:r>
            <a:r>
              <a:rPr lang="ru-RU" b="0" i="1" dirty="0">
                <a:solidFill>
                  <a:schemeClr val="bg1"/>
                </a:solidFill>
                <a:effectLst/>
                <a:latin typeface="YS Text"/>
              </a:rPr>
              <a:t> </a:t>
            </a:r>
            <a:r>
              <a:rPr lang="ru-RU" b="0" i="1" dirty="0" err="1">
                <a:solidFill>
                  <a:schemeClr val="bg1"/>
                </a:solidFill>
                <a:effectLst/>
                <a:latin typeface="YS Text"/>
              </a:rPr>
              <a:t>syntax</a:t>
            </a:r>
            <a:r>
              <a:rPr lang="ru-RU" b="0" i="1" dirty="0">
                <a:solidFill>
                  <a:schemeClr val="bg1"/>
                </a:solidFill>
                <a:effectLst/>
                <a:latin typeface="YS Text"/>
              </a:rPr>
              <a:t> 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переводится как «недопустимый синтаксис».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print(3 + )</a:t>
            </a:r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Другую разновидность ошибки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SyntaxError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можно получить, если забыть скобку или кавычку.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тексте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SyntaxError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 </a:t>
            </a:r>
            <a:r>
              <a:rPr lang="ru-RU" b="1" i="1" dirty="0" err="1">
                <a:solidFill>
                  <a:schemeClr val="bg1"/>
                </a:solidFill>
                <a:latin typeface="YS Text"/>
              </a:rPr>
              <a:t>unexpected</a:t>
            </a:r>
            <a:r>
              <a:rPr lang="ru-RU" b="1" i="1" dirty="0">
                <a:solidFill>
                  <a:schemeClr val="bg1"/>
                </a:solidFill>
                <a:latin typeface="YS Text"/>
              </a:rPr>
              <a:t> EOF </a:t>
            </a:r>
            <a:r>
              <a:rPr lang="ru-RU" b="1" i="1" dirty="0" err="1">
                <a:solidFill>
                  <a:schemeClr val="bg1"/>
                </a:solidFill>
                <a:latin typeface="YS Text"/>
              </a:rPr>
              <a:t>while</a:t>
            </a:r>
            <a:r>
              <a:rPr lang="ru-RU" b="1" i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b="1" i="1" dirty="0" err="1">
                <a:solidFill>
                  <a:schemeClr val="bg1"/>
                </a:solidFill>
                <a:latin typeface="YS Text"/>
              </a:rPr>
              <a:t>parsing</a:t>
            </a:r>
            <a:r>
              <a:rPr lang="ru-RU" b="1" i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сокращение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EOF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означает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end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of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file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а само сообщение переводится как «неожиданный конец файла во время разбора кода программы»: Python увидел начало вызова функции, но внезапно код программы закончился.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print(3 + 5</a:t>
            </a:r>
            <a:endParaRPr lang="ru-RU" dirty="0">
              <a:solidFill>
                <a:srgbClr val="0070C0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76892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Ошибки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bg1">
                    <a:lumMod val="50000"/>
                    <a:lumOff val="50000"/>
                  </a:schemeClr>
                </a:solidFill>
                <a:latin typeface="YS Text"/>
              </a:rPr>
              <a:t>1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 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print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(3 + 5</a:t>
            </a:r>
          </a:p>
          <a:p>
            <a:pPr algn="l"/>
            <a:r>
              <a:rPr lang="ru-RU" dirty="0">
                <a:solidFill>
                  <a:schemeClr val="bg1">
                    <a:lumMod val="50000"/>
                    <a:lumOff val="50000"/>
                  </a:schemeClr>
                </a:solidFill>
                <a:latin typeface="YS Text"/>
              </a:rPr>
              <a:t>2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 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print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('Всё в порядке!’)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данном примере обратите внимание, на какую строку укажет сообщение об ошибке.</a:t>
            </a: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Дело в том, что Python разрешает ставить открывающую и закрывающую скобки на разных строчках. Поэтому он терпеливо дожидается, пока код совершенно утратит смысл, и только тогда выдаёт ошибку.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код состоит из нескольких строк, ошибка с незакрытой скобкой показывается не на той строчке, где забыли закрыть скобку, а на следующей.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Этот код показал и ещё одну особенность поведения Python: при любой ошибке выполнение кода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полностью останавливается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; код, написанный после строки с ошибкой, не будет выполнен, будь он даже самый распрекрасный и правильный.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Поправьте ошибку, запустите код  — и двигайтесь дальше, к новым ошибкам :)</a:t>
            </a:r>
          </a:p>
        </p:txBody>
      </p:sp>
    </p:spTree>
    <p:extLst>
      <p:ext uri="{BB962C8B-B14F-4D97-AF65-F5344CB8AC3E}">
        <p14:creationId xmlns:p14="http://schemas.microsoft.com/office/powerpoint/2010/main" val="2638741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Ошибка в типах данных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bg1"/>
                </a:solidFill>
              </a:rPr>
              <a:t>Попытка сложить разные типы данных приведет к ошибке </a:t>
            </a:r>
            <a:r>
              <a:rPr lang="en-US" b="1" dirty="0" err="1">
                <a:solidFill>
                  <a:schemeClr val="bg1"/>
                </a:solidFill>
                <a:latin typeface="YS Text"/>
              </a:rPr>
              <a:t>TypeError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:</a:t>
            </a:r>
            <a:endParaRPr lang="ru-RU" b="1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 err="1">
                <a:solidFill>
                  <a:srgbClr val="0070C0"/>
                </a:solidFill>
                <a:latin typeface="YS Text"/>
              </a:rPr>
              <a:t>TypeError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: unsupported operand type(s) for +: 'int' and 'str’ </a:t>
            </a:r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На поиск и исправление ошибок разработчик тратит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YS Text"/>
              </a:rPr>
              <a:t>большýю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 часть времени. Ошибок будет много, и важно относиться к ним как к задаче, а не как к проблеме или беде. Если код сходу не заработал — это нормально, так и должно быть.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44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Именование переменных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 именах переменных используйте только латинский алфавит, цифры и подчеркивание. Остальные символы, в том числе буквы кириллицы, могут привести к ошибкам. Они создают путаницу: например, английская x и русская х выглядят одинаково.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название состоит из нескольких слов, разделяйте их символом подчёркивания: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new_message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Такой стиль написания называется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snake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case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потому что слова могут получаться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очень_длинные_как_змея_или_даже_как_две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Python допускает использование цифр в именах переменных, но не на первой позиции: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snake1 = "питон"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snake2 = "удав"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long_snake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"длинный змей"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print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(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long_snake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+ " — это может быть " + snake1 + " или " + snake2) </a:t>
            </a:r>
          </a:p>
          <a:p>
            <a:pPr algn="l"/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длинный змей — это может быть питон или удав 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66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Именование переменных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Как выбрать имя переменной?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Составляйте названия переменных из английских слов. Когда ваша программа вырастет до многих сотен строк, названия-слова помогут быстро сориентироваться в коде. 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Сравните сами: переменную с названием урока можно назвать буквой l, а можно — словом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lesson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Второй вариант лучше: ведь то, что когда-то разработчик сократил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lesson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до одной буквы, со временем забудут и он, и его коллеги. Код станет сложнее для чтения.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Не рекомендуется использовать русские слова в английской раскладке. Рано или поздно ваш код будет читать человек, не владеющий русским. Он может не понять, что к чему. Сразу называйте переменные по-английски: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child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а не транслитерацией  — 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rebyonok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95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Вывод на экран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</a:rPr>
              <a:t>Для сложения строк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можно напечатать и без оператора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+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 в скобках функции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print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перечислите через запятую аргументы, которые она должна напечатать: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sz="1800" dirty="0" err="1">
                <a:solidFill>
                  <a:srgbClr val="0070C0"/>
                </a:solidFill>
                <a:latin typeface="YS Text"/>
              </a:rPr>
              <a:t>weather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= 'облачно’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sz="1800" dirty="0" err="1">
                <a:solidFill>
                  <a:srgbClr val="0070C0"/>
                </a:solidFill>
                <a:latin typeface="YS Text"/>
              </a:rPr>
              <a:t>print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('На улице сейчас', </a:t>
            </a:r>
            <a:r>
              <a:rPr lang="ru-RU" sz="1800" dirty="0" err="1">
                <a:solidFill>
                  <a:srgbClr val="0070C0"/>
                </a:solidFill>
                <a:latin typeface="YS Text"/>
              </a:rPr>
              <a:t>weather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)</a:t>
            </a:r>
          </a:p>
          <a:p>
            <a:pPr algn="l"/>
            <a:endParaRPr lang="ru-RU" sz="18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На улице сейчас облачно </a:t>
            </a: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Запятая между аргументами по умолчанию заменяется на пробел.</a:t>
            </a:r>
            <a:endParaRPr lang="ru-RU" sz="18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sz="1800" dirty="0" err="1">
                <a:solidFill>
                  <a:srgbClr val="0070C0"/>
                </a:solidFill>
                <a:latin typeface="YS Text"/>
              </a:rPr>
              <a:t>print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('За', 'окном', 'метель’)</a:t>
            </a:r>
          </a:p>
          <a:p>
            <a:pPr algn="l"/>
            <a:endParaRPr lang="ru-RU" sz="18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За окном метель 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Это значит, что когда вы составляете сложную фразу, достаточно разделить аргументы функции </a:t>
            </a:r>
            <a:r>
              <a:rPr lang="ru-RU" dirty="0" err="1">
                <a:solidFill>
                  <a:schemeClr val="bg1"/>
                </a:solidFill>
              </a:rPr>
              <a:t>print</a:t>
            </a:r>
            <a:r>
              <a:rPr lang="ru-RU" dirty="0">
                <a:solidFill>
                  <a:schemeClr val="bg1"/>
                </a:solidFill>
              </a:rPr>
              <a:t>() запятой. И, что приятно, количество этих аргументов не ограничено. Ещё одно приятное свойство функции </a:t>
            </a:r>
            <a:r>
              <a:rPr lang="ru-RU" dirty="0" err="1">
                <a:solidFill>
                  <a:schemeClr val="bg1"/>
                </a:solidFill>
              </a:rPr>
              <a:t>print</a:t>
            </a:r>
            <a:r>
              <a:rPr lang="ru-RU" dirty="0">
                <a:solidFill>
                  <a:schemeClr val="bg1"/>
                </a:solidFill>
              </a:rPr>
              <a:t>, если через запятую перечислены и строки, и числа, и все они печатаются без проблем. </a:t>
            </a:r>
          </a:p>
        </p:txBody>
      </p:sp>
    </p:spTree>
    <p:extLst>
      <p:ext uri="{BB962C8B-B14F-4D97-AF65-F5344CB8AC3E}">
        <p14:creationId xmlns:p14="http://schemas.microsoft.com/office/powerpoint/2010/main" val="574851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Дробные числа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Числа бывают целыми и дробными. Для десятичных дробей (иначе их называют «числа с плавающей запятой») в Python есть специальный тип данных —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float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(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floating point).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1600" dirty="0">
                <a:solidFill>
                  <a:srgbClr val="0070C0"/>
                </a:solidFill>
              </a:rPr>
              <a:t>first = 87.2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second = 50.2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third = 50.242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print(first + second + third)	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# </a:t>
            </a:r>
            <a:r>
              <a:rPr lang="en-US" sz="1600" dirty="0" err="1">
                <a:solidFill>
                  <a:srgbClr val="0070C0"/>
                </a:solidFill>
              </a:rPr>
              <a:t>Будет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напечатано</a:t>
            </a:r>
            <a:r>
              <a:rPr lang="en-US" sz="1600" dirty="0">
                <a:solidFill>
                  <a:srgbClr val="0070C0"/>
                </a:solidFill>
              </a:rPr>
              <a:t>: 187.642 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Дробные числа преобразуют в строки так же, как и целые — функцией </a:t>
            </a:r>
            <a:r>
              <a:rPr lang="en-US" dirty="0">
                <a:solidFill>
                  <a:schemeClr val="bg1"/>
                </a:solidFill>
              </a:rPr>
              <a:t>str():</a:t>
            </a:r>
            <a:endParaRPr lang="en-US" dirty="0">
              <a:solidFill>
                <a:srgbClr val="0070C0"/>
              </a:solidFill>
            </a:endParaRPr>
          </a:p>
          <a:p>
            <a:pPr algn="l"/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sz="1600" dirty="0">
                <a:solidFill>
                  <a:srgbClr val="0070C0"/>
                </a:solidFill>
              </a:rPr>
              <a:t>first = 87.2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second = 50.2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third = 50.242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print(str(first) + str(second) + str(third))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	# </a:t>
            </a:r>
            <a:r>
              <a:rPr lang="ru-RU" sz="1600" dirty="0">
                <a:solidFill>
                  <a:srgbClr val="0070C0"/>
                </a:solidFill>
              </a:rPr>
              <a:t>Будет напечатано: 87.250.250.242 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971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Дробные числа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Можно преобразовать строку в дробное число, для этого есть функция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float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1800" dirty="0">
                <a:solidFill>
                  <a:srgbClr val="0070C0"/>
                </a:solidFill>
              </a:rPr>
              <a:t>first = '87.2'   # </a:t>
            </a:r>
            <a:r>
              <a:rPr lang="ru-RU" sz="1800" dirty="0">
                <a:solidFill>
                  <a:srgbClr val="0070C0"/>
                </a:solidFill>
              </a:rPr>
              <a:t>Строка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</a:rPr>
              <a:t>	second = '50.2'  # </a:t>
            </a:r>
            <a:r>
              <a:rPr lang="ru-RU" sz="1800" dirty="0">
                <a:solidFill>
                  <a:srgbClr val="0070C0"/>
                </a:solidFill>
              </a:rPr>
              <a:t>Тоже строка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</a:rPr>
              <a:t>	third = '50.242' # </a:t>
            </a:r>
            <a:r>
              <a:rPr lang="ru-RU" sz="1800" dirty="0">
                <a:solidFill>
                  <a:srgbClr val="0070C0"/>
                </a:solidFill>
              </a:rPr>
              <a:t>И это строка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</a:rPr>
              <a:t>	print(float(first) + float(second) + float(third)) # </a:t>
            </a:r>
            <a:r>
              <a:rPr lang="ru-RU" sz="1800" dirty="0">
                <a:solidFill>
                  <a:srgbClr val="0070C0"/>
                </a:solidFill>
              </a:rPr>
              <a:t>А в итоге получится число!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</a:rPr>
              <a:t>	</a:t>
            </a:r>
            <a:r>
              <a:rPr lang="ru-RU" sz="1800" dirty="0">
                <a:solidFill>
                  <a:srgbClr val="0070C0"/>
                </a:solidFill>
              </a:rPr>
              <a:t># Будет напечатано: 187.642 </a:t>
            </a:r>
            <a:endParaRPr lang="en-US" sz="1800" dirty="0">
              <a:solidFill>
                <a:srgbClr val="0070C0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Дробные числа приводят к целым функцией </a:t>
            </a:r>
            <a:r>
              <a:rPr lang="ru-RU" b="1" dirty="0" err="1">
                <a:solidFill>
                  <a:schemeClr val="bg1"/>
                </a:solidFill>
              </a:rPr>
              <a:t>int</a:t>
            </a:r>
            <a:r>
              <a:rPr lang="ru-RU" b="1" dirty="0">
                <a:solidFill>
                  <a:schemeClr val="bg1"/>
                </a:solidFill>
              </a:rPr>
              <a:t>()</a:t>
            </a:r>
            <a:r>
              <a:rPr lang="ru-RU" dirty="0">
                <a:solidFill>
                  <a:schemeClr val="bg1"/>
                </a:solidFill>
              </a:rPr>
              <a:t>. Обратите внимание: </a:t>
            </a:r>
            <a:r>
              <a:rPr lang="ru-RU" b="1" dirty="0" err="1">
                <a:solidFill>
                  <a:schemeClr val="bg1"/>
                </a:solidFill>
              </a:rPr>
              <a:t>int</a:t>
            </a:r>
            <a:r>
              <a:rPr lang="ru-RU" b="1" dirty="0">
                <a:solidFill>
                  <a:schemeClr val="bg1"/>
                </a:solidFill>
              </a:rPr>
              <a:t>() </a:t>
            </a:r>
            <a:r>
              <a:rPr lang="ru-RU" dirty="0">
                <a:solidFill>
                  <a:schemeClr val="bg1"/>
                </a:solidFill>
              </a:rPr>
              <a:t>не округляет числа по правилам арифметики, а просто отбрасывает дробную часть.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ru-RU" sz="1800" dirty="0">
                <a:solidFill>
                  <a:srgbClr val="0070C0"/>
                </a:solidFill>
              </a:rPr>
              <a:t># Функция </a:t>
            </a:r>
            <a:r>
              <a:rPr lang="ru-RU" sz="1800" dirty="0" err="1">
                <a:solidFill>
                  <a:srgbClr val="0070C0"/>
                </a:solidFill>
              </a:rPr>
              <a:t>int</a:t>
            </a:r>
            <a:r>
              <a:rPr lang="ru-RU" sz="1800" dirty="0">
                <a:solidFill>
                  <a:srgbClr val="0070C0"/>
                </a:solidFill>
              </a:rPr>
              <a:t>() просто убирает всё, что после запятой. Вместе с запятой: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</a:rPr>
              <a:t>	</a:t>
            </a:r>
            <a:r>
              <a:rPr lang="ru-RU" sz="1800" dirty="0">
                <a:solidFill>
                  <a:srgbClr val="0070C0"/>
                </a:solidFill>
              </a:rPr>
              <a:t>a = </a:t>
            </a:r>
            <a:r>
              <a:rPr lang="ru-RU" sz="1800" dirty="0" err="1">
                <a:solidFill>
                  <a:srgbClr val="0070C0"/>
                </a:solidFill>
              </a:rPr>
              <a:t>int</a:t>
            </a:r>
            <a:r>
              <a:rPr lang="ru-RU" sz="1800" dirty="0">
                <a:solidFill>
                  <a:srgbClr val="0070C0"/>
                </a:solidFill>
              </a:rPr>
              <a:t>(3.</a:t>
            </a:r>
            <a:r>
              <a:rPr lang="en-US" sz="1800" dirty="0">
                <a:solidFill>
                  <a:srgbClr val="0070C0"/>
                </a:solidFill>
              </a:rPr>
              <a:t>14</a:t>
            </a:r>
            <a:r>
              <a:rPr lang="ru-RU" sz="1800" dirty="0">
                <a:solidFill>
                  <a:srgbClr val="0070C0"/>
                </a:solidFill>
              </a:rPr>
              <a:t>)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</a:rPr>
              <a:t>	</a:t>
            </a:r>
            <a:r>
              <a:rPr lang="ru-RU" sz="1800" dirty="0" err="1">
                <a:solidFill>
                  <a:srgbClr val="0070C0"/>
                </a:solidFill>
              </a:rPr>
              <a:t>print</a:t>
            </a:r>
            <a:r>
              <a:rPr lang="ru-RU" sz="1800" dirty="0">
                <a:solidFill>
                  <a:srgbClr val="0070C0"/>
                </a:solidFill>
              </a:rPr>
              <a:t>(a)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</a:rPr>
              <a:t>	</a:t>
            </a:r>
            <a:r>
              <a:rPr lang="ru-RU" sz="1800" dirty="0">
                <a:solidFill>
                  <a:srgbClr val="0070C0"/>
                </a:solidFill>
              </a:rPr>
              <a:t># Будет напечатано: 3 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334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Дробные числа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038640"/>
            <a:ext cx="11588072" cy="5680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Можно сделать несколько преобразований в одной строке: сначала превратить дробь в целое число, а затем преобразовать в строку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.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Обратите внимание: чтобы не сбиться в количестве скобок (закрывающих должно быть столько же, сколько и открывающих)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.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Для операций с целыми и дробными числами приводить их к одному типу не нужно, тут Python разберётся сам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2400" b="1" dirty="0">
                <a:solidFill>
                  <a:schemeClr val="bg1"/>
                </a:solidFill>
                <a:latin typeface="YS Text"/>
              </a:rPr>
              <a:t>Что значит «плавающая запятая» и куда она плывет?</a:t>
            </a:r>
            <a:endParaRPr lang="en-US" sz="2400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bg1"/>
                </a:solidFill>
                <a:effectLst/>
                <a:latin typeface="YS Text"/>
              </a:rPr>
              <a:t>Дробные числа называют «числами с плавающей запятой», потому что запятая «плавает» по числу, когда его представляют в виде произведения значащей части и степени. </a:t>
            </a:r>
          </a:p>
          <a:p>
            <a:pPr algn="l"/>
            <a:r>
              <a:rPr lang="ru-RU" sz="2000" b="0" i="0" dirty="0">
                <a:solidFill>
                  <a:schemeClr val="bg1"/>
                </a:solidFill>
                <a:effectLst/>
                <a:latin typeface="YS Text"/>
              </a:rPr>
              <a:t>Например, число 3,14159 можно записать следующим образом: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YS Text"/>
              </a:rPr>
              <a:t> </a:t>
            </a:r>
          </a:p>
          <a:p>
            <a:pPr algn="l"/>
            <a:r>
              <a:rPr lang="en-US" sz="1600" b="0" i="0" dirty="0">
                <a:effectLst/>
                <a:latin typeface="KaTeX_Main"/>
              </a:rPr>
              <a:t>	</a:t>
            </a:r>
            <a:r>
              <a:rPr lang="ru-RU" sz="1600" b="0" i="0" dirty="0">
                <a:solidFill>
                  <a:srgbClr val="0070C0"/>
                </a:solidFill>
                <a:effectLst/>
                <a:latin typeface="KaTeX_Main"/>
              </a:rPr>
              <a:t>314,159⋅10−2</a:t>
            </a:r>
            <a:endParaRPr lang="en-US" sz="1600" b="0" i="0" dirty="0">
              <a:solidFill>
                <a:srgbClr val="0070C0"/>
              </a:solidFill>
              <a:effectLst/>
              <a:latin typeface="KaTeX_Main"/>
            </a:endParaRPr>
          </a:p>
          <a:p>
            <a:pPr algn="l"/>
            <a:r>
              <a:rPr lang="en-US" sz="1600" b="0" i="0" dirty="0">
                <a:solidFill>
                  <a:srgbClr val="0070C0"/>
                </a:solidFill>
                <a:effectLst/>
                <a:latin typeface="KaTeX_Main"/>
              </a:rPr>
              <a:t>	</a:t>
            </a:r>
            <a:r>
              <a:rPr lang="ru-RU" sz="1600" b="0" i="0" dirty="0">
                <a:solidFill>
                  <a:srgbClr val="0070C0"/>
                </a:solidFill>
                <a:effectLst/>
                <a:latin typeface="KaTeX_Main"/>
              </a:rPr>
              <a:t>0,0314159⋅102</a:t>
            </a:r>
            <a:endParaRPr lang="en-US" sz="1600" b="0" i="0" dirty="0">
              <a:solidFill>
                <a:srgbClr val="0070C0"/>
              </a:solidFill>
              <a:effectLst/>
              <a:latin typeface="KaTeX_Main"/>
            </a:endParaRPr>
          </a:p>
          <a:p>
            <a:pPr algn="l"/>
            <a:r>
              <a:rPr lang="en-US" sz="1600" b="0" i="0" dirty="0">
                <a:solidFill>
                  <a:srgbClr val="0070C0"/>
                </a:solidFill>
                <a:effectLst/>
                <a:latin typeface="KaTeX_Main"/>
              </a:rPr>
              <a:t>	</a:t>
            </a:r>
            <a:r>
              <a:rPr lang="ru-RU" sz="1600" b="0" i="0" dirty="0">
                <a:solidFill>
                  <a:srgbClr val="0070C0"/>
                </a:solidFill>
                <a:effectLst/>
                <a:latin typeface="KaTeX_Main"/>
              </a:rPr>
              <a:t>314159,0⋅10−5</a:t>
            </a:r>
            <a:endParaRPr lang="ru-RU" sz="1600" b="0" i="0" dirty="0">
              <a:solidFill>
                <a:srgbClr val="0070C0"/>
              </a:solidFill>
              <a:effectLst/>
              <a:latin typeface="YS Text"/>
            </a:endParaRPr>
          </a:p>
          <a:p>
            <a:pPr algn="l"/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В англоязычной литературе запятая называется точкой, </a:t>
            </a:r>
            <a:r>
              <a:rPr lang="ru-RU" b="0" i="1" dirty="0" err="1">
                <a:solidFill>
                  <a:schemeClr val="bg1"/>
                </a:solidFill>
                <a:effectLst/>
                <a:latin typeface="YS Text"/>
              </a:rPr>
              <a:t>floating</a:t>
            </a:r>
            <a:r>
              <a:rPr lang="ru-RU" b="0" i="1" dirty="0">
                <a:solidFill>
                  <a:schemeClr val="bg1"/>
                </a:solidFill>
                <a:effectLst/>
                <a:latin typeface="YS Text"/>
              </a:rPr>
              <a:t> </a:t>
            </a:r>
            <a:r>
              <a:rPr lang="ru-RU" b="0" i="1" dirty="0" err="1">
                <a:solidFill>
                  <a:schemeClr val="bg1"/>
                </a:solidFill>
                <a:effectLst/>
                <a:latin typeface="YS Text"/>
              </a:rPr>
              <a:t>point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, потому что десятичные дроби пишутся через точку.</a:t>
            </a:r>
            <a:endParaRPr lang="en-US" b="0" i="0" dirty="0">
              <a:solidFill>
                <a:schemeClr val="bg1"/>
              </a:solidFill>
              <a:effectLst/>
              <a:latin typeface="KaTeX_Main"/>
            </a:endParaRPr>
          </a:p>
          <a:p>
            <a:pPr algn="l"/>
            <a:endParaRPr lang="ru-RU" sz="2000" b="0" i="0" dirty="0">
              <a:solidFill>
                <a:schemeClr val="bg1"/>
              </a:solidFill>
              <a:effectLst/>
              <a:latin typeface="YS Text"/>
            </a:endParaRPr>
          </a:p>
          <a:p>
            <a:pPr algn="l"/>
            <a:endParaRPr lang="en-US" sz="2400" b="1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5698B0-4368-892E-44D2-798A1FE12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0" t="23705" r="6943" b="11026"/>
          <a:stretch/>
        </p:blipFill>
        <p:spPr>
          <a:xfrm>
            <a:off x="2770302" y="2071981"/>
            <a:ext cx="6651396" cy="172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92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Списки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	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Списки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это последовательности чисел, строк или каких-то ещё значений.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Вы уже присваивали переменным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числовые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строковые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значения, точно так же переменная может содержать 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список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Содержимое списка пишется в квадратных скобках, элементы списка разделяются запятой: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sz="1900" dirty="0" err="1">
                <a:solidFill>
                  <a:srgbClr val="0070C0"/>
                </a:solidFill>
                <a:latin typeface="YS Text"/>
              </a:rPr>
              <a:t>new_list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 = [&lt;элемент&gt;, &lt;элемент&gt;, &lt;элемент&gt;, &lt;элемент&gt;, &lt;элемент&gt;]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переменной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russian_alphabet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сохраним список, состоящий из букв алфавита. Буква — это строка, поэтому каждый элемент — в кавычках: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sz="1700" dirty="0" err="1">
                <a:solidFill>
                  <a:srgbClr val="0070C0"/>
                </a:solidFill>
                <a:latin typeface="YS Text"/>
              </a:rPr>
              <a:t>russian_alphabet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 = ['а','б','в','г','д','е','ё','ж','з','и','й','к','л','м','н','о','п','р','с','т','у','ф','х','ц','ч','ш','щ','ъ','ы','ь','э','ю','я']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Что содержит переменная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russian_alphabet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?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sz="1700" dirty="0" err="1">
                <a:solidFill>
                  <a:srgbClr val="0070C0"/>
                </a:solidFill>
                <a:latin typeface="YS Text"/>
              </a:rPr>
              <a:t>print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(</a:t>
            </a:r>
            <a:r>
              <a:rPr lang="ru-RU" sz="1700" dirty="0" err="1">
                <a:solidFill>
                  <a:srgbClr val="0070C0"/>
                </a:solidFill>
                <a:latin typeface="YS Text"/>
              </a:rPr>
              <a:t>russian_alphabet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)</a:t>
            </a:r>
          </a:p>
          <a:p>
            <a:pPr algn="l"/>
            <a:r>
              <a:rPr lang="en-US" sz="17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# Будет напечатано:</a:t>
            </a:r>
          </a:p>
          <a:p>
            <a:pPr algn="l"/>
            <a:r>
              <a:rPr lang="en-US" sz="17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['а', 'б', 'в', 'г', 'д', 'е', 'ё', 'ж', 'з', 'и', 'й', 'к', 'л', 'м', 'н', 'о', 'п', 'р', 'с', 'т', 'у', 'ф', 'х', 'ц', 'ч', 'ш', 'щ', 'ъ', 'ы', 'ь', 'э', 'ю', 'я']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У каждого элемента есть свой порядковый номер —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индекс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С помощью индекса можно получить значение элемента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164457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44118"/>
            <a:ext cx="11588072" cy="660455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Индекс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1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выдаст не первый элемент списка, а второй! Ошибки здесь нет — счёт в списках начинается с нуля. А у первого элемента индекс нулевой.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Список из чисел может выглядеть так: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countdown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= [5, 4, 3, 2, 1, 0] 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К списку, который хранится в переменной, можно прибавить другой список.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</a:t>
            </a:r>
            <a:r>
              <a:rPr lang="ru-RU" sz="1800" dirty="0">
                <a:solidFill>
                  <a:schemeClr val="bg1"/>
                </a:solidFill>
              </a:rPr>
              <a:t># Список может быть и из одного элемента; в списке </a:t>
            </a:r>
            <a:r>
              <a:rPr lang="ru-RU" sz="1800" dirty="0" err="1">
                <a:solidFill>
                  <a:schemeClr val="bg1"/>
                </a:solidFill>
              </a:rPr>
              <a:t>trubadur</a:t>
            </a:r>
            <a:r>
              <a:rPr lang="ru-RU" sz="1800" dirty="0">
                <a:solidFill>
                  <a:schemeClr val="bg1"/>
                </a:solidFill>
              </a:rPr>
              <a:t> лишь один Трубадур: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</a:rPr>
              <a:t>	</a:t>
            </a:r>
            <a:r>
              <a:rPr lang="ru-RU" sz="1800" dirty="0" err="1">
                <a:solidFill>
                  <a:srgbClr val="0070C0"/>
                </a:solidFill>
              </a:rPr>
              <a:t>trubadur</a:t>
            </a:r>
            <a:r>
              <a:rPr lang="ru-RU" sz="1800" dirty="0">
                <a:solidFill>
                  <a:srgbClr val="0070C0"/>
                </a:solidFill>
              </a:rPr>
              <a:t> = ['Трубадур’]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</a:rPr>
              <a:t>	</a:t>
            </a:r>
            <a:r>
              <a:rPr lang="ru-RU" sz="1800" dirty="0">
                <a:solidFill>
                  <a:schemeClr val="bg1"/>
                </a:solidFill>
              </a:rPr>
              <a:t># А в другом списке - несколько музыкантов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</a:rPr>
              <a:t>	</a:t>
            </a:r>
            <a:r>
              <a:rPr lang="ru-RU" sz="1800" dirty="0" err="1">
                <a:solidFill>
                  <a:srgbClr val="0070C0"/>
                </a:solidFill>
              </a:rPr>
              <a:t>animals</a:t>
            </a:r>
            <a:r>
              <a:rPr lang="ru-RU" sz="1800" dirty="0">
                <a:solidFill>
                  <a:srgbClr val="0070C0"/>
                </a:solidFill>
              </a:rPr>
              <a:t> = ['Кот', 'Пёс', 'Осёл', 'Петух’]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</a:rPr>
              <a:t>	</a:t>
            </a:r>
            <a:r>
              <a:rPr lang="ru-RU" sz="1800" dirty="0">
                <a:solidFill>
                  <a:schemeClr val="bg1"/>
                </a:solidFill>
              </a:rPr>
              <a:t># При сложении списков получится новый список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</a:rPr>
              <a:t>	</a:t>
            </a:r>
            <a:r>
              <a:rPr lang="ru-RU" sz="1800" dirty="0" err="1">
                <a:solidFill>
                  <a:srgbClr val="0070C0"/>
                </a:solidFill>
              </a:rPr>
              <a:t>bremen_musicians</a:t>
            </a:r>
            <a:r>
              <a:rPr lang="ru-RU" sz="1800" dirty="0">
                <a:solidFill>
                  <a:srgbClr val="0070C0"/>
                </a:solidFill>
              </a:rPr>
              <a:t> = </a:t>
            </a:r>
            <a:r>
              <a:rPr lang="ru-RU" sz="1800" dirty="0" err="1">
                <a:solidFill>
                  <a:srgbClr val="0070C0"/>
                </a:solidFill>
              </a:rPr>
              <a:t>trubadur</a:t>
            </a:r>
            <a:r>
              <a:rPr lang="ru-RU" sz="1800" dirty="0">
                <a:solidFill>
                  <a:srgbClr val="0070C0"/>
                </a:solidFill>
              </a:rPr>
              <a:t> + </a:t>
            </a:r>
            <a:r>
              <a:rPr lang="ru-RU" sz="1800" dirty="0" err="1">
                <a:solidFill>
                  <a:srgbClr val="0070C0"/>
                </a:solidFill>
              </a:rPr>
              <a:t>animals</a:t>
            </a:r>
            <a:endParaRPr lang="ru-RU" sz="1800" dirty="0">
              <a:solidFill>
                <a:srgbClr val="0070C0"/>
              </a:solidFill>
            </a:endParaRPr>
          </a:p>
          <a:p>
            <a:pPr algn="l"/>
            <a:r>
              <a:rPr lang="ru-RU" sz="1800" dirty="0">
                <a:solidFill>
                  <a:srgbClr val="0070C0"/>
                </a:solidFill>
              </a:rPr>
              <a:t>	</a:t>
            </a:r>
            <a:r>
              <a:rPr lang="ru-RU" sz="1800" dirty="0" err="1">
                <a:solidFill>
                  <a:srgbClr val="0070C0"/>
                </a:solidFill>
              </a:rPr>
              <a:t>print</a:t>
            </a:r>
            <a:r>
              <a:rPr lang="ru-RU" sz="1800" dirty="0">
                <a:solidFill>
                  <a:srgbClr val="0070C0"/>
                </a:solidFill>
              </a:rPr>
              <a:t>(</a:t>
            </a:r>
            <a:r>
              <a:rPr lang="ru-RU" sz="1800" dirty="0" err="1">
                <a:solidFill>
                  <a:srgbClr val="0070C0"/>
                </a:solidFill>
              </a:rPr>
              <a:t>bremen_musicians</a:t>
            </a:r>
            <a:r>
              <a:rPr lang="ru-RU" sz="1800" dirty="0">
                <a:solidFill>
                  <a:srgbClr val="0070C0"/>
                </a:solidFill>
              </a:rPr>
              <a:t>)	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</a:rPr>
              <a:t>	</a:t>
            </a:r>
            <a:r>
              <a:rPr lang="ru-RU" sz="1800" dirty="0">
                <a:solidFill>
                  <a:schemeClr val="bg1"/>
                </a:solidFill>
              </a:rPr>
              <a:t># Будет напечатано</a:t>
            </a:r>
            <a:r>
              <a:rPr lang="ru-RU" sz="1800" dirty="0">
                <a:solidFill>
                  <a:srgbClr val="0070C0"/>
                </a:solidFill>
              </a:rPr>
              <a:t>: ['Трубадур', 'Кот', 'Пёс', 'Осёл', 'Петух’] </a:t>
            </a:r>
            <a:endParaRPr lang="en-US" sz="1800" dirty="0">
              <a:solidFill>
                <a:srgbClr val="0070C0"/>
              </a:solidFill>
            </a:endParaRPr>
          </a:p>
          <a:p>
            <a:pPr algn="l"/>
            <a:endParaRPr lang="ru-RU" sz="1800" dirty="0">
              <a:solidFill>
                <a:srgbClr val="0070C0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Для подсчёта элементов списка есть стандартная функция </a:t>
            </a:r>
            <a:r>
              <a:rPr lang="ru-RU" b="1" dirty="0" err="1">
                <a:solidFill>
                  <a:schemeClr val="bg1"/>
                </a:solidFill>
              </a:rPr>
              <a:t>len</a:t>
            </a:r>
            <a:r>
              <a:rPr lang="ru-RU" b="1" dirty="0">
                <a:solidFill>
                  <a:schemeClr val="bg1"/>
                </a:solidFill>
              </a:rPr>
              <a:t>()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</a:t>
            </a:r>
            <a:r>
              <a:rPr lang="en-US" sz="1900" dirty="0">
                <a:solidFill>
                  <a:srgbClr val="0070C0"/>
                </a:solidFill>
              </a:rPr>
              <a:t>count = </a:t>
            </a:r>
            <a:r>
              <a:rPr lang="en-US" sz="1900" dirty="0" err="1">
                <a:solidFill>
                  <a:srgbClr val="0070C0"/>
                </a:solidFill>
              </a:rPr>
              <a:t>len</a:t>
            </a:r>
            <a:r>
              <a:rPr lang="en-US" sz="1900" dirty="0">
                <a:solidFill>
                  <a:srgbClr val="0070C0"/>
                </a:solidFill>
              </a:rPr>
              <a:t>(</a:t>
            </a:r>
            <a:r>
              <a:rPr lang="en-US" sz="1900" dirty="0" err="1">
                <a:solidFill>
                  <a:srgbClr val="0070C0"/>
                </a:solidFill>
              </a:rPr>
              <a:t>bremen_musicians</a:t>
            </a:r>
            <a:r>
              <a:rPr lang="en-US" sz="1900" dirty="0">
                <a:solidFill>
                  <a:srgbClr val="0070C0"/>
                </a:solidFill>
              </a:rPr>
              <a:t>)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</a:rPr>
              <a:t>	</a:t>
            </a:r>
            <a:r>
              <a:rPr lang="en-US" sz="1900" dirty="0">
                <a:solidFill>
                  <a:srgbClr val="0070C0"/>
                </a:solidFill>
              </a:rPr>
              <a:t>print(count)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</a:rPr>
              <a:t>	</a:t>
            </a:r>
            <a:r>
              <a:rPr lang="en-US" sz="1900" dirty="0">
                <a:solidFill>
                  <a:schemeClr val="bg1"/>
                </a:solidFill>
              </a:rPr>
              <a:t># </a:t>
            </a:r>
            <a:r>
              <a:rPr lang="en-US" sz="1900" dirty="0" err="1">
                <a:solidFill>
                  <a:schemeClr val="bg1"/>
                </a:solidFill>
              </a:rPr>
              <a:t>Будет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напечатано</a:t>
            </a:r>
            <a:r>
              <a:rPr lang="en-US" sz="1900" dirty="0">
                <a:solidFill>
                  <a:srgbClr val="0070C0"/>
                </a:solidFill>
              </a:rPr>
              <a:t>: 5 </a:t>
            </a:r>
            <a:endParaRPr lang="ru-RU" sz="1900" dirty="0">
              <a:solidFill>
                <a:srgbClr val="0070C0"/>
              </a:solidFill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732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A7034-6F5E-0659-3A36-1DBFC791E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95210"/>
            <a:ext cx="8991600" cy="1645920"/>
          </a:xfrm>
        </p:spPr>
        <p:txBody>
          <a:bodyPr>
            <a:normAutofit/>
          </a:bodyPr>
          <a:lstStyle/>
          <a:p>
            <a:pPr algn="l"/>
            <a:r>
              <a:rPr lang="ru-RU" sz="4400" b="1" dirty="0">
                <a:effectLst/>
                <a:latin typeface="YS Text"/>
              </a:rPr>
              <a:t>Циклы</a:t>
            </a:r>
            <a:endParaRPr lang="en-US" sz="4400" b="1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683049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Циклы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обычной жизни зачастую приходится выполнять серии одинаковых операций.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Например, задача «перемыть эту груду грязных тарелок» решается так: взять тарелку — помыть — сполоснуть — вытереть — убрать — взять следующую тарелку — помыть — ...и повторять по кругу.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Этот процесс не бесконечен: работа должна продолжаться лишь при условии, что остались грязные тарелки. Тарелки кончились — работа прекращается!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разработке тоже приходится выполнять одинаковые действия со всеми элементами списка, это довольно востребованная операция.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Для выполнения таких операций придумали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циклы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программные конструкции, выполняющие определённые действия до тех пор, пока выполняется заданное условие.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075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Объявление цикла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999068"/>
            <a:ext cx="11588072" cy="5784390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Чтобы программа поняла, что сейчас начнётся цикл — нужно сообщить ей об этом специальными словами: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объявить цикл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В Python есть несколько разновидностей циклов; перебирать список проще всего циклом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for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 …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in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 … </a:t>
            </a:r>
            <a:r>
              <a:rPr lang="en-US" sz="2400" b="1" dirty="0">
                <a:solidFill>
                  <a:schemeClr val="bg1"/>
                </a:solidFill>
                <a:latin typeface="YS Text"/>
              </a:rPr>
              <a:t>: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с него и начнём.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Цикл в Python объявляется ключевыми словами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for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; после объявления ставится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двоеточие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Ниже объявления пишут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тело цикла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— код, который описывает, что же нужно сделать с каждым элементом списка.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sz="1700" dirty="0" err="1">
                <a:solidFill>
                  <a:srgbClr val="0070C0"/>
                </a:solidFill>
                <a:latin typeface="YS Text"/>
              </a:rPr>
              <a:t>for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 переменная </a:t>
            </a:r>
            <a:r>
              <a:rPr lang="ru-RU" sz="1700" dirty="0" err="1">
                <a:solidFill>
                  <a:srgbClr val="0070C0"/>
                </a:solidFill>
                <a:latin typeface="YS Text"/>
              </a:rPr>
              <a:t>in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 </a:t>
            </a:r>
            <a:r>
              <a:rPr lang="ru-RU" sz="1700" dirty="0" err="1">
                <a:solidFill>
                  <a:srgbClr val="0070C0"/>
                </a:solidFill>
                <a:latin typeface="YS Text"/>
              </a:rPr>
              <a:t>список_элементов</a:t>
            </a:r>
            <a:r>
              <a:rPr lang="ru-RU" sz="1700" dirty="0">
                <a:solidFill>
                  <a:srgbClr val="0070C0"/>
                </a:solidFill>
                <a:latin typeface="YS Text"/>
              </a:rPr>
              <a:t>: </a:t>
            </a:r>
            <a:r>
              <a:rPr lang="ru-RU" sz="1700" dirty="0">
                <a:solidFill>
                  <a:schemeClr val="bg1"/>
                </a:solidFill>
                <a:latin typeface="YS Text"/>
              </a:rPr>
              <a:t># Вот оно, объявление цикла</a:t>
            </a:r>
          </a:p>
          <a:p>
            <a:pPr algn="l"/>
            <a:r>
              <a:rPr lang="ru-RU" sz="1700" dirty="0">
                <a:solidFill>
                  <a:schemeClr val="bg1"/>
                </a:solidFill>
                <a:latin typeface="YS Text"/>
              </a:rPr>
              <a:t>        		# Тут будет тело цикла.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условии цикла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после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for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указывают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имя переменной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в которую будут поочерёдно передаваться элементы из обрабатываемого списка, а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после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in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ставится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имя списка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который надо обработать.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Продолжая метафору, «список элементов» — это груда немытых тарелок, а «переменная, объявленная в условии цикла» — это очередная взятая из груды тарелка.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Цикл автоматически прекратит работу, когда переберёт все элементы списка.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Имя переменной в цикле вы можете дать любое, но традиционно эти имена образуют от имени обрабатываемого списка, в единственном числе. Например, если список называется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musicians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то переменную лучше назвать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musician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; если список называется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pigs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переменную называют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pig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753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439" y="183018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Тело цикла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063488"/>
            <a:ext cx="11588072" cy="5734878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На следующей строке после объявления цикла пишут его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тело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Каждая строка тела цикла обязательно отбивается от начала строки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четырьмя пробелами.</a:t>
            </a:r>
          </a:p>
          <a:p>
            <a:pPr algn="l"/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Цикл берёт значение первого элемента из списка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bremen_musicians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 передаёт его в переменную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musician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Затем выполняется код в теле цикла: например, печатается содержимое переменной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musician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После этого начнётся новый «круг», со следующим элементом списка. И так будет продолжаться до тех пор, пока цикл не переберёт весь список.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Каждый такой «круг» называется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итерацией цикла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Когда список закончится — программа выйдет из цикла; после этого сработает код, который написан после цикла.</a:t>
            </a:r>
          </a:p>
          <a:p>
            <a:pPr algn="l"/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8343BE-9DA4-C4AC-BA83-A8355967C8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0" t="8869" r="370" b="12731"/>
          <a:stretch/>
        </p:blipFill>
        <p:spPr>
          <a:xfrm>
            <a:off x="2604880" y="1744317"/>
            <a:ext cx="6982239" cy="232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97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Отступы в коде циклов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Код программы, написанной на любом современном языке программирования, делится на логические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блоки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Чтобы и компьютеру, и человеку было понятно, где начинается и где заканчивается определённый блок — блоки надо как-то отделять друг от друга.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Например, цикл — это отдельный блок кода. Тело цикла должно быть отделено от остального кода, чтобы компьютер знал, какие именно инструкции надо выполнять в цикле.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качестве основного средства формирования блоков кода в Python используются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отступы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Python отступ — это пустое место в начале строки кода. Каждый вложенный блок отбивается от начала строки четырьмя отступами; код, следующий за блоком, снова пишут от начала строки. В качестве отступов используются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пробелы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или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табы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814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Табы или пробелы?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 Python отступы можно задавать пробелами или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табами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невидимыми символами, которые печатаются при нажатии клавиши Tab. Технической и визуальной разницы нет: код будет работать и с пробелами, и с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табами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а отличить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таб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от пробела на глаз не получится. </a:t>
            </a:r>
          </a:p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Но есть важное ограничение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 в коде нельзя одновременно использовать и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табы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и пробелы; Python этого не поймёт, нужно выбрать что-то одно.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в коде отступы заданы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табами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 пробелами вперемешку, то при запуске программы Python сообщит об ошибке.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Угадать, где в коде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табы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а где пробелы, будет сложно; если угадать не удастся — при запуске кода вы будете снова и снова получать ошибку.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Чтобы не приходилось гадать, какими символами коллеги отбивают свой код — каждая команда разработчиков принимает решение, какой именно символ применять в качестве отступа.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943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Отступы во вложенных циклах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Циклы можно вкладывать друг в друга, при этом вложенный цикл будет выполняться для каждой итерации внешнего цикла. Такие циклы называются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вложенными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 	С каждым уровнем вложенности число отступов перед телом цикла растёт. На каждом дополнительном уровне вложенности код отбивают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дополнительными четырьмя отступами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Отступы в Python — </a:t>
            </a:r>
            <a:r>
              <a:rPr lang="ru-RU" b="1" dirty="0">
                <a:solidFill>
                  <a:schemeClr val="bg1"/>
                </a:solidFill>
              </a:rPr>
              <a:t>это строгое техническое требование</a:t>
            </a:r>
            <a:r>
              <a:rPr lang="ru-RU" dirty="0">
                <a:solidFill>
                  <a:schemeClr val="bg1"/>
                </a:solidFill>
              </a:rPr>
              <a:t>: без правильных отступов программа не заработает или заработает не так, как вы ожидаете. Помимо разделения кода на блоки отступы приносят и другую пользу: они заставляют разработчика оформлять код так, чтобы его было удобно читать не только Питону, но и человеку.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6BBB14-73B8-7203-28F4-BED981EDE7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3" t="14923" r="4090" b="14364"/>
          <a:stretch/>
        </p:blipFill>
        <p:spPr>
          <a:xfrm>
            <a:off x="1343231" y="2689417"/>
            <a:ext cx="9505537" cy="213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17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A7034-6F5E-0659-3A36-1DBFC791E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95210"/>
            <a:ext cx="8991600" cy="1645920"/>
          </a:xfrm>
        </p:spPr>
        <p:txBody>
          <a:bodyPr>
            <a:normAutofit/>
          </a:bodyPr>
          <a:lstStyle/>
          <a:p>
            <a:pPr algn="l"/>
            <a:r>
              <a:rPr lang="ru-RU" sz="4400" b="1" dirty="0">
                <a:latin typeface="YS Text"/>
              </a:rPr>
              <a:t>Диапазоны</a:t>
            </a:r>
            <a:endParaRPr lang="en-US" sz="4400" b="1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989844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Диапазоны от и до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Зачастую возникает необходимость создать и обработать последовательность целых чисел в определённом диапазоне. Например, когда нужно узнать сумму всех целых чисел от 3 до 5 или просто перечислить все номера вагонов поезда.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Можно вручную создать список из чисел, либо выбрать способ проще: в Python есть функция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range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(),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 которую передаются два целых числа: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начало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конец диапазона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В результате будет создана последовательность, включающая все целые числа в указанном диапазоне.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Особенность этой последовательности в том, что в неё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не включается последнее число диапазона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</a:t>
            </a:r>
            <a:r>
              <a:rPr lang="ru-RU" dirty="0" err="1">
                <a:solidFill>
                  <a:srgbClr val="0070C0"/>
                </a:solidFill>
              </a:rPr>
              <a:t>three</a:t>
            </a:r>
            <a:r>
              <a:rPr lang="ru-RU" dirty="0">
                <a:solidFill>
                  <a:srgbClr val="0070C0"/>
                </a:solidFill>
              </a:rPr>
              <a:t> = </a:t>
            </a:r>
            <a:r>
              <a:rPr lang="ru-RU" dirty="0" err="1">
                <a:solidFill>
                  <a:srgbClr val="0070C0"/>
                </a:solidFill>
              </a:rPr>
              <a:t>range</a:t>
            </a:r>
            <a:r>
              <a:rPr lang="ru-RU" dirty="0">
                <a:solidFill>
                  <a:srgbClr val="0070C0"/>
                </a:solidFill>
              </a:rPr>
              <a:t>(</a:t>
            </a:r>
            <a:r>
              <a:rPr lang="en-US" dirty="0">
                <a:solidFill>
                  <a:srgbClr val="0070C0"/>
                </a:solidFill>
              </a:rPr>
              <a:t>0, 3</a:t>
            </a:r>
            <a:r>
              <a:rPr lang="ru-RU" dirty="0">
                <a:solidFill>
                  <a:srgbClr val="0070C0"/>
                </a:solidFill>
              </a:rPr>
              <a:t>)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# Последовательность </a:t>
            </a:r>
            <a:r>
              <a:rPr lang="ru-RU" dirty="0" err="1">
                <a:solidFill>
                  <a:schemeClr val="bg1"/>
                </a:solidFill>
              </a:rPr>
              <a:t>three</a:t>
            </a:r>
            <a:r>
              <a:rPr lang="ru-RU" dirty="0">
                <a:solidFill>
                  <a:schemeClr val="bg1"/>
                </a:solidFill>
              </a:rPr>
              <a:t> будет включать в себя числа 0, 1 и 2.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# Тройка в эту последовательность не войдёт: 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# последнее число в последовательность не включается.  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Числа могут быть и отрицательными. Важно, чтобы первое число было меньше второго.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</a:t>
            </a:r>
            <a:r>
              <a:rPr lang="ru-RU" dirty="0" err="1">
                <a:solidFill>
                  <a:srgbClr val="0070C0"/>
                </a:solidFill>
              </a:rPr>
              <a:t>around_zero</a:t>
            </a:r>
            <a:r>
              <a:rPr lang="ru-RU" dirty="0">
                <a:solidFill>
                  <a:srgbClr val="0070C0"/>
                </a:solidFill>
              </a:rPr>
              <a:t> = </a:t>
            </a:r>
            <a:r>
              <a:rPr lang="ru-RU" dirty="0" err="1">
                <a:solidFill>
                  <a:srgbClr val="0070C0"/>
                </a:solidFill>
              </a:rPr>
              <a:t>range</a:t>
            </a:r>
            <a:r>
              <a:rPr lang="ru-RU" dirty="0">
                <a:solidFill>
                  <a:srgbClr val="0070C0"/>
                </a:solidFill>
              </a:rPr>
              <a:t>(-3, 3)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# Последовательность </a:t>
            </a:r>
            <a:r>
              <a:rPr lang="ru-RU" dirty="0" err="1">
                <a:solidFill>
                  <a:schemeClr val="bg1"/>
                </a:solidFill>
              </a:rPr>
              <a:t>around_zero</a:t>
            </a:r>
            <a:r>
              <a:rPr lang="ru-RU" dirty="0">
                <a:solidFill>
                  <a:schemeClr val="bg1"/>
                </a:solidFill>
              </a:rPr>
              <a:t> будет включать в себя числа -3, -2, -1, 0, 1 и 2.</a:t>
            </a:r>
          </a:p>
        </p:txBody>
      </p:sp>
    </p:spTree>
    <p:extLst>
      <p:ext uri="{BB962C8B-B14F-4D97-AF65-F5344CB8AC3E}">
        <p14:creationId xmlns:p14="http://schemas.microsoft.com/office/powerpoint/2010/main" val="15001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Список задом наперёд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Если нужно пройтись по списку или по диапазону чисел в обратном порядке — вызывайте функцию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reversed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 она переворачивает и список, и диапазон; чтение любой последовательности начнётся с конца.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rgbClr val="0070C0"/>
                </a:solidFill>
              </a:rPr>
              <a:t>for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in reversed(range(1, 13)):</a:t>
            </a:r>
          </a:p>
          <a:p>
            <a:pPr algn="l"/>
            <a:r>
              <a:rPr lang="en-US" dirty="0">
                <a:solidFill>
                  <a:srgbClr val="0070C0"/>
                </a:solidFill>
              </a:rPr>
              <a:t>   </a:t>
            </a:r>
            <a:r>
              <a:rPr lang="ru-RU" dirty="0">
                <a:solidFill>
                  <a:srgbClr val="0070C0"/>
                </a:solidFill>
              </a:rPr>
              <a:t>	        </a:t>
            </a:r>
            <a:r>
              <a:rPr lang="en-US" dirty="0">
                <a:solidFill>
                  <a:srgbClr val="0070C0"/>
                </a:solidFill>
              </a:rPr>
              <a:t>print(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, '</a:t>
            </a:r>
            <a:r>
              <a:rPr lang="ru-RU" dirty="0" err="1">
                <a:solidFill>
                  <a:srgbClr val="0070C0"/>
                </a:solidFill>
              </a:rPr>
              <a:t>бомм</a:t>
            </a:r>
            <a:r>
              <a:rPr lang="ru-RU" dirty="0">
                <a:solidFill>
                  <a:srgbClr val="0070C0"/>
                </a:solidFill>
              </a:rPr>
              <a:t>!’)</a:t>
            </a:r>
          </a:p>
          <a:p>
            <a:pPr algn="l"/>
            <a:r>
              <a:rPr lang="ru-RU" dirty="0">
                <a:solidFill>
                  <a:srgbClr val="0070C0"/>
                </a:solidFill>
              </a:rPr>
              <a:t>	</a:t>
            </a:r>
            <a:r>
              <a:rPr lang="en-US" dirty="0">
                <a:solidFill>
                  <a:srgbClr val="0070C0"/>
                </a:solidFill>
              </a:rPr>
              <a:t>print('C </a:t>
            </a:r>
            <a:r>
              <a:rPr lang="ru-RU" dirty="0">
                <a:solidFill>
                  <a:srgbClr val="0070C0"/>
                </a:solidFill>
              </a:rPr>
              <a:t>новым годом!')</a:t>
            </a:r>
          </a:p>
        </p:txBody>
      </p:sp>
    </p:spTree>
    <p:extLst>
      <p:ext uri="{BB962C8B-B14F-4D97-AF65-F5344CB8AC3E}">
        <p14:creationId xmlns:p14="http://schemas.microsoft.com/office/powerpoint/2010/main" val="390892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A7034-6F5E-0659-3A36-1DBFC791E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95210"/>
            <a:ext cx="8991600" cy="1645920"/>
          </a:xfrm>
        </p:spPr>
        <p:txBody>
          <a:bodyPr>
            <a:normAutofit/>
          </a:bodyPr>
          <a:lstStyle/>
          <a:p>
            <a:pPr algn="l"/>
            <a:r>
              <a:rPr lang="ru-RU" sz="4400" b="1" dirty="0">
                <a:latin typeface="YS Text"/>
              </a:rPr>
              <a:t>Ветвления</a:t>
            </a:r>
            <a:endParaRPr lang="en-US" sz="4400" b="1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098609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Ветвления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Кроме арифметических выражений, в Python есть логические, которые возвращают ответ: выражение истинное или ложное.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Например,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равенство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проверяется оператором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==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Новички часто путают его с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присваиванием =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выражении x = 5 применён оператор присваивания: переменной x присвоено значение 5.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Выражение x == 5, в котором применён логический оператор «равно» — это вопрос: «А правда ли, что x равен пяти?».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зависимости от того, какое значение присвоено переменной x, программа даст ответ (вернёт значение): «Да, правда», True; или «Нет, не правда»,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False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Ещё числа можно сравнивать операторами &lt; (меньше) и &gt; (больше).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5 &lt; 3: «А правда ли, что 5 меньше трёх?». Ответ: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False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100 &gt; 1: «Действительно ли сто больше одного?». Ответ: True.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Результат проверки определяется особыми логическими значениями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True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или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False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230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Ветвление кода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Ветвления позволяют писать код, который исполняется, когда логическое выражение истинно.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Ветвление объявляют оператором </a:t>
            </a:r>
            <a:r>
              <a:rPr lang="ru-RU" sz="2400" b="1" dirty="0" err="1">
                <a:solidFill>
                  <a:schemeClr val="bg1"/>
                </a:solidFill>
              </a:rPr>
              <a:t>if</a:t>
            </a:r>
            <a:r>
              <a:rPr lang="ru-RU" sz="2400" b="1" dirty="0">
                <a:solidFill>
                  <a:schemeClr val="bg1"/>
                </a:solidFill>
              </a:rPr>
              <a:t>.</a:t>
            </a:r>
            <a:r>
              <a:rPr lang="ru-RU" dirty="0">
                <a:solidFill>
                  <a:schemeClr val="bg1"/>
                </a:solidFill>
              </a:rPr>
              <a:t> После </a:t>
            </a:r>
            <a:r>
              <a:rPr lang="ru-RU" dirty="0" err="1">
                <a:solidFill>
                  <a:schemeClr val="bg1"/>
                </a:solidFill>
              </a:rPr>
              <a:t>if</a:t>
            </a:r>
            <a:r>
              <a:rPr lang="ru-RU" dirty="0">
                <a:solidFill>
                  <a:schemeClr val="bg1"/>
                </a:solidFill>
              </a:rPr>
              <a:t> пишут условие — логическое выражение, результатом которого может быть </a:t>
            </a:r>
            <a:r>
              <a:rPr lang="ru-RU" b="1" dirty="0">
                <a:solidFill>
                  <a:schemeClr val="bg1"/>
                </a:solidFill>
              </a:rPr>
              <a:t>True </a:t>
            </a:r>
            <a:r>
              <a:rPr lang="ru-RU" dirty="0">
                <a:solidFill>
                  <a:schemeClr val="bg1"/>
                </a:solidFill>
              </a:rPr>
              <a:t>или </a:t>
            </a:r>
            <a:r>
              <a:rPr lang="ru-RU" b="1" dirty="0" err="1">
                <a:solidFill>
                  <a:schemeClr val="bg1"/>
                </a:solidFill>
              </a:rPr>
              <a:t>False</a:t>
            </a:r>
            <a:r>
              <a:rPr lang="ru-RU" dirty="0">
                <a:solidFill>
                  <a:schemeClr val="bg1"/>
                </a:solidFill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Если выражение в условии истинно, то выполняется код, написанный после двоеточия. Если ложно, код после условия не сработает.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ru-RU" dirty="0" err="1">
                <a:solidFill>
                  <a:srgbClr val="0070C0"/>
                </a:solidFill>
              </a:rPr>
              <a:t>if</a:t>
            </a:r>
            <a:r>
              <a:rPr lang="ru-RU" dirty="0">
                <a:solidFill>
                  <a:srgbClr val="0070C0"/>
                </a:solidFill>
              </a:rPr>
              <a:t> &lt;условие&gt;:</a:t>
            </a:r>
          </a:p>
          <a:p>
            <a:pPr algn="l"/>
            <a:r>
              <a:rPr lang="ru-RU" dirty="0">
                <a:solidFill>
                  <a:srgbClr val="0070C0"/>
                </a:solidFill>
              </a:rPr>
              <a:t>    </a:t>
            </a:r>
            <a:r>
              <a:rPr lang="en-US" dirty="0">
                <a:solidFill>
                  <a:srgbClr val="0070C0"/>
                </a:solidFill>
              </a:rPr>
              <a:t>		</a:t>
            </a:r>
            <a:r>
              <a:rPr lang="ru-RU" dirty="0">
                <a:solidFill>
                  <a:srgbClr val="0070C0"/>
                </a:solidFill>
              </a:rPr>
              <a:t>&lt;код, который выполнится, если условие вернуло True&gt; </a:t>
            </a:r>
            <a:endParaRPr lang="en-US" dirty="0">
              <a:solidFill>
                <a:srgbClr val="0070C0"/>
              </a:solidFill>
            </a:endParaRPr>
          </a:p>
          <a:p>
            <a:pPr algn="l"/>
            <a:endParaRPr lang="ru-RU" dirty="0">
              <a:solidFill>
                <a:srgbClr val="0070C0"/>
              </a:solidFill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577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Ответь хоть что-нибудь!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Оператор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может включать блок кода, который выполнится в том случае, если условие ложно. Для этого существует конструкция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/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условное выражение истинно, выполняется код из блока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а если условие ложно — сработает код из блока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Инструкция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всегда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работает c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Если условие в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ложно, то выполнится код, который написан в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При этом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может использоваться без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но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без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никогда. Такой код не имеет смысла и не заработает.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if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&lt;условие&gt;: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    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	        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&lt;код, который выполнится, если условие истинно&gt; 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else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: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    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	        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&lt;код, который выполнится, если условие ложно&gt;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956443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latin typeface="YS Text"/>
              </a:rPr>
              <a:t>Задание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147970"/>
            <a:ext cx="11588072" cy="5710030"/>
          </a:xfrm>
        </p:spPr>
        <p:txBody>
          <a:bodyPr>
            <a:normAutofit/>
          </a:bodyPr>
          <a:lstStyle/>
          <a:p>
            <a:r>
              <a:rPr lang="ru-RU" dirty="0"/>
              <a:t>	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Расставьте строки кода в нужных местах так, чтобы программа вывела строку </a:t>
            </a:r>
          </a:p>
          <a:p>
            <a:r>
              <a:rPr lang="ru-RU" sz="2400" dirty="0">
                <a:solidFill>
                  <a:schemeClr val="bg1"/>
                </a:solidFill>
                <a:latin typeface="YS Text"/>
              </a:rPr>
              <a:t>«У вас больше 10 яблок!».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Доступные строки:				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A: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print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('У вас меньше 10 яблок!’)			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Варианты ответов: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B: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print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('У вас больше 10 яблок!’)			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1.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A - строка_1, B - строка_2, C - строка_3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C: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apples_count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&gt; 10				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2.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B - строка_1, A - строка_2, C - строка_3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Код:						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3.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C - строка_1, B - строка_2, A - строка_3</a:t>
            </a:r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apples_count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20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if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&lt;строка_1&gt;: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   	      &lt;строка_2&gt;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else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: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   	      &lt;строка_3&gt; 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608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Множественные ветвления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для необходимой проверки нужно соблюсти множество условий, то и выражений будет много. Такой код будет состоять из множества вложенных друг в друга условных операторов, и каждый вложенный блок отделяется четырьмя пробелами слева, что усложняет и без того непростое восприятие.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Код конструкции можно упростить при помощи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elif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Инструкция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elif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это вложенная конструкция для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 «Если условие для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не выполнено, но выполняется условие для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выполнить код в блоке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».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Как и для оператора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 в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должно быть установлено условие, логическое выражение, которое вернёт True или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False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Как только выполняется одно из условий, все следующие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игнорируются.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Инструкция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else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всегда идёт последней и не ожидает после себя дополнительных инструкций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elif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3758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Логические выражения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Кроме простых операторов сравнения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«равно» ==,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«меньше» &lt;,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«больше» &gt;,</a:t>
            </a:r>
          </a:p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есть и более сложные операторы, учитывающие сразу два условия: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больше или равно &gt;=,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меньше или равно &lt;=,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не равно !=.</a:t>
            </a: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Когда нужно выбирать между двумя условиями, в ход идут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логические операции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6585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логические операции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Оператор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or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«логическое ИЛИ», возвращает True,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если хотя бы одно из условий истинно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первый аргумент оператора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or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возвращает True, то второй аргумент не оценивается, так как ответ уже ясен. </a:t>
            </a:r>
          </a:p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Оператор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and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«логическое И», возвращает True,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только если оба условия истинны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один из аргументов оператора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and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возвращает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False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то другой аргумент уже не оценивается: оператор в любом случае вернёт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False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694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63750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Составные логические выражения</a:t>
            </a:r>
            <a:endParaRPr lang="en-US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904461"/>
            <a:ext cx="11588072" cy="599329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/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Логические операторы можно объединять в составные выражения. В таких выражениях операторы выполняются не в порядке записи, а в порядке приоритета: высший приоритет у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not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затем выполняется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and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а последним —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or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 оператором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not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вы ещё не встречались. </a:t>
            </a:r>
          </a:p>
          <a:p>
            <a:pPr algn="l"/>
            <a:r>
              <a:rPr lang="en-US" b="1" dirty="0" err="1">
                <a:solidFill>
                  <a:schemeClr val="bg1"/>
                </a:solidFill>
                <a:latin typeface="YS Text"/>
              </a:rPr>
              <a:t>Оператор</a:t>
            </a:r>
            <a:r>
              <a:rPr lang="en-US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YS Text"/>
              </a:rPr>
              <a:t>not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: not True == False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Оператор </a:t>
            </a:r>
            <a:r>
              <a:rPr lang="ru-RU" dirty="0" err="1">
                <a:solidFill>
                  <a:schemeClr val="bg1"/>
                </a:solidFill>
              </a:rPr>
              <a:t>not</a:t>
            </a:r>
            <a:r>
              <a:rPr lang="ru-RU" dirty="0">
                <a:solidFill>
                  <a:schemeClr val="bg1"/>
                </a:solidFill>
              </a:rPr>
              <a:t> — это </a:t>
            </a:r>
            <a:r>
              <a:rPr lang="ru-RU" b="1" dirty="0">
                <a:solidFill>
                  <a:schemeClr val="bg1"/>
                </a:solidFill>
              </a:rPr>
              <a:t>логическое отрицание</a:t>
            </a:r>
            <a:r>
              <a:rPr lang="ru-RU" dirty="0">
                <a:solidFill>
                  <a:schemeClr val="bg1"/>
                </a:solidFill>
              </a:rPr>
              <a:t>, он возвращает True, если выражение равно </a:t>
            </a:r>
            <a:r>
              <a:rPr lang="ru-RU" dirty="0" err="1">
                <a:solidFill>
                  <a:schemeClr val="bg1"/>
                </a:solidFill>
              </a:rPr>
              <a:t>False</a:t>
            </a:r>
            <a:r>
              <a:rPr lang="ru-RU" dirty="0">
                <a:solidFill>
                  <a:schemeClr val="bg1"/>
                </a:solidFill>
              </a:rPr>
              <a:t> и наоборот.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Для примера можно вывести на печать результаты применения оператора </a:t>
            </a:r>
            <a:r>
              <a:rPr lang="ru-RU" dirty="0" err="1">
                <a:solidFill>
                  <a:schemeClr val="bg1"/>
                </a:solidFill>
              </a:rPr>
              <a:t>not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	</a:t>
            </a:r>
            <a:r>
              <a:rPr lang="ru-RU" sz="1700" dirty="0" err="1">
                <a:solidFill>
                  <a:srgbClr val="0070C0"/>
                </a:solidFill>
              </a:rPr>
              <a:t>print</a:t>
            </a:r>
            <a:r>
              <a:rPr lang="ru-RU" sz="1700" dirty="0">
                <a:solidFill>
                  <a:srgbClr val="0070C0"/>
                </a:solidFill>
              </a:rPr>
              <a:t>(True)</a:t>
            </a:r>
          </a:p>
          <a:p>
            <a:pPr algn="l"/>
            <a:r>
              <a:rPr lang="ru-RU" sz="1700" dirty="0">
                <a:solidFill>
                  <a:schemeClr val="bg1"/>
                </a:solidFill>
              </a:rPr>
              <a:t>	# Без неожиданностей, будет напечатано: True</a:t>
            </a:r>
          </a:p>
          <a:p>
            <a:pPr algn="l"/>
            <a:endParaRPr lang="ru-RU" sz="1700" dirty="0">
              <a:solidFill>
                <a:schemeClr val="bg1"/>
              </a:solidFill>
            </a:endParaRPr>
          </a:p>
          <a:p>
            <a:pPr algn="l"/>
            <a:r>
              <a:rPr lang="ru-RU" sz="1700" dirty="0">
                <a:solidFill>
                  <a:schemeClr val="bg1"/>
                </a:solidFill>
              </a:rPr>
              <a:t>	</a:t>
            </a:r>
            <a:r>
              <a:rPr lang="ru-RU" sz="1700" dirty="0" err="1">
                <a:solidFill>
                  <a:srgbClr val="0070C0"/>
                </a:solidFill>
              </a:rPr>
              <a:t>print</a:t>
            </a:r>
            <a:r>
              <a:rPr lang="ru-RU" sz="1700" dirty="0">
                <a:solidFill>
                  <a:srgbClr val="0070C0"/>
                </a:solidFill>
              </a:rPr>
              <a:t>(</a:t>
            </a:r>
            <a:r>
              <a:rPr lang="ru-RU" sz="1700" dirty="0" err="1">
                <a:solidFill>
                  <a:srgbClr val="0070C0"/>
                </a:solidFill>
              </a:rPr>
              <a:t>not</a:t>
            </a:r>
            <a:r>
              <a:rPr lang="ru-RU" sz="1700" dirty="0">
                <a:solidFill>
                  <a:srgbClr val="0070C0"/>
                </a:solidFill>
              </a:rPr>
              <a:t> True)</a:t>
            </a:r>
          </a:p>
          <a:p>
            <a:pPr algn="l"/>
            <a:r>
              <a:rPr lang="ru-RU" sz="1700" dirty="0">
                <a:solidFill>
                  <a:schemeClr val="bg1"/>
                </a:solidFill>
              </a:rPr>
              <a:t>	# Будет напечатано: </a:t>
            </a:r>
            <a:r>
              <a:rPr lang="ru-RU" sz="1700" dirty="0" err="1">
                <a:solidFill>
                  <a:schemeClr val="bg1"/>
                </a:solidFill>
              </a:rPr>
              <a:t>False</a:t>
            </a:r>
            <a:endParaRPr lang="ru-RU" sz="1700" dirty="0">
              <a:solidFill>
                <a:schemeClr val="bg1"/>
              </a:solidFill>
            </a:endParaRPr>
          </a:p>
          <a:p>
            <a:pPr algn="l"/>
            <a:endParaRPr lang="ru-RU" sz="1700" dirty="0">
              <a:solidFill>
                <a:schemeClr val="bg1"/>
              </a:solidFill>
            </a:endParaRPr>
          </a:p>
          <a:p>
            <a:pPr algn="l"/>
            <a:r>
              <a:rPr lang="ru-RU" sz="1700" dirty="0">
                <a:solidFill>
                  <a:schemeClr val="bg1"/>
                </a:solidFill>
              </a:rPr>
              <a:t>	</a:t>
            </a:r>
            <a:r>
              <a:rPr lang="ru-RU" sz="1700" dirty="0" err="1">
                <a:solidFill>
                  <a:srgbClr val="0070C0"/>
                </a:solidFill>
              </a:rPr>
              <a:t>print</a:t>
            </a:r>
            <a:r>
              <a:rPr lang="ru-RU" sz="1700" dirty="0">
                <a:solidFill>
                  <a:srgbClr val="0070C0"/>
                </a:solidFill>
              </a:rPr>
              <a:t>(</a:t>
            </a:r>
            <a:r>
              <a:rPr lang="ru-RU" sz="1700" dirty="0" err="1">
                <a:solidFill>
                  <a:srgbClr val="0070C0"/>
                </a:solidFill>
              </a:rPr>
              <a:t>not</a:t>
            </a:r>
            <a:r>
              <a:rPr lang="ru-RU" sz="1700" dirty="0">
                <a:solidFill>
                  <a:srgbClr val="0070C0"/>
                </a:solidFill>
              </a:rPr>
              <a:t> </a:t>
            </a:r>
            <a:r>
              <a:rPr lang="ru-RU" sz="1700" dirty="0" err="1">
                <a:solidFill>
                  <a:srgbClr val="0070C0"/>
                </a:solidFill>
              </a:rPr>
              <a:t>False</a:t>
            </a:r>
            <a:r>
              <a:rPr lang="ru-RU" sz="1700" dirty="0">
                <a:solidFill>
                  <a:srgbClr val="0070C0"/>
                </a:solidFill>
              </a:rPr>
              <a:t>)</a:t>
            </a:r>
          </a:p>
          <a:p>
            <a:pPr algn="l"/>
            <a:r>
              <a:rPr lang="ru-RU" sz="1700" dirty="0">
                <a:solidFill>
                  <a:schemeClr val="bg1"/>
                </a:solidFill>
              </a:rPr>
              <a:t>	# Будет напечатано: True 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Любая операция сравнения возвращает True или </a:t>
            </a:r>
            <a:r>
              <a:rPr lang="ru-RU" dirty="0" err="1">
                <a:solidFill>
                  <a:schemeClr val="bg1"/>
                </a:solidFill>
              </a:rPr>
              <a:t>False</a:t>
            </a:r>
            <a:r>
              <a:rPr lang="ru-RU" dirty="0">
                <a:solidFill>
                  <a:schemeClr val="bg1"/>
                </a:solidFill>
              </a:rPr>
              <a:t>. А оператор </a:t>
            </a:r>
            <a:r>
              <a:rPr lang="ru-RU" dirty="0" err="1">
                <a:solidFill>
                  <a:schemeClr val="bg1"/>
                </a:solidFill>
              </a:rPr>
              <a:t>not</a:t>
            </a:r>
            <a:r>
              <a:rPr lang="ru-RU" dirty="0">
                <a:solidFill>
                  <a:schemeClr val="bg1"/>
                </a:solidFill>
              </a:rPr>
              <a:t> просто превращает эти значения в их </a:t>
            </a:r>
            <a:r>
              <a:rPr lang="ru-RU" b="1" dirty="0">
                <a:solidFill>
                  <a:schemeClr val="bg1"/>
                </a:solidFill>
              </a:rPr>
              <a:t>противоположности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8219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Приоритетность логических операторов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Итак, в любом составном выражении сначала выполняется оператор </a:t>
            </a:r>
            <a:r>
              <a:rPr lang="ru-RU" sz="2400" dirty="0" err="1">
                <a:solidFill>
                  <a:schemeClr val="bg1"/>
                </a:solidFill>
                <a:latin typeface="YS Text"/>
              </a:rPr>
              <a:t>not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, затем — </a:t>
            </a:r>
            <a:r>
              <a:rPr lang="ru-RU" sz="2400" dirty="0" err="1">
                <a:solidFill>
                  <a:schemeClr val="bg1"/>
                </a:solidFill>
                <a:latin typeface="YS Text"/>
              </a:rPr>
              <a:t>and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, а последним — </a:t>
            </a:r>
            <a:r>
              <a:rPr lang="ru-RU" sz="2400" dirty="0" err="1">
                <a:solidFill>
                  <a:schemeClr val="bg1"/>
                </a:solidFill>
                <a:latin typeface="YS Text"/>
              </a:rPr>
              <a:t>or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Если нужно </a:t>
            </a:r>
            <a:r>
              <a:rPr lang="ru-RU" sz="2400" i="0" dirty="0">
                <a:solidFill>
                  <a:schemeClr val="bg1"/>
                </a:solidFill>
                <a:effectLst/>
                <a:latin typeface="YS Text"/>
              </a:rPr>
              <a:t>переопределим порядок вычислений, используем скобки!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422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A7034-6F5E-0659-3A36-1DBFC791E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95210"/>
            <a:ext cx="8991600" cy="1645920"/>
          </a:xfrm>
        </p:spPr>
        <p:txBody>
          <a:bodyPr>
            <a:normAutofit/>
          </a:bodyPr>
          <a:lstStyle/>
          <a:p>
            <a:pPr algn="l"/>
            <a:r>
              <a:rPr lang="ru-RU" sz="4400" b="1" dirty="0">
                <a:effectLst/>
                <a:latin typeface="YS Text"/>
              </a:rPr>
              <a:t>Функции</a:t>
            </a:r>
            <a:endParaRPr lang="en-US" sz="4400" b="1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909111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Функции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Иногда в разных частях программы нужно выполнять одинаковые действия. Самый простой подход в такой ситуации — взять готовый кусок кода и скопировать его туда, где требуется повторить выполнение. </a:t>
            </a:r>
            <a:endParaRPr lang="en-US" sz="24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bg1"/>
                </a:solidFill>
              </a:rPr>
              <a:t>Если программа сложная — она очень быстро превратится в винегрет из повторяющихся фрагментов кода, разобраться в котором будет невозможно.</a:t>
            </a:r>
          </a:p>
          <a:p>
            <a:pPr algn="l"/>
            <a:r>
              <a:rPr lang="ru-RU" sz="2400" dirty="0">
                <a:solidFill>
                  <a:schemeClr val="bg1"/>
                </a:solidFill>
              </a:rPr>
              <a:t>От хаоса и беспросветности разработчиков спасают </a:t>
            </a:r>
            <a:r>
              <a:rPr lang="ru-RU" sz="2400" b="1" dirty="0">
                <a:solidFill>
                  <a:schemeClr val="bg1"/>
                </a:solidFill>
              </a:rPr>
              <a:t>функции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ru-RU" sz="2400" b="1" dirty="0">
                <a:solidFill>
                  <a:schemeClr val="bg1"/>
                </a:solidFill>
              </a:rPr>
              <a:t>Функция</a:t>
            </a:r>
            <a:r>
              <a:rPr lang="ru-RU" sz="2400" dirty="0">
                <a:solidFill>
                  <a:schemeClr val="bg1"/>
                </a:solidFill>
              </a:rPr>
              <a:t> — это именованный блок кода, выполняющий определённую задачу. Код функции можно использовать многократно, надо лишь вызвать её — обратиться к ней по имени. </a:t>
            </a:r>
          </a:p>
          <a:p>
            <a:pPr algn="l"/>
            <a:r>
              <a:rPr lang="ru-RU" sz="2400" dirty="0">
                <a:solidFill>
                  <a:schemeClr val="bg1"/>
                </a:solidFill>
              </a:rPr>
              <a:t>В Python есть множество заготовленных (встроенных) функций, некоторые вы уже вызывали: </a:t>
            </a:r>
            <a:r>
              <a:rPr lang="ru-RU" sz="2400" b="1" dirty="0" err="1">
                <a:solidFill>
                  <a:schemeClr val="bg1"/>
                </a:solidFill>
              </a:rPr>
              <a:t>print</a:t>
            </a:r>
            <a:r>
              <a:rPr lang="ru-RU" sz="2400" b="1" dirty="0">
                <a:solidFill>
                  <a:schemeClr val="bg1"/>
                </a:solidFill>
              </a:rPr>
              <a:t>(), </a:t>
            </a:r>
            <a:r>
              <a:rPr lang="ru-RU" sz="2400" b="1" dirty="0" err="1">
                <a:solidFill>
                  <a:schemeClr val="bg1"/>
                </a:solidFill>
              </a:rPr>
              <a:t>str</a:t>
            </a:r>
            <a:r>
              <a:rPr lang="ru-RU" sz="2400" b="1" dirty="0">
                <a:solidFill>
                  <a:schemeClr val="bg1"/>
                </a:solidFill>
              </a:rPr>
              <a:t>(), </a:t>
            </a:r>
            <a:r>
              <a:rPr lang="ru-RU" sz="2400" b="1" dirty="0" err="1">
                <a:solidFill>
                  <a:schemeClr val="bg1"/>
                </a:solidFill>
              </a:rPr>
              <a:t>int</a:t>
            </a:r>
            <a:r>
              <a:rPr lang="ru-RU" sz="2400" b="1" dirty="0">
                <a:solidFill>
                  <a:schemeClr val="bg1"/>
                </a:solidFill>
              </a:rPr>
              <a:t>(), </a:t>
            </a:r>
            <a:r>
              <a:rPr lang="ru-RU" sz="2400" b="1" dirty="0" err="1">
                <a:solidFill>
                  <a:schemeClr val="bg1"/>
                </a:solidFill>
              </a:rPr>
              <a:t>float</a:t>
            </a:r>
            <a:r>
              <a:rPr lang="ru-RU" sz="2400" b="1" dirty="0">
                <a:solidFill>
                  <a:schemeClr val="bg1"/>
                </a:solidFill>
              </a:rPr>
              <a:t>(), </a:t>
            </a:r>
            <a:r>
              <a:rPr lang="ru-RU" sz="2400" b="1" dirty="0" err="1">
                <a:solidFill>
                  <a:schemeClr val="bg1"/>
                </a:solidFill>
              </a:rPr>
              <a:t>len</a:t>
            </a:r>
            <a:r>
              <a:rPr lang="ru-RU" sz="2400" b="1" dirty="0">
                <a:solidFill>
                  <a:schemeClr val="bg1"/>
                </a:solidFill>
              </a:rPr>
              <a:t>()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54637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592" y="148231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Объявление функции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/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Всё начинается с объявления функции, со строки, которая означает «здесь мы создаём новую функцию». </a:t>
            </a:r>
          </a:p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Функцию объявляют ключевым словом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def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, затем указывают имя функции (его придумывает разработчик), после имени — круглые скобки и двоеточие. </a:t>
            </a:r>
          </a:p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За объявлением функции следует код, который функция должна выполнить при вызове. Этот код называется 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телом функции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. Тело функции, как и тело цикла, отбивается четырьмя пробелами от начала строки: по этим отступам Python понимает, где начинается и заканчивается тело функции. Нет отступов — нет тела функции.</a:t>
            </a:r>
            <a:endParaRPr lang="en-US" sz="24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en-US" sz="2400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# Объявление функции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hello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()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def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hello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():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   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	       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# А здесь началось тело функции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    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	       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print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('Приветствую тебя, джедай Питона!') </a:t>
            </a:r>
            <a:endParaRPr lang="ru-R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883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i="0" dirty="0">
                <a:effectLst/>
                <a:latin typeface="YS Text"/>
              </a:rPr>
              <a:t>вызов функции</a:t>
            </a:r>
            <a:endParaRPr lang="ru-RU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073426"/>
            <a:ext cx="11588072" cy="5556829"/>
          </a:xfrm>
        </p:spPr>
        <p:txBody>
          <a:bodyPr>
            <a:normAutofit/>
          </a:bodyPr>
          <a:lstStyle/>
          <a:p>
            <a:pPr algn="l"/>
            <a:r>
              <a:rPr lang="ru-RU" sz="1800" b="0" i="0" dirty="0">
                <a:solidFill>
                  <a:schemeClr val="bg1"/>
                </a:solidFill>
                <a:effectLst/>
                <a:latin typeface="YS Text"/>
              </a:rPr>
              <a:t>Функция не выполнится до тех пор, пока где-то в коде программы не будет вызова функции, команды: «Функция, делай свою работу!».</a:t>
            </a:r>
            <a:endParaRPr lang="en-US" sz="1800" b="0" i="0" dirty="0">
              <a:solidFill>
                <a:schemeClr val="bg1"/>
              </a:solidFill>
              <a:effectLst/>
              <a:latin typeface="YS Text"/>
            </a:endParaRP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Пока функция не вызвана — она не выполняется: она просто лежит и ждёт своего часа.</a:t>
            </a: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Чтобы вызвать функцию — нужно «позвать» её по имени: написать название функции и  после названия поставить круглые скобки.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72AF48-3F20-8AFF-35EA-CEC8C523A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518" y="2615673"/>
            <a:ext cx="6720964" cy="420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663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82155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Параметры и аргументы функции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974036"/>
            <a:ext cx="11588072" cy="5656220"/>
          </a:xfrm>
        </p:spPr>
        <p:txBody>
          <a:bodyPr/>
          <a:lstStyle/>
          <a:p>
            <a:pPr algn="l"/>
            <a:r>
              <a:rPr lang="ru-RU" sz="2000" b="0" i="0" dirty="0">
                <a:solidFill>
                  <a:schemeClr val="bg1"/>
                </a:solidFill>
                <a:effectLst/>
                <a:latin typeface="YS Text"/>
              </a:rPr>
              <a:t>При объявлении функции можно указывать </a:t>
            </a:r>
            <a:r>
              <a:rPr lang="ru-RU" sz="2000" b="1" i="0" dirty="0">
                <a:solidFill>
                  <a:schemeClr val="bg1"/>
                </a:solidFill>
                <a:effectLst/>
                <a:latin typeface="YS Text"/>
              </a:rPr>
              <a:t>параметры функции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YS Text"/>
              </a:rPr>
              <a:t> — переменные, которые будут обрабатываться в её теле. Имена для параметров придумывает сам разработчик.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Значения для этих параметров передаются при вызове — их называют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аргументами функции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Параметры указывают в круглых скобках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при объявлении функции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; аргументы указывают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при вызове функции.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600CFF-5C68-70A6-0F72-3FC22DCBC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54" y="2546318"/>
            <a:ext cx="8680292" cy="42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57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83627"/>
            <a:ext cx="11588072" cy="1158765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  <a:latin typeface="YS Text"/>
              </a:rPr>
              <a:t>Использование функций вместе с другими блоками кода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431235"/>
            <a:ext cx="11588072" cy="5199020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Функция — такой же составной блок программы, как циклы и операторы ветвления. Их можно комбинировать между собой. Например, вызывать функцию в теле цикла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или написать программу так, чтобы цикл был внутри тела функции.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942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Счётчики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Одна из популярных задач в программировании — что-нибудь подсчитать: программа в фитнес-трекере может подсчитывать шаги пользователя, программное обеспечение лифта может определять его пробег, считая этажи и остановки, программа проектировщика может посчитать, сколько на плане помещений определённого размера.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Переменную, при помощи которой ведут подсчёт чего-либо, принято называть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count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для таких переменных есть общепринятое название —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счётчик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(англ.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count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«сосчитать»).</a:t>
            </a:r>
          </a:p>
        </p:txBody>
      </p:sp>
    </p:spTree>
    <p:extLst>
      <p:ext uri="{BB962C8B-B14F-4D97-AF65-F5344CB8AC3E}">
        <p14:creationId xmlns:p14="http://schemas.microsoft.com/office/powerpoint/2010/main" val="21107189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Оператор += и прочая арифметика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113182"/>
            <a:ext cx="11588072" cy="5576708"/>
          </a:xfrm>
        </p:spPr>
        <p:txBody>
          <a:bodyPr/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Добавление одного и того же значения к переменной (в цикле или в других случаях) — достаточно частая операция, и для неё придумали специальный оператор: 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+=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С помощью 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+=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 можно сделать код короче и проще.</a:t>
            </a:r>
          </a:p>
          <a:p>
            <a:pPr algn="l"/>
            <a:endParaRPr lang="ru-RU" sz="24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Например, 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859900"/>
                </a:solidFill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endParaRPr lang="en-US" sz="20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Вместо 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ru-RU" sz="2400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9536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Возврат значений из функции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До сих пор вы писали функции, которые печатали результаты вычислений на экран. Но обычно задача функции не сводится к печати: вычисленное в функции значение передаётся в код, и с этим значением производится ещё какая-то работа.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При производстве автомобилей в большой пресс подают лист металла — и пресс штампует капот машины. Но это ещё не финальный продукт: капот передаётся дальше по конвейеру, ведь его надо покрасить и прикрепить к корпусу автомобиля.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Функция должна работать подобным образом: в неё поступает «заготовка» — аргументы, переданные при вызове, а на выход функция выдаёт какой-то результат, возвращает его в ту часть кода, откуда она была вызвана. В дальнейшей работе программа применит значение, вернувшееся из функции, для каких-то дальнейших вычислений.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Возвращаемое значение указывается в теле функции после ключевого слова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return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Код, если инструкция 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return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выполняется, написанный после этого 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return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 той же функции выполнен не будет.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9704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Вызов функции из функции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Вызов функции из другой функции — распространённый приём, это позволяет сделать код более структурированным и универсальным. В программе получается одна «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точка входа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» — стартовый код, в который передаются все необходимые данные. 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Без функций жизнь разработчика была бы беспросветной и печальной, а его код — огромным, запутанным и неуправляемым. Функции разделяют код на логические фрагменты, экономят силы и время, превращают программу в стройную конструкцию. </a:t>
            </a:r>
          </a:p>
        </p:txBody>
      </p:sp>
    </p:spTree>
    <p:extLst>
      <p:ext uri="{BB962C8B-B14F-4D97-AF65-F5344CB8AC3E}">
        <p14:creationId xmlns:p14="http://schemas.microsoft.com/office/powerpoint/2010/main" val="33223177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Ломаем код: ошибка </a:t>
            </a:r>
            <a:r>
              <a:rPr lang="en-US" b="1" dirty="0" err="1">
                <a:effectLst/>
                <a:latin typeface="YS Text"/>
              </a:rPr>
              <a:t>RecursionError</a:t>
            </a:r>
            <a:endParaRPr lang="ru-RU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Но если всё же вызвать эту функцию, она начнёт вызывать сама себя. Программа зациклится и появится ошибка </a:t>
            </a:r>
            <a:r>
              <a:rPr lang="en-US" b="1" dirty="0" err="1">
                <a:solidFill>
                  <a:schemeClr val="bg1"/>
                </a:solidFill>
                <a:latin typeface="YS Text"/>
              </a:rPr>
              <a:t>RecursionError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def multiplication(multiplier_1, multiplier_2):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                       print(multiplier_1 * multiplier_2)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                       multiplication(7, 8)</a:t>
            </a:r>
          </a:p>
          <a:p>
            <a:pPr algn="l"/>
            <a:endParaRPr lang="en-US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                 multiplication(5, 6)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При первом вызове функция напечатает 30, а затем закрутится в бесконечном повторении, вызывая сама себя при каждом новом вызове. Python умеет обрывать такие циклы после определённого количества итераций, при этом он выбрасывает ошибку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RecursionError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.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Увидите эту ошибку — проверьте: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 -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не вызывается ли какая-то функция сама из себя;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 -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всё ли в порядке с отступами — именно они определяют начало и конец тела функции;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YS Text"/>
              </a:rPr>
              <a:t> -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не вызывают ли функции друг друга «по кругу».</a:t>
            </a:r>
          </a:p>
        </p:txBody>
      </p:sp>
    </p:spTree>
    <p:extLst>
      <p:ext uri="{BB962C8B-B14F-4D97-AF65-F5344CB8AC3E}">
        <p14:creationId xmlns:p14="http://schemas.microsoft.com/office/powerpoint/2010/main" val="35906613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A7034-6F5E-0659-3A36-1DBFC791E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95210"/>
            <a:ext cx="8991600" cy="1645920"/>
          </a:xfrm>
        </p:spPr>
        <p:txBody>
          <a:bodyPr>
            <a:normAutofit/>
          </a:bodyPr>
          <a:lstStyle/>
          <a:p>
            <a:pPr algn="l"/>
            <a:r>
              <a:rPr lang="ru-RU" sz="4400" b="1" dirty="0">
                <a:effectLst/>
                <a:latin typeface="YS Text"/>
              </a:rPr>
              <a:t>Коллекции</a:t>
            </a:r>
            <a:endParaRPr lang="en-US" sz="4400" b="1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429135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964" y="108475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Коллекции в </a:t>
            </a:r>
            <a:r>
              <a:rPr lang="en-US" b="1" dirty="0">
                <a:effectLst/>
                <a:latin typeface="YS Text"/>
              </a:rPr>
              <a:t>Python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40" y="959126"/>
            <a:ext cx="11986590" cy="58293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Типы данных, которые могут хранить набор элементов называют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коллекциями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Список (</a:t>
            </a:r>
            <a:r>
              <a:rPr lang="en-US" b="1" dirty="0">
                <a:solidFill>
                  <a:schemeClr val="bg1"/>
                </a:solidFill>
                <a:latin typeface="YS Text"/>
              </a:rPr>
              <a:t>list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)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 —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это один из типов данных в </a:t>
            </a:r>
            <a:r>
              <a:rPr lang="en-US" dirty="0">
                <a:solidFill>
                  <a:schemeClr val="bg1"/>
                </a:solidFill>
                <a:latin typeface="YS Text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один из типов коллекций.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sz="16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600" dirty="0">
                <a:solidFill>
                  <a:schemeClr val="bg1"/>
                </a:solidFill>
                <a:latin typeface="YS Text"/>
              </a:rPr>
              <a:t>Объявляем список </a:t>
            </a:r>
            <a:r>
              <a:rPr lang="en-US" sz="1600" dirty="0" err="1">
                <a:solidFill>
                  <a:schemeClr val="bg1"/>
                </a:solidFill>
                <a:latin typeface="YS Text"/>
              </a:rPr>
              <a:t>bremen_musicians</a:t>
            </a:r>
            <a:r>
              <a:rPr lang="en-US" sz="1600" dirty="0">
                <a:solidFill>
                  <a:schemeClr val="bg1"/>
                </a:solidFill>
                <a:latin typeface="YS Text"/>
              </a:rPr>
              <a:t> 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sz="1600" dirty="0" err="1">
                <a:solidFill>
                  <a:srgbClr val="0070C0"/>
                </a:solidFill>
                <a:latin typeface="YS Text"/>
              </a:rPr>
              <a:t>bremen_musicians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 = ['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Трубадур', 'Кот', 'Пёс', 'Осёл', 'Петух’]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Любые коллекции можно записывать в одну строку. С технической точки зрения это нормально и не вызовет проблем в работе программы. Но читать такой код неудобно, строка может оказаться очень длинной:</a:t>
            </a:r>
          </a:p>
          <a:p>
            <a:pPr algn="l"/>
            <a:r>
              <a:rPr lang="ru-RU" sz="1150" dirty="0" err="1">
                <a:solidFill>
                  <a:srgbClr val="0070C0"/>
                </a:solidFill>
                <a:latin typeface="YS Text"/>
              </a:rPr>
              <a:t>concert_songs</a:t>
            </a:r>
            <a:r>
              <a:rPr lang="ru-RU" sz="1150" dirty="0">
                <a:solidFill>
                  <a:srgbClr val="0070C0"/>
                </a:solidFill>
                <a:latin typeface="YS Text"/>
              </a:rPr>
              <a:t> = ['Ничего на свете лучше нету', 'Мы к вам заехали на час', 'Рок-колыбельная', 'Луч Солнца Золотого', 'Куда ты, тропинка, меня завела', 'А как известно, мы народ горячий’]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Для удобства чтения кода коллекции записывают построчно: каждый элемент — на отдельной строке. На работу кода это не влияет, а выглядит лучше:</a:t>
            </a:r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400" dirty="0" err="1">
                <a:solidFill>
                  <a:srgbClr val="0070C0"/>
                </a:solidFill>
                <a:latin typeface="YS Text"/>
              </a:rPr>
              <a:t>concert_songs</a:t>
            </a:r>
            <a:r>
              <a:rPr lang="ru-RU" sz="1400" dirty="0">
                <a:solidFill>
                  <a:srgbClr val="0070C0"/>
                </a:solidFill>
                <a:latin typeface="YS Text"/>
              </a:rPr>
              <a:t> = [</a:t>
            </a:r>
          </a:p>
          <a:p>
            <a:pPr algn="l"/>
            <a:r>
              <a:rPr lang="ru-RU" sz="1400" dirty="0">
                <a:solidFill>
                  <a:srgbClr val="0070C0"/>
                </a:solidFill>
                <a:latin typeface="YS Text"/>
              </a:rPr>
              <a:t>    'Ничего на свете лучше нету',</a:t>
            </a:r>
          </a:p>
          <a:p>
            <a:pPr algn="l"/>
            <a:r>
              <a:rPr lang="ru-RU" sz="1400" dirty="0">
                <a:solidFill>
                  <a:srgbClr val="0070C0"/>
                </a:solidFill>
                <a:latin typeface="YS Text"/>
              </a:rPr>
              <a:t>    'Мы к вам заехали на час',</a:t>
            </a:r>
          </a:p>
          <a:p>
            <a:pPr algn="l"/>
            <a:r>
              <a:rPr lang="ru-RU" sz="1400" dirty="0">
                <a:solidFill>
                  <a:srgbClr val="0070C0"/>
                </a:solidFill>
                <a:latin typeface="YS Text"/>
              </a:rPr>
              <a:t>    'Рок-колыбельная',</a:t>
            </a:r>
          </a:p>
          <a:p>
            <a:pPr algn="l"/>
            <a:r>
              <a:rPr lang="ru-RU" sz="1400" dirty="0">
                <a:solidFill>
                  <a:srgbClr val="0070C0"/>
                </a:solidFill>
                <a:latin typeface="YS Text"/>
              </a:rPr>
              <a:t>    'Луч Солнца Золотого',</a:t>
            </a:r>
          </a:p>
          <a:p>
            <a:pPr algn="l"/>
            <a:r>
              <a:rPr lang="ru-RU" sz="1400" dirty="0">
                <a:solidFill>
                  <a:srgbClr val="0070C0"/>
                </a:solidFill>
                <a:latin typeface="YS Text"/>
              </a:rPr>
              <a:t>    'Куда ты, тропинка, меня завела',</a:t>
            </a:r>
          </a:p>
          <a:p>
            <a:pPr algn="l"/>
            <a:r>
              <a:rPr lang="ru-RU" sz="1400" dirty="0">
                <a:solidFill>
                  <a:srgbClr val="0070C0"/>
                </a:solidFill>
                <a:latin typeface="YS Text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0101358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Множества (</a:t>
            </a:r>
            <a:r>
              <a:rPr lang="en-US" b="1" dirty="0">
                <a:effectLst/>
                <a:latin typeface="YS Text"/>
              </a:rPr>
              <a:t>set)</a:t>
            </a:r>
            <a:endParaRPr lang="ru-RU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Одна из разновидностей коллекций в Python — это множества, тип данных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set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По структуре множества очень похожи на списки: в коде они записываются как перечень элементов, разделённых запятой. Элементы множества замыкаются в фигурные скобки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{ }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Одно из важных отличий множества от других коллекций — все элементы множества должны быть уникальны, в множестве не может быть двух одинаковых элементов.</a:t>
            </a:r>
            <a:endParaRPr lang="en-US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Python автоматически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удаляет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из множества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дубликаты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оставляя лишь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уникальные значения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Но что происходит с порядком вывода элементов? При каждом запуске порядок отличается от предыдущего! Со списками такого не было.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Это ещё одна особенность сетов: в памяти компьютера элементы сета хранятся в неупорядоченном виде 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выводятся в случайном порядке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Из этой особенности следует практический вывод: к элементу сета нельзя обратиться по порядковому номеру, по индексу — ведь один и тот же индекс будет указывать то на один элемент, то на другой.</a:t>
            </a:r>
          </a:p>
        </p:txBody>
      </p:sp>
    </p:spTree>
    <p:extLst>
      <p:ext uri="{BB962C8B-B14F-4D97-AF65-F5344CB8AC3E}">
        <p14:creationId xmlns:p14="http://schemas.microsoft.com/office/powerpoint/2010/main" val="24850303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1133917"/>
          </a:xfrm>
        </p:spPr>
        <p:txBody>
          <a:bodyPr>
            <a:noAutofit/>
          </a:bodyPr>
          <a:lstStyle/>
          <a:p>
            <a:pPr algn="l"/>
            <a:r>
              <a:rPr lang="ru-RU" sz="2800" b="1" dirty="0">
                <a:effectLst/>
                <a:latin typeface="YS Text"/>
              </a:rPr>
              <a:t>Преобразование списка в множество: функция </a:t>
            </a:r>
            <a:r>
              <a:rPr lang="ru-RU" sz="2800" b="1" dirty="0" err="1">
                <a:effectLst/>
                <a:latin typeface="YS Text"/>
              </a:rPr>
              <a:t>set</a:t>
            </a:r>
            <a:r>
              <a:rPr lang="ru-RU" sz="2800" b="1" dirty="0">
                <a:effectLst/>
                <a:latin typeface="YS Text"/>
              </a:rPr>
              <a:t>()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505778"/>
            <a:ext cx="11588072" cy="5124477"/>
          </a:xfrm>
        </p:spPr>
        <p:txBody>
          <a:bodyPr>
            <a:normAutofit/>
          </a:bodyPr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YS Text"/>
              </a:rPr>
              <a:t>Можно преобразовать список в множество, для этого в Python есть встроенная функция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set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sz="2400" dirty="0">
                <a:solidFill>
                  <a:schemeClr val="bg1"/>
                </a:solidFill>
                <a:latin typeface="YS Text"/>
              </a:rPr>
              <a:t>. При таком преобразовании Python автоматически выбросит из перечня дубликаты: т.к. в сете не может быть одинаковых элементов.</a:t>
            </a:r>
          </a:p>
        </p:txBody>
      </p:sp>
    </p:spTree>
    <p:extLst>
      <p:ext uri="{BB962C8B-B14F-4D97-AF65-F5344CB8AC3E}">
        <p14:creationId xmlns:p14="http://schemas.microsoft.com/office/powerpoint/2010/main" val="37578131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Циклом по множеству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Множество содержит набор элементов, но получить к ним доступ по индексу невозможно. Но какой смысл хранить данные без возможности их извлечь и обработать?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Разумеется, выход есть: любую коллекцию можно перебрать в цикле, а множество — это коллекция.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Объявление цикла и работа с ним для списков и множеств ничем не отличаются. Но порядок, в котором будут обработаны элементы множества, непредсказуем, ведь множество —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неупорядоченная коллекция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0782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Операции с множествами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Чтобы добавить новый элемент в множество, к нему применяют 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add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Метод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это разновидность функции, мини-программа. Однако, в отличие от функций, метод применяется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к объекту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например — к строке, к числу или к множеству. У строк — свои методы, у чисел — свои, у множеств — свои.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Методы применяются к конкретным объектам и выполняют с ними какие-то действия. Чтобы применить метод к какому-то объекту, в коде записывают имя объекта, ставят точку и после неё пишут название метода с круглыми скобками (в скобках могут быть аргументы, как у функции): </a:t>
            </a:r>
            <a:r>
              <a:rPr lang="ru-RU" b="1" i="1" dirty="0" err="1">
                <a:solidFill>
                  <a:schemeClr val="bg1"/>
                </a:solidFill>
                <a:latin typeface="YS Text"/>
              </a:rPr>
              <a:t>объект.метод</a:t>
            </a:r>
            <a:r>
              <a:rPr lang="ru-RU" b="1" i="1" dirty="0">
                <a:solidFill>
                  <a:schemeClr val="bg1"/>
                </a:solidFill>
                <a:latin typeface="YS Text"/>
              </a:rPr>
              <a:t>(аргумент) </a:t>
            </a:r>
            <a:endParaRPr lang="en-US" b="1" i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add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в качестве аргумента принимает значение, которое нужно добавить в множество. Этот метод может добавить лишь один элемент; чтобы добавить несколько элементов — нужно вызвать метод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add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() несколько раз с разными аргументами.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endParaRPr lang="ru-RU" sz="1900" dirty="0">
              <a:solidFill>
                <a:srgbClr val="0070C0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3096626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Объединение двух множеств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Множества в Python можно объединять. Например, можно составить из двух новогодних плейлистов один общий, да так, чтобы ни одна песня не повторялась.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union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применяют для объединения двух множеств. Метод применяется к одному множеству, а в аргументе передаётся второе.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результате будет создано новое, третье множество (а оба исходных останутся такими, как были).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YS Text"/>
              </a:rPr>
              <a:t>playlist_1 = {'</a:t>
            </a:r>
            <a:r>
              <a:rPr lang="ru-RU" sz="2000" dirty="0">
                <a:solidFill>
                  <a:srgbClr val="0070C0"/>
                </a:solidFill>
                <a:latin typeface="YS Text"/>
              </a:rPr>
              <a:t>Три белых коня', '</a:t>
            </a:r>
            <a:r>
              <a:rPr lang="en-US" sz="2000" dirty="0">
                <a:solidFill>
                  <a:srgbClr val="0070C0"/>
                </a:solidFill>
                <a:latin typeface="YS Text"/>
              </a:rPr>
              <a:t>Happy new year', '</a:t>
            </a:r>
            <a:r>
              <a:rPr lang="ru-RU" sz="2000" dirty="0">
                <a:solidFill>
                  <a:srgbClr val="0070C0"/>
                </a:solidFill>
                <a:latin typeface="YS Text"/>
              </a:rPr>
              <a:t>Снежинка’}</a:t>
            </a:r>
          </a:p>
          <a:p>
            <a:pPr algn="l"/>
            <a:r>
              <a:rPr lang="ru-RU" sz="20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YS Text"/>
              </a:rPr>
              <a:t>playlist_2 = {'Last </a:t>
            </a:r>
            <a:r>
              <a:rPr lang="en-US" sz="2000" dirty="0" err="1">
                <a:solidFill>
                  <a:srgbClr val="0070C0"/>
                </a:solidFill>
                <a:latin typeface="YS Text"/>
              </a:rPr>
              <a:t>christmas</a:t>
            </a:r>
            <a:r>
              <a:rPr lang="en-US" sz="2000" dirty="0">
                <a:solidFill>
                  <a:srgbClr val="0070C0"/>
                </a:solidFill>
                <a:latin typeface="YS Text"/>
              </a:rPr>
              <a:t>', '</a:t>
            </a:r>
            <a:r>
              <a:rPr lang="ru-RU" sz="2000" dirty="0">
                <a:solidFill>
                  <a:srgbClr val="0070C0"/>
                </a:solidFill>
                <a:latin typeface="YS Text"/>
              </a:rPr>
              <a:t>Снежинка', '</a:t>
            </a:r>
            <a:r>
              <a:rPr lang="en-US" sz="2000" dirty="0">
                <a:solidFill>
                  <a:srgbClr val="0070C0"/>
                </a:solidFill>
                <a:latin typeface="YS Text"/>
              </a:rPr>
              <a:t>Happy new year’}</a:t>
            </a:r>
          </a:p>
          <a:p>
            <a:pPr algn="l"/>
            <a:r>
              <a:rPr lang="ru-RU" sz="20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YS Text"/>
              </a:rPr>
              <a:t>playlist_3 = playlist_1.union(playlist_2)</a:t>
            </a:r>
          </a:p>
          <a:p>
            <a:pPr algn="l"/>
            <a:endParaRPr lang="en-US" sz="20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YS Text"/>
              </a:rPr>
              <a:t>print(playlist_3)</a:t>
            </a:r>
            <a:endParaRPr lang="ru-RU" sz="2000" dirty="0">
              <a:solidFill>
                <a:srgbClr val="0070C0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6871019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Поиск различий в двух множествах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нужно найти песни, которые присутствуют в одном плейлисте, но отсутствуют во втором — поможет 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difference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Метод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set_1.difference(set_2)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вернёт новое множество, оно будет содержать только те элементы, которые присутствуют в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set_1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но 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отcутствуют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в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set_2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; это похоже на «вычитание»: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set_1 - set_2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Ни одно из исходных множеств не изменится.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playlist_1 = {'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Голубой вагон', 'Облака', '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Yesterday', '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Наше лето’}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playlist_2 = {'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Наше лето', 'Голубой вагон', 'Облака’}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playlist_3 = playlist_1.difference(playlist_2)</a:t>
            </a:r>
          </a:p>
          <a:p>
            <a:pPr algn="l"/>
            <a:endParaRPr lang="en-US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print(playlist_3)</a:t>
            </a:r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6438504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1178643"/>
          </a:xfrm>
        </p:spPr>
        <p:txBody>
          <a:bodyPr>
            <a:noAutofit/>
          </a:bodyPr>
          <a:lstStyle/>
          <a:p>
            <a:r>
              <a:rPr lang="ru-RU" sz="3600" b="1" dirty="0">
                <a:effectLst/>
                <a:latin typeface="YS Text"/>
              </a:rPr>
              <a:t>Поиск одинаковых элементов в двух множествах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490870"/>
            <a:ext cx="11588072" cy="5139385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Можно найти пересечение двух множеств, то есть элементы, которые есть и в первом, и во втором множестве.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Посмотрим на списки фильмов, просмотренных двумя людьми и определим, в чём их вкусы совпадают. Для этого применим 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intersection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он вернёт новое множество, в котором будут храниться «пересекающиеся» элементы.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films_1 = {'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Форсаж', 'Достучаться до небес', 'Мстители: война бесконечности’}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films_2 = {'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Мстители: война бесконечности', 'Форсаж', 'Матрица’}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films_3 = films_1.intersection(films_2)</a:t>
            </a:r>
          </a:p>
          <a:p>
            <a:pPr algn="l"/>
            <a:endParaRPr lang="en-US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print(films_3)</a:t>
            </a:r>
            <a:endParaRPr lang="ru-RU" dirty="0">
              <a:solidFill>
                <a:srgbClr val="0070C0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6087460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Словари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Данные могут храниться в списках или множествах: под одним именем записана целая коллекция значений, это удобно и компактно.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Но вот, например, задача: - требуется создать несложный русско-английский словарик: сохранить в программе несколько английских слов и переводы к ним.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Можно создать два списка и сопоставлять их: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russian_words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['рука', 'нога', 'хвост', 'питон', 'бэкенд-разработчик’]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english_words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= ['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hand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', '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leg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', '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tail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', '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python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', '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backend-developer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’]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Но было бы удобно хранить не просто слова по отдельности, а пары — русское слово и его перевод: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рука —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hand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,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нога —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leg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,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хвост —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tail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,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питон —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python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,</a:t>
            </a:r>
          </a:p>
          <a:p>
            <a:pPr algn="l"/>
            <a:r>
              <a:rPr lang="ru-RU" dirty="0">
                <a:solidFill>
                  <a:srgbClr val="0070C0"/>
                </a:solidFill>
                <a:latin typeface="YS Text"/>
              </a:rPr>
              <a:t>	бэкенд-разработчик —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backend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YS Text"/>
              </a:rPr>
              <a:t>developer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Python есть тип данных словарь,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dict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он хранит информацию именно в такой структуре.</a:t>
            </a: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7062808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Словарь в </a:t>
            </a:r>
            <a:r>
              <a:rPr lang="en-US" b="1" dirty="0">
                <a:effectLst/>
                <a:latin typeface="YS Text"/>
              </a:rPr>
              <a:t>Python</a:t>
            </a:r>
            <a:endParaRPr lang="ru-RU" b="1" dirty="0">
              <a:effectLst/>
              <a:latin typeface="YS Text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dirty="0">
                <a:solidFill>
                  <a:schemeClr val="bg1"/>
                </a:solidFill>
                <a:latin typeface="YS Text"/>
              </a:rPr>
              <a:t>Словарь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это коллекция, набор элементов.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Каждый элемент словаря состоит из двух частей, между этими частями ставится двоеточие: первая часть элемента называется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ключ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вторая часть —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значение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Элементы словаря замыкают в фигурные скобки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{…}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а между собой элементы разделяют запятой.</a:t>
            </a:r>
          </a:p>
          <a:p>
            <a:pPr algn="l"/>
            <a:r>
              <a:rPr lang="ru-RU" b="0" i="0" dirty="0">
                <a:effectLst/>
                <a:latin typeface="Menlo"/>
              </a:rPr>
              <a:t>	</a:t>
            </a:r>
            <a:r>
              <a:rPr lang="en-US" sz="1800" b="0" i="0" dirty="0" err="1">
                <a:solidFill>
                  <a:srgbClr val="0070C0"/>
                </a:solidFill>
                <a:effectLst/>
                <a:latin typeface="Menlo"/>
              </a:rPr>
              <a:t>english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Menlo"/>
              </a:rPr>
              <a:t> = { </a:t>
            </a:r>
            <a:endParaRPr lang="ru-RU" sz="1800" b="0" i="0" dirty="0">
              <a:solidFill>
                <a:srgbClr val="0070C0"/>
              </a:solidFill>
              <a:effectLst/>
              <a:latin typeface="Menlo"/>
            </a:endParaRPr>
          </a:p>
          <a:p>
            <a:pPr algn="l"/>
            <a:r>
              <a:rPr lang="ru-RU" sz="1800" b="0" i="0" dirty="0">
                <a:solidFill>
                  <a:srgbClr val="0070C0"/>
                </a:solidFill>
                <a:effectLst/>
                <a:latin typeface="Menlo"/>
              </a:rPr>
              <a:t>		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Menlo"/>
              </a:rPr>
              <a:t>'</a:t>
            </a:r>
            <a:r>
              <a:rPr lang="ru-RU" sz="1800" b="0" i="0" dirty="0">
                <a:solidFill>
                  <a:srgbClr val="0070C0"/>
                </a:solidFill>
                <a:effectLst/>
                <a:latin typeface="Menlo"/>
              </a:rPr>
              <a:t>рука': '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Menlo"/>
              </a:rPr>
              <a:t>hand', </a:t>
            </a:r>
            <a:r>
              <a:rPr lang="en-US" sz="1800" b="0" i="1" dirty="0">
                <a:solidFill>
                  <a:schemeClr val="bg1"/>
                </a:solidFill>
                <a:effectLst/>
                <a:latin typeface="Menlo"/>
              </a:rPr>
              <a:t># </a:t>
            </a:r>
            <a:r>
              <a:rPr lang="ru-RU" sz="1800" b="0" i="1" dirty="0">
                <a:solidFill>
                  <a:schemeClr val="bg1"/>
                </a:solidFill>
                <a:effectLst/>
                <a:latin typeface="Menlo"/>
              </a:rPr>
              <a:t>Первый элемент словаря (да, в каждом элементе две части!)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Menlo"/>
              </a:rPr>
              <a:t> 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  <a:latin typeface="Menlo"/>
              </a:rPr>
              <a:t>		</a:t>
            </a:r>
            <a:r>
              <a:rPr lang="ru-RU" sz="1800" b="0" i="0" dirty="0">
                <a:solidFill>
                  <a:srgbClr val="0070C0"/>
                </a:solidFill>
                <a:effectLst/>
                <a:latin typeface="Menlo"/>
              </a:rPr>
              <a:t>'нога': '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Menlo"/>
              </a:rPr>
              <a:t>leg', </a:t>
            </a:r>
            <a:r>
              <a:rPr lang="en-US" sz="1800" b="0" i="1" dirty="0">
                <a:solidFill>
                  <a:schemeClr val="bg1"/>
                </a:solidFill>
                <a:effectLst/>
                <a:latin typeface="Menlo"/>
              </a:rPr>
              <a:t># </a:t>
            </a:r>
            <a:r>
              <a:rPr lang="ru-RU" sz="1800" b="0" i="1" dirty="0">
                <a:solidFill>
                  <a:schemeClr val="bg1"/>
                </a:solidFill>
                <a:effectLst/>
                <a:latin typeface="Menlo"/>
              </a:rPr>
              <a:t>Второй элемент словаря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Menlo"/>
              </a:rPr>
              <a:t> 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  <a:latin typeface="Menlo"/>
              </a:rPr>
              <a:t>		</a:t>
            </a:r>
            <a:r>
              <a:rPr lang="ru-RU" sz="1800" b="0" i="0" dirty="0">
                <a:solidFill>
                  <a:srgbClr val="0070C0"/>
                </a:solidFill>
                <a:effectLst/>
                <a:latin typeface="Menlo"/>
              </a:rPr>
              <a:t>'хвост': '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Menlo"/>
              </a:rPr>
              <a:t>tail', </a:t>
            </a:r>
            <a:r>
              <a:rPr lang="en-US" sz="1800" b="0" i="1" dirty="0">
                <a:solidFill>
                  <a:schemeClr val="bg1"/>
                </a:solidFill>
                <a:effectLst/>
                <a:latin typeface="Menlo"/>
              </a:rPr>
              <a:t># </a:t>
            </a:r>
            <a:r>
              <a:rPr lang="ru-RU" sz="1800" b="0" i="1" dirty="0">
                <a:solidFill>
                  <a:schemeClr val="bg1"/>
                </a:solidFill>
                <a:effectLst/>
                <a:latin typeface="Menlo"/>
              </a:rPr>
              <a:t>Третий элемент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Menlo"/>
              </a:rPr>
              <a:t> 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  <a:latin typeface="Menlo"/>
              </a:rPr>
              <a:t>		</a:t>
            </a:r>
            <a:r>
              <a:rPr lang="ru-RU" sz="1800" b="0" i="0" dirty="0">
                <a:solidFill>
                  <a:srgbClr val="0070C0"/>
                </a:solidFill>
                <a:effectLst/>
                <a:latin typeface="Menlo"/>
              </a:rPr>
              <a:t>'питон': '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Menlo"/>
              </a:rPr>
              <a:t>python', </a:t>
            </a:r>
            <a:r>
              <a:rPr lang="en-US" sz="1800" b="0" i="1" dirty="0">
                <a:solidFill>
                  <a:schemeClr val="bg1"/>
                </a:solidFill>
                <a:effectLst/>
                <a:latin typeface="Menlo"/>
              </a:rPr>
              <a:t># </a:t>
            </a:r>
            <a:r>
              <a:rPr lang="ru-RU" sz="1800" b="0" i="1" dirty="0">
                <a:solidFill>
                  <a:schemeClr val="bg1"/>
                </a:solidFill>
                <a:effectLst/>
                <a:latin typeface="Menlo"/>
              </a:rPr>
              <a:t>Четвёртый элемент</a:t>
            </a:r>
          </a:p>
          <a:p>
            <a:pPr algn="l"/>
            <a:r>
              <a:rPr lang="ru-RU" sz="1800" i="1" dirty="0">
                <a:solidFill>
                  <a:srgbClr val="0070C0"/>
                </a:solidFill>
                <a:latin typeface="Menlo"/>
              </a:rPr>
              <a:t>		</a:t>
            </a:r>
            <a:r>
              <a:rPr lang="ru-RU" sz="1800" b="0" i="0" dirty="0">
                <a:solidFill>
                  <a:srgbClr val="0070C0"/>
                </a:solidFill>
                <a:effectLst/>
                <a:latin typeface="Menlo"/>
              </a:rPr>
              <a:t>'бэкенд-разработчик': '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Menlo"/>
              </a:rPr>
              <a:t>back-end developer' </a:t>
            </a:r>
            <a:r>
              <a:rPr lang="en-US" sz="1800" b="0" i="1" dirty="0">
                <a:solidFill>
                  <a:schemeClr val="bg1"/>
                </a:solidFill>
                <a:effectLst/>
                <a:latin typeface="Menlo"/>
              </a:rPr>
              <a:t># </a:t>
            </a:r>
            <a:r>
              <a:rPr lang="ru-RU" sz="1800" b="0" i="1" dirty="0">
                <a:solidFill>
                  <a:schemeClr val="bg1"/>
                </a:solidFill>
                <a:effectLst/>
                <a:latin typeface="Menlo"/>
              </a:rPr>
              <a:t>Пятый элемент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Menlo"/>
              </a:rPr>
              <a:t> </a:t>
            </a:r>
          </a:p>
          <a:p>
            <a:pPr algn="l"/>
            <a:r>
              <a:rPr lang="ru-RU" sz="1800" b="0" i="0" dirty="0">
                <a:solidFill>
                  <a:srgbClr val="0070C0"/>
                </a:solidFill>
                <a:effectLst/>
                <a:latin typeface="Menlo"/>
              </a:rPr>
              <a:t>	} </a:t>
            </a:r>
          </a:p>
          <a:p>
            <a:pPr algn="l"/>
            <a:r>
              <a:rPr lang="ru-RU" b="0" i="0" dirty="0">
                <a:solidFill>
                  <a:schemeClr val="bg1"/>
                </a:solidFill>
                <a:effectLst/>
                <a:latin typeface="Menlo"/>
              </a:rPr>
              <a:t>Если представить себе шкаф с подписанными ячейками (этот шкаф и будет словарём), то надпись на ячейке — это ключ, а то, что лежит в ячейке — это значение.</a:t>
            </a:r>
          </a:p>
          <a:p>
            <a:pPr algn="l"/>
            <a:r>
              <a:rPr lang="ru-RU" b="0" i="0" dirty="0">
                <a:solidFill>
                  <a:schemeClr val="bg1"/>
                </a:solidFill>
                <a:effectLst/>
                <a:latin typeface="Menlo"/>
              </a:rPr>
              <a:t>В словаре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Menlo"/>
              </a:rPr>
              <a:t>english</a:t>
            </a:r>
            <a:r>
              <a:rPr lang="ru-RU" b="0" i="0" dirty="0">
                <a:solidFill>
                  <a:schemeClr val="bg1"/>
                </a:solidFill>
                <a:effectLst/>
                <a:latin typeface="Menlo"/>
              </a:rPr>
              <a:t> русские слова — это ключи, а их переводы на английский — значения.</a:t>
            </a: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6187868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Доступ к значению словаря по ключу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Чтобы получить из словаря определённое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значение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— в коде указывают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ключ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значение которого нужно получить; это называется «доступ по ключу».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Элементы словаря можно записать в одну строку, но лучше разбить словарь построчно. На выполнение кода это никак не повлияет, а разработчикам будет гораздо приятнее читать форматированный код, а не бесконечную строку.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Доступ по ключу выглядит очень похоже на доступ по индексу в списках: пишется название словаря и, в квадратных скобках, необходимый ключ.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sz="19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= {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  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рука':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hand',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	   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нога':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leg',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	   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хвост':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tail',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	   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питон':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python',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	   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бэкенд-разработчик':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backend developer’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}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19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Доступ по ключу: как по-английски рука?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print(</a:t>
            </a:r>
            <a:r>
              <a:rPr lang="en-US" sz="19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['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рука'])</a:t>
            </a:r>
          </a:p>
        </p:txBody>
      </p:sp>
    </p:spTree>
    <p:extLst>
      <p:ext uri="{BB962C8B-B14F-4D97-AF65-F5344CB8AC3E}">
        <p14:creationId xmlns:p14="http://schemas.microsoft.com/office/powerpoint/2010/main" val="34660299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94422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Уникальность ключей в словаре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964" y="909431"/>
            <a:ext cx="11588072" cy="590384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словаре не может быть двух одинаковых ключей. Именно это свойство словаря позволяет безошибочно получать доступ к каждому значению: ключ — это 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уникальный адрес для доступа к значению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Значением в словаре может быть вообще что угодно: числа, строки, булевы значения True/</a:t>
            </a:r>
            <a:r>
              <a:rPr lang="ru-RU" dirty="0" err="1">
                <a:solidFill>
                  <a:schemeClr val="bg1"/>
                </a:solidFill>
                <a:latin typeface="YS Text"/>
              </a:rPr>
              <a:t>False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списки или даже другие словари. Значения словаря не обязаны быть уникальными и могут повторяться.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присмотреться, то становится заметно, что ключи словаря ведут себя как множество (они уникальны в пределах словаря), а значения чем-то сходны со списком. Как будто попарно склеили элементы множества и списка — и получился словарь.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              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dump = {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  <a:latin typeface="YS Text"/>
              </a:rPr>
              <a:t>   </a:t>
            </a:r>
            <a:r>
              <a:rPr lang="ru-RU" sz="1800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YS Text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1: '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единица',               </a:t>
            </a:r>
            <a:r>
              <a:rPr lang="ru-RU" sz="1800" dirty="0">
                <a:solidFill>
                  <a:schemeClr val="bg1"/>
                </a:solidFill>
                <a:latin typeface="YS Text"/>
              </a:rPr>
              <a:t># Ключ - число, значение - строка.</a:t>
            </a: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   	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'земляника': 'ягода',       </a:t>
            </a:r>
            <a:r>
              <a:rPr lang="ru-RU" sz="1800" dirty="0">
                <a:solidFill>
                  <a:schemeClr val="bg1"/>
                </a:solidFill>
                <a:latin typeface="YS Text"/>
              </a:rPr>
              <a:t># И ключ, и значение - строки.</a:t>
            </a: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   	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'помидор': 'ягода',         </a:t>
            </a:r>
            <a:r>
              <a:rPr lang="ru-RU" sz="1800" dirty="0">
                <a:solidFill>
                  <a:schemeClr val="bg1"/>
                </a:solidFill>
                <a:latin typeface="YS Text"/>
              </a:rPr>
              <a:t># Значение 'ягода' - не уникально. Так можно.</a:t>
            </a: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   	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False: 0,                   </a:t>
            </a:r>
            <a:r>
              <a:rPr lang="en-US" sz="18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800" dirty="0">
                <a:solidFill>
                  <a:schemeClr val="bg1"/>
                </a:solidFill>
                <a:latin typeface="YS Text"/>
              </a:rPr>
              <a:t>Ключ - булево значение, значение - число.</a:t>
            </a: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  	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 'лук': ['овощ', 'оружие'],  </a:t>
            </a:r>
            <a:r>
              <a:rPr lang="ru-RU" sz="1800" dirty="0">
                <a:solidFill>
                  <a:schemeClr val="bg1"/>
                </a:solidFill>
                <a:latin typeface="YS Text"/>
              </a:rPr>
              <a:t># Ключ - строка, значение - список.</a:t>
            </a:r>
          </a:p>
          <a:p>
            <a:pPr algn="l"/>
            <a:r>
              <a:rPr lang="ru-RU" sz="1800" dirty="0">
                <a:solidFill>
                  <a:schemeClr val="bg1"/>
                </a:solidFill>
                <a:latin typeface="YS Text"/>
              </a:rPr>
              <a:t>	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 'англо-русский словарь’: {    </a:t>
            </a:r>
            <a:r>
              <a:rPr lang="ru-RU" sz="1800" b="0" i="1" dirty="0">
                <a:solidFill>
                  <a:schemeClr val="bg1"/>
                </a:solidFill>
                <a:effectLst/>
                <a:latin typeface="Menlo"/>
              </a:rPr>
              <a:t># Ключ - строка, а значение - словарь. Так тоже можно!</a:t>
            </a:r>
            <a:endParaRPr lang="ru-RU" sz="18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              'рука': '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hand’, </a:t>
            </a:r>
            <a:endParaRPr lang="ru-RU" sz="18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              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'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нога': '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leg', 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  <a:latin typeface="YS Text"/>
              </a:rPr>
              <a:t>                            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  '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бэкенд-разработчик': '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back-end developer'</a:t>
            </a:r>
          </a:p>
          <a:p>
            <a:pPr algn="l"/>
            <a:r>
              <a:rPr lang="en-US" sz="1800" dirty="0">
                <a:solidFill>
                  <a:srgbClr val="0070C0"/>
                </a:solidFill>
                <a:latin typeface="YS Text"/>
              </a:rPr>
              <a:t>                        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        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  },    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}</a:t>
            </a:r>
          </a:p>
          <a:p>
            <a:pPr algn="l"/>
            <a:r>
              <a:rPr lang="ru-RU" sz="18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sz="1800" dirty="0">
                <a:solidFill>
                  <a:srgbClr val="0070C0"/>
                </a:solidFill>
                <a:latin typeface="YS Text"/>
              </a:rPr>
              <a:t>print(dump['</a:t>
            </a:r>
            <a:r>
              <a:rPr lang="ru-RU" sz="1800" dirty="0">
                <a:solidFill>
                  <a:srgbClr val="0070C0"/>
                </a:solidFill>
                <a:latin typeface="YS Text"/>
              </a:rPr>
              <a:t>лук’])  </a:t>
            </a:r>
            <a:r>
              <a:rPr lang="ru-RU" sz="1800" dirty="0">
                <a:solidFill>
                  <a:schemeClr val="bg1"/>
                </a:solidFill>
                <a:latin typeface="YS Text"/>
              </a:rPr>
              <a:t># Будет напечатано ['овощ', 'оружие'] 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42340916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Управление словарём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любом элементе словаря можно заменить существующее значение на новое — так же, как из ячейки шкафа можно выбросить старое содержимое и положить туда новое.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Для замены значения нужно обратиться к элементу по ключу и присвоить ему новое значение. В общем виде присвоение нового значения будет выглядеть так: 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имя_словаря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[ключ] =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новое_значение</a:t>
            </a:r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Все значения словаря можно извлечь и собрать в одну коллекцию. Для этого у словаря есть 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values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(): 	</a:t>
            </a:r>
            <a:r>
              <a:rPr lang="en-US" sz="1900" dirty="0" err="1">
                <a:solidFill>
                  <a:srgbClr val="0070C0"/>
                </a:solidFill>
                <a:latin typeface="YS Text"/>
              </a:rPr>
              <a:t>old_letters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= {</a:t>
            </a:r>
            <a:endParaRPr lang="ru-RU" sz="19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  		      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ять': 'Ѣ',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   		      'юс малый': 'Ѧ',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    		      'юс большой': 'Ѫ’}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		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print(</a:t>
            </a:r>
            <a:r>
              <a:rPr lang="en-US" sz="1900" dirty="0" err="1">
                <a:solidFill>
                  <a:srgbClr val="0070C0"/>
                </a:solidFill>
                <a:latin typeface="YS Text"/>
              </a:rPr>
              <a:t>old_letters.values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())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 </a:t>
            </a:r>
            <a:r>
              <a:rPr lang="en-US" sz="19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Будет напечатан список значений словаря </a:t>
            </a:r>
            <a:r>
              <a:rPr lang="en-US" sz="1900" dirty="0" err="1">
                <a:solidFill>
                  <a:schemeClr val="bg1"/>
                </a:solidFill>
                <a:latin typeface="YS Text"/>
              </a:rPr>
              <a:t>dict_values</a:t>
            </a:r>
            <a:r>
              <a:rPr lang="en-US" sz="1900" dirty="0">
                <a:solidFill>
                  <a:schemeClr val="bg1"/>
                </a:solidFill>
                <a:latin typeface="YS Text"/>
              </a:rPr>
              <a:t>(['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Ѣ', 'Ѧ', 'Ѫ’])</a:t>
            </a:r>
          </a:p>
          <a:p>
            <a:pPr algn="l"/>
            <a:endParaRPr lang="ru-RU" sz="19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1900" dirty="0">
                <a:solidFill>
                  <a:schemeClr val="bg1"/>
                </a:solidFill>
                <a:latin typeface="YS Text"/>
              </a:rPr>
              <a:t>Подобным образом можно получить и коллекцию ключей словаря, для этого есть 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keys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().</a:t>
            </a:r>
          </a:p>
          <a:p>
            <a:pPr algn="l"/>
            <a:r>
              <a:rPr lang="ru-RU" sz="1900" dirty="0">
                <a:solidFill>
                  <a:schemeClr val="bg1"/>
                </a:solidFill>
                <a:latin typeface="YS Text"/>
              </a:rPr>
              <a:t>Метод </a:t>
            </a:r>
            <a:r>
              <a:rPr lang="ru-RU" sz="1900" b="1" dirty="0" err="1">
                <a:solidFill>
                  <a:schemeClr val="bg1"/>
                </a:solidFill>
                <a:latin typeface="YS Text"/>
              </a:rPr>
              <a:t>values</a:t>
            </a:r>
            <a:r>
              <a:rPr lang="ru-RU" sz="1900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возвращает коллекцию типа </a:t>
            </a:r>
            <a:r>
              <a:rPr lang="ru-RU" sz="1900" b="1" dirty="0" err="1">
                <a:solidFill>
                  <a:schemeClr val="bg1"/>
                </a:solidFill>
                <a:latin typeface="YS Text"/>
              </a:rPr>
              <a:t>dict_values</a:t>
            </a:r>
            <a:r>
              <a:rPr lang="ru-RU" sz="1900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, а метод </a:t>
            </a:r>
            <a:r>
              <a:rPr lang="ru-RU" sz="1900" b="1" dirty="0" err="1">
                <a:solidFill>
                  <a:schemeClr val="bg1"/>
                </a:solidFill>
                <a:latin typeface="YS Text"/>
              </a:rPr>
              <a:t>keys</a:t>
            </a:r>
            <a:r>
              <a:rPr lang="ru-RU" sz="1900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— коллекцию типа </a:t>
            </a:r>
            <a:r>
              <a:rPr lang="ru-RU" sz="1900" b="1" dirty="0" err="1">
                <a:solidFill>
                  <a:schemeClr val="bg1"/>
                </a:solidFill>
                <a:latin typeface="YS Text"/>
              </a:rPr>
              <a:t>dict_keys</a:t>
            </a:r>
            <a:r>
              <a:rPr lang="ru-RU" sz="1900" b="1" dirty="0">
                <a:solidFill>
                  <a:schemeClr val="bg1"/>
                </a:solidFill>
                <a:latin typeface="YS Text"/>
              </a:rPr>
              <a:t>(). 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Эти коллекции похожи на списки; их можно преобразовать в списки или в множества — и работать с ними.</a:t>
            </a:r>
          </a:p>
          <a:p>
            <a:pPr algn="l"/>
            <a:endParaRPr lang="ru-RU" sz="1900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241971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Преобразование словаря в список или сет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Преобразовать в список или в сет можно не только коллекцию ключей или значений словаря, но и словарь целиком: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функция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set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имя_словаря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преобразует словарь в множество;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функция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list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имя_словаря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превратит словарь в список.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Но в таких преобразованиях есть особенность: множество или список, которые получатся в результате, будут включать 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только ключи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словаря, а значения будут проигнорированы. </a:t>
            </a:r>
          </a:p>
        </p:txBody>
      </p:sp>
    </p:spTree>
    <p:extLst>
      <p:ext uri="{BB962C8B-B14F-4D97-AF65-F5344CB8AC3E}">
        <p14:creationId xmlns:p14="http://schemas.microsoft.com/office/powerpoint/2010/main" val="8716560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Создание пустых словарей и их заполнение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момент создания словаря необязательно сразу создавать ключи и их значения. Можно сперва создать пустой словарь, а позднее — наполнить его содержимым.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Создание нового элемента в словаре (неважно, есть ли уже в словаре элементы или он совсем пуст) выглядит точно так же, как редактирование значения:</a:t>
            </a:r>
          </a:p>
          <a:p>
            <a:pPr algn="l"/>
            <a:r>
              <a:rPr lang="ru-RU" b="1" dirty="0" err="1">
                <a:solidFill>
                  <a:schemeClr val="bg1"/>
                </a:solidFill>
                <a:latin typeface="YS Text"/>
              </a:rPr>
              <a:t>имя_словаря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[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новый_ключ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] =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новое_значение</a:t>
            </a:r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При выполнении такого кода в словаре будет создан новый элемент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новый_ключ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: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новое_значение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Но если запрошенный ключ уже есть в словаре — новый элемент не будет создан: будет изменено значение в элементе с запрошенным ключом.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Можно воспринимать пустые словари как сумку для похода в магазин: в неё можно что-то положить, но необязательно, чтобы в ней что-то лежало с самого начала.</a:t>
            </a:r>
          </a:p>
        </p:txBody>
      </p:sp>
    </p:spTree>
    <p:extLst>
      <p:ext uri="{BB962C8B-B14F-4D97-AF65-F5344CB8AC3E}">
        <p14:creationId xmlns:p14="http://schemas.microsoft.com/office/powerpoint/2010/main" val="33101302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128353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Расширение словаря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073426"/>
            <a:ext cx="11588072" cy="57150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Для добавления нового элемента можно применить доступ по ключу: объявить новый ключ словаря и присвоить ему значение. По записи в коде этот способ похож на замену значения для определённого ключа в словаре.  Разница лишь в том, что: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 - если вызван существующий в словаре ключ — его значение будет заменено;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 - если вызван ключ, которого нет в словаре — будет создан новый элемент словаря.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добавить в словарь несколько элементов с одинаковыми ключами, но разными значениями — в словаре появится лишь один элемент с этим ключом, а его значением будет последнее из добавленных значений. </a:t>
            </a:r>
          </a:p>
          <a:p>
            <a:pPr algn="l"/>
            <a:r>
              <a:rPr lang="en-US" sz="19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 = {</a:t>
            </a:r>
          </a:p>
          <a:p>
            <a:pPr algn="l"/>
            <a:r>
              <a:rPr lang="ru-RU" sz="1900" dirty="0">
                <a:solidFill>
                  <a:srgbClr val="0070C0"/>
                </a:solidFill>
                <a:latin typeface="YS Text"/>
              </a:rPr>
              <a:t>    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хвост':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tail',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питон':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python',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бэкенд-разработчик':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back-end developer',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голова':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head’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}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                </a:t>
            </a:r>
            <a:r>
              <a:rPr lang="en-US" sz="19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900" dirty="0">
                <a:solidFill>
                  <a:schemeClr val="bg1"/>
                </a:solidFill>
                <a:latin typeface="YS Text"/>
              </a:rPr>
              <a:t>Создаём несколько новых элементов словаря с одинаковым ключом</a:t>
            </a:r>
          </a:p>
          <a:p>
            <a:pPr algn="l"/>
            <a:r>
              <a:rPr lang="en-US" sz="19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['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гриф'] =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vulture'  #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Будет создан элемент с ключом 'гриф'.</a:t>
            </a:r>
          </a:p>
          <a:p>
            <a:pPr algn="l"/>
            <a:r>
              <a:rPr lang="en-US" sz="19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['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гриф'] =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neck'  #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Значение под ключом 'гриф' будет заменено.</a:t>
            </a:r>
          </a:p>
          <a:p>
            <a:pPr algn="l"/>
            <a:r>
              <a:rPr lang="en-US" sz="19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['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гриф'] = '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stamp'  # </a:t>
            </a:r>
            <a:r>
              <a:rPr lang="ru-RU" sz="1900" dirty="0">
                <a:solidFill>
                  <a:srgbClr val="0070C0"/>
                </a:solidFill>
                <a:latin typeface="YS Text"/>
              </a:rPr>
              <a:t>Значение под ключом 'гриф' будет ещё раз заменено.</a:t>
            </a:r>
          </a:p>
          <a:p>
            <a:pPr algn="l"/>
            <a:r>
              <a:rPr lang="en-US" sz="1900" dirty="0">
                <a:solidFill>
                  <a:srgbClr val="0070C0"/>
                </a:solidFill>
                <a:latin typeface="YS Text"/>
              </a:rPr>
              <a:t>print(</a:t>
            </a:r>
            <a:r>
              <a:rPr lang="en-US" sz="19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900" dirty="0">
                <a:solidFill>
                  <a:srgbClr val="0070C0"/>
                </a:solidFill>
                <a:latin typeface="YS Text"/>
              </a:rPr>
              <a:t>)</a:t>
            </a:r>
            <a:endParaRPr lang="ru-RU" sz="1900" dirty="0">
              <a:solidFill>
                <a:srgbClr val="0070C0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0880961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133323"/>
            <a:ext cx="11588072" cy="607143"/>
          </a:xfrm>
        </p:spPr>
        <p:txBody>
          <a:bodyPr>
            <a:noAutofit/>
          </a:bodyPr>
          <a:lstStyle/>
          <a:p>
            <a:r>
              <a:rPr lang="ru-RU" sz="2800" b="1" dirty="0">
                <a:effectLst/>
                <a:latin typeface="YS Text"/>
              </a:rPr>
              <a:t>Одновременное добавление нескольких элементов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805070"/>
            <a:ext cx="11588072" cy="5998265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У словарей есть 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update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он позволяет объединить два словаря, то есть добавить в один словарь элементы другого.</a:t>
            </a:r>
          </a:p>
          <a:p>
            <a:pPr algn="l"/>
            <a:r>
              <a:rPr lang="en-US" sz="15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 = {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рука':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arm',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нога':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leg',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хвост':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tail',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питон':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python',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бэкенд-разработчик':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back-end developer',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голова':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head'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}</a:t>
            </a:r>
          </a:p>
          <a:p>
            <a:pPr algn="l"/>
            <a:r>
              <a:rPr lang="en-US" sz="1500" dirty="0" err="1">
                <a:solidFill>
                  <a:srgbClr val="0070C0"/>
                </a:solidFill>
                <a:latin typeface="YS Text"/>
              </a:rPr>
              <a:t>new_words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 = {'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мозг':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brain', '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логика': '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logic’}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500" dirty="0">
                <a:solidFill>
                  <a:schemeClr val="bg1"/>
                </a:solidFill>
                <a:latin typeface="YS Text"/>
              </a:rPr>
              <a:t>Объявим новый словарь</a:t>
            </a:r>
            <a:endParaRPr lang="en-US" sz="15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en-US" sz="1500" dirty="0" err="1">
                <a:solidFill>
                  <a:srgbClr val="0070C0"/>
                </a:solidFill>
                <a:latin typeface="YS Text"/>
              </a:rPr>
              <a:t>english.update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(</a:t>
            </a:r>
            <a:r>
              <a:rPr lang="en-US" sz="1500" dirty="0" err="1">
                <a:solidFill>
                  <a:srgbClr val="0070C0"/>
                </a:solidFill>
                <a:latin typeface="YS Text"/>
              </a:rPr>
              <a:t>new_words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)</a:t>
            </a:r>
            <a:r>
              <a:rPr lang="ru-RU" sz="1500" dirty="0">
                <a:solidFill>
                  <a:schemeClr val="bg1"/>
                </a:solidFill>
                <a:latin typeface="YS Text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500" dirty="0">
                <a:solidFill>
                  <a:schemeClr val="bg1"/>
                </a:solidFill>
                <a:latin typeface="YS Text"/>
              </a:rPr>
              <a:t>Добавим в словарь </a:t>
            </a:r>
            <a:r>
              <a:rPr lang="en-US" sz="1500" dirty="0" err="1">
                <a:solidFill>
                  <a:schemeClr val="bg1"/>
                </a:solidFill>
                <a:latin typeface="YS Text"/>
              </a:rPr>
              <a:t>english</a:t>
            </a:r>
            <a:r>
              <a:rPr lang="en-US" sz="1500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sz="1500" dirty="0">
                <a:solidFill>
                  <a:schemeClr val="bg1"/>
                </a:solidFill>
                <a:latin typeface="YS Text"/>
              </a:rPr>
              <a:t>элементы словаря </a:t>
            </a:r>
            <a:r>
              <a:rPr lang="en-US" sz="1500" dirty="0" err="1">
                <a:solidFill>
                  <a:schemeClr val="bg1"/>
                </a:solidFill>
                <a:latin typeface="YS Text"/>
              </a:rPr>
              <a:t>new_words</a:t>
            </a:r>
            <a:endParaRPr lang="en-US" sz="1500" dirty="0">
              <a:solidFill>
                <a:schemeClr val="bg1"/>
              </a:solidFill>
              <a:latin typeface="YS Text"/>
            </a:endParaRPr>
          </a:p>
          <a:p>
            <a:pPr algn="l"/>
            <a:endParaRPr lang="en-US" sz="15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print(</a:t>
            </a:r>
            <a:r>
              <a:rPr lang="en-US" sz="1500" dirty="0" err="1">
                <a:solidFill>
                  <a:srgbClr val="0070C0"/>
                </a:solidFill>
                <a:latin typeface="YS Text"/>
              </a:rPr>
              <a:t>english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)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500" dirty="0">
                <a:solidFill>
                  <a:schemeClr val="bg1"/>
                </a:solidFill>
                <a:latin typeface="YS Text"/>
              </a:rPr>
              <a:t>Посмотрим, что теперь хранится в словаре </a:t>
            </a:r>
            <a:r>
              <a:rPr lang="en-US" sz="1500" dirty="0" err="1">
                <a:solidFill>
                  <a:schemeClr val="bg1"/>
                </a:solidFill>
                <a:latin typeface="YS Text"/>
              </a:rPr>
              <a:t>english</a:t>
            </a:r>
            <a:endParaRPr lang="en-US" sz="15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en-US" sz="1500" dirty="0">
                <a:solidFill>
                  <a:srgbClr val="0070C0"/>
                </a:solidFill>
                <a:latin typeface="YS Text"/>
              </a:rPr>
              <a:t>print(</a:t>
            </a:r>
            <a:r>
              <a:rPr lang="en-US" sz="1500" dirty="0" err="1">
                <a:solidFill>
                  <a:srgbClr val="0070C0"/>
                </a:solidFill>
                <a:latin typeface="YS Text"/>
              </a:rPr>
              <a:t>new_words</a:t>
            </a:r>
            <a:r>
              <a:rPr lang="en-US" sz="1500" dirty="0">
                <a:solidFill>
                  <a:srgbClr val="0070C0"/>
                </a:solidFill>
                <a:latin typeface="YS Text"/>
              </a:rPr>
              <a:t>)</a:t>
            </a:r>
            <a:r>
              <a:rPr lang="ru-RU" sz="1500" dirty="0">
                <a:solidFill>
                  <a:srgbClr val="0070C0"/>
                </a:solidFill>
                <a:latin typeface="YS Text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YS Text"/>
              </a:rPr>
              <a:t># </a:t>
            </a:r>
            <a:r>
              <a:rPr lang="ru-RU" sz="1500" dirty="0">
                <a:solidFill>
                  <a:schemeClr val="bg1"/>
                </a:solidFill>
                <a:latin typeface="YS Text"/>
              </a:rPr>
              <a:t>Заодно выясним, что произошло со словарём </a:t>
            </a:r>
            <a:r>
              <a:rPr lang="en-US" sz="1500" dirty="0" err="1">
                <a:solidFill>
                  <a:schemeClr val="bg1"/>
                </a:solidFill>
                <a:latin typeface="YS Text"/>
              </a:rPr>
              <a:t>new_words</a:t>
            </a:r>
            <a:endParaRPr lang="ru-RU" sz="15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1500" dirty="0">
                <a:solidFill>
                  <a:schemeClr val="bg1"/>
                </a:solidFill>
                <a:latin typeface="YS Text"/>
              </a:rPr>
              <a:t>Будет напечатано: 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{'рука':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arm', '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нога':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leg', '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хвост':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tail', '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питон':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python', '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бэкенд-разработчик':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back-end developer', '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голова':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head', '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мозг':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brain', '</a:t>
            </a:r>
            <a:r>
              <a:rPr lang="ru-RU" sz="1200" dirty="0">
                <a:solidFill>
                  <a:srgbClr val="0070C0"/>
                </a:solidFill>
                <a:latin typeface="YS Text"/>
              </a:rPr>
              <a:t>логика': '</a:t>
            </a:r>
            <a:r>
              <a:rPr lang="en-US" sz="1200" dirty="0">
                <a:solidFill>
                  <a:srgbClr val="0070C0"/>
                </a:solidFill>
                <a:latin typeface="YS Text"/>
              </a:rPr>
              <a:t>logic’}</a:t>
            </a:r>
          </a:p>
          <a:p>
            <a:pPr algn="l"/>
            <a:r>
              <a:rPr lang="ru-RU" sz="1500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sz="1300" dirty="0">
                <a:solidFill>
                  <a:srgbClr val="0070C0"/>
                </a:solidFill>
                <a:latin typeface="YS Text"/>
              </a:rPr>
              <a:t>                </a:t>
            </a:r>
            <a:r>
              <a:rPr lang="en-US" sz="1300" dirty="0">
                <a:solidFill>
                  <a:srgbClr val="0070C0"/>
                </a:solidFill>
                <a:latin typeface="YS Text"/>
              </a:rPr>
              <a:t>{'</a:t>
            </a:r>
            <a:r>
              <a:rPr lang="ru-RU" sz="1300" dirty="0">
                <a:solidFill>
                  <a:srgbClr val="0070C0"/>
                </a:solidFill>
                <a:latin typeface="YS Text"/>
              </a:rPr>
              <a:t>мозг': '</a:t>
            </a:r>
            <a:r>
              <a:rPr lang="en-US" sz="1300" dirty="0">
                <a:solidFill>
                  <a:srgbClr val="0070C0"/>
                </a:solidFill>
                <a:latin typeface="YS Text"/>
              </a:rPr>
              <a:t>brain', '</a:t>
            </a:r>
            <a:r>
              <a:rPr lang="ru-RU" sz="1300" dirty="0">
                <a:solidFill>
                  <a:srgbClr val="0070C0"/>
                </a:solidFill>
                <a:latin typeface="YS Text"/>
              </a:rPr>
              <a:t>логика': '</a:t>
            </a:r>
            <a:r>
              <a:rPr lang="en-US" sz="1300" dirty="0">
                <a:solidFill>
                  <a:srgbClr val="0070C0"/>
                </a:solidFill>
                <a:latin typeface="YS Text"/>
              </a:rPr>
              <a:t>logic'}</a:t>
            </a:r>
            <a:endParaRPr lang="en-US" sz="1500" dirty="0">
              <a:solidFill>
                <a:srgbClr val="0070C0"/>
              </a:solidFill>
              <a:latin typeface="YS Text"/>
            </a:endParaRPr>
          </a:p>
          <a:p>
            <a:pPr algn="l"/>
            <a:endParaRPr lang="ru-RU" dirty="0">
              <a:solidFill>
                <a:srgbClr val="0070C0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686969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Перебор элементов словаря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Словарь — отличная структура для хранения данных, но чтобы работать с этими данными — надо извлечь их из словаря. Получить отдельный элемент — не проблема: доступ по ключу вам уже знаком. А как поступить, если надо получить все ключи или все значения?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Словари, как и другие коллекции, можно перебрать в цикле 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for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...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in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…</a:t>
            </a:r>
            <a:endParaRPr lang="ru-RU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Обработка списков вам уже знакома: каждый элемент списка по очереди передаётся в переменную и значение переменной обрабатывается в теле цикла. И эта мельница крутится до тех пор, пока не переберёт все элементы списка.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Словари в цикле обрабатываются по тому же принципу, но каждый элемент словаря состоит из двух частей, и поэтому при объявлении цикла следует указать, что надо перебрать: только ключи, только значения, или и то, и другое.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объявлении цикла к словарю применяется метод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items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Этот метод извлекает из каждого элемента словаря ключ и значение и передаёт их в переменные. Имена для этих переменных разработчик может выбирать на свой вкус, они могут быть любыми; для читаемости кода их часто именуют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key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(англ. «ключ») 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value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(англ. «значение»).</a:t>
            </a:r>
          </a:p>
        </p:txBody>
      </p:sp>
    </p:spTree>
    <p:extLst>
      <p:ext uri="{BB962C8B-B14F-4D97-AF65-F5344CB8AC3E}">
        <p14:creationId xmlns:p14="http://schemas.microsoft.com/office/powerpoint/2010/main" val="38560078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666"/>
            <a:ext cx="11588072" cy="6803334"/>
          </a:xfrm>
        </p:spPr>
        <p:txBody>
          <a:bodyPr>
            <a:normAutofit/>
          </a:bodyPr>
          <a:lstStyle/>
          <a:p>
            <a:pPr algn="l"/>
            <a:r>
              <a:rPr lang="en-US" sz="1600" dirty="0" err="1">
                <a:solidFill>
                  <a:srgbClr val="0070C0"/>
                </a:solidFill>
                <a:latin typeface="YS Text"/>
              </a:rPr>
              <a:t>favorite_songs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 = {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Тополиный пух': 'Иванушки 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international',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Город золотой': 'Аквариум',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    'Звезда по имени Солнце': 'Кино',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Space Oddity': 'David Bowie',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Рыба': 'Аквариум',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    'Серенада Трубадура': 'Муслим Магомаев’,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}</a:t>
            </a:r>
          </a:p>
          <a:p>
            <a:pPr algn="l"/>
            <a:endParaRPr lang="ru-RU" sz="16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en-US" sz="1600" dirty="0">
                <a:solidFill>
                  <a:srgbClr val="0070C0"/>
                </a:solidFill>
                <a:latin typeface="YS Text"/>
              </a:rPr>
              <a:t>for song, performer in </a:t>
            </a:r>
            <a:r>
              <a:rPr lang="en-US" sz="1600" dirty="0" err="1">
                <a:solidFill>
                  <a:srgbClr val="0070C0"/>
                </a:solidFill>
                <a:latin typeface="YS Text"/>
              </a:rPr>
              <a:t>favorite_songs.items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():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print('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Песню ' + 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song + ' 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исполняет ' + 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performer)</a:t>
            </a:r>
            <a:endParaRPr lang="ru-RU" sz="1600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sz="1800" b="1" dirty="0">
                <a:solidFill>
                  <a:schemeClr val="bg1"/>
                </a:solidFill>
                <a:latin typeface="YS Text"/>
              </a:rPr>
              <a:t>Результат: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Песню Тополиный пух исполняет Иванушки </a:t>
            </a:r>
            <a:r>
              <a:rPr lang="ru-RU" sz="1600" dirty="0" err="1">
                <a:solidFill>
                  <a:schemeClr val="bg1"/>
                </a:solidFill>
                <a:latin typeface="YS Text"/>
              </a:rPr>
              <a:t>international</a:t>
            </a:r>
            <a:endParaRPr lang="ru-RU" sz="16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Песню Город золотой исполняет Аквариум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Песню Звезда по имени Солнце исполняет Кино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Песню Space </a:t>
            </a:r>
            <a:r>
              <a:rPr lang="ru-RU" sz="1600" dirty="0" err="1">
                <a:solidFill>
                  <a:schemeClr val="bg1"/>
                </a:solidFill>
                <a:latin typeface="YS Text"/>
              </a:rPr>
              <a:t>Oddity</a:t>
            </a:r>
            <a:r>
              <a:rPr lang="ru-RU" sz="1600" dirty="0">
                <a:solidFill>
                  <a:schemeClr val="bg1"/>
                </a:solidFill>
                <a:latin typeface="YS Text"/>
              </a:rPr>
              <a:t> исполняет David </a:t>
            </a:r>
            <a:r>
              <a:rPr lang="ru-RU" sz="1600" dirty="0" err="1">
                <a:solidFill>
                  <a:schemeClr val="bg1"/>
                </a:solidFill>
                <a:latin typeface="YS Text"/>
              </a:rPr>
              <a:t>Bowie</a:t>
            </a:r>
            <a:endParaRPr lang="ru-RU" sz="16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Песню Рыба исполняет Аквариум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Песню Серенада Трубадура исполняет Муслим Магомаев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560FC0-8095-A0DC-14A4-768ECD3E8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76" t="11156" r="5439" b="14505"/>
          <a:stretch/>
        </p:blipFill>
        <p:spPr>
          <a:xfrm>
            <a:off x="4153600" y="111889"/>
            <a:ext cx="7893489" cy="339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911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Ключи — отдельно, значения — отдельно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При обработке словаря в цикле не обязательно извлекать и ключ, и значение каждого элемента. Можно перебрать только ключи словаря или только его значения; для этого есть методы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keys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и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values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().</a:t>
            </a:r>
            <a:endParaRPr lang="ru-RU" b="1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Процесс перебора ключей словаря в цикле называют «итерировать по ключам»; перебирать значения словаря — «итерировать по значениям».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в цикле применён метод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keys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или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values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то нужно объявлять только одну переменную цикла: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for singer in </a:t>
            </a:r>
            <a:r>
              <a:rPr lang="en-US" dirty="0" err="1">
                <a:solidFill>
                  <a:srgbClr val="0070C0"/>
                </a:solidFill>
                <a:latin typeface="YS Text"/>
              </a:rPr>
              <a:t>favorite_songs.values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():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YS Text"/>
              </a:rPr>
              <a:t>	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	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print('</a:t>
            </a:r>
            <a:r>
              <a:rPr lang="ru-RU" dirty="0">
                <a:solidFill>
                  <a:srgbClr val="0070C0"/>
                </a:solidFill>
                <a:latin typeface="YS Text"/>
              </a:rPr>
              <a:t>Доктор, я больше не могу слушать исполнителя ' + </a:t>
            </a:r>
            <a:r>
              <a:rPr lang="en-US" dirty="0">
                <a:solidFill>
                  <a:srgbClr val="0070C0"/>
                </a:solidFill>
                <a:latin typeface="YS Text"/>
              </a:rPr>
              <a:t>singer)</a:t>
            </a:r>
            <a:endParaRPr lang="ru-RU" dirty="0">
              <a:solidFill>
                <a:srgbClr val="0070C0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По умолчанию Python для итерации по словарю использует ключи. Поэтому можно итерироваться по ключам </a:t>
            </a:r>
            <a:r>
              <a:rPr lang="ru-RU" u="sng" dirty="0">
                <a:solidFill>
                  <a:schemeClr val="bg1"/>
                </a:solidFill>
                <a:latin typeface="YS Text"/>
              </a:rPr>
              <a:t>без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метода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keys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при объявлении цикла после названия словаря не указать метод — цикл будет перебирать ключи словаря.</a:t>
            </a:r>
          </a:p>
        </p:txBody>
      </p:sp>
    </p:spTree>
    <p:extLst>
      <p:ext uri="{BB962C8B-B14F-4D97-AF65-F5344CB8AC3E}">
        <p14:creationId xmlns:p14="http://schemas.microsoft.com/office/powerpoint/2010/main" val="27332639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Операции с коллекциями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Списки, словари и множества в Python называются коллекциями.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Проверить, есть ли в коллекции определённый элемент, можно условной конструкцией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if</a:t>
            </a:r>
            <a:r>
              <a:rPr lang="ru-RU" sz="2400" b="1" dirty="0">
                <a:solidFill>
                  <a:schemeClr val="bg1"/>
                </a:solidFill>
                <a:latin typeface="YS Text"/>
              </a:rPr>
              <a:t> с оператором </a:t>
            </a:r>
            <a:r>
              <a:rPr lang="ru-RU" sz="2400" b="1" dirty="0" err="1">
                <a:solidFill>
                  <a:schemeClr val="bg1"/>
                </a:solidFill>
                <a:latin typeface="YS Text"/>
              </a:rPr>
              <a:t>in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работе с оператором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in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 </a:t>
            </a:r>
            <a:r>
              <a:rPr lang="ru-RU" u="sng" dirty="0">
                <a:solidFill>
                  <a:schemeClr val="bg1"/>
                </a:solidFill>
                <a:latin typeface="YS Text"/>
              </a:rPr>
              <a:t>у словарей есть особенность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: этот оператор проводит поиск только по ключам, если искомый элемент — это значение элемента словаря(а не ключ),  то он не будет найден.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Если нужно убедиться, что определённого элемента нет в коллекции — поможет логический оператор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not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64127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Добавление элементов в коллекции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В список можно добавить новый элемент методом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append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. Новый элемент будет добавлен в конец списка.</a:t>
            </a:r>
          </a:p>
          <a:p>
            <a:pPr algn="l"/>
            <a:r>
              <a:rPr lang="en-US" sz="1600" dirty="0" err="1">
                <a:solidFill>
                  <a:srgbClr val="0070C0"/>
                </a:solidFill>
                <a:latin typeface="YS Text"/>
              </a:rPr>
              <a:t>sleep_list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 = [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  <a:latin typeface="YS Text"/>
              </a:rPr>
              <a:t>    '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спать', 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    'дрыхнуть', 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    'кемарить', 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    'спать'</a:t>
            </a:r>
          </a:p>
          <a:p>
            <a:pPr algn="l"/>
            <a:r>
              <a:rPr lang="ru-RU" sz="1600" dirty="0">
                <a:solidFill>
                  <a:srgbClr val="0070C0"/>
                </a:solidFill>
                <a:latin typeface="YS Text"/>
              </a:rPr>
              <a:t>] 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YS Text"/>
              </a:rPr>
              <a:t># Метод </a:t>
            </a:r>
            <a:r>
              <a:rPr lang="en-US" sz="1600" dirty="0">
                <a:solidFill>
                  <a:schemeClr val="bg1"/>
                </a:solidFill>
                <a:latin typeface="YS Text"/>
              </a:rPr>
              <a:t>append() </a:t>
            </a:r>
            <a:r>
              <a:rPr lang="ru-RU" sz="1600" dirty="0">
                <a:solidFill>
                  <a:schemeClr val="bg1"/>
                </a:solidFill>
                <a:latin typeface="YS Text"/>
              </a:rPr>
              <a:t>добавит строку 'посапывать' в конец списка</a:t>
            </a:r>
          </a:p>
          <a:p>
            <a:pPr algn="l"/>
            <a:r>
              <a:rPr lang="en-US" sz="1600" dirty="0" err="1">
                <a:solidFill>
                  <a:srgbClr val="0070C0"/>
                </a:solidFill>
                <a:latin typeface="YS Text"/>
              </a:rPr>
              <a:t>sleep_list.append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('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посапывать')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  <a:latin typeface="YS Text"/>
              </a:rPr>
              <a:t>print(</a:t>
            </a:r>
            <a:r>
              <a:rPr lang="en-US" sz="1600" dirty="0" err="1">
                <a:solidFill>
                  <a:srgbClr val="0070C0"/>
                </a:solidFill>
                <a:latin typeface="YS Text"/>
              </a:rPr>
              <a:t>sleep_list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)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  <a:latin typeface="YS Text"/>
              </a:rPr>
              <a:t>#</a:t>
            </a:r>
            <a:r>
              <a:rPr lang="en-US" sz="1600" dirty="0">
                <a:solidFill>
                  <a:srgbClr val="0070C0"/>
                </a:solidFill>
                <a:latin typeface="YS Text"/>
              </a:rPr>
              <a:t> </a:t>
            </a:r>
            <a:r>
              <a:rPr lang="ru-RU" sz="1600" dirty="0">
                <a:solidFill>
                  <a:srgbClr val="0070C0"/>
                </a:solidFill>
                <a:latin typeface="YS Text"/>
              </a:rPr>
              <a:t>['спать', 'дрыхнуть', 'кемарить', 'спать', 'посапывать</a:t>
            </a:r>
            <a:r>
              <a:rPr lang="ru-RU" sz="1600">
                <a:solidFill>
                  <a:srgbClr val="0070C0"/>
                </a:solidFill>
                <a:latin typeface="YS Text"/>
              </a:rPr>
              <a:t>’] </a:t>
            </a:r>
            <a:r>
              <a:rPr lang="en-US" sz="1600">
                <a:solidFill>
                  <a:schemeClr val="bg1"/>
                </a:solidFill>
                <a:latin typeface="YS Text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YS Text"/>
              </a:rPr>
              <a:t>Будет напечатано</a:t>
            </a:r>
            <a:endParaRPr lang="en-US" sz="1600" dirty="0">
              <a:solidFill>
                <a:schemeClr val="bg1"/>
              </a:solidFill>
              <a:latin typeface="YS Text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Добавить новый элемент в множество можно методом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add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, он работает аналогично методу </a:t>
            </a:r>
            <a:r>
              <a:rPr lang="ru-RU" b="1" dirty="0" err="1">
                <a:solidFill>
                  <a:schemeClr val="bg1"/>
                </a:solidFill>
                <a:latin typeface="YS Text"/>
              </a:rPr>
              <a:t>append</a:t>
            </a:r>
            <a:r>
              <a:rPr lang="ru-RU" b="1" dirty="0">
                <a:solidFill>
                  <a:schemeClr val="bg1"/>
                </a:solidFill>
                <a:latin typeface="YS Text"/>
              </a:rPr>
              <a:t>() </a:t>
            </a:r>
            <a:r>
              <a:rPr lang="ru-RU" dirty="0">
                <a:solidFill>
                  <a:schemeClr val="bg1"/>
                </a:solidFill>
                <a:latin typeface="YS Text"/>
              </a:rPr>
              <a:t>для списков. Отличие лишь в том, что новый элемент будет добавлен не в конец множества. Ведь множество не упорядочено, и у него нет начала и конца.</a:t>
            </a:r>
          </a:p>
          <a:p>
            <a:pPr algn="l"/>
            <a:endParaRPr lang="ru-RU" dirty="0">
              <a:solidFill>
                <a:schemeClr val="bg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557650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90ADA-D739-639F-0703-C874FEB12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61" y="227744"/>
            <a:ext cx="11588072" cy="771323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effectLst/>
                <a:latin typeface="YS Text"/>
              </a:rPr>
              <a:t>123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444C2-7ED3-7DEA-2212-670917AF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61" y="1219876"/>
            <a:ext cx="11588072" cy="541037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YS Text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653196279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1_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Override1.xml><?xml version="1.0" encoding="utf-8"?>
<a:themeOverride xmlns:a="http://schemas.openxmlformats.org/drawingml/2006/main">
  <a:clrScheme name="Бумажная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2.xml><?xml version="1.0" encoding="utf-8"?>
<a:themeOverride xmlns:a="http://schemas.openxmlformats.org/drawingml/2006/main">
  <a:clrScheme name="Бумажная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3.xml><?xml version="1.0" encoding="utf-8"?>
<a:themeOverride xmlns:a="http://schemas.openxmlformats.org/drawingml/2006/main">
  <a:clrScheme name="Красный и оранжевый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4.xml><?xml version="1.0" encoding="utf-8"?>
<a:themeOverride xmlns:a="http://schemas.openxmlformats.org/drawingml/2006/main">
  <a:clrScheme name="Красный и оранжевый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5.xml><?xml version="1.0" encoding="utf-8"?>
<a:themeOverride xmlns:a="http://schemas.openxmlformats.org/drawingml/2006/main">
  <a:clrScheme name="Красный и оранжевый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6.xml><?xml version="1.0" encoding="utf-8"?>
<a:themeOverride xmlns:a="http://schemas.openxmlformats.org/drawingml/2006/main">
  <a:clrScheme name="Красный и оранжевый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8942</TotalTime>
  <Words>8941</Words>
  <Application>Microsoft Office PowerPoint</Application>
  <PresentationFormat>Широкоэкранный</PresentationFormat>
  <Paragraphs>605</Paragraphs>
  <Slides>76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76</vt:i4>
      </vt:variant>
    </vt:vector>
  </HeadingPairs>
  <TitlesOfParts>
    <vt:vector size="85" baseType="lpstr">
      <vt:lpstr>Arial</vt:lpstr>
      <vt:lpstr>Consolas</vt:lpstr>
      <vt:lpstr>Corbel</vt:lpstr>
      <vt:lpstr>Gill Sans MT</vt:lpstr>
      <vt:lpstr>KaTeX_Main</vt:lpstr>
      <vt:lpstr>Menlo</vt:lpstr>
      <vt:lpstr>YS Text</vt:lpstr>
      <vt:lpstr>Посылка</vt:lpstr>
      <vt:lpstr>1_Посылка</vt:lpstr>
      <vt:lpstr>первый код на Python</vt:lpstr>
      <vt:lpstr>Презентация PowerPoint</vt:lpstr>
      <vt:lpstr>Функция</vt:lpstr>
      <vt:lpstr>Код для людей: комментарии</vt:lpstr>
      <vt:lpstr>Переменные и типы данных</vt:lpstr>
      <vt:lpstr>Презентация PowerPoint</vt:lpstr>
      <vt:lpstr>Типы данных: числа и строки</vt:lpstr>
      <vt:lpstr>А в чём разница?</vt:lpstr>
      <vt:lpstr>Преобразование типов</vt:lpstr>
      <vt:lpstr>Ошибки</vt:lpstr>
      <vt:lpstr>Ошибки NameError и SyntaxError</vt:lpstr>
      <vt:lpstr>Ошибки</vt:lpstr>
      <vt:lpstr>Ошибка в типах данных</vt:lpstr>
      <vt:lpstr>Именование переменных</vt:lpstr>
      <vt:lpstr>Именование переменных</vt:lpstr>
      <vt:lpstr>Вывод на экран</vt:lpstr>
      <vt:lpstr>Дробные числа</vt:lpstr>
      <vt:lpstr>Дробные числа</vt:lpstr>
      <vt:lpstr>Дробные числа</vt:lpstr>
      <vt:lpstr>Списки</vt:lpstr>
      <vt:lpstr>Презентация PowerPoint</vt:lpstr>
      <vt:lpstr>Циклы</vt:lpstr>
      <vt:lpstr>Циклы</vt:lpstr>
      <vt:lpstr>Объявление цикла</vt:lpstr>
      <vt:lpstr>Тело цикла</vt:lpstr>
      <vt:lpstr>Отступы в коде циклов</vt:lpstr>
      <vt:lpstr>Табы или пробелы?</vt:lpstr>
      <vt:lpstr>Отступы во вложенных циклах</vt:lpstr>
      <vt:lpstr>Диапазоны</vt:lpstr>
      <vt:lpstr>Диапазоны от и до</vt:lpstr>
      <vt:lpstr>Список задом наперёд</vt:lpstr>
      <vt:lpstr>Ветвления</vt:lpstr>
      <vt:lpstr>Ветвления</vt:lpstr>
      <vt:lpstr>Ветвление кода</vt:lpstr>
      <vt:lpstr>Ответь хоть что-нибудь!</vt:lpstr>
      <vt:lpstr>Задание</vt:lpstr>
      <vt:lpstr>Множественные ветвления</vt:lpstr>
      <vt:lpstr>Логические выражения</vt:lpstr>
      <vt:lpstr>логические операции</vt:lpstr>
      <vt:lpstr>Составные логические выражения</vt:lpstr>
      <vt:lpstr>Приоритетность логических операторов</vt:lpstr>
      <vt:lpstr>Функции</vt:lpstr>
      <vt:lpstr>Функции</vt:lpstr>
      <vt:lpstr>Объявление функции</vt:lpstr>
      <vt:lpstr>вызов функции</vt:lpstr>
      <vt:lpstr>Параметры и аргументы функции</vt:lpstr>
      <vt:lpstr>Использование функций вместе с другими блоками кода</vt:lpstr>
      <vt:lpstr>Счётчики</vt:lpstr>
      <vt:lpstr>Оператор += и прочая арифметика</vt:lpstr>
      <vt:lpstr>Возврат значений из функции</vt:lpstr>
      <vt:lpstr>Вызов функции из функции</vt:lpstr>
      <vt:lpstr>Ломаем код: ошибка RecursionError</vt:lpstr>
      <vt:lpstr>Коллекции</vt:lpstr>
      <vt:lpstr>Коллекции в Python</vt:lpstr>
      <vt:lpstr>Множества (set)</vt:lpstr>
      <vt:lpstr>Преобразование списка в множество: функция set()</vt:lpstr>
      <vt:lpstr>Циклом по множеству</vt:lpstr>
      <vt:lpstr>Операции с множествами</vt:lpstr>
      <vt:lpstr>Объединение двух множеств</vt:lpstr>
      <vt:lpstr>Поиск различий в двух множествах</vt:lpstr>
      <vt:lpstr>Поиск одинаковых элементов в двух множествах</vt:lpstr>
      <vt:lpstr>Словари</vt:lpstr>
      <vt:lpstr>Словарь в Python</vt:lpstr>
      <vt:lpstr>Доступ к значению словаря по ключу</vt:lpstr>
      <vt:lpstr>Уникальность ключей в словаре</vt:lpstr>
      <vt:lpstr>Управление словарём</vt:lpstr>
      <vt:lpstr>Преобразование словаря в список или сет</vt:lpstr>
      <vt:lpstr>Создание пустых словарей и их заполнение</vt:lpstr>
      <vt:lpstr>Расширение словаря</vt:lpstr>
      <vt:lpstr>Одновременное добавление нескольких элементов</vt:lpstr>
      <vt:lpstr>Перебор элементов словаря</vt:lpstr>
      <vt:lpstr>Презентация PowerPoint</vt:lpstr>
      <vt:lpstr>Ключи — отдельно, значения — отдельно</vt:lpstr>
      <vt:lpstr>Операции с коллекциями</vt:lpstr>
      <vt:lpstr>Добавление элементов в коллекции</vt:lpstr>
      <vt:lpstr>123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Екимов</dc:creator>
  <cp:lastModifiedBy>Илья Екимов</cp:lastModifiedBy>
  <cp:revision>16</cp:revision>
  <dcterms:created xsi:type="dcterms:W3CDTF">2025-10-01T19:06:55Z</dcterms:created>
  <dcterms:modified xsi:type="dcterms:W3CDTF">2026-01-19T09:03:11Z</dcterms:modified>
</cp:coreProperties>
</file>