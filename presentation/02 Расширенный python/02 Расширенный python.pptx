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sldIdLst>
    <p:sldId id="256" r:id="rId3"/>
    <p:sldId id="274" r:id="rId4"/>
    <p:sldId id="259" r:id="rId5"/>
    <p:sldId id="275" r:id="rId6"/>
    <p:sldId id="276" r:id="rId7"/>
    <p:sldId id="277" r:id="rId8"/>
    <p:sldId id="278" r:id="rId9"/>
    <p:sldId id="279" r:id="rId10"/>
    <p:sldId id="296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7" r:id="rId22"/>
    <p:sldId id="290" r:id="rId23"/>
    <p:sldId id="291" r:id="rId24"/>
    <p:sldId id="292" r:id="rId25"/>
    <p:sldId id="293" r:id="rId26"/>
    <p:sldId id="294" r:id="rId27"/>
    <p:sldId id="295" r:id="rId28"/>
    <p:sldId id="30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17" r:id="rId39"/>
    <p:sldId id="308" r:id="rId40"/>
    <p:sldId id="309" r:id="rId41"/>
    <p:sldId id="310" r:id="rId42"/>
    <p:sldId id="311" r:id="rId43"/>
    <p:sldId id="312" r:id="rId44"/>
    <p:sldId id="318" r:id="rId45"/>
    <p:sldId id="313" r:id="rId46"/>
    <p:sldId id="314" r:id="rId47"/>
    <p:sldId id="315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3" r:id="rId62"/>
    <p:sldId id="334" r:id="rId63"/>
    <p:sldId id="351" r:id="rId64"/>
    <p:sldId id="335" r:id="rId65"/>
    <p:sldId id="337" r:id="rId66"/>
    <p:sldId id="336" r:id="rId67"/>
    <p:sldId id="338" r:id="rId68"/>
    <p:sldId id="339" r:id="rId69"/>
    <p:sldId id="340" r:id="rId70"/>
    <p:sldId id="341" r:id="rId71"/>
    <p:sldId id="342" r:id="rId72"/>
    <p:sldId id="343" r:id="rId73"/>
    <p:sldId id="344" r:id="rId74"/>
    <p:sldId id="345" r:id="rId75"/>
    <p:sldId id="346" r:id="rId76"/>
    <p:sldId id="347" r:id="rId77"/>
    <p:sldId id="348" r:id="rId78"/>
    <p:sldId id="349" r:id="rId79"/>
    <p:sldId id="350" r:id="rId80"/>
    <p:sldId id="352" r:id="rId81"/>
    <p:sldId id="353" r:id="rId82"/>
    <p:sldId id="355" r:id="rId83"/>
    <p:sldId id="359" r:id="rId84"/>
    <p:sldId id="354" r:id="rId85"/>
    <p:sldId id="356" r:id="rId86"/>
    <p:sldId id="357" r:id="rId87"/>
    <p:sldId id="358" r:id="rId88"/>
    <p:sldId id="369" r:id="rId89"/>
    <p:sldId id="360" r:id="rId90"/>
    <p:sldId id="361" r:id="rId91"/>
    <p:sldId id="362" r:id="rId92"/>
    <p:sldId id="363" r:id="rId93"/>
    <p:sldId id="364" r:id="rId94"/>
    <p:sldId id="365" r:id="rId95"/>
    <p:sldId id="366" r:id="rId96"/>
    <p:sldId id="367" r:id="rId97"/>
    <p:sldId id="368" r:id="rId98"/>
    <p:sldId id="370" r:id="rId99"/>
    <p:sldId id="383" r:id="rId100"/>
    <p:sldId id="371" r:id="rId101"/>
    <p:sldId id="372" r:id="rId102"/>
    <p:sldId id="373" r:id="rId103"/>
    <p:sldId id="384" r:id="rId104"/>
    <p:sldId id="374" r:id="rId105"/>
    <p:sldId id="375" r:id="rId106"/>
    <p:sldId id="376" r:id="rId107"/>
    <p:sldId id="377" r:id="rId108"/>
    <p:sldId id="378" r:id="rId109"/>
    <p:sldId id="379" r:id="rId110"/>
    <p:sldId id="381" r:id="rId111"/>
    <p:sldId id="380" r:id="rId112"/>
    <p:sldId id="382" r:id="rId113"/>
    <p:sldId id="385" r:id="rId114"/>
    <p:sldId id="386" r:id="rId115"/>
    <p:sldId id="387" r:id="rId116"/>
    <p:sldId id="388" r:id="rId117"/>
    <p:sldId id="389" r:id="rId118"/>
    <p:sldId id="390" r:id="rId119"/>
    <p:sldId id="391" r:id="rId120"/>
    <p:sldId id="398" r:id="rId121"/>
    <p:sldId id="392" r:id="rId122"/>
    <p:sldId id="393" r:id="rId123"/>
    <p:sldId id="394" r:id="rId124"/>
    <p:sldId id="395" r:id="rId125"/>
    <p:sldId id="396" r:id="rId126"/>
    <p:sldId id="397" r:id="rId127"/>
    <p:sldId id="399" r:id="rId128"/>
    <p:sldId id="400" r:id="rId129"/>
    <p:sldId id="401" r:id="rId130"/>
    <p:sldId id="402" r:id="rId131"/>
    <p:sldId id="403" r:id="rId132"/>
    <p:sldId id="404" r:id="rId133"/>
    <p:sldId id="414" r:id="rId134"/>
    <p:sldId id="405" r:id="rId135"/>
    <p:sldId id="406" r:id="rId136"/>
    <p:sldId id="407" r:id="rId137"/>
    <p:sldId id="408" r:id="rId138"/>
    <p:sldId id="409" r:id="rId139"/>
    <p:sldId id="410" r:id="rId140"/>
    <p:sldId id="423" r:id="rId141"/>
    <p:sldId id="411" r:id="rId142"/>
    <p:sldId id="412" r:id="rId143"/>
    <p:sldId id="413" r:id="rId144"/>
    <p:sldId id="415" r:id="rId145"/>
    <p:sldId id="416" r:id="rId146"/>
    <p:sldId id="417" r:id="rId147"/>
    <p:sldId id="418" r:id="rId148"/>
    <p:sldId id="419" r:id="rId149"/>
    <p:sldId id="420" r:id="rId150"/>
    <p:sldId id="421" r:id="rId151"/>
    <p:sldId id="422" r:id="rId152"/>
    <p:sldId id="424" r:id="rId153"/>
    <p:sldId id="425" r:id="rId154"/>
    <p:sldId id="426" r:id="rId155"/>
    <p:sldId id="427" r:id="rId156"/>
    <p:sldId id="432" r:id="rId157"/>
    <p:sldId id="428" r:id="rId158"/>
    <p:sldId id="429" r:id="rId159"/>
    <p:sldId id="433" r:id="rId160"/>
    <p:sldId id="430" r:id="rId161"/>
    <p:sldId id="431" r:id="rId162"/>
    <p:sldId id="434" r:id="rId163"/>
    <p:sldId id="435" r:id="rId164"/>
    <p:sldId id="436" r:id="rId165"/>
    <p:sldId id="437" r:id="rId166"/>
    <p:sldId id="438" r:id="rId167"/>
    <p:sldId id="439" r:id="rId168"/>
    <p:sldId id="440" r:id="rId169"/>
    <p:sldId id="441" r:id="rId170"/>
    <p:sldId id="442" r:id="rId171"/>
    <p:sldId id="448" r:id="rId172"/>
    <p:sldId id="443" r:id="rId173"/>
    <p:sldId id="444" r:id="rId174"/>
    <p:sldId id="445" r:id="rId175"/>
    <p:sldId id="446" r:id="rId176"/>
    <p:sldId id="447" r:id="rId177"/>
    <p:sldId id="449" r:id="rId178"/>
    <p:sldId id="450" r:id="rId179"/>
    <p:sldId id="451" r:id="rId180"/>
    <p:sldId id="452" r:id="rId181"/>
    <p:sldId id="453" r:id="rId182"/>
    <p:sldId id="454" r:id="rId183"/>
    <p:sldId id="455" r:id="rId184"/>
    <p:sldId id="456" r:id="rId185"/>
    <p:sldId id="457" r:id="rId186"/>
    <p:sldId id="458" r:id="rId187"/>
    <p:sldId id="459" r:id="rId188"/>
    <p:sldId id="460" r:id="rId189"/>
    <p:sldId id="466" r:id="rId190"/>
    <p:sldId id="461" r:id="rId191"/>
    <p:sldId id="462" r:id="rId192"/>
    <p:sldId id="463" r:id="rId193"/>
    <p:sldId id="464" r:id="rId194"/>
    <p:sldId id="465" r:id="rId195"/>
    <p:sldId id="467" r:id="rId196"/>
    <p:sldId id="468" r:id="rId197"/>
    <p:sldId id="469" r:id="rId198"/>
    <p:sldId id="470" r:id="rId199"/>
    <p:sldId id="471" r:id="rId200"/>
    <p:sldId id="472" r:id="rId201"/>
    <p:sldId id="503" r:id="rId202"/>
    <p:sldId id="473" r:id="rId203"/>
    <p:sldId id="474" r:id="rId204"/>
    <p:sldId id="475" r:id="rId205"/>
    <p:sldId id="476" r:id="rId206"/>
    <p:sldId id="477" r:id="rId207"/>
    <p:sldId id="478" r:id="rId208"/>
    <p:sldId id="479" r:id="rId209"/>
    <p:sldId id="504" r:id="rId210"/>
    <p:sldId id="480" r:id="rId211"/>
    <p:sldId id="481" r:id="rId212"/>
    <p:sldId id="482" r:id="rId213"/>
    <p:sldId id="505" r:id="rId214"/>
    <p:sldId id="483" r:id="rId215"/>
    <p:sldId id="484" r:id="rId216"/>
    <p:sldId id="506" r:id="rId217"/>
    <p:sldId id="485" r:id="rId218"/>
    <p:sldId id="486" r:id="rId219"/>
    <p:sldId id="487" r:id="rId220"/>
    <p:sldId id="488" r:id="rId221"/>
    <p:sldId id="489" r:id="rId222"/>
    <p:sldId id="490" r:id="rId223"/>
    <p:sldId id="491" r:id="rId2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A005"/>
    <a:srgbClr val="480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628" autoAdjust="0"/>
  </p:normalViewPr>
  <p:slideViewPr>
    <p:cSldViewPr snapToGrid="0">
      <p:cViewPr varScale="1">
        <p:scale>
          <a:sx n="96" d="100"/>
          <a:sy n="96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226" Type="http://schemas.openxmlformats.org/officeDocument/2006/relationships/viewProps" Target="viewProps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slide" Target="slides/slide214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227" Type="http://schemas.openxmlformats.org/officeDocument/2006/relationships/theme" Target="theme/theme1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slide" Target="slides/slide215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228" Type="http://schemas.openxmlformats.org/officeDocument/2006/relationships/tableStyles" Target="tableStyles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8" Type="http://schemas.openxmlformats.org/officeDocument/2006/relationships/slide" Target="slides/slide216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14" Type="http://schemas.openxmlformats.org/officeDocument/2006/relationships/slide" Target="slides/slide12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8" Type="http://schemas.openxmlformats.org/officeDocument/2006/relationships/slide" Target="slides/slide6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219" Type="http://schemas.openxmlformats.org/officeDocument/2006/relationships/slide" Target="slides/slide217.xml"/><Relationship Id="rId3" Type="http://schemas.openxmlformats.org/officeDocument/2006/relationships/slide" Target="slides/slide1.xml"/><Relationship Id="rId214" Type="http://schemas.openxmlformats.org/officeDocument/2006/relationships/slide" Target="slides/slide212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0" Type="http://schemas.openxmlformats.org/officeDocument/2006/relationships/slide" Target="slides/slide218.xml"/><Relationship Id="rId225" Type="http://schemas.openxmlformats.org/officeDocument/2006/relationships/presProps" Target="pres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10" Type="http://schemas.openxmlformats.org/officeDocument/2006/relationships/slide" Target="slides/slide208.xml"/><Relationship Id="rId215" Type="http://schemas.openxmlformats.org/officeDocument/2006/relationships/slide" Target="slides/slide213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221" Type="http://schemas.openxmlformats.org/officeDocument/2006/relationships/slide" Target="slides/slide219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222" Type="http://schemas.openxmlformats.org/officeDocument/2006/relationships/slide" Target="slides/slide220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223" Type="http://schemas.openxmlformats.org/officeDocument/2006/relationships/slide" Target="slides/slide22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slide" Target="slides/slide21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Relationship Id="rId224" Type="http://schemas.openxmlformats.org/officeDocument/2006/relationships/slide" Target="slides/slide222.xml"/><Relationship Id="rId30" Type="http://schemas.openxmlformats.org/officeDocument/2006/relationships/slide" Target="slides/slide2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189" Type="http://schemas.openxmlformats.org/officeDocument/2006/relationships/slide" Target="slides/slide1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8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85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781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632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88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818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549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0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377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195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060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621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734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732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303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932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4092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3796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0197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88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9317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43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53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21FAFBA-393D-42C3-9665-A7BB34EE52B5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E616AEB-9D0A-49D1-9064-830033ADF2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079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datetime.html#strftime-and-strptime-format-codes" TargetMode="Externa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.9/tutorial/datastructures.html#more-on-lists" TargetMode="Externa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string.html" TargetMode="Externa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1127819"/>
          </a:xfrm>
        </p:spPr>
        <p:txBody>
          <a:bodyPr/>
          <a:lstStyle/>
          <a:p>
            <a:pPr algn="ctr"/>
            <a:r>
              <a:rPr lang="ru-RU" sz="4800" b="1" dirty="0"/>
              <a:t>Погружение в </a:t>
            </a:r>
            <a:r>
              <a:rPr lang="en-US" sz="4800" b="1" dirty="0"/>
              <a:t>Python</a:t>
            </a:r>
            <a:endParaRPr lang="ru-RU" sz="4800" b="1" dirty="0"/>
          </a:p>
        </p:txBody>
      </p:sp>
    </p:spTree>
    <p:extLst>
      <p:ext uri="{BB962C8B-B14F-4D97-AF65-F5344CB8AC3E}">
        <p14:creationId xmlns:p14="http://schemas.microsoft.com/office/powerpoint/2010/main" val="573422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826528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Переменные и их значения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914399"/>
            <a:ext cx="10988460" cy="5644055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Повторить:</a:t>
            </a:r>
          </a:p>
          <a:p>
            <a:pPr algn="l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-Что такое переменная</a:t>
            </a:r>
          </a:p>
          <a:p>
            <a:pPr algn="l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-Правила объявления переменных</a:t>
            </a:r>
          </a:p>
          <a:p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-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Как называть переменные</a:t>
            </a:r>
          </a:p>
          <a:p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Способы задания значения переменной</a:t>
            </a: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З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начения переменных могут быть явно указаны в коде:</a:t>
            </a:r>
          </a:p>
          <a:p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Прямо в коде указано значение 'Малина’.</a:t>
            </a:r>
          </a:p>
          <a:p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jar_of_berries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'Малина’</a:t>
            </a:r>
            <a:endParaRPr lang="ru-RU" sz="2000" b="1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Прямо в коде указано число 15.</a:t>
            </a:r>
          </a:p>
          <a:p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quantity_of_jars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15 </a:t>
            </a: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Такие значения программисты называют </a:t>
            </a:r>
            <a:r>
              <a:rPr lang="ru-RU" sz="2400" b="1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литералами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; с помощью литерала можно задать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значение переменной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Присвоить значение можно и иначе, используя значения, которые получены из других переменных или из вычислений.</a:t>
            </a:r>
          </a:p>
          <a:p>
            <a:pPr algn="l"/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42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Типизация в программировании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Типизация данных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Программа должна понимать, как обращаться с теми данными, которые она получит. Например, Python может складывать и умножать не только числа, но и строки! Однако выполняются эти операции по разным правилам.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Сложение и умножение чисел выполняется так, как принято в арифметике. А вот сложение и умножение строк выполняется по другим правилам.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Типизация в программировании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это свойство языка программирования, определяющее правила присваивания и взаимодействия типов данных в программе.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Python относится к языкам с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динамической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сильной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типизацией.</a:t>
            </a:r>
          </a:p>
          <a:p>
            <a:pPr algn="l"/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22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541282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Статическая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vs 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динамическая типизация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604345"/>
            <a:ext cx="11666483" cy="625365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2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Термин «</a:t>
            </a:r>
            <a:r>
              <a:rPr lang="ru-RU" sz="2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динамическая типизация</a:t>
            </a:r>
            <a:r>
              <a:rPr lang="ru-RU" sz="2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 означает, что тип переменной определяется во время выполнения программы. В Python можно присвоить переменной значение одного типа, а затем присвоить ей новое значение другого типа: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# x - целочисленный тип (</a:t>
            </a:r>
            <a:r>
              <a:rPr lang="ru-RU" sz="1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int</a:t>
            </a: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).</a:t>
            </a:r>
          </a:p>
          <a:p>
            <a:pPr algn="l"/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x = 5  </a:t>
            </a:r>
          </a:p>
          <a:p>
            <a:pPr algn="l"/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# Теперь x - строковый тип (</a:t>
            </a:r>
            <a:r>
              <a:rPr lang="ru-RU" sz="1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</a:t>
            </a: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).</a:t>
            </a:r>
          </a:p>
          <a:p>
            <a:pPr algn="l"/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x = 'текст’ </a:t>
            </a:r>
          </a:p>
          <a:p>
            <a:pPr algn="l"/>
            <a:r>
              <a:rPr lang="ru-RU" sz="2200" dirty="0">
                <a:solidFill>
                  <a:schemeClr val="tx1"/>
                </a:solidFill>
                <a:latin typeface="YS Text"/>
              </a:rPr>
              <a:t>Однако может получиться так, что из кода программы не очевидно, значение какого типа присвоено той или иной переменной: код может быть огромным и состоять из множества файлов. Узнать тип переменной можно с помощью функции </a:t>
            </a:r>
            <a:r>
              <a:rPr lang="ru-RU" sz="2200" b="1" dirty="0" err="1">
                <a:solidFill>
                  <a:schemeClr val="tx1"/>
                </a:solidFill>
                <a:latin typeface="YS Text"/>
              </a:rPr>
              <a:t>type</a:t>
            </a:r>
            <a:r>
              <a:rPr lang="ru-RU" sz="2200" b="1" dirty="0">
                <a:solidFill>
                  <a:schemeClr val="tx1"/>
                </a:solidFill>
                <a:latin typeface="YS Text"/>
              </a:rPr>
              <a:t>()</a:t>
            </a:r>
            <a:r>
              <a:rPr lang="ru-RU" sz="2200" dirty="0">
                <a:solidFill>
                  <a:schemeClr val="tx1"/>
                </a:solidFill>
                <a:latin typeface="YS Text"/>
              </a:rPr>
              <a:t>. Python прекрасно понимает, какой перед ним тип данных, и, если попросить, покажет эту информацию.</a:t>
            </a:r>
          </a:p>
          <a:p>
            <a:pPr algn="l"/>
            <a:r>
              <a:rPr lang="ru-RU" sz="2200" dirty="0">
                <a:solidFill>
                  <a:schemeClr val="tx1"/>
                </a:solidFill>
                <a:latin typeface="YS Text"/>
              </a:rPr>
              <a:t>Бывают языки программирования со </a:t>
            </a:r>
            <a:r>
              <a:rPr lang="ru-RU" sz="2200" b="1" dirty="0">
                <a:solidFill>
                  <a:schemeClr val="tx1"/>
                </a:solidFill>
                <a:latin typeface="YS Text"/>
              </a:rPr>
              <a:t>статической типизацией</a:t>
            </a:r>
            <a:r>
              <a:rPr lang="ru-RU" sz="2200" dirty="0">
                <a:solidFill>
                  <a:schemeClr val="tx1"/>
                </a:solidFill>
                <a:latin typeface="YS Text"/>
              </a:rPr>
              <a:t>. Это означает, что типы данных необходимо указать на этапе объявления переменной, а во время выполнения программы нельзя передать в переменную данные другого типа.</a:t>
            </a:r>
          </a:p>
          <a:p>
            <a:pPr algn="l"/>
            <a:r>
              <a:rPr lang="ru-RU" sz="2200" dirty="0">
                <a:solidFill>
                  <a:schemeClr val="tx1"/>
                </a:solidFill>
                <a:latin typeface="YS Text"/>
              </a:rPr>
              <a:t>Например, язык C— это язык со статической типизацией: каждая переменная должна быть объявлена с указанием типа данных.</a:t>
            </a: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int</a:t>
            </a: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1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number</a:t>
            </a: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10;           // Объявлена переменная типа </a:t>
            </a:r>
            <a:r>
              <a:rPr lang="ru-RU" sz="1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int</a:t>
            </a: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char</a:t>
            </a: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1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character</a:t>
            </a: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'A';      // Объявлена переменная типа </a:t>
            </a:r>
            <a:r>
              <a:rPr lang="ru-RU" sz="1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char</a:t>
            </a: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. </a:t>
            </a:r>
          </a:p>
          <a:p>
            <a:pPr algn="l"/>
            <a:r>
              <a:rPr lang="ru-RU" sz="2200" dirty="0">
                <a:solidFill>
                  <a:schemeClr val="tx1"/>
                </a:solidFill>
                <a:latin typeface="YS Text"/>
              </a:rPr>
              <a:t>В этом примере у переменных </a:t>
            </a:r>
            <a:r>
              <a:rPr lang="ru-RU" sz="2200" dirty="0" err="1">
                <a:solidFill>
                  <a:schemeClr val="tx1"/>
                </a:solidFill>
                <a:latin typeface="YS Text"/>
              </a:rPr>
              <a:t>number</a:t>
            </a:r>
            <a:r>
              <a:rPr lang="ru-RU" sz="2200" dirty="0">
                <a:solidFill>
                  <a:schemeClr val="tx1"/>
                </a:solidFill>
                <a:latin typeface="YS Text"/>
              </a:rPr>
              <a:t> и </a:t>
            </a:r>
            <a:r>
              <a:rPr lang="ru-RU" sz="2200" dirty="0" err="1">
                <a:solidFill>
                  <a:schemeClr val="tx1"/>
                </a:solidFill>
                <a:latin typeface="YS Text"/>
              </a:rPr>
              <a:t>character</a:t>
            </a:r>
            <a:r>
              <a:rPr lang="ru-RU" sz="2200" dirty="0">
                <a:solidFill>
                  <a:schemeClr val="tx1"/>
                </a:solidFill>
                <a:latin typeface="YS Text"/>
              </a:rPr>
              <a:t> определён тип данных. В языке C при попытке присвоить переменной значение, не соответствующее её типу, возникнет ошибка.</a:t>
            </a:r>
          </a:p>
          <a:p>
            <a:pPr algn="l"/>
            <a:r>
              <a:rPr lang="ru-RU" sz="2200" dirty="0">
                <a:solidFill>
                  <a:schemeClr val="tx1"/>
                </a:solidFill>
                <a:latin typeface="YS Text"/>
              </a:rPr>
              <a:t>В Python таких строгостей нет, это </a:t>
            </a:r>
            <a:r>
              <a:rPr lang="ru-RU" sz="2200" b="1" dirty="0">
                <a:solidFill>
                  <a:schemeClr val="tx1"/>
                </a:solidFill>
                <a:latin typeface="YS Text"/>
              </a:rPr>
              <a:t>язык с динамической типизацией.</a:t>
            </a:r>
          </a:p>
        </p:txBody>
      </p:sp>
    </p:spTree>
    <p:extLst>
      <p:ext uri="{BB962C8B-B14F-4D97-AF65-F5344CB8AC3E}">
        <p14:creationId xmlns:p14="http://schemas.microsoft.com/office/powerpoint/2010/main" val="1151400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583324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Слабая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vs 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сильная типизация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62001"/>
            <a:ext cx="11666483" cy="6096000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Слабая типизация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это свойство языка, позволяющее неявно выполнять преобразования одного типа в другой, даже если из-за этого произойдёт потеря точности или преобразование будет неоднозначным.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в языке программирования JavaScript при сложении числа 1 и строки '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string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' результатом будет строка '1string': число будет автоматически преобразовано в строку, и будет выполнено сложение двух строк; никакой ошибки это не вызовет — программа продолжит выполняться. В этой ситуации разработчику не придётся вмешиваться, чтобы изменить тип данных: эти преобразования выполняются автоматически.</a:t>
            </a:r>
          </a:p>
          <a:p>
            <a:pPr algn="l"/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// Код на JavaScript</a:t>
            </a:r>
          </a:p>
          <a:p>
            <a:pPr algn="l"/>
            <a:r>
              <a:rPr lang="ru-RU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let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number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1;</a:t>
            </a:r>
          </a:p>
          <a:p>
            <a:pPr algn="l"/>
            <a:r>
              <a:rPr lang="ru-RU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let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str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"</a:t>
            </a:r>
            <a:r>
              <a:rPr lang="ru-RU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string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";</a:t>
            </a:r>
          </a:p>
          <a:p>
            <a:pPr algn="l"/>
            <a:r>
              <a:rPr lang="ru-RU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let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result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</a:t>
            </a:r>
            <a:r>
              <a:rPr lang="ru-RU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number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+ </a:t>
            </a:r>
            <a:r>
              <a:rPr lang="ru-RU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str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;</a:t>
            </a:r>
          </a:p>
          <a:p>
            <a:pPr algn="l"/>
            <a:endParaRPr lang="ru-RU" sz="16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c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o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nsole.log(</a:t>
            </a:r>
            <a:r>
              <a:rPr lang="ru-RU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result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); // Выведет "1string"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языке Python —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сильная типизация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Python не станет сам преобразовывать один тип данных в другой ради того, чтобы выполнить какие-то операции. При необходимости разработчик должен сам преобразовать один тип в другой.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130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Константы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Значения, которые заранее известны и не должны меняться в ходе работы программы, сохраняют в переменные, которые называют константы. Термин «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константа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 пришёл из математики, где применяется множество заранее известных и неизменных значений.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V=π∗r∗∗2∗h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π — это число пи: 3.14159265…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 — высота цилиндра,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 — радиус основания цилиндра.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Имена констант принято обозначать </a:t>
            </a:r>
            <a:r>
              <a:rPr lang="ru-RU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заглавными буквами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С технической точки зрения такое написание ни на что не влияет, это делается лишь для читаемости кода: когда разработчик видит переменную, обозначенную заглавными буквами, он понимает, что перед ним константа и что значение этой переменной не меняется в процессе выполнения программы. 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# Добавляем константу PI. Имя константы пишем большими буквами.</a:t>
            </a: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PI = 3.14</a:t>
            </a:r>
          </a:p>
        </p:txBody>
      </p:sp>
    </p:spTree>
    <p:extLst>
      <p:ext uri="{BB962C8B-B14F-4D97-AF65-F5344CB8AC3E}">
        <p14:creationId xmlns:p14="http://schemas.microsoft.com/office/powerpoint/2010/main" val="2029679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273269"/>
            <a:ext cx="11666483" cy="658473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некоторых языках есть специальный механизм защиты констант от изменений: он гарантирует, что значения констант не будут переопределены в ходе выполнения программы. При попытке присвоить константе новое значение возникнет ошибка.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Python такого механизма нет, поэтому может возникнуть некоторый диссонанс. С одной стороны, константа — это переменная (англ.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variable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что в переводе означает «изменяющийся»), с другой стороны — это всё же константа (от лат.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constans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«постоянный»). Надо понимать, что константы в Python являются таковыми лишь по смыслу и на основе договорённости, но не технически.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Константа — это просто переменная, значение которой заранее известно и не должно меняться при выполнении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153803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 повторяйся!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Методом проб и ошибок в программировании были сформулированы несколько простых и практичных принципов. Как правило, их упоминают в виде аббревиатур: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DRY, KISS, YAGNI 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множество других.</a:t>
            </a:r>
            <a:endParaRPr lang="en-US" sz="2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DRY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это сокращение от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Don’t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Repeat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Yourself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«Не повторяйся», избегай дублирования кода в программе. Повторы осложняют чтение и редактирование кода, замусоривают и раздувают его.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Чтобы избавиться от повторения кода, разработчики используют 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функции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795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1127819"/>
          </a:xfrm>
        </p:spPr>
        <p:txBody>
          <a:bodyPr/>
          <a:lstStyle/>
          <a:p>
            <a:pPr algn="ctr"/>
            <a:r>
              <a:rPr lang="ru-RU" sz="4800" b="1" dirty="0"/>
              <a:t>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505508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Параметры функции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это самостоятельный фрагмент кода, микропрограмма в составе основной программы. Чтобы функция могла использовать в работе какие-то данные: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должна быть готова получить эти данные;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вызове функции эти данные нужно передать в неё.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функция была готова получить данные, при объявлении функции указывают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параметры функции — переменные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которые будут использованы в теле этой функции. Имена для параметров придумывает сам разработчик.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У функции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welcome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есть параметр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name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def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welcome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name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   # Параметр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name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можно использовать в теле функции как обычную переменную: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  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('Добро пожаловать в программу,',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name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 </a:t>
            </a:r>
            <a:endParaRPr lang="ru-RU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11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Аргументы функции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Значения для параметров передаются при вызове — их называют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аргументами функции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def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welcome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name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		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('Добро пожаловать в программу,',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name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При вызове передаём аргумент 'Тоня’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для параметра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name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welcome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('Тоня’) </a:t>
            </a:r>
          </a:p>
          <a:p>
            <a:pPr algn="l"/>
            <a:endParaRPr lang="ru-RU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9C2A44-6B09-BEDD-B405-0278FFFB9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511" y="3019096"/>
            <a:ext cx="7262648" cy="357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43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246993"/>
            <a:ext cx="11666483" cy="6611007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 функции может быть несколько параметров, в этом случае они перечисляются через запятую.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вызове функции аргументы передаются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соответствии с порядком записи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(тоже через запятую): первый аргумент передаётся в первый параметр, второй аргумент — во второй параметр.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Переданные в функцию аргументы можно обрабатывать только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теле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функции.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626B88-A77D-E250-854D-654C0B119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68" y="2034382"/>
            <a:ext cx="10630952" cy="45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72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Значения параметров по умолчанию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830317"/>
            <a:ext cx="11666483" cy="6027683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защититься от ошибок при «нехватке» аргументов, в объявлении функции любому параметру можно присвоить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значение по умолчанию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Если при вызове функции ожидаемый аргумент не был передан, параметру будет передано значение по умолчанию.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Значения параметров по умолчанию указываются при объявлении функции.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def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function_name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(param_1=default_val_1, param_2=default_val_2):</a:t>
            </a:r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/>
                </a:solidFill>
                <a:latin typeface="YS Text"/>
              </a:rPr>
              <a:t>Оба параметра в этой функции передавать необязательно, поэтому такие параметры называют </a:t>
            </a:r>
            <a:r>
              <a:rPr lang="ru-RU" sz="2000" b="1" dirty="0">
                <a:solidFill>
                  <a:schemeClr val="tx1"/>
                </a:solidFill>
                <a:latin typeface="YS Text"/>
              </a:rPr>
              <a:t>необязательными или опциональными</a:t>
            </a:r>
            <a:r>
              <a:rPr lang="ru-RU" sz="2000" dirty="0">
                <a:solidFill>
                  <a:schemeClr val="tx1"/>
                </a:solidFill>
                <a:latin typeface="YS Text"/>
              </a:rPr>
              <a:t>.</a:t>
            </a:r>
          </a:p>
          <a:p>
            <a:pPr algn="l"/>
            <a:r>
              <a:rPr lang="ru-RU" sz="2000" dirty="0">
                <a:solidFill>
                  <a:schemeClr val="tx1"/>
                </a:solidFill>
                <a:latin typeface="YS Text"/>
              </a:rPr>
              <a:t>При объявлении функции можно комбинировать обязательные параметры с опциональными.</a:t>
            </a:r>
          </a:p>
          <a:p>
            <a:pPr algn="l"/>
            <a:r>
              <a:rPr lang="ru-RU" sz="2000" dirty="0">
                <a:solidFill>
                  <a:schemeClr val="tx1"/>
                </a:solidFill>
                <a:latin typeface="YS Text"/>
              </a:rPr>
              <a:t>В общем случае опциональные параметры должны быть определены </a:t>
            </a:r>
            <a:r>
              <a:rPr lang="ru-RU" sz="2000" b="1" dirty="0">
                <a:solidFill>
                  <a:schemeClr val="tx1"/>
                </a:solidFill>
                <a:latin typeface="YS Text"/>
              </a:rPr>
              <a:t>после</a:t>
            </a:r>
            <a:r>
              <a:rPr lang="ru-RU" sz="2000" dirty="0">
                <a:solidFill>
                  <a:schemeClr val="tx1"/>
                </a:solidFill>
                <a:latin typeface="YS Text"/>
              </a:rPr>
              <a:t> обязательных. Например, вот так:</a:t>
            </a: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def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function_name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required_param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optional_param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=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default_value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):</a:t>
            </a: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		# Тело функции </a:t>
            </a:r>
          </a:p>
          <a:p>
            <a:pPr algn="l"/>
            <a:r>
              <a:rPr lang="ru-RU" sz="2000" dirty="0">
                <a:solidFill>
                  <a:schemeClr val="tx1"/>
                </a:solidFill>
                <a:latin typeface="YS Text"/>
              </a:rPr>
              <a:t>Здесь </a:t>
            </a:r>
            <a:r>
              <a:rPr lang="ru-RU" sz="2000" b="1" dirty="0" err="1">
                <a:solidFill>
                  <a:schemeClr val="tx1"/>
                </a:solidFill>
                <a:latin typeface="YS Text"/>
              </a:rPr>
              <a:t>required_param</a:t>
            </a:r>
            <a:r>
              <a:rPr lang="ru-RU" sz="2000" b="1" dirty="0">
                <a:solidFill>
                  <a:schemeClr val="tx1"/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YS Text"/>
              </a:rPr>
              <a:t>— это обязательный параметр, а </a:t>
            </a:r>
            <a:r>
              <a:rPr lang="ru-RU" sz="2000" b="1" dirty="0" err="1">
                <a:solidFill>
                  <a:schemeClr val="tx1"/>
                </a:solidFill>
                <a:latin typeface="YS Text"/>
              </a:rPr>
              <a:t>optional_param</a:t>
            </a:r>
            <a:r>
              <a:rPr lang="ru-RU" sz="2000" b="1" dirty="0">
                <a:solidFill>
                  <a:schemeClr val="tx1"/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YS Text"/>
              </a:rPr>
              <a:t>— опциональный параметр со значением по умолчанию.</a:t>
            </a:r>
          </a:p>
          <a:p>
            <a:pPr algn="l"/>
            <a:r>
              <a:rPr lang="ru-RU" sz="2000" dirty="0">
                <a:solidFill>
                  <a:schemeClr val="tx1"/>
                </a:solidFill>
                <a:latin typeface="YS Text"/>
              </a:rPr>
              <a:t>Если же объявить функцию, где опциональные параметры стоят перед обязательными, то </a:t>
            </a:r>
            <a:r>
              <a:rPr lang="en-US" sz="2000" dirty="0">
                <a:solidFill>
                  <a:schemeClr val="tx1"/>
                </a:solidFill>
                <a:latin typeface="YS Text"/>
              </a:rPr>
              <a:t>Python </a:t>
            </a:r>
            <a:r>
              <a:rPr lang="ru-RU" sz="2000" dirty="0">
                <a:solidFill>
                  <a:schemeClr val="tx1"/>
                </a:solidFill>
                <a:latin typeface="YS Text"/>
              </a:rPr>
              <a:t>выдаст синтаксическую ошибку — </a:t>
            </a:r>
            <a:r>
              <a:rPr lang="en-US" sz="2000" b="1" dirty="0" err="1">
                <a:solidFill>
                  <a:schemeClr val="tx1"/>
                </a:solidFill>
                <a:latin typeface="YS Text"/>
              </a:rPr>
              <a:t>SyntaxError</a:t>
            </a:r>
            <a:r>
              <a:rPr lang="en-US" sz="2000" dirty="0">
                <a:solidFill>
                  <a:schemeClr val="tx1"/>
                </a:solidFill>
                <a:latin typeface="YS Text"/>
              </a:rPr>
              <a:t>.</a:t>
            </a:r>
            <a:endParaRPr lang="ru-RU" sz="2000" dirty="0">
              <a:solidFill>
                <a:schemeClr val="tx1"/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698662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Именованные и позиционные аргументы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вызове функции значения передаются в параметры в соответствии с их позицией, в порядке перечисления: первый аргумент передаётся в первый параметр, второй аргумент — во второй параметр.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Такие аргументы называются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позиционными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Это просто и удобно, но может вызвать путаницу, если, например, при вызове функции не передать первый параметр.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def action(name='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Пользователь',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product='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разные продукты'):</a:t>
            </a: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                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print(name, '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заготавливает на зиму',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product)</a:t>
            </a:r>
          </a:p>
          <a:p>
            <a:pPr algn="l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	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action('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картофель')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0B0887-8821-992B-EEA8-B4B59F1FE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10" t="18069" r="18060" b="19448"/>
          <a:stretch/>
        </p:blipFill>
        <p:spPr>
          <a:xfrm>
            <a:off x="2007476" y="1865586"/>
            <a:ext cx="8245366" cy="238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36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430925"/>
            <a:ext cx="11666483" cy="6427076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Получится полная чепуха. Дело в том, что Python не понимает смысла аргументов, а просто отсчитывает их по порядку: «Первый аргумент? Ок, передаю в первый параметр».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Единственный переданный аргумент был первым, и его значение было передано в первый параметр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name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хотя предполагалось, что этот аргумент должен быть передан во второй параметр.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избежать неразберихи, при вызове функции можно передавать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именованные аргументы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явно указывать, какому параметру какой аргумент соответствует.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аргументы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проименованы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их можно передавать в любом порядке: функция увидит имена и сама разберётся. Применять именованные аргументы можно при вызове любой функции, и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 важно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указаны ли для параметров значения по умолчанию или нет.</a:t>
            </a:r>
          </a:p>
          <a:p>
            <a:pPr algn="l"/>
            <a:r>
              <a:rPr lang="ru-RU" sz="1800" b="0" i="0" dirty="0">
                <a:solidFill>
                  <a:srgbClr val="C678DD"/>
                </a:solidFill>
                <a:effectLst/>
                <a:latin typeface="Menlo"/>
              </a:rPr>
              <a:t>	</a:t>
            </a:r>
            <a:r>
              <a:rPr lang="en-US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enlo"/>
              </a:rPr>
              <a:t>def action(name, food): </a:t>
            </a:r>
            <a:endParaRPr lang="ru-RU" sz="18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Menlo"/>
            </a:endParaRPr>
          </a:p>
          <a:p>
            <a:pPr algn="l"/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enlo"/>
              </a:rPr>
              <a:t>		</a:t>
            </a:r>
            <a:r>
              <a:rPr lang="en-US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enlo"/>
              </a:rPr>
              <a:t>print(name, '</a:t>
            </a:r>
            <a:r>
              <a:rPr lang="ru-R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enlo"/>
              </a:rPr>
              <a:t>заготавливает на зиму', </a:t>
            </a:r>
            <a:r>
              <a:rPr lang="en-US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enlo"/>
              </a:rPr>
              <a:t>food) </a:t>
            </a:r>
            <a:endParaRPr lang="ru-RU" sz="18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Menlo"/>
            </a:endParaRPr>
          </a:p>
          <a:p>
            <a:pPr algn="l"/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enlo"/>
              </a:rPr>
              <a:t>	</a:t>
            </a:r>
          </a:p>
          <a:p>
            <a:pPr algn="l"/>
            <a:r>
              <a:rPr lang="ru-R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enlo"/>
              </a:rPr>
              <a:t>	</a:t>
            </a:r>
            <a:r>
              <a:rPr lang="en-US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enlo"/>
              </a:rPr>
              <a:t>action(food='</a:t>
            </a:r>
            <a:r>
              <a:rPr lang="ru-R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enlo"/>
              </a:rPr>
              <a:t>инжир', </a:t>
            </a:r>
            <a:r>
              <a:rPr lang="en-US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enlo"/>
              </a:rPr>
              <a:t>name='</a:t>
            </a:r>
            <a:r>
              <a:rPr lang="ru-R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enlo"/>
              </a:rPr>
              <a:t>Женя') 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НО! После того как вы передали именованный аргумент в функцию, вы уже не можете передавать позиционные аргументы.</a:t>
            </a:r>
          </a:p>
        </p:txBody>
      </p:sp>
    </p:spTree>
    <p:extLst>
      <p:ext uri="{BB962C8B-B14F-4D97-AF65-F5344CB8AC3E}">
        <p14:creationId xmlns:p14="http://schemas.microsoft.com/office/powerpoint/2010/main" val="3142320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Возврат значений из функции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это программа в программе. Как правило, задача функции — обработать входящие данные и получить какой-то результат.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Обычно программы устроены как конвейеры: функция обрабатывает данные и передаёт результат своей работы в другую функцию, та тоже что-то делает — и отдаёт результат в третью… Такая цепочка может быть довольно длинной.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передать результат работы «дальше по конвейеру», функция возвращает результат. Для этого есть ключевое слово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return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После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инструкции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return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(в этой же строке) может быть указан литерал, переменная любого типа или какое-то выражение — и функция вернёт значение, указанное после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return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У инструкции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return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есть одно важное свойство: она не только возвращает результат, но и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прерывает работу функции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Код, который следует за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return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никогда не будет выполнен.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функции может быть несколько инструкций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return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но выполнится только одна из них — та, которая в ходе выполнения программы будет обработана первой. После этого функция прекратит работу, а оставшуюся часть кода функции Python проигнорирует.</a:t>
            </a:r>
          </a:p>
        </p:txBody>
      </p:sp>
    </p:spTree>
    <p:extLst>
      <p:ext uri="{BB962C8B-B14F-4D97-AF65-F5344CB8AC3E}">
        <p14:creationId xmlns:p14="http://schemas.microsoft.com/office/powerpoint/2010/main" val="1888420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Пустая функция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ходе работы программисты иногда объявляют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пустые функции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своего рода «заготовки», которые позже наполняют кодом. Но если Python увидит функцию без тела, он выдаст ошибку.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def empty():   # 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так нельзя</a:t>
            </a:r>
          </a:p>
          <a:p>
            <a:pPr algn="l"/>
            <a:r>
              <a:rPr lang="ru-RU" sz="2000" dirty="0">
                <a:solidFill>
                  <a:schemeClr val="tx1"/>
                </a:solidFill>
                <a:latin typeface="YS Text"/>
              </a:rPr>
              <a:t>У каждой объявленной функции Python ожидает увидеть не только название, но и тело. Но тела нет! Ошибка.</a:t>
            </a:r>
          </a:p>
          <a:p>
            <a:pPr algn="l"/>
            <a:r>
              <a:rPr lang="ru-RU" sz="2000" dirty="0">
                <a:solidFill>
                  <a:schemeClr val="tx1"/>
                </a:solidFill>
                <a:latin typeface="YS Text"/>
              </a:rPr>
              <a:t>Чтобы создать пустую функцию и вместе с тем избежать ошибок, в тело пустой функции ставят «</a:t>
            </a:r>
            <a:r>
              <a:rPr lang="ru-RU" sz="2000" b="1" dirty="0">
                <a:solidFill>
                  <a:schemeClr val="tx1"/>
                </a:solidFill>
                <a:latin typeface="YS Text"/>
              </a:rPr>
              <a:t>заглушку</a:t>
            </a:r>
            <a:r>
              <a:rPr lang="ru-RU" sz="2000" dirty="0">
                <a:solidFill>
                  <a:schemeClr val="tx1"/>
                </a:solidFill>
                <a:latin typeface="YS Text"/>
              </a:rPr>
              <a:t>» — инструкцию </a:t>
            </a:r>
            <a:r>
              <a:rPr lang="ru-RU" sz="2000" b="1" dirty="0" err="1">
                <a:solidFill>
                  <a:schemeClr val="tx1"/>
                </a:solidFill>
                <a:latin typeface="YS Text"/>
              </a:rPr>
              <a:t>pass</a:t>
            </a:r>
            <a:r>
              <a:rPr lang="ru-RU" sz="2000" dirty="0">
                <a:solidFill>
                  <a:schemeClr val="tx1"/>
                </a:solidFill>
                <a:latin typeface="YS Text"/>
              </a:rPr>
              <a:t>. Инструкция </a:t>
            </a:r>
            <a:r>
              <a:rPr lang="ru-RU" sz="2000" b="1" dirty="0" err="1">
                <a:solidFill>
                  <a:schemeClr val="tx1"/>
                </a:solidFill>
                <a:latin typeface="YS Text"/>
              </a:rPr>
              <a:t>pass</a:t>
            </a:r>
            <a:r>
              <a:rPr lang="ru-RU" sz="2000" b="1" dirty="0">
                <a:solidFill>
                  <a:schemeClr val="tx1"/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YS Text"/>
              </a:rPr>
              <a:t>— это оператор-заполнитель, который ничего не делает и используется для поддержания целостности структуры программы.</a:t>
            </a:r>
          </a:p>
          <a:p>
            <a:pPr algn="l"/>
            <a:r>
              <a:rPr lang="ru-RU" sz="2000" dirty="0">
                <a:solidFill>
                  <a:schemeClr val="tx1"/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def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empty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():</a:t>
            </a: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	       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pass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</a:t>
            </a:r>
          </a:p>
          <a:p>
            <a:pPr algn="l"/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empty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() </a:t>
            </a:r>
          </a:p>
          <a:p>
            <a:pPr algn="l"/>
            <a:r>
              <a:rPr lang="ru-RU" sz="2000" dirty="0">
                <a:solidFill>
                  <a:schemeClr val="tx1"/>
                </a:solidFill>
                <a:latin typeface="YS Text"/>
              </a:rPr>
              <a:t>Такой код ошибок не вызовет. Есть и другой вариант!</a:t>
            </a:r>
          </a:p>
        </p:txBody>
      </p:sp>
    </p:spTree>
    <p:extLst>
      <p:ext uri="{BB962C8B-B14F-4D97-AF65-F5344CB8AC3E}">
        <p14:creationId xmlns:p14="http://schemas.microsoft.com/office/powerpoint/2010/main" val="1673640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Пустая функция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место инструкции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pass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 тело пустой функции можно поставить значение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Ellipsis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(с англ. «троеточие» или «многоточие»), оно записывается как три точки: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...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def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empty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():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		…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    # Тоже показывает отсутствие тела функции, но более лаконично.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empty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()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запустить такую функцию, ничего не произойдёт, но и ошибки не будет — это как раз то, что нужно при создании пустых функций.</a:t>
            </a: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Разница между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pass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...: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pass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это инструкция, команда,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... — значение, которое можно присваивать переменным и возвращать в качестве ответа функции.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145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Встроенные функции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Помимо тех функций, которые пишет сам разработчик, в Python есть и множество функций, встроенных в язык. Они написаны разработчиками языка Python и доступны в любом месте кода. Python содержит множество таких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встроенных функций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Они хороши тем, что не обязательно выяснять, что происходит у них «под капотом», — можно просто взять и применить их.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969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1127819"/>
          </a:xfrm>
        </p:spPr>
        <p:txBody>
          <a:bodyPr/>
          <a:lstStyle/>
          <a:p>
            <a:pPr algn="ctr"/>
            <a:r>
              <a:rPr lang="ru-RU" sz="6000" b="1" dirty="0"/>
              <a:t>Правописание</a:t>
            </a:r>
          </a:p>
        </p:txBody>
      </p:sp>
    </p:spTree>
    <p:extLst>
      <p:ext uri="{BB962C8B-B14F-4D97-AF65-F5344CB8AC3E}">
        <p14:creationId xmlns:p14="http://schemas.microsoft.com/office/powerpoint/2010/main" val="3691469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Построчное разделение кода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Код, написанный на Python, разбивают на строки. Перенос строки нужен не для красоты: это техническое требование. Увидев перенос строки, Python понимает: одна команда закончилась, сейчас начнётся следующая.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Программные команды называют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инструкциями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они могут быть весьма разнообразны: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four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2 + 2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Объявление переменной - это инструкция.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def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action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name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,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product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):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Объявление функции - это инструкция.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  		 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...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  		 # В теле функции - тоже инструкции. Каждая - на отдельной строке.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action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('Женя', 'фейхоа')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Вызов функции - тоже инструкция.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Каждая инструкция - на отдельной строке.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609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Отступ во вложенных блоках кода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Вложенные блоки кода всегда пишут с отступом, то есть оставляют свободное пространство по отношению к началу строки «родительского» блока кода. Это строгое техническое требование.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Как правило, для отступов используют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четыре пробела.</a:t>
            </a:r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теле функции в начале каждой строки должен стоять отступ.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Отступ должен быть перед каждой строкой вложенного блока кода.</a:t>
            </a:r>
          </a:p>
        </p:txBody>
      </p:sp>
    </p:spTree>
    <p:extLst>
      <p:ext uri="{BB962C8B-B14F-4D97-AF65-F5344CB8AC3E}">
        <p14:creationId xmlns:p14="http://schemas.microsoft.com/office/powerpoint/2010/main" val="4054586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Делаем код читаемым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Вокруг операторов ставят пробелы. С технической точки зрения это необязательно, код будет работать и без пробелов, но пробелы улучшают читаемость. Читаемость кода — признак качества.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volume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PI *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height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*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radius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** 2 * RATIO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Так - хорошо (пробелы справа и слева от *):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volume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=PI*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height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*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radius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**2*RATIO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Так - плохо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вызове функций пробелы ставятся и между аргументами. Это тоже влияет на читаемость. Читаемость важна: при прочих равных на работу примут соискателя, чей код читается лучше.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именованных аргументах при вызове функции и при объявлении значения параметра по умолчанию вокруг оператора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=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пробелы не ставят: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Вокруг оператора = пробелы не нужны.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def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action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name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='Пользователь',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product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='разные продукты'):</a:t>
            </a: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		 ...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Вокруг оператора = пробелы не нужны.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action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food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='фейхоа',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name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='Женя') </a:t>
            </a:r>
          </a:p>
        </p:txBody>
      </p:sp>
    </p:spTree>
    <p:extLst>
      <p:ext uri="{BB962C8B-B14F-4D97-AF65-F5344CB8AC3E}">
        <p14:creationId xmlns:p14="http://schemas.microsoft.com/office/powerpoint/2010/main" val="2420796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Кавычки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Строки в Python заключаются в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кавычки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коде применяются кавычки только двух видов: одинарные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'...'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двойные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"..."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Кавычки всех остальных разновидностей, например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«...»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„...“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или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‘...’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могут входить в состав строк, как и любые другие символы, но не могут применяться для обрамления строк.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внутри строки необходимо применить кавычки, эти вложенные кавычки должны отличаться от обрамляющих, иначе Python запутается.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Внутри строки, заключённой в одинарные кавычки, не должно быть одинарных кавычек.</a:t>
            </a:r>
          </a:p>
        </p:txBody>
      </p:sp>
    </p:spTree>
    <p:extLst>
      <p:ext uri="{BB962C8B-B14F-4D97-AF65-F5344CB8AC3E}">
        <p14:creationId xmlns:p14="http://schemas.microsoft.com/office/powerpoint/2010/main" val="159916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Комментарии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Правила, касающиеся оформления комментариев, влияют лишь на читаемость, а не на работу кода. В разных командах разработчиков правила разные.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Некоторые рекомендации: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После символа комментария должен стоять пробел: это вопрос читаемости.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комментарий стоит после строчки кода, от кода до символа # должно быть как минимум два пробела.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комментарий стоит в блоке кода с отступами, перед строкой комментария должен быть такой же отступ.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Текст комментария пишется с большой буквы, после комментария ставится точка.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015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Имена переменных и функций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Общие правила именования («нейминга», если на сленге разработчиков):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именах следует применять только буквы латиницы, цифры и символ подчёркивания _. Нельзя начинать имена с цифр.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имя состоит из нескольких слов, имена пишутся в стиле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snake_case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 рекомендуется применять транслитерацию и однобуквенные имена.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Чем более осмысленным будет название, тем проще будет читать ваш код.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именования функций есть дополнительная рекомендация: желательно, чтобы их имена описывали действие, которое выполняет функция. Не стоит давать функциям имена встроенных функций: встроенная функция будет «заменена» на вашу и станет недоступна! Такое действие называют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переопределением функции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Переопределение часто применяется в разработке, но в начале обучения этот подход лучше не применять.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221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1127819"/>
          </a:xfrm>
        </p:spPr>
        <p:txBody>
          <a:bodyPr/>
          <a:lstStyle/>
          <a:p>
            <a:pPr algn="ctr"/>
            <a:r>
              <a:rPr lang="ru-RU" sz="6000" b="1" dirty="0"/>
              <a:t>Модули в </a:t>
            </a:r>
            <a:r>
              <a:rPr lang="en-US" sz="6000" b="1" dirty="0"/>
              <a:t>Python</a:t>
            </a:r>
            <a:endParaRPr lang="ru-RU" sz="6000" b="1" dirty="0"/>
          </a:p>
        </p:txBody>
      </p:sp>
    </p:spTree>
    <p:extLst>
      <p:ext uri="{BB962C8B-B14F-4D97-AF65-F5344CB8AC3E}">
        <p14:creationId xmlns:p14="http://schemas.microsoft.com/office/powerpoint/2010/main" val="2916691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Модули в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Python 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Модули в Python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это наборы готовых функций, переменных и другого кода. Такие наборы предназначены для решения каких-то задач, объединённых общей темой. Они написаны разработчиками языка Python или сторонними программистами.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в модуле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math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собраны функции для подсчёта математических величин, в модуле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random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инструменты для получения случайных значений, а модуль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работает с датами и временем.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создании программы разработчик может подключить к своему коду нужный модуль — и ему станут доступны все инструменты, заготовленные в модуле. Подключение модуля к коду называется «импорт»: «импортировать модуль» — совершенно бытовая фраза в среде разработчиков.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чтобы простыми математическими средствами перевести значение «два месяца» в количество дней, формуле придётся учесть множество нюансов: какие это месяцы, не високосный ли год…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Инструменты из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других модулей помогут решить задачи подобного рода. Велосипед уже изобретён, садись да поезжай!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общем виде модули в Python можно разделить на три типа: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Модули стандартной библиотеки Python.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Внешние или сторонние модули.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Пользовательские модули.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66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Модули в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Python 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Модули стандартной библиотеки Python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это решения, созданные авторами языка Python. Эти модули встроены в Python — чтобы их применить, нужно импортировать их в код. Модули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math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random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как раз такие модули. 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Внешние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или «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сторонние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», модули создают разработчики, не обязательно входящие в число авторов Python. Обычно такие модули расширяют возможности стандартной библиотеки, но не входят в неё. Часто они помогают решать специфические задачи, такие как работа с искусственным интеллектом, графикой или оборудованием. Эти модули можно скачать из интернета и установить — и после этого импортировать в код своей программы.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Пользовательские модули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это модули, созданные разработчиками для решения собственных конкретных задач. Например, можно написать модуль, который будет рассчитывать общий объём цилиндрических банок, исходя из их размера и количества. Этот модуль можно подключить к нескольким разным программам, в которых требуются такие вычисления. Не придётся повторно писать код, и это сэкономит кучу времени.  Такие модули, как правило, не предназначены для общедоступного использования.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52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6"/>
            <a:ext cx="10782300" cy="1292771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Как подключить модуль к своей программе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597572"/>
            <a:ext cx="11666483" cy="5260428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подключить модуль, нужно импортировать его командой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import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Тогда в коде можно будет применять все инструменты, которые есть в модуле.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Например, модуль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math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встроен в стандартную библиотеку Python, поэтому можно без какой-либо предварительной подготовки просто взять и импортировать его: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import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math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контексте программирования понятие «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библиотека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» обычно относят к набору модулей, которые можно использовать в коде, чтобы выполнять определённые задачи без необходимости писать этот код с нуля.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Python есть своя собственная библиотека — её называют «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Стандартная библиотека Python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». Модули из этой библиотеки чаще всего доступны для импорта всегда, без каких-либо дополнительных действий.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Чтобы вызвать функцию из импортированного модуля, к ней нужно обратиться через имя модуля: 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имя_модуля.имя_функции</a:t>
            </a:r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Такой способ записи называется «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точечной нотацией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577093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Точечная нотация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Смысл точечной нотации — тот же, что и в любой другой адресации: указать адрес нужного объекта в </a:t>
            </a:r>
            <a:r>
              <a:rPr lang="ru-RU" sz="2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иерархической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системе.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адрес файла, сохранённого на компьютере, может выглядеть так: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На диске C в папке Games расположена папка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screenshots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 которой лежит файл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i_won</a:t>
            </a:r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C:\Games\screenshots\i_won.jpg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 помощью точечной нотации этот адрес был бы записан так: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На диске C в папке Games расположена папка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screenshots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 которой лежит файл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i_won</a:t>
            </a:r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C.Games.screenshots.i_won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ИЛИ</a:t>
            </a: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остров.дуб.сундук.заяц.утка.яйцо.игла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0642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84083"/>
            <a:ext cx="11666483" cy="6773918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импорте модуля разработчик может дать ему собственное имя, какое понравится. Для этого применяют ключевое слово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import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math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as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m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Псевдонимы должны быть составлены по тем же правилам, по которым даются имена переменным и функциям: маленькие буквы, латиница,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snake_case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осмысленность.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Причины для присвоения псевдонима могут быть разные, например: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 модуля может быть слишком длинное имя, и, чтобы не писать его при каждом обращении к модулю, можно дать модулю «псевдоним» покороче.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 модуля может быть неудачное или непонятное имя, и для большей внятности кода разработчик заменит имя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my_super_module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на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string_parser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читаемости и исключения путаницы: например, в модуле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имя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используется несколько раз в разном контексте. Если при импорте переименовать модуль, например, в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путаницы как не бывало.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нужен не весь код модуля, а лишь одна функция — лучше импортировать только её. 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from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math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import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sqrt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 импорта такую функцию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вызывают, не указывая имя модуля перед названием функции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Тут логика проста: если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импортировать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только одну функцию, то она импортирована сама по себе, не «вложена» в модуль. Следовательно, в её адресации не должно быть имени модуля. Если импортирована лишь одна функция, другие функции и переменные модуля не удастся применить в коде — они будут недоступны.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159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36635"/>
            <a:ext cx="11666483" cy="6721366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Функциям, импортированным из модуля, тоже можно задать псевдоним через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from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math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import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remainder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as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rmd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endParaRPr lang="ru-RU" sz="44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нужно несколько функции из модуля, то при импорте перечисляем их через запятую: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from math import remainder, sqrt</a:t>
            </a:r>
            <a:endParaRPr lang="ru-RU" sz="20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таком синтаксисе импортируемым функциям тоже можно присвоить псевдонимы: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from math import sqrt as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square_root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, remainder as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rmd</a:t>
            </a:r>
            <a:endParaRPr lang="ru-RU" sz="20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Есть и ещё один способ импортировать содержимое модуля в код. По синтаксису этот способ похож на импорт отдельной функции из модуля, но он импортирует всё содержимое модуля: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from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math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import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*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Символ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означает «всё, что есть», и в общем виде такая запись означает «из модуля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math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импортируй всё, что в нём есть». В этом случае перед вызовом функций тоже не следует указывать имя модуля, ведь импортируется не модуль, а отдельные сущности, «без упаковки». Но такой импорт лучше не использовать — это считается плохой практикой.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код можно импортировать несколько модулей или несколько функций из разных модулей. Импорт каждого нового модуля записывается на отдельной строке: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import datetime as dt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from math import sqrt as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square_root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, remainder as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rmd</a:t>
            </a:r>
            <a:endParaRPr lang="en-US" sz="20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from random import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randint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</a:p>
          <a:p>
            <a:pPr algn="l"/>
            <a:endParaRPr lang="ru-RU" sz="105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3810323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Импорты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Часть функций не нуждаются в импорте, они доступны напрямую, без дополнительных манипуляций.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Идея импорта всех модулей, на первый взгляд, звучит привлекательно: удобно иметь все возможные инструменты под рукой. Однако на практике это может привести к проблемам. Например: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Каждый импортируемый модуль использует память. Импорт всей стандартной библиотеки увеличит потребление памяти и может замедлить работу, особенно на машинах с ограниченными ресурсами.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Модули могут содержать функции или переменные с одинаковыми именами. Если импортировать множество модулей, возможен конфликт имён, что может привести к непредсказуемому поведению программы или к ошибкам, которые будет сложно найти.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Таким образом, лучшей практикой будет импортировать только те модули — или даже их части, — которые действительно необходимы в проекте.</a:t>
            </a:r>
          </a:p>
        </p:txBody>
      </p:sp>
    </p:spTree>
    <p:extLst>
      <p:ext uri="{BB962C8B-B14F-4D97-AF65-F5344CB8AC3E}">
        <p14:creationId xmlns:p14="http://schemas.microsoft.com/office/powerpoint/2010/main" val="2078090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Константы из модулей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Подключаемые модули могут содержать собственные константы: например, в модуле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math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доступна константа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pi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число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π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Это константа, но её имя написано строчными буквами. Возможно, историческая причина такого именования заключается в стремлении сохранить простоту и понятность для пользователей, ведь в математических выражениях и уравнениях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π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записывают строчной буквой.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других модулях авторы стараются следовать правилу именования констант. Например, в модуле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есть константы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MINYEAR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MAXYEAR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обозначающие минимальное и максимальное значения года, с которыми можно проводить вычисления: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from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import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MINYEAR, MAXYEAR</a:t>
            </a:r>
          </a:p>
          <a:p>
            <a:pPr algn="l"/>
            <a:endParaRPr lang="ru-RU" sz="20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endParaRPr lang="ru-RU" sz="20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(MINYEAR, MAXYEAR)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# Вывод на экран: 1 9999 </a:t>
            </a:r>
            <a:endParaRPr lang="ru-RU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6144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Модуль-«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пасхалка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«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Пасхалкой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 или «пасхальным яйцом» называют шутку или отсылку, спрятанную в игре, в коде, в книге или фильме. «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Пасхалки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 есть и в Python, одна из них — модуль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this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# Импортируйте модуль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this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и запустите</a:t>
            </a:r>
          </a:p>
          <a:p>
            <a:pPr algn="l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import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this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Дзен Питона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(англ. The Zen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of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Python) — общепринятая философия Python-программирования. В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Дзене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Питона собраны рекомендации, как сделать код красивым и понятным.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Когда вы изучите Python настолько, что сможете решить одну и ту же задачу разными способами, возвращайтесь к этим правилам — и каждый раз вы будете видеть в них новый смысл.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145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1127819"/>
          </a:xfrm>
        </p:spPr>
        <p:txBody>
          <a:bodyPr/>
          <a:lstStyle/>
          <a:p>
            <a:pPr algn="ctr"/>
            <a:r>
              <a:rPr lang="ru-RU" sz="6000" b="1" dirty="0"/>
              <a:t>Делаем ошибки</a:t>
            </a:r>
          </a:p>
        </p:txBody>
      </p:sp>
    </p:spTree>
    <p:extLst>
      <p:ext uri="{BB962C8B-B14F-4D97-AF65-F5344CB8AC3E}">
        <p14:creationId xmlns:p14="http://schemas.microsoft.com/office/powerpoint/2010/main" val="1861846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Почему ошибки называют багами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 сленге разработчиков ошибки часто называют багами (от англ.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bug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«жук»). Термин пришёл из сленга инженеров, а применительно к компьютерам был впервые зафиксирован в 1947 году, когда учёные Гарвардского университета тестировали одну из своих вычислительных машин. «Компьютер» внезапно остановился, хотя считалось, что тестируется едва ли не самая передовая и надёжная техника. </a:t>
            </a:r>
          </a:p>
          <a:p>
            <a:pPr algn="l"/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Причину сбоя обнаружили: мотылёк застрял между контактами реле и нарушил работу устройства. Учёные достали мотылька и сделали в журнал запись об инциденте: </a:t>
            </a:r>
            <a:r>
              <a:rPr lang="ru-RU" sz="2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First </a:t>
            </a:r>
            <a:r>
              <a:rPr lang="ru-RU" sz="2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actual</a:t>
            </a:r>
            <a:r>
              <a:rPr lang="ru-RU" sz="2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case</a:t>
            </a:r>
            <a:r>
              <a:rPr lang="ru-RU" sz="2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of</a:t>
            </a:r>
            <a:r>
              <a:rPr lang="ru-RU" sz="2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bug</a:t>
            </a:r>
            <a:r>
              <a:rPr lang="ru-RU" sz="2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being</a:t>
            </a:r>
            <a:r>
              <a:rPr lang="ru-RU" sz="2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found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что переводится на русский язык как «первый реальный случай обнаружения ошибки», дословно «первый реальный случай обнаружения жука».</a:t>
            </a:r>
          </a:p>
          <a:p>
            <a:pPr algn="l"/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 в последнюю очередь благодаря этому случаю программные ошибки называют багами, а процесс анализа кода для выявления и устранения ошибок —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дебаггингом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(англ.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debugging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).</a:t>
            </a:r>
            <a:endParaRPr lang="ru-RU" sz="4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356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Ошибки и 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трейсбэк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Даже если ваш английский оставляет желать лучшего, прочесть сообщения Python не так и сложно. Сообщения об ошибках — это не барьеры на пути, а ступени к успеху: понимание того, что именно пошло не так, — это половина пути к решению проблемы.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при запуске кода выполнение программы прервалось, то обычно вместо результата выводится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traceback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(по-русски говорят «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трейсбэк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»). Именно в тексте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трейсбэка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можно найти описание ошибки и указание на фрагмент программы, где возникла ошибка.</a:t>
            </a:r>
          </a:p>
          <a:p>
            <a:pPr algn="l"/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Трейсбэк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это детальное представление о том, где и как произошла ошибка.</a:t>
            </a:r>
            <a:endParaRPr lang="en-US" sz="20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118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Ошибка «неизвестное имя»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Когда Python пытается обратиться к имени переменной или функции, а это имя не было определено в коде программы, возникает ошибка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NameError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fr-F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red_currant = 'Красная смородина’</a:t>
            </a:r>
          </a:p>
          <a:p>
            <a:pPr algn="l"/>
            <a:r>
              <a:rPr lang="fr-F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print(redcurrant)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Переменная со значением Красная смородина существует, однако во второй строке кода допущена опечатка: при обращении к переменной в имени пропущено подчёркивание. Python споткнулся о неизвестное имя переменной и сообщил об ошибке, указав детали: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какой строчке кода обнаружена ошибка: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line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2;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тип ошибки: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NameError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из-за чего произошла ошибка: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name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'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redcurrant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'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not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defined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имя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redcurrant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не определено.</a:t>
            </a: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Опечатка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одна из самых распространенных ошибок, особенно среди новичков в программировании. Не беда, это быстро проходит.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2385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Ошибка синтаксиса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688428"/>
            <a:ext cx="11666483" cy="6264165"/>
          </a:xfrm>
        </p:spPr>
        <p:txBody>
          <a:bodyPr>
            <a:normAutofit/>
          </a:bodyPr>
          <a:lstStyle/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print('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Огурец ' + 'Помидор’) </a:t>
            </a:r>
            <a:endParaRPr lang="en-US" sz="20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печати сообщения после оператора + не указана вторая часть строки. В результате — сообщение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SyntaxError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invalid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syntax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«ошибка синтаксиса: недопустимый синтаксис».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Помимо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SyntaxError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invalid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syntax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 Python есть и другие разновидности синтаксических ошибок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SyntaxError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Например, если не поставить парную скобку или кавычку, возникнет синтаксическая ошибка другого типа.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Сокращение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EOF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в сообщении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SyntaxError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unexpected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EOF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while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parsing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это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end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of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file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а само сообщение переводится как «неожиданный конец файла во время разбора кода программы». Python увидел начало вызова функции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print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но внезапно код программы закончился.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Иногда может показаться, что Python пытается запутать разработчика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('Огурец', 'рассол’)</a:t>
            </a:r>
          </a:p>
          <a:p>
            <a:pPr algn="l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('Все в сборе!’)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Однако обратите внимание, что в сообщении об ошибке будет указана не та строка, в которой отсутствует закрывающая скобка. Дело в том, что Python разрешает ставить открывающую и закрывающую скобки на разных строчках. Поэтому он терпеливо дожидается, пока код совершенно утратит смысл, и только тогда выдаёт ошибку.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код состоит из нескольких строк, ошибка с незакрытой скобкой показывается не на той строчке, где забыли закрыть скобку, а на следующей.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3356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Ошибка типа данных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попытка сложить число 100 и строку '500' приводит к ошибке: складывать строки и числа нельзя. Python так и написал: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TypeError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unsupported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operand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type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(s)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+: '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'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'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’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Оператор + не поддерживается для операндов «число» и «строка».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Ошибки будут всегда. Важно относиться к ним как к задаче, а не как к проблеме или беде. Если код с ходу не заработал — это нормально. В нём скорее всего будут баги, но вы их отловите. </a:t>
            </a:r>
          </a:p>
        </p:txBody>
      </p:sp>
    </p:spTree>
    <p:extLst>
      <p:ext uri="{BB962C8B-B14F-4D97-AF65-F5344CB8AC3E}">
        <p14:creationId xmlns:p14="http://schemas.microsoft.com/office/powerpoint/2010/main" val="20613942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1127819"/>
          </a:xfrm>
        </p:spPr>
        <p:txBody>
          <a:bodyPr/>
          <a:lstStyle/>
          <a:p>
            <a:pPr algn="ctr"/>
            <a:r>
              <a:rPr lang="ru-RU" sz="6000" b="1" dirty="0"/>
              <a:t>Простые типы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18418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551792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Целые числа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688429"/>
            <a:ext cx="11666483" cy="616957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 типу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относятся все положительные и отрицательные числа без дробной части; ноль — это тоже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Как и в обычной математике, числа используются в арифметических операциях и для описания количественных свойств объектов. Например, у игрального кубика шесть граней, восемь вершин и двенадцать ребер: это и есть количественные свойства объекта.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добавлении переменных в Python не требуется указывать их тип, ведь Python — язык с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динамической типизацией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При выполнении программы Python сам, без дополнительных подсказок, определит тип переменной.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x - это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x = 231 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y - это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 = 0 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z - тоже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z = -100  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Целые числа в Python можно записывать, разделяя разряды подчёркиванием: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Значение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uncomfortable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такое же, как и у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comfortable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но значение переменной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comfortable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легче читается и воспринимается.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uncomfortable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432246123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comfortable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432_246_123 </a:t>
            </a:r>
            <a:endParaRPr lang="ru-RU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9573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Числа с плавающей точкой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51491"/>
            <a:ext cx="11666483" cy="610651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Числа с плавающей точкой (или «с плавающей запятой» — в русскоязычных текстах) используются для представления дробных чисел. Число с плавающей точкой записывается примерно так же, как было принято на школьных уроках математики: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Целая часть числа.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Точка, отделяющая дробную часть от целой.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Дробная часть числа.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Важное отличие от школьной математики: в Python для разделения целой и дробной части всегда используется точка, и никак иначе.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Всё это переменные типа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float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a = 2.345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b = 2.0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c = 0.07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Есть и сокращённый синтаксис: если у числа нет целой или дробной части, можно её не указывать. Если перед точкой или после неё ничего не указано, Python считает, что целая или дробная часть равны нулю.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Это тоже переменные типа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float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b = 2. 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Это сокращённая запись, аналогичная записи b = 2.0.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x = .07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Это сокращённая запись, аналогичная записи x = 0.07.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8513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Арифметические операции с числами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Операнд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это значение, над которыми проводится операция.</a:t>
            </a:r>
          </a:p>
          <a:p>
            <a:pPr algn="l"/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Арифметический оператор в Python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это символ, который указывает, какую операцию надо выполнить с одним или несколькими операндами — значениями. Например, операторы — это «плюс» +, «минус» -, «умножить» * или «разделить» /.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Оператор в программировании — это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команда, инструкция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result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2 + 3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# Оператор "+" даёт команду: 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# "Сложи операнды - числа, которые слева и справа от меня!" 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595018-D570-FFC0-DB45-3E004C05A3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31" t="8527" r="11681" b="6946"/>
          <a:stretch/>
        </p:blipFill>
        <p:spPr>
          <a:xfrm>
            <a:off x="2932385" y="2176954"/>
            <a:ext cx="6316717" cy="270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760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Сложение и вычитание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Эти операции не отличаются от тех, которым обучают в курсе школьной математики!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Согласно правилам оформления кода, операторы отделяются пробелами. Отсутствие пробелов не приведёт к ошибке, но правила лучше соблюдать.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Увеличение значения переменной на определённую величину — весьма востребованная операция в программировании, у неё есть собственное название: «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инкрементирование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». Точно так же есть и «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декрементирование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» — уменьшение значения.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Есть и операторы, которых не было в учебнике математики.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Python инкрементирование можно записать через комбинированный оператор присваивания: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То же самое выражение можно записать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через комбинированный оператор присваивания: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counter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+= 1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Это равнозначно выражению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counter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=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counter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+ 1. </a:t>
            </a:r>
          </a:p>
        </p:txBody>
      </p:sp>
    </p:spTree>
    <p:extLst>
      <p:ext uri="{BB962C8B-B14F-4D97-AF65-F5344CB8AC3E}">
        <p14:creationId xmlns:p14="http://schemas.microsoft.com/office/powerpoint/2010/main" val="35170306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441435"/>
            <a:ext cx="11666483" cy="6416566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Комбинированные операторы присваивания применимы для всех арифметических операций. Такая запись получается короче и читается проще.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counter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0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Определили начальное значение счетчика.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counter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+= 5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Инкрементировать можно на любое значение, не только на единицу.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counter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-= 1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Декрементируем. Теперь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counter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равен 4.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counter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*= 3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Можно применить и умножение. Теперь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counter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равен 12.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counter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/= 4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И делить тоже можно. Теперь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counter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равен 3.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Когда Python видит в коде сокращённую запись x += 1, он выполняет полную последовательность действий: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 текущему значению x прибавляет единицу;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получившееся значение присваивает переменной x.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Но все эти действия выполняются «под капотом», где-то в глубинах Python, их можно не описывать в коде. За счёт такого упрощения код становится короче.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Сокращённый синтаксис для различного рода операций широко применяется в Python. Упрощённую запись называют «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синтаксический сахар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 (англ.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syntactic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sugar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812608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Умножение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Никаких подвохов, всё работает привычным образом: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x = 5 * 2</a:t>
            </a:r>
          </a:p>
          <a:p>
            <a:pPr algn="l"/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4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(x)</a:t>
            </a:r>
          </a:p>
          <a:p>
            <a:pPr algn="l"/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Вывод в терминал: 10</a:t>
            </a:r>
          </a:p>
          <a:p>
            <a:pPr algn="l"/>
            <a:endParaRPr lang="ru-RU" sz="2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Комбинированный оператор присваивания тоже работает:</a:t>
            </a:r>
          </a:p>
          <a:p>
            <a:pPr algn="l"/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x *= 8 </a:t>
            </a:r>
          </a:p>
          <a:p>
            <a:pPr algn="l"/>
            <a:endParaRPr lang="ru-RU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5531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Деление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Деление в Python работает точно так же, как в школьной математике, но оператор деления — символ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/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x = 20 / 2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(x)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Вывод в терминал: 10.0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x = 11 / 3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(x)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Вывод в терминал: 3.6666666666666665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Комбинированный оператор присваивания тоже работает: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x /= 8 </a:t>
            </a:r>
          </a:p>
          <a:p>
            <a:pPr algn="l"/>
            <a:r>
              <a:rPr lang="ru-RU" sz="2400" b="0" i="0" u="sng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Есть нюанс: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результатом деления всегда будет значение типа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float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даже если при делении получается целое число.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626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509751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Целочисленное деление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620111"/>
            <a:ext cx="11666483" cy="64008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Обычное деление возвращает результат в виде числа с плавающей точкой. Однако в Python существует ещё и целочисленное деление: при этой операции результат возвращается в виде целого числа, а дробная часть просто отбрасывается.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Целочисленное деление — это не округление: при округлении дробная часть учитывается при получении результата, а при целочисленном делении она просто игнорируется. Даже если результат деления — 5.999, при целочисленном делении вернётся значение 5.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целочисленного деления в Python — </a:t>
            </a:r>
            <a:r>
              <a:rPr lang="ru-RU" sz="2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два слеша: //.</a:t>
            </a:r>
            <a:endParaRPr lang="ru-RU" sz="22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x = 22 // 2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(x)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Вывод в терминал: 11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Ничего неожиданного: делится ровно, остатка нет.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 = 22 // 3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(y)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Вывод в терминал: 7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Возвращается только целая часть результата, дробная отбрасывается.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z = 2 // 3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(z)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Вывод в терминал: 0. Целая часть числа 0.666666666... - это ноль.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2951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Получение остатка при делении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делении можно получить и значение остатка. Для этого в Python применяется арифметический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%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если 7 делить на 2 с остатком, остаток будет равен единице. Именно единицу и вернёт оператор % в выражении 7 % 2.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x = 11 % 3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Вернуть остаток от целочисленного деления 11 на 3.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(x)</a:t>
            </a:r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Вывод в терминал: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2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Наибольшее число, которое меньше 11 и нацело делится на 3, — это 9. Остаток от деления будет 11 - 9 = 2. Он-то и возвращается.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1562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Возведение в степень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Возведение в степень — операция многократного умножения числа на само себя.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Синтаксис возведения числа в степень: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число ** степень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число 5 возвести в куб, между 5 и 3 нужно поставить оператор **: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x = 5 ** 3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(x)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Вывод в терминал: 125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758387-8ECB-06F7-89CC-40BD58D69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1" y="1487651"/>
            <a:ext cx="5957712" cy="92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3130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Приоритеты арифметических операций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арифметических выражениях, где скомбинированы несколько операций, разный порядок действий приведёт к разным результатам.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выражениях без скобок наивысший приоритет у операции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возведения в степень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она выполняется первой. Следом выполняются операции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умножения, деления, получения остатка и целочисленного деления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Низший приоритет — у операторов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сложения и вычитания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равном уровне приоритетов операторы выполняются по очереди, слева направо.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в одном выражении рядом расположены две операции возведения в степень, то последовательность их выполнения будет обратной: сперва выполняется правая операция возведения в степень, затем — левая.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Чтобы изменить приоритетность выполнения операций, применяют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скобки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Операции в скобках выполняются в первую очередь, а все остальные приоритеты сохраняются в прежнем виде.</a:t>
            </a:r>
          </a:p>
          <a:p>
            <a:pPr algn="l"/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9263B0-F85A-64CB-90DA-EB6CBE058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623" y="5027649"/>
            <a:ext cx="6354062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223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Особенность чисел с плавающей точкой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попытаться точно представить дробь 1/3 в десятичном виде и не устанавливать границ длины этого представления, то число займёт всю доступную память компьютера и попросит ещё.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0.3333333333333333333333333333333333333...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Именно поэтому значения типа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float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сохранении в память округляются. Это округление может привести к неточностям в вычислениях.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x = 0.4 + 0.4 + 0.2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print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('Первая сумма =', x)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y = 0.3 + 0.3 + 0.3 + 0.1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print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('Вторая сумма =', y)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Python не справится с задачей, которую может решить любой четвероклассник!</a:t>
            </a:r>
          </a:p>
        </p:txBody>
      </p:sp>
    </p:spTree>
    <p:extLst>
      <p:ext uri="{BB962C8B-B14F-4D97-AF65-F5344CB8AC3E}">
        <p14:creationId xmlns:p14="http://schemas.microsoft.com/office/powerpoint/2010/main" val="34040531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362607"/>
            <a:ext cx="11666483" cy="6495393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Ошибки в вычислениях с плавающей точкой возникают из-за того, что в памяти компьютера числа представляются в двоичной системе. На аппаратном уровне компьютер оперирует только двумя значениями: 0 и 1. При переводе числа из двоичной системы в десятичную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выполняется округление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 итоге — ошибка в вычислениях.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большинстве случаев Python выполняет округление так, чтобы минимизировать погрешность, однако операции над числами с плавающей точкой могут давать неожиданные результаты.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Погрешность невелика, но из-за такой неточности при работе с GPS-координатами вместо библиотеки можно оказаться, например, в баре!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отличие от чисел с плавающей точкой, целые числа сохраняются в памяти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без округления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или изменений, и это можно использовать для сохранения точности вычислений при работе с десятичными дробями: 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Умножить число с плавающей точкой на 10 в определённой степени, такой, чтобы дробная часть числа стала равной нулю.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Выполнить все необходимые операции.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 завершении вычислений разделить результат на то же число, на которое изначально умножали, чтобы вернуть результат к первоначальной разрядности.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Приведённый метод значительно снижает вероятность ошибок округления, но не исключает их полностью. Потому в Python предусмотрено и более основательное решение подобных проблем: модуль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decimal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помогает проводить вычисления с большей точностью.</a:t>
            </a:r>
          </a:p>
        </p:txBody>
      </p:sp>
    </p:spTree>
    <p:extLst>
      <p:ext uri="{BB962C8B-B14F-4D97-AF65-F5344CB8AC3E}">
        <p14:creationId xmlns:p14="http://schemas.microsoft.com/office/powerpoint/2010/main" val="29019525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Значение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в функции нет инструкции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return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она всегда возвращает значение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Так работает Python. 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Тип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NoneType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это отдельный тип данных, к этому типу относится лишь одно значение: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None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Например, данные типа «число» могут быть бесконечно разнообразны (5, -101, 0, 42 — это всё значения для типа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int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), а в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NoneType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такого разнообразия нет и быть не может: «ничего» — оно всегда одно и то же,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None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Это отсутствие какого бы то ни было значения.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Значение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None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означает «ничего», и это «ничего» можно присвоить переменной. 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Переменная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jar_of_vegetables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содержит "ничего".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jar_of_vegetables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=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None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569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Зачем этот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Самый простой пример: разработчику надо объявить переменную, которая, по планам, точно понадобится в коде, но пока что непонятно, какое значение ей присвоить. Это примерно та же ситуация, что и с объявлением пустых функций: как нельзя объявить функцию без тела — точно так же нельзя объявить переменную без значения. В этой ситуации вместо значения можно указать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Можно применять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как значение по умолчанию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параметров функций. Это удобно в тех случаях, когда необходимо разрешить вызовы функции без явно указанного аргумента.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разработчик проектирует программу для учёта растений на ферме, но ещё не решил, откуда программа будет получать данные, какими они будут и как их обрабатывать.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5945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1171902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Логический тип данных и операторы сравнения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277007"/>
            <a:ext cx="11666483" cy="5580993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сравнения значений в Python применяют специальные операторы: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Арифметические выражения возвращают результат вычислений, и, чтобы воспользоваться возвращаемым значением, нужно его, например, присвоить какой-то переменной. А можно напечатать возвращаемое значение — и тогда можно будет на него посмотреть.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Точно так же работают и выражения с операторами сравнения: они возвращают результат сравнения.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4A28FD-C375-F4F3-7977-158E39FAB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08" y="1671144"/>
            <a:ext cx="6605407" cy="331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841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Булевы значения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Арифметические выражения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возвращают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результат вычислений, и, чтобы воспользоваться возвращаемым значением, нужно его, например, присвоить какой-то переменной. А можно напечатать возвращаемое значение — и тогда можно будет на него посмотреть.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Точно так же работают и выражения с операторами сравнения: они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возвращают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результат сравнения.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Значения True и </a:t>
            </a:r>
            <a:r>
              <a:rPr lang="ru-R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False</a:t>
            </a: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в коде всегда пишут с заглавной буквы.</a:t>
            </a:r>
          </a:p>
          <a:p>
            <a:pPr algn="l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операторах «меньше или равно» и «больше или равно» символы указываются в порядке «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как слышится, так и пишется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». Обычно говорят «меньше или равно», так же и пишут: &lt;=. Эти операторы содержат по два «предположения», и если хоть одно из этих предположений верно, то выражение вернёт True.</a:t>
            </a:r>
          </a:p>
        </p:txBody>
      </p:sp>
    </p:spTree>
    <p:extLst>
      <p:ext uri="{BB962C8B-B14F-4D97-AF65-F5344CB8AC3E}">
        <p14:creationId xmlns:p14="http://schemas.microsoft.com/office/powerpoint/2010/main" val="8723263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Цепочки сравнений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Иногда необходимо совершить серию сравнений за один раз. Вместо того чтобы писать два отдельных выражения, можно использовать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цепочку сравнений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current_temperature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19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(10 &lt;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current_temperature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&lt; 20)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True 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Приведение булевых значений к числам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Обычно в программировании ложные выражения обозначают нулём, а истинные — единицей. Целочисленные значения можно привести к булевым значениям, а булевы — к целочисленным.</a:t>
            </a: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Любые числовые значения, кроме 0, приводятся к True.</a:t>
            </a:r>
          </a:p>
        </p:txBody>
      </p:sp>
    </p:spTree>
    <p:extLst>
      <p:ext uri="{BB962C8B-B14F-4D97-AF65-F5344CB8AC3E}">
        <p14:creationId xmlns:p14="http://schemas.microsoft.com/office/powerpoint/2010/main" val="36701083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1127819"/>
          </a:xfrm>
        </p:spPr>
        <p:txBody>
          <a:bodyPr/>
          <a:lstStyle/>
          <a:p>
            <a:pPr algn="ctr"/>
            <a:r>
              <a:rPr lang="ru-RU" sz="6000" b="1" dirty="0"/>
              <a:t>Ветвления</a:t>
            </a:r>
          </a:p>
        </p:txBody>
      </p:sp>
    </p:spTree>
    <p:extLst>
      <p:ext uri="{BB962C8B-B14F-4D97-AF65-F5344CB8AC3E}">
        <p14:creationId xmlns:p14="http://schemas.microsoft.com/office/powerpoint/2010/main" val="31020951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Ветвление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if…else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05679"/>
            <a:ext cx="11666483" cy="6152321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Условный оператор </a:t>
            </a:r>
            <a:r>
              <a:rPr lang="ru-RU" sz="22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(англ. «если») задаёт определённое поведение программы в зависимости от установленных условий. В общем виде логика его работы такова: «если условие истинно, выполни указанный код, а если ложно, займись чем-нибудь другим».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Создание ветвления чем-то похоже на реализацию функции. Ветвление — это изолированный блок кода, его нужно объявить, а затем написать тело ветвления — код, который должен выполниться, если условие истинно.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объявления ветвления нужно: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Написать ключевое слово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Через пробел указать условие.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Поставить двоеточие.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Начиная со следующей строки, сделав отступ, написать «тело оператора» — код, который должен выполняться, если условие истинно (возвращает True).</a:t>
            </a:r>
          </a:p>
          <a:p>
            <a:pPr algn="l"/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&lt;условие&gt;: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Тело отбивается отступом, чтобы Python знал,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что этот код относится к оператору ветвления.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Тело условного оператора отбивается отступом от начала строки, в которой объявлено ветвление. Этот отступ обязателен, иначе Python не поймёт, где начинается и где заканчивается тело условного оператора. Но можно настроить ветвление так, чтобы оно реагировало и на ситуацию, когда условие возвращает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0300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123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123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FD67CD-6C7F-2B75-2786-8BC16595A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0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519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Конструкция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if...else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ветвления может обработать и те случаи, когда условие ложно. После тела оператора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можно написать дополнительный блок кода, который выполнится только в том случае, если условие вернуло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&lt;условие&gt;: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Тело оператора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: код, который выполнится,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если условие возвращает True.</a:t>
            </a:r>
          </a:p>
          <a:p>
            <a:pPr algn="l"/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Тело оператора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: код, который выполнится,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если условие возвращает 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. 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(англ. «иначе») должен следовать за оператором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сам по себе оператор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не применяется. После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ставится двоеточие; никакого условия после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ставить не нужно: этот оператор работает с условием, которое описано в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не отбивается отступом по отношению к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если перед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нет отступа, то его не должно быть и перед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Тело оператора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отбивается отступом.</a:t>
            </a:r>
          </a:p>
        </p:txBody>
      </p:sp>
    </p:spTree>
    <p:extLst>
      <p:ext uri="{BB962C8B-B14F-4D97-AF65-F5344CB8AC3E}">
        <p14:creationId xmlns:p14="http://schemas.microsoft.com/office/powerpoint/2010/main" val="31635152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123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123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E88BC7-CBA8-F866-01E5-F2B17CAE2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342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Вложенность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кладывать ветвления одно в другое — не лучший подход: код становится «многоярусным», запутанным 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сложночитаемым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Дополнительная задача — не запутаться в отступах. Каждый вложенный блок должен быть отбит от начала предыдущего отступа дополнительными четырьмя пробелами, иначе Python не сможет разобраться, какой блок в какой вложен.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Именно о таких случаях было сказано:</a:t>
            </a:r>
          </a:p>
          <a:p>
            <a:pPr algn="l"/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Flat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is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better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than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nested</a:t>
            </a:r>
            <a:endParaRPr lang="ru-RU" sz="2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Плоское лучше, чем вложенное. </a:t>
            </a:r>
          </a:p>
          <a:p>
            <a:pPr algn="l"/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© The Zen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of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Python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Ветвление с дополнительными проверками можно упростить. Можно добавить в ветвление столько условий, сколько нужно, — и при этом не увеличить вложенность кода.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819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482275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Конструкция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if...</a:t>
            </a:r>
            <a:r>
              <a:rPr lang="en-US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elif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...else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833" y="556591"/>
            <a:ext cx="11666483" cy="630140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ветвлениях можно проверять дополнительные условия в тех случаях, когда условие в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ложно. Для этого применяют конструкцию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...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elif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...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elif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позволяет провести проверку дополнительного условия. В одном ветвлении таких блоков может быть сколько угодно.</a:t>
            </a:r>
          </a:p>
          <a:p>
            <a:pPr algn="l"/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&lt;условие&gt;:</a:t>
            </a:r>
          </a:p>
          <a:p>
            <a:pPr algn="l"/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Тело оператора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: код, который выполнится, </a:t>
            </a:r>
          </a:p>
          <a:p>
            <a:pPr algn="l"/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если условие возвращает True.</a:t>
            </a:r>
          </a:p>
          <a:p>
            <a:pPr algn="l"/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&lt;условие_1&gt;:</a:t>
            </a:r>
          </a:p>
          <a:p>
            <a:pPr algn="l"/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Тело оператора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: этот код выполнится, </a:t>
            </a:r>
          </a:p>
          <a:p>
            <a:pPr algn="l"/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если условие в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возвращает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False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, а условие_1 в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возвращает True.</a:t>
            </a:r>
          </a:p>
          <a:p>
            <a:pPr algn="l"/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&lt;условие_2&gt;:</a:t>
            </a:r>
          </a:p>
          <a:p>
            <a:pPr algn="l"/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Тело оператора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: этот код выполнится, </a:t>
            </a:r>
          </a:p>
          <a:p>
            <a:pPr algn="l"/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если &lt;условие&gt; в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возвращает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False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, </a:t>
            </a:r>
          </a:p>
          <a:p>
            <a:pPr algn="l"/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&lt;условие 1&gt; в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тоже возвращает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False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,</a:t>
            </a:r>
          </a:p>
          <a:p>
            <a:pPr algn="l"/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а &lt;условие_2&gt; в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возвращает True.</a:t>
            </a:r>
          </a:p>
          <a:p>
            <a:pPr algn="l"/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else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:</a:t>
            </a:r>
          </a:p>
          <a:p>
            <a:pPr algn="l"/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Тело оператора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else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: этот код выполнится, если</a:t>
            </a:r>
          </a:p>
          <a:p>
            <a:pPr algn="l"/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условие в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if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возвращает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False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и условия во всех блоках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elif</a:t>
            </a:r>
            <a:endParaRPr lang="ru-RU" sz="19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...  # тоже возвращают </a:t>
            </a:r>
            <a:r>
              <a:rPr lang="ru-RU" sz="19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False</a:t>
            </a:r>
            <a:r>
              <a:rPr lang="ru-RU" sz="1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347170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Конструкция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if...</a:t>
            </a:r>
            <a:r>
              <a:rPr lang="en-US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elif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...else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elif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(от англ. «иначе-если») работает по принципу «если условие в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вернуло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проверить на другое условие». Синтаксис и принцип работы этого оператора — такой же, как у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ставится условие и двоеточие;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код в теле оператора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выполняется в том случае, если условие, заданное в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возвращает True;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тело отбивается отступом — четырьмя пробелами.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Блок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всего лишь «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синтаксический сахар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 для конструкции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с вложенным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Он делает всё то же самое, но код становится «плоским», без вложенностей, и за счёт этого — более читаемым и структурированным.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работе с конструкцией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...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elif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...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нужно помнить, что Python читает код ветвления сверху вниз, и, как только встретится первое условие, возвращающее True, сработает код в теле этого условия, а в следующие блоки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Python даже заглядывать не станет!</a:t>
            </a:r>
          </a:p>
        </p:txBody>
      </p:sp>
    </p:spTree>
    <p:extLst>
      <p:ext uri="{BB962C8B-B14F-4D97-AF65-F5344CB8AC3E}">
        <p14:creationId xmlns:p14="http://schemas.microsoft.com/office/powerpoint/2010/main" val="36521590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Тернарный оператор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Когда на основе условия нужно выбрать одно из двух значений, вместо стандартного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...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можно использовать тернарный оператор. Это более короткий и компактный способ записи условных выражений.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Формат тернарного оператора в Python выглядит так: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&lt;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действие_если_True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&gt;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if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&lt;условие&gt;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else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&lt;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действие_если_False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&gt;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Функциональность всё та же, но код станет заметно короче.</a:t>
            </a:r>
          </a:p>
          <a:p>
            <a:pPr algn="l"/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C79577-32A4-3B33-EC3F-129576AB6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620" y="3240157"/>
            <a:ext cx="6724248" cy="340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050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Логические операторы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95131"/>
            <a:ext cx="11666483" cy="5943599"/>
          </a:xfrm>
        </p:spPr>
        <p:txBody>
          <a:bodyPr>
            <a:no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Операторы могут быть разного типа: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результатом вычисления арифметического выражения будет числовое значение;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результатом сравнения будет значение булева типа.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Ещё одна разновидность операторов — логические. Если для арифметических выражений операнды должны быть типа «число», то в логических выражениях могут применяться операнды разного типа.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💡 Операндами в логических выражениях могут быть любые значения и выражения, которые можно привести к булеву типу.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Логическое выражение возвращает один из операндов.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программировании логические выражения используются для комбинирования нескольких условий: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сегодня суббота?   &lt;и одновременно&gt;   хорошая погода?</a:t>
            </a: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#   условие 1    &lt;логический оператор&gt;   условие 2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Другой вариант: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сегодня суббота?   &lt;или&gt;   сегодня воскресенье?</a:t>
            </a: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# условие 1 &lt;логический оператор&gt; условие 2</a:t>
            </a:r>
          </a:p>
        </p:txBody>
      </p:sp>
    </p:spTree>
    <p:extLst>
      <p:ext uri="{BB962C8B-B14F-4D97-AF65-F5344CB8AC3E}">
        <p14:creationId xmlns:p14="http://schemas.microsoft.com/office/powerpoint/2010/main" val="27922537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437" y="1510747"/>
            <a:ext cx="11666483" cy="4452731"/>
          </a:xfrm>
        </p:spPr>
        <p:txBody>
          <a:bodyPr>
            <a:normAutofit/>
          </a:bodyPr>
          <a:lstStyle/>
          <a:p>
            <a:pPr algn="l"/>
            <a:r>
              <a:rPr lang="ru-RU" sz="2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Логические выражения могут принимать в качестве операндов: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значения True 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выражения сравнения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ведь они возвращают True и </a:t>
            </a:r>
            <a:r>
              <a:rPr lang="ru-RU" sz="2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числа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ведь их можно привести к True или </a:t>
            </a:r>
            <a:r>
              <a:rPr lang="ru-RU" sz="2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строки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их тоже можно привести к True или </a:t>
            </a:r>
            <a:r>
              <a:rPr lang="ru-RU" sz="2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значение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оно приводится к </a:t>
            </a:r>
            <a:r>
              <a:rPr lang="ru-RU" sz="2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 другие типы данных!</a:t>
            </a:r>
            <a:endParaRPr lang="ru-RU" sz="4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115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AND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выражении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операнд_1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операнд_2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сначала вычисляется операнд_1.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операнд_1 — это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то выражение сразу вернёт операнд_1, а второй операнд даже не будет рассматриваться.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первый операнд — это True, логическое выражение с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вернёт второй операнд, даже не оценивая его.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True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True вернёт True (вернёт второй операнд).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True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вернёт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(вернёт второй операнд).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5 &gt; 3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8 &lt; 15 вернёт 8 &lt; 15, ведь 5 &gt; 3 — это True, и выражение должно просто вернуть второй операнд.</a:t>
            </a:r>
            <a:endParaRPr lang="ru-RU" sz="4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Но возвращать выражение будет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результат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сравнения, т.е.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True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!</a:t>
            </a:r>
            <a:endParaRPr lang="ru-RU" sz="105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8194601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123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123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110636-EAD2-5F37-13DE-82A6D7B2B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031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AND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продолжение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левый операнд выражения с </a:t>
            </a:r>
            <a:r>
              <a:rPr lang="ru-RU" sz="2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and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равен </a:t>
            </a:r>
            <a:r>
              <a:rPr lang="ru-RU" sz="2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возвращает или приводится к </a:t>
            </a:r>
            <a:r>
              <a:rPr lang="ru-RU" sz="2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то выражение вернёт левый операнд,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 приводя его к типу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bool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  <a:endParaRPr lang="en-US" sz="2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левый операнд выражения с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and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равен True, возвращает или приводится к True, то выражение вернёт правый операнд, не вычисляя, равен ли он True или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False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и 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 приводя его к типу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bool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Дело в том, что Python незаметно выполнит ещё одну операцию. Выражение с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and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возвращает именно операнды. Но этот операнд — часто сам по себе выражение, именно поэтому возвращается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bool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!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же не выражение, то ответ вернет данные в том виде как они есть: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print(5 &gt; 3 and '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абракадабра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')</a:t>
            </a:r>
            <a:endParaRPr lang="ru-RU" sz="2400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8646509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выражении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операнд_1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операнд_2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сначала вычисляется операнд_1. Если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операнд_1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равен True, то выражение сразу вернёт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операнд_1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а второй операнд даже не будет рассматриваться. Если первый операнд равен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логическое выражение с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вернёт второй операнд, даже не оценивая его.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 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True </a:t>
            </a:r>
            <a:r>
              <a:rPr lang="ru-RU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True вернёт True.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 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True </a:t>
            </a:r>
            <a:r>
              <a:rPr lang="ru-RU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вернёт True.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 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5 &gt; 3 </a:t>
            </a:r>
            <a:r>
              <a:rPr lang="ru-RU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8 &lt; 15 вернёт True, ведь 5 &gt; 3 — это True, один операнд вернул True — и этого достаточно.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 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10 &gt; x </a:t>
            </a:r>
            <a:r>
              <a:rPr lang="ru-RU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x &lt; 15 вернёт True, если x равен любому числу меньше 15.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 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 если x будет равен 20, оба операнда вернут </a:t>
            </a:r>
            <a:r>
              <a:rPr lang="ru-RU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а значит, и всё выражение вернёт </a:t>
            </a:r>
            <a:r>
              <a:rPr lang="ru-RU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ru-RU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20325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123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123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E18E3D-3947-F8D9-0C5D-0A314121E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688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 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продолжение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en-US" sz="28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1.   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левый операнд выражения с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равен True, возвращает или приводится к True, то  выражение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вернёт левый операнд, не приводя его к типу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bool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5 &gt; 3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10 &gt; 5 вернёт True, ведь 5 &gt; 3 — это True.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1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10 &gt; 5 вернёт 1, ведь 1 приводится к True, и выражение вернёт левый операнд.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таких ситуациях Python даже не будет оценивать правый операнд.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2.   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левый операнд выражения с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равен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возвращает или приводится к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то выражение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    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вернёт правый операнд, даже не вычисляя, равен ли он True или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и не приводя его к типу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bool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 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5 &lt; 3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10 &gt; 5 вернёт True: левый операнд вернул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возвращаем правый операнд, а 10 &gt; 5 — это True.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0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1 вернёт 1: левый операнд приводится к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возвращаем правый операнд, а это1.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10 &lt; 5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вернёт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левый операнд вернул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возвращаем правый, а это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..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2933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NOT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Логический оператор </a:t>
            </a:r>
            <a:r>
              <a:rPr lang="ru-RU" sz="28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 отличие от операторов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работает лишь с одним операндом. Такие операторы называются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унарными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; единственный операнд ставится справа от оператора.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операнд возвращает True, то логическое выражение с оператором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вернёт значение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и наоборот.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Логические выражения с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записываются так: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значение_или_выражение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53487333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24239"/>
            <a:ext cx="11666483" cy="6733761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Наглядным примером практического применения может послужить «переключатель» — кнопка Start-Stop в автомобиле.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Нажатие на кнопку должно включить двигатель или выключить его, в зависимости от того, работает сейчас двигатель или нет: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двигатель заглушён: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status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=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;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двигатель включён: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status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= True.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каждом нажатии на кнопку статус работы двигателя меняется на противоположный.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def </a:t>
            </a:r>
            <a:r>
              <a:rPr lang="en-US" sz="18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start_stop</a:t>
            </a:r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(status):</a:t>
            </a:r>
          </a:p>
          <a:p>
            <a:pPr algn="l"/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  return not status</a:t>
            </a:r>
          </a:p>
          <a:p>
            <a:pPr algn="l"/>
            <a:endParaRPr lang="en-US" sz="18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status = False    </a:t>
            </a:r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Двигатель не заведён.</a:t>
            </a:r>
            <a:endParaRPr lang="en-US" sz="18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Нажмём на кнопку, запустим двигатель. Функция </a:t>
            </a:r>
            <a:r>
              <a:rPr lang="en-US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start_stop</a:t>
            </a:r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вернёт </a:t>
            </a:r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True,</a:t>
            </a:r>
          </a:p>
          <a:p>
            <a:pPr algn="l"/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переменная </a:t>
            </a:r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status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примет это значение:</a:t>
            </a:r>
          </a:p>
          <a:p>
            <a:pPr algn="l"/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status = </a:t>
            </a:r>
            <a:r>
              <a:rPr lang="en-US" sz="18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start_stop</a:t>
            </a:r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(status)</a:t>
            </a:r>
          </a:p>
          <a:p>
            <a:pPr algn="l"/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Повторное "нажатие на кнопку" (повторный вызов функции </a:t>
            </a:r>
            <a:r>
              <a:rPr lang="en-US" sz="1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start_stop</a:t>
            </a:r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()):</a:t>
            </a:r>
          </a:p>
          <a:p>
            <a:pPr algn="l"/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вернёт </a:t>
            </a:r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False,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переменная </a:t>
            </a:r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status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примет это значение.</a:t>
            </a:r>
          </a:p>
          <a:p>
            <a:pPr algn="l"/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status = </a:t>
            </a:r>
            <a:r>
              <a:rPr lang="en-US" sz="18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start_stop</a:t>
            </a:r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(status)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BB652E-AACA-EAF3-A4B7-30BC8421F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241" y="2702322"/>
            <a:ext cx="4274857" cy="230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402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233571"/>
            <a:ext cx="11666483" cy="6624430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также может быть полезен при работе с «правдивыми» и «ложными» значениями в Python (например, с пустыми строками):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name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‘’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Значения операндов в логических выражениях Python приводят к типу </a:t>
            </a:r>
            <a:r>
              <a:rPr lang="ru-RU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bool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Пустая строка приводится к значению </a:t>
            </a:r>
            <a:r>
              <a:rPr lang="ru-RU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False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if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not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name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Этот код будет выполнен.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      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('Имя не задано!’) 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/>
                </a:solidFill>
                <a:latin typeface="YS Text"/>
              </a:rPr>
              <a:t>Использование оператора </a:t>
            </a:r>
            <a:r>
              <a:rPr lang="ru-RU" sz="2000" b="1" dirty="0" err="1">
                <a:solidFill>
                  <a:schemeClr val="tx1"/>
                </a:solidFill>
                <a:latin typeface="YS Text"/>
              </a:rPr>
              <a:t>not</a:t>
            </a:r>
            <a:r>
              <a:rPr lang="ru-RU" sz="2000" dirty="0">
                <a:solidFill>
                  <a:schemeClr val="tx1"/>
                </a:solidFill>
                <a:latin typeface="YS Text"/>
              </a:rPr>
              <a:t> помогает в создании более интуитивных и легко читаемых логических выражений, особенно когда необходимо проверить отсутствие условия или его ложность</a:t>
            </a:r>
            <a:r>
              <a:rPr lang="en-US" sz="2000">
                <a:solidFill>
                  <a:schemeClr val="tx1"/>
                </a:solidFill>
                <a:latin typeface="YS Text"/>
              </a:rPr>
              <a:t>.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79748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1127819"/>
          </a:xfrm>
        </p:spPr>
        <p:txBody>
          <a:bodyPr/>
          <a:lstStyle/>
          <a:p>
            <a:pPr algn="ctr"/>
            <a:r>
              <a:rPr lang="ru-RU" sz="6000" b="1" dirty="0"/>
              <a:t>Импортируемые типы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32886975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Модуль 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decimal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когда точность важна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точность при выполнении арифметических операций критична, стоит применить модуль из стандартной библиотеки Python —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decimal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Он позволит работать с дробями с заданной точностью.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импорте модуля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decimal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 коде появляется возможность применить ещё один числовой тип данных — он так и называется: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Decimal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И операции с данными этого типа выполняются гораздо точнее, чем с данными типа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float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объявлении переменной типа </a:t>
            </a:r>
            <a:r>
              <a:rPr lang="ru-RU" sz="2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Decimal</a:t>
            </a:r>
            <a:r>
              <a:rPr lang="ru-RU" sz="2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дробное числовое значение передаётся в виде строки, в кавычках:    </a:t>
            </a:r>
            <a:r>
              <a:rPr lang="ru-RU" sz="28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Decimal</a:t>
            </a:r>
            <a:r>
              <a:rPr lang="ru-RU" sz="2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('100.01’)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числовое значение передать без кавычек — программной ошибки не возникнет, однако возможно появление арифметических ошибок, как и в случае с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float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from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decimal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import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Decimal</a:t>
            </a:r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Decimal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(100.01) +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Decimal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(100.01) +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Decimal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(100.01))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Будет напечатано: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300.0300000000000153477230924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проблемы с арифметикой!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1017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Настройка точности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Модуль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decimal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позволяет задать точность вычислений. За точность арифметики десятичных чисел в модуле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decimal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отвечает атрибут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getcontext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().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prec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(от английского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precision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«точность»).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настройке нужно указать, сколько знаков нужно сохранять при арифметических операциях с числами типа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Decimal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На операции с числами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float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эта настройка не повлияет.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при настройке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getcontext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().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prec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5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результаты любых вычислений со значениями типа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Decimal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будут сокращаться до пяти значащих цифр.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одно из следствий этого ограничения будет таким: чем больше число, тем меньше останется знаков после запятой.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Важно не путать эту операцию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 округлением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округление ограничивает количество знаков после запятой, а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параметр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getcontext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().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prec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определяет общее количество значащих цифр в результате вычислений.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5820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</a:t>
            </a:r>
            <a:r>
              <a:rPr lang="ru-RU" sz="2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getcontext</a:t>
            </a:r>
            <a:r>
              <a:rPr lang="ru-RU" sz="2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().</a:t>
            </a:r>
            <a:r>
              <a:rPr lang="ru-RU" sz="28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prec</a:t>
            </a:r>
            <a:r>
              <a:rPr lang="ru-RU" sz="2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= 5: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10.1 + 7.12345 вернёт значение 17.223,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100.1 + 7.12345 вернёт значение 107.22,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1000.1 + 7.12345 вернёт значение 1007.2,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10000.1 + 7.12345 вернёт значение 10007,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100000.1 + 7.12345 вернёт значение 1.0001E+5 (эта запись аналогична выражению 1.0001 * 10⁵).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Суффикс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E+n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 последней строке означает, что запись сокращена, и, чтобы получить полное значение, нужно умножить указанное перед суффиксом значение на 10 в степени n. Может встретиться и суффикс E-n, он имеет сходный смысл, но только число перед суффиксом нужно разделить на 10 в степени n.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65724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Дата и время: ещё один тип данных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Python умеет работать с временем, но делает он это по-своему, иначе, нежели человек.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взгляде на строчку, в которой упомянута дата или время, человек легко понимает, что означает каждая цифра.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Например, «дедлайн по вашей задаче установлен на 06.11.2023». При этом дата может быть записана по-разному — 06.11.2023, 2023-11-6 или 6/11/2023.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Понятно, что речь идёт о 6 ноября 2023 года, и если сегодня 12 октября 2026 года, то легко подсчитать, что до дедлайна осталось 25 дней и времени на прокрастинацию уже нет.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силу привычки и опыта человек интуитивно воспринимает время в годах, месяцах, днях, часах, минутах и секундах, понимает смысл цифр, извлекает информацию, производит вычисления и получает результат: «Кажется, дедлайн подгорает!»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5250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Стандарт времени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UTC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UTC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это глобальный временной стандарт, который позволяет синхронизировать часы и координировать действия в разных часовых поясах. 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UTC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универсален: он не зависит от часовых поясов. Это постоянное время, используемое во всём мире. Разница между временем UTC и местным временем варьируется в зависимости от часового пояса.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московское время сдвинуто на 3 часа в большую сторону: полночь по UTC — это 3 часа ночи по Москве. Время в Ирландии соответствует времени в UTC, а часовой пояс Венесуэлы — UTC-4.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Время по UTC постоянно, оно не переводится зимой, летом или весной. Если в стране есть переход на зимнее и летнее время, в этой стране меняется смещение относительно шкалы UTC.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31952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Python 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время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Python «узнаёт время» у того компьютера или сервера, на котором выполняется код. Когда код выполняется на компьютере разработчика, Python оперирует тем временем, которое выставлено на этом компьютере. </a:t>
            </a:r>
            <a:endParaRPr lang="en-US" sz="36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Компьютеры и программы обычно хранят время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секундах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и вычисления проводят именно в секундах: так проще выполнять арифметические операции. А результат вычислений всегда можно перевести в минуты, часы или годы, в зависимости от требований.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пусть программа на Python тоже посчитает, сколько времени осталось до дедлайна, если сегодня 12 октября, а отдать результаты работы нужно 6 ноября. Чтобы это сделать, нужно: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Посчитать, сколько секунд содержит один день.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Посчитать, сколько секунд прошло с начала года до 12 октября.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Посчитать, сколько секунд пройдёт с начала года до 6 ноября.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Узнать разницу между значениями, найденными на третьем и втором шаге.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Перевести полученную разницу в дни.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/>
                </a:solidFill>
                <a:effectLst/>
                <a:latin typeface="YS Text"/>
              </a:rPr>
              <a:t>Избавиться от сложных расчётов помогают модули для работы с временем. Эти модули «под капотом» выполняют все сложные расчёты и переводят время из секунд в нужные единицы и обратно. Зачастую для расчётов используется </a:t>
            </a:r>
            <a:r>
              <a:rPr lang="ru-RU" sz="2000" b="1" i="0" dirty="0">
                <a:solidFill>
                  <a:schemeClr val="tx1"/>
                </a:solidFill>
                <a:effectLst/>
                <a:latin typeface="YS Text"/>
              </a:rPr>
              <a:t>Unix-время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YS Text"/>
              </a:rPr>
              <a:t> (англ. Unix 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YS Text"/>
              </a:rPr>
              <a:t>time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YS Text"/>
              </a:rPr>
              <a:t>, Unix 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YS Text"/>
              </a:rPr>
              <a:t>timestamp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YS Text"/>
              </a:rPr>
              <a:t>).</a:t>
            </a:r>
            <a:endParaRPr lang="ru-RU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8953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Unix-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время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Unix-время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это способ отсчёта времени компьютерами и программами. Единица измерения — секунды. Текущее время отсчитывается от «начала времён».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Unix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принята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точка отсчёта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момент, когда время было равно 0 сек. Этот момент — полночь 1 января 1970 года: 00:00:00 01.01.1970.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 этого момента времени есть и собственное название: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Unix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epoch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(англ. «эпоха Unix»). С первой секунды 1970 года началась «эпоха Unix» — это примерно как понятие «наша эра» в европейском летосчислении, только точка отсчёта другая.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Unix-время — это как большой секундомер, который начал работать в 1970 году и продолжает работать до сих пор. В любой момент можно взглянуть на него, определить количество секунд, прошедших с момента запуска, и перевести секунды в нужный формат времени.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Такие вычисления в Python могут выполнять, например функции, собранные в модуле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Чтобы внутренние часы компьютера не отставали и не убегали вперёд, время от времени они могут синхронизироваться через Сеть с сервером точного времени (их на планете множество). В свою очередь, эти серверы получают точное время из нескольких источников — например, от атомных часов.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4954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54665"/>
            <a:ext cx="10782300" cy="631135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Работа с датами и временем в Python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685801"/>
            <a:ext cx="11666483" cy="6172200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Модуль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встроен в стандартную библиотеку Python. Для работы с датами и временем модуль предлагает специальные типы данных, например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time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Дата: тип данных 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Тип данных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предназначен для работы с датами. В значениях этого типа можно хранить год, месяц и день. Часы, минуты и секунды в этом типе данных не учитываются.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Чтобы объявить дату, нужно: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импортировать тип данных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из модуля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;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объявить переменную типа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передав параметры через запятую: первым аргументом — год, вторым — месяц, третьим — день.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from datetime import date 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Из модуля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импортирован тип данных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date.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#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Переменной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deadline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присвоено значение типа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date.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#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число, определяющее год, месяц или день, состоит из одного символа, </a:t>
            </a: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deadline = date(2023, 11, 6)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в аргументы передаётся именно один символ: 6, а не 06.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print('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Ваш дедлайн:',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deadline)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print(type(deadline))</a:t>
            </a:r>
            <a:endParaRPr lang="ru-RU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4885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Время: тип данных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time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работы с секундами, минутами и часами применяют тип данных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В переменную этого типа </a:t>
            </a:r>
            <a:r>
              <a:rPr lang="ru-RU" sz="2000" b="0" i="0" u="sng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 получится записать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ни год, ни месяц, ни день.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описании переменной первым аргументом можно передать час, вторым минуту, третьим секунду. Можно передать и количество микросекунд. Микросекунда — одна миллионная часть секунды, 10⁻⁶ сек.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Все аргументы являются опциональными. Это означает, что без указания каких-либо аргументов будут использоваться значения по умолчанию (0 часов, 0 минут, 0 секунд, 0 микросекунд).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Работа с типом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сходна с работой с типом данных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from datetime import time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Из модуля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импортирован нужный тип данных - на этот раз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time.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Переменной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meeting_time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присвоено значение типа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time.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Нулевые значения можно записывать одним или двумя нулями;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значения в диапазоне от 1 до 9 необходимо записывать 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одним символом, без 0: 9, а не 09.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meeting_time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time(9, 15, 00)</a:t>
            </a: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Презентация проекта состоится в',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meeting_time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print(type(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meeting_time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  <a:endParaRPr lang="ru-RU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41507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6"/>
            <a:ext cx="10782300" cy="1143227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Дата и время в одной переменной: тип данных 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247361"/>
            <a:ext cx="11666483" cy="5610639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Тип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позволяет сохранить дату и время как единое значение. Порядок аргументов такой: год, месяц, день, часы, минуты, секунды и микросекунды.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Из модуля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импортируется тип данных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datetime.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from datetime import datetime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#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Переменной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exact_deadline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присвоено значение типа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datetime.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exact_deadline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datetime(2023, 11, 6, 9, 15, 00) </a:t>
            </a:r>
          </a:p>
          <a:p>
            <a:pPr algn="l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print('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Ваш точный дедлайн:', 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exact_deadline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print(type(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exact_deadline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Чаще всего программисты работают именно с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он более универсален. При необходимости из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можно получить типы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time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05700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Работа с временем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 типами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можно выполнять арифметические операции вычитания, чтобы найти разницу во времени, а также можно сравнивать значения дат и времени.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from datetime import date</a:t>
            </a:r>
          </a:p>
          <a:p>
            <a:pPr algn="l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deadline = date(2023, 11, 6)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today = date(2023, 10, 12)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print('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Дней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до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дедлайна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:', deadline - today)</a:t>
            </a:r>
            <a:endParaRPr lang="ru-RU" sz="20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Вычитать из значений типа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значения типа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нельзя. И наоборот — тоже нельзя. Возникнет ошибка.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01320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Промежуток времени: тип </a:t>
            </a:r>
            <a:r>
              <a:rPr lang="en-US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timedelta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Разность значений типов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или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возвращает значение типа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timedelta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Этот тип хранит не значение времени в настоящем, прошлом или будущем, а продолжительность некоего отрезка времени.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Термином «дельта» довольно часто называют разницу между какими-то значениями. Тип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timedelta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получил своё название по этой же причине.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Этот тип применяют, например, чтобы получить ответ на вопрос «какая дата будет через 500 дней?». В этой ситуации «500 дней» должно быть типом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timedelta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Значение с типом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timedelta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можно вычесть или прибавить к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или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У типа данных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timedelta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есть свой набор возможностей. Например, с помощью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total_seconds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можно преобразовать значение типа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timedelta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в секунды.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Чтобы оперировать набором функций, доступным для типа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timedelta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</a:t>
            </a:r>
            <a:r>
              <a:rPr lang="ru-RU" sz="20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нужно импортировать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этот тип в программу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61498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Сравнение времени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Значения даты и времени можно сравнивать по тому же принципу, что и обычные числа, — посредством операторов сравнения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&lt;, &gt;, ==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Логическая операция сравнения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всё также будет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возвращать значение True или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сравнении типы операндов должны совпадать: нельзя тип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сравнить с типом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Чтобы код заработал, можно привести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к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6316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561788"/>
          </a:xfrm>
        </p:spPr>
        <p:txBody>
          <a:bodyPr/>
          <a:lstStyle/>
          <a:p>
            <a:pPr algn="ctr"/>
            <a:r>
              <a:rPr lang="ru-RU" sz="4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Другие методы работы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40465"/>
            <a:ext cx="11666483" cy="6117535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800" b="1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Замена значения даты</a:t>
            </a:r>
            <a:endParaRPr lang="ru-RU" sz="28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изменить дату, час, месяц, год или другие значения в данных типа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используется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replace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endParaRPr lang="en-US" sz="20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from datetime import datetime</a:t>
            </a:r>
          </a:p>
          <a:p>
            <a:pPr algn="l"/>
            <a:endParaRPr lang="en-US" sz="20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datetime1 = datetime(2023, 8, 13, 3, 0, 0)  # 13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августа 2023 года, 3 утра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datetime2 =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datetime.replace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(datetime1, year=2019)  # 13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августа 2019 года, 3 утра</a:t>
            </a:r>
          </a:p>
          <a:p>
            <a:r>
              <a:rPr lang="ru-RU" sz="2800" b="1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Текущая дата и время</a:t>
            </a: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работе с типом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datetime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можно получить текущую дату и время, а при работе с типом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date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текущую дату. Для этого используем метод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now()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или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today():</a:t>
            </a:r>
            <a:endParaRPr lang="ru-RU" sz="2000" b="1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from datetime import datetime, date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помощи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now()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получаем текущую дату и время.</a:t>
            </a:r>
          </a:p>
          <a:p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now = </a:t>
            </a:r>
            <a:r>
              <a:rPr lang="en-US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datetime.now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()  </a:t>
            </a:r>
          </a:p>
          <a:p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помощи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today()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получаем текущую дату.</a:t>
            </a:r>
          </a:p>
          <a:p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today_1 = </a:t>
            </a:r>
            <a:r>
              <a:rPr lang="en-US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datetime.today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()</a:t>
            </a:r>
          </a:p>
          <a:p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today_2 = </a:t>
            </a:r>
            <a:r>
              <a:rPr lang="en-US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date.today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()</a:t>
            </a:r>
            <a:endParaRPr lang="ru-RU" sz="17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84183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Форматирование времени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40465"/>
            <a:ext cx="11666483" cy="6117535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выводе даты и времени на печать можно настроить свой формат. Для этого используется функция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strftime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(англ.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string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format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time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«строковый формат времени»). Эта функция преобразует время в строку по заданному шаблону.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Строка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%Y/%m/%d %H:%M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— это шаблон. Она состоит из условных обозначений и показывает, на каком месте в строке должен находиться тот или иной элемент времени.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%Y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это год,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%m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месяц,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%d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день,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%H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часы,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%M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минуты. В шаблоне можно указать любые текстовые символы, например разделители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/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 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или обозначения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ч.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мин.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и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сек.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Все значения, которые можно использовать в шаблоне, можно найти в </a:t>
            </a:r>
            <a:r>
              <a:rPr lang="ru-RU" sz="2000" b="0" i="0" dirty="0">
                <a:effectLst/>
                <a:latin typeface="YS Text"/>
                <a:hlinkClick r:id="rId2"/>
              </a:rPr>
              <a:t>официальной документации Python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Есть ещё одна функция для работы с форматом времени —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strptime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Она позволяет выполнить обратную операцию: преобразовать строку в тип данных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datetime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по заданному формату. Если строка не соответствует шаблону, то выведется ошибка.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40441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1127819"/>
          </a:xfrm>
        </p:spPr>
        <p:txBody>
          <a:bodyPr/>
          <a:lstStyle/>
          <a:p>
            <a:pPr algn="ctr"/>
            <a:r>
              <a:rPr lang="ru-RU" sz="6000" b="1" dirty="0"/>
              <a:t>Коллекции в </a:t>
            </a:r>
            <a:r>
              <a:rPr lang="en-US" sz="6000" b="1" dirty="0"/>
              <a:t>Python</a:t>
            </a:r>
            <a:endParaRPr lang="ru-RU" sz="6000" b="1" dirty="0"/>
          </a:p>
        </p:txBody>
      </p:sp>
    </p:spTree>
    <p:extLst>
      <p:ext uri="{BB962C8B-B14F-4D97-AF65-F5344CB8AC3E}">
        <p14:creationId xmlns:p14="http://schemas.microsoft.com/office/powerpoint/2010/main" val="130096455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1" dirty="0">
                <a:solidFill>
                  <a:schemeClr val="tx1"/>
                </a:solidFill>
              </a:rPr>
              <a:t>Коллекции в </a:t>
            </a:r>
            <a:r>
              <a:rPr lang="en-US" sz="4800" b="1" dirty="0">
                <a:solidFill>
                  <a:schemeClr val="tx1"/>
                </a:solidFill>
              </a:rPr>
              <a:t>Python</a:t>
            </a:r>
            <a:endParaRPr lang="ru-RU" sz="4800" b="1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Хранить и обрабатывать наборы данных — это весьма востребованная задача в программировании. Такие наборы данных и называются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коллекциями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Под словом «коллекции» понимают типы данных, которые могут содержать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несколько значений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Значения называют «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элементы коллекции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».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Python довольно много различных типов коллекций, каждый тип обладает какими-то особенностями.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Одним из важных свойств можно считать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«упорядоченность» коллекции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10863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6"/>
            <a:ext cx="10782300" cy="1148197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Упорядоченные коллекции: последовательности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326873"/>
            <a:ext cx="11666483" cy="5531127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упорядоченной коллекции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все элементы расположены в определённом порядке, который задаётся при создании коллекции. К любому элементу упорядоченной коллекции можно обратиться по индексу — порядковому номеру элемента; можно напечатать все элементы по очереди — и порядок всегда будет один и тот же.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Такие коллекции называют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последовательностями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Элементами последовательностей могут быть любые типы данных Python (включая и коллекции).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Основные типы последовательностей: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Строки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— последовательности символов.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Списки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— последовательности, которые могут содержать любые объекты.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Кортежи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tuple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— последовательности, аналогичные спискам, но без возможности модификации.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Диапазоны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range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— последовательность чисел в определённом интервале.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Python воспринимает строку как набор значений; значениями он считает текстовые символы, составляющие строку. Например, можно спросить: «Сколько элементов в коллекции типа </a:t>
            </a:r>
            <a:r>
              <a:rPr lang="ru-RU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?» — и Python ответит.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Упорядоченность коллекции типа </a:t>
            </a:r>
            <a:r>
              <a:rPr lang="ru-RU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проявляется в том, что, сколько раз ни печатай строку, символы всегда будут выводиться в том порядке, который был установлен при создании строки.</a:t>
            </a:r>
            <a:endParaRPr lang="ru-RU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246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Неупорядоченные коллекции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неупорядоченных коллекциях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невозможно определить, какой элемент первый, а какой последний. Они как груда детских игрушек в ящике: каждый раз вываливаются в разном порядке.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Эти структуры обычно используются в тех случаях, когда порядок не имеет значения или когда требуется быстрый поиск по значениям: неупорядоченные коллекции записываются в память так, что поиск по ним выполняется гораздо быстрее, чем по упорядоченным.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Примером неупорядоченных коллекций в Python могут служить множества.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Множества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— это коллекции уникальных элементов.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10201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1127819"/>
          </a:xfrm>
        </p:spPr>
        <p:txBody>
          <a:bodyPr/>
          <a:lstStyle/>
          <a:p>
            <a:pPr algn="ctr"/>
            <a:r>
              <a:rPr lang="ru-RU" sz="6000" b="1" dirty="0"/>
              <a:t>Список</a:t>
            </a:r>
          </a:p>
        </p:txBody>
      </p:sp>
    </p:spTree>
    <p:extLst>
      <p:ext uri="{BB962C8B-B14F-4D97-AF65-F5344CB8AC3E}">
        <p14:creationId xmlns:p14="http://schemas.microsoft.com/office/powerpoint/2010/main" val="399265331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94422"/>
            <a:ext cx="10782300" cy="621195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Последовательности: список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15617"/>
            <a:ext cx="11666483" cy="614238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Объявить список можно несколькими способами.</a:t>
            </a:r>
          </a:p>
          <a:p>
            <a:pPr algn="l"/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Объявление списка с помощью квадратных скобок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Литеральный способ создания списка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явным образом перечислить элементы списка в квадратных скобках, разделяя их запятыми. После запятой принято ставить пробел: это облегчает чтение кода.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digits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[1, 2, 3, 4, 5]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fruits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['яблоко', 'банан', 'вишня’]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Можно объявить пустой список, а элементы в него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добавлять по мере необходимости.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empty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[]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Квадратные скобки - это объявление списка. </a:t>
            </a: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Создание списка с помощью встроенной функции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list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Эта функция может принимать в качестве аргумента коллекцию и преобразовывать переданный объект в список.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letters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list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('яблоко')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Строка - это коллекция текстовых символов.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Строка будет преобразована в список символов: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['я', 'б', 'л', 'о', 'к', 'о’]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С помощью функции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list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 можно объявить и пустой список: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another_empty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list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() </a:t>
            </a:r>
            <a:endParaRPr lang="ru-RU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29055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Особенности списков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Списки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это упорядоченные коллекции, которые могут хранить элементы произвольных типов.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Элементы в списке имеют строгий порядок, который определён порядком их добавления или их расположением в списке. Каждый элемент обладает порядковым номером, его называют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«индекс».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Отсчёт индексов начинается с нуля: индекс первого элемента в списке — 0.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Любой элемент списка можно получить по его индексу: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имя_списка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[индекс].</a:t>
            </a:r>
          </a:p>
          <a:p>
            <a:pPr algn="l"/>
            <a:endParaRPr lang="ru-RU" sz="20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Упорядоченные коллекции иначе называют «последовательности».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Элементы списка могут быть различного типа, включая другие коллекции — и списки в том числе.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mixed_things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['солёные помидоры', 15, ['огурцы', 'помидоры'], 3.14]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                		 |           	        |            	 |                          |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Типы элементов:      	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	      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int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               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list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      	          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float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93766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Адресация элементов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95131"/>
            <a:ext cx="11666483" cy="606287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Значения элементов списка можно получить через обращение по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индексу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Полученное значение можно присвоить переменной или обработать каким-то иным способом.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Последовательность типа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list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(список);  значения элементов списка - числа типа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float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vegetable_weights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[1.7, 2.5, 0.8, 1.2]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Чтобы получить значение определённого элемента,  его индекс следует указать в квадратных 	скобках после имени последовательности.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('Элемент с индексом [2]:',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vegetable_weights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[2])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Присвоим значение элемента с индексом 3 переменной: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element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vegetable_weights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[3]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Выведем сумму элементов с индексами 0 и 3; значение элемента с индексом 3 сохранено в 	переменной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element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применим эту переменную: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('Сумма значений элементов с индексами 0 и 3:',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vegetable_weights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[0] +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element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При попытке обратиться к несуществующему элементу интерпретатор вернёт ошибку.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vegetable_weights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[10])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IndexError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list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index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out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of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4151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Распаковка списка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Эта операция позволяет одним выражением присвоить значения элементов списка отдельным переменным. Для распаковки имена переменных перечисляются через запятую, ставится знак равенства и после него указывается имя списка, который надо распаковать.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Количество переменных должно соответствовать числу элементов в списке. Переменным присвоены значения элементов. Первое значение присвоено первой переменной, второе — второй: порядок сохраняется. Часто  гораздо удобнее работать с именованными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значениеми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чем с безликими и непонятными индексами.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apple_info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['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Антоновка', 120,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True]</a:t>
            </a:r>
          </a:p>
          <a:p>
            <a:pPr algn="l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apple_sort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apple_yield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apple_frost_resistance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apple_info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print('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Сорт:',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apple_sort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print('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Морозоустойчивость:',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apple_frost_resistance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 </a:t>
            </a:r>
            <a:endParaRPr lang="ru-RU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97008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6"/>
            <a:ext cx="10782300" cy="606515"/>
          </a:xfrm>
        </p:spPr>
        <p:txBody>
          <a:bodyPr/>
          <a:lstStyle/>
          <a:p>
            <a:pPr algn="ctr"/>
            <a:r>
              <a:rPr lang="ru-RU" sz="4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Добавление элемента: </a:t>
            </a:r>
            <a:r>
              <a:rPr lang="en-US" sz="40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</a:t>
            </a:r>
            <a:r>
              <a:rPr lang="en-US" sz="40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append</a:t>
            </a:r>
            <a:r>
              <a:rPr lang="en-US" sz="4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(&lt;list&gt;, element)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85191"/>
            <a:ext cx="11666483" cy="6072809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Метод добавляет новый элемент в конец списка. Здесь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&lt;</a:t>
            </a:r>
            <a:r>
              <a:rPr lang="en-US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list&gt;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это конкретный список, например список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vegetables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приведённом коде.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 = ['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Помидоры', 'Огурцы', 'Кабачки’]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list.append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(vegetables, 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Баклажаны’)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print(vegetables)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Вывод в терминал: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['Помидоры', 'Огурцы', 'Кабачки', 'Баклажаны']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 следует присваивать переменной результат работы этой команды. В противном случае значением такой переменной будет </a:t>
            </a:r>
            <a:r>
              <a:rPr lang="en-US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 = ['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Помидоры', 'Огурцы', 'Кабачки’]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Бессмысленно присваивать результат работы функции переменной: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new_vegetables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list.append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(vegetables, 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Баклажаны’)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new_vegetables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Вывод в терминал: 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None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6049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Добавление в список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Python есть несколько вариантов синтаксиса для выполнения подобных операций. Например, при вызове нужной функции для работы со списком можно использовать два варианта: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тип.функция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(список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новый элемент)</a:t>
            </a:r>
          </a:p>
          <a:p>
            <a:pPr algn="l"/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список.метод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(новый элемент)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Таким образом строку кода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list.append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, 'Баклажаны')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можно представить и как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vegetables.append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('Баклажаны’).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Результат будет один и тот же.</a:t>
            </a: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Первоначально проще будет применять первый вариант синтаксиса: в начале обучения так легче понимать основные концепции. Однако оба варианта верны и могут быть использованы.</a:t>
            </a:r>
            <a:endParaRPr lang="ru-RU" sz="4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9483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1158136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Вставка элемента по индексу: </a:t>
            </a:r>
            <a:r>
              <a:rPr lang="en-US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</a:t>
            </a:r>
            <a:r>
              <a:rPr lang="en-US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insert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(&lt;list&gt;, index, value)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421296"/>
            <a:ext cx="11666483" cy="5436704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Добавляет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элемент со значением </a:t>
            </a:r>
            <a:r>
              <a:rPr lang="en-US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value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 позицию </a:t>
            </a:r>
            <a:r>
              <a:rPr lang="en-US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index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Как следствие — индексы всех элементов, следующих за новым элементом, увеличатся на единицу.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 = ['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Помидоры', 'Огурцы', 'Кабачки’]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Индексы:          0        	         1                 2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Добавляем новый элемент на позицию с индексом 1: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</a:t>
            </a:r>
            <a:r>
              <a:rPr lang="en-US" sz="20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YS Text"/>
              </a:rPr>
              <a:t>insert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(vegetables, 1, 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Баклажаны’)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print(vegetables)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Вывод в терминал: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['Помидоры', 'Баклажаны', 'Огурцы', 'Кабачки’]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Индексы:                            0           	             1          	    2                 3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5885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6"/>
            <a:ext cx="10782300" cy="735723"/>
          </a:xfrm>
        </p:spPr>
        <p:txBody>
          <a:bodyPr/>
          <a:lstStyle/>
          <a:p>
            <a:pPr algn="ctr"/>
            <a:r>
              <a:rPr lang="ru-RU" sz="4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Расширение списка: </a:t>
            </a:r>
            <a:r>
              <a:rPr lang="ru-RU" sz="40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</a:t>
            </a:r>
            <a:r>
              <a:rPr lang="ru-RU" sz="40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extend</a:t>
            </a:r>
            <a:r>
              <a:rPr lang="ru-RU" sz="4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(&lt;list_1&gt;, &lt;list_2&gt;)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Добавляет в конец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списка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list_1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все элементы списка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list_2.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Список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list_2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сохранится в неизменном виде, а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list_1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изменится.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 = ['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Помидоры', 'Огурцы', 'Кабачки', 'Баклажаны’]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vegetables_yields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[10, 15, 5, 12]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Урожайность овощей.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</a:t>
            </a:r>
            <a:r>
              <a:rPr lang="en-US" sz="20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YS Text"/>
              </a:rPr>
              <a:t>extend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(vegetables,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vegetables_yields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print(vegetables)        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Список изменился.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vegetables_yields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 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Список не изменился.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8806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830145"/>
          </a:xfrm>
        </p:spPr>
        <p:txBody>
          <a:bodyPr/>
          <a:lstStyle/>
          <a:p>
            <a:pPr algn="ctr"/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Удаление элемента: </a:t>
            </a:r>
            <a:r>
              <a:rPr lang="en-US" sz="4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</a:t>
            </a:r>
            <a:r>
              <a:rPr lang="en-US" sz="44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remove</a:t>
            </a:r>
            <a:r>
              <a:rPr lang="en-US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(&lt;list&gt;, value)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058517"/>
            <a:ext cx="11666483" cy="5799483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Читает список слева направо и удаляет первый элемент, значение которого совпадает с аргументом </a:t>
            </a:r>
            <a:r>
              <a:rPr lang="en-US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value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такого элемента нет в списке, возникнет ошибка.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 = ['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Помидоры', 'Баклажаны', 'Огурцы', 'Кабачки’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,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'Огурцы']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</a:t>
            </a:r>
            <a:r>
              <a:rPr lang="en-US" sz="20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YS Text"/>
              </a:rPr>
              <a:t>remove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(vegetables, 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Огурцы’)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print(vegetables)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Вывод в терминал: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['Помидоры', 'Баклажаны', 'Кабачки’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,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'Огурцы']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Попытка удалить несуществующий объект вызовет ошибку.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list.remove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(vegetables, 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Патиссоны’)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Вывод в терминал: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ValueError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: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list.remove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(x): x not in list 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01677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Извлечение элемента: </a:t>
            </a:r>
            <a:r>
              <a:rPr lang="en-US" sz="4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</a:t>
            </a:r>
            <a:r>
              <a:rPr lang="en-US" sz="44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pop</a:t>
            </a:r>
            <a:r>
              <a:rPr lang="en-US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(&lt;list&gt;, index)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Удаляет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из списка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элемент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с индексом </a:t>
            </a:r>
            <a:r>
              <a:rPr lang="en-US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index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его. Если индекс не указан — удаляет из списка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последний элемент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возвращает его.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 = ['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Помидоры', 'Баклажаны', 'Огурцы', 'Кабачки’]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vegetable =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</a:t>
            </a:r>
            <a:r>
              <a:rPr lang="en-US" sz="20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YS Text"/>
              </a:rPr>
              <a:t>pop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(vegetables, 2)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print(vegetable)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Вывод в терминал: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Огурцы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print(vegetables)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Вывод в терминал: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['Помидоры', 'Баклажаны', 'Кабачки’]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Элемент 'Огурцы' удалён из списка.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66720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914628"/>
          </a:xfrm>
        </p:spPr>
        <p:txBody>
          <a:bodyPr/>
          <a:lstStyle/>
          <a:p>
            <a:pPr algn="ctr"/>
            <a:r>
              <a:rPr lang="ru-RU" sz="4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Индекс элемента: </a:t>
            </a:r>
            <a:r>
              <a:rPr lang="en-US" sz="40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</a:t>
            </a:r>
            <a:r>
              <a:rPr lang="en-US" sz="40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index</a:t>
            </a:r>
            <a:r>
              <a:rPr lang="en-US" sz="4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(&lt;list&gt;, value, start, end)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093305"/>
            <a:ext cx="11666483" cy="5764695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Читает список слева направо и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индекс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первого найденного элемента со значением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value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Диапазон поиска можно ограничить индексами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start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end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но это не обязательно.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элемент с заданным значением не найден, возникнет ошибка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ValueError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vegetables_yields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[10, 15, 5, 12, 5, 7]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result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</a:t>
            </a:r>
            <a:r>
              <a:rPr lang="ru-RU" sz="20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YS Text"/>
              </a:rPr>
              <a:t>index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vegetables_yields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, 5)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result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Вывод в терминал: 2 - это индекс первого найденного элемента со значением 5.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Возвращается только индекс первого найденного элемента: на вторую пятёрку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функция не обратила внимания.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65873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854993"/>
          </a:xfrm>
        </p:spPr>
        <p:txBody>
          <a:bodyPr/>
          <a:lstStyle/>
          <a:p>
            <a:pPr algn="ctr"/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Подсчёт количества: </a:t>
            </a:r>
            <a:r>
              <a:rPr lang="en-US" sz="4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</a:t>
            </a:r>
            <a:r>
              <a:rPr lang="en-US" sz="44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count</a:t>
            </a:r>
            <a:r>
              <a:rPr lang="en-US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(&lt;list&gt;, value)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098274"/>
            <a:ext cx="11666483" cy="5759726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количество элементов со значением </a:t>
            </a:r>
            <a:r>
              <a:rPr lang="en-US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value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 = [10, 12, 15, 10, 8, 10]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quantity =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</a:t>
            </a:r>
            <a:r>
              <a:rPr lang="en-US" sz="20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YS Text"/>
              </a:rPr>
              <a:t>count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(yields, 10)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print(quantity)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Вывод в терминал: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3 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77441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Сортировка списка: 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</a:t>
            </a:r>
            <a:r>
              <a:rPr lang="ru-RU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sort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Сортирует список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У этой команды есть необязательный параметр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reverse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который определяет направление сортировки. По умолчанию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reverse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=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элементы сортируются «по возрастанию», от меньшего к большему.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[10, 12, 15, 10, 8, 10]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</a:t>
            </a:r>
            <a:r>
              <a:rPr lang="ru-RU" sz="20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YS Text"/>
              </a:rPr>
              <a:t>sort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Вывод в терминал: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[8, 10, 10, 10, 12, 15] 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03620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735722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Инвертирование списка: 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</a:t>
            </a:r>
            <a:r>
              <a:rPr lang="ru-RU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reverse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038639"/>
            <a:ext cx="11666483" cy="5819361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Инвертирует список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Это означает изменить порядок его элементов на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противоположный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То есть последний элемент становится первым, предпоследний — вторым, и так далее, до тех пор, пока весь список не будет перевернут.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= [4, 12, 15, 11, 8, 10]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Функцией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list.reverse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переворачиваем список задом наперёд:</a:t>
            </a:r>
          </a:p>
          <a:p>
            <a:pPr algn="l"/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list.reverse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Вывод в терминал: [10, 8, 11, 15, 12, 4]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60068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576697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Копирование списка: 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</a:t>
            </a:r>
            <a:r>
              <a:rPr lang="ru-RU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copy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680831"/>
            <a:ext cx="11666483" cy="6177170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новый список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независимую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копию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исходного списка. Слова «независимая копия» означают, что если в дальнейшем изменить один из двух списков, то второй не изменится.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[10, 12, 15, 10, 8, 10]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yields_copy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copy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Применим сортировку к исходному списку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sort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Вывод в терминал: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[8, 10, 10, 10, 12, 15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]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Проверим, изменилась ли копия: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yields_copy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Вывод в терминал: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[10, 12, 15, 10, 8, 10]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Список-копия остался неотсортированным.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38465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Очистка списка: 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</a:t>
            </a:r>
            <a:r>
              <a:rPr lang="ru-RU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clear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Очищает список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удаляет из него все элементы.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[10, 12, 15, 10, 8, 10]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clear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yields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Вывод в терминал: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[] </a:t>
            </a:r>
          </a:p>
          <a:p>
            <a:pPr algn="l"/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r>
              <a:rPr lang="ru-RU" sz="3000" b="1" dirty="0">
                <a:solidFill>
                  <a:schemeClr val="tx1"/>
                </a:solidFill>
                <a:effectLst/>
                <a:latin typeface="YS Text"/>
              </a:rPr>
              <a:t>Что в итоге</a:t>
            </a:r>
            <a:r>
              <a:rPr lang="ru-RU" sz="3000" b="1" dirty="0">
                <a:solidFill>
                  <a:schemeClr val="tx1"/>
                </a:solidFill>
                <a:latin typeface="YS Text"/>
              </a:rPr>
              <a:t>:</a:t>
            </a:r>
          </a:p>
          <a:p>
            <a:r>
              <a:rPr lang="ru-RU" sz="3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список можно добавлять элементы, удалять их, искать нужные значения — для работы со списками </a:t>
            </a:r>
            <a:r>
              <a:rPr lang="ru-RU" sz="3000" b="0" i="0" dirty="0">
                <a:effectLst/>
                <a:latin typeface="YS Text"/>
                <a:hlinkClick r:id="rId2"/>
              </a:rPr>
              <a:t>есть большой набор действий</a:t>
            </a:r>
            <a:r>
              <a:rPr lang="ru-RU" sz="3000" b="0" i="0" dirty="0">
                <a:solidFill>
                  <a:schemeClr val="tx1"/>
                </a:solidFill>
                <a:effectLst/>
                <a:latin typeface="YS Text"/>
              </a:rPr>
              <a:t>.</a:t>
            </a:r>
            <a:endParaRPr lang="ru-RU" sz="3000" dirty="0">
              <a:solidFill>
                <a:schemeClr val="tx1"/>
              </a:solidFill>
            </a:endParaRPr>
          </a:p>
          <a:p>
            <a:pPr algn="l"/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38987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1127819"/>
          </a:xfrm>
        </p:spPr>
        <p:txBody>
          <a:bodyPr/>
          <a:lstStyle/>
          <a:p>
            <a:pPr algn="ctr"/>
            <a:r>
              <a:rPr lang="ru-RU" sz="6000" b="1" dirty="0"/>
              <a:t>Кортеж</a:t>
            </a:r>
          </a:p>
        </p:txBody>
      </p:sp>
    </p:spTree>
    <p:extLst>
      <p:ext uri="{BB962C8B-B14F-4D97-AF65-F5344CB8AC3E}">
        <p14:creationId xmlns:p14="http://schemas.microsoft.com/office/powerpoint/2010/main" val="265716525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Последовательности: кортеж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Тип данных «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кортеж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 (англ.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tuple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— это ещё одна разновидность последовательностей в Python. Кортеж очень похож на список, но, в отличие от списка, кортеж — это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неизменяемая последовательность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после того, как кортеж создан, в него нельзя добавить элементы, удалить или изменить их.</a:t>
            </a:r>
          </a:p>
          <a:p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точно известно, что в процессе выполнения программы не потребуется изменять элементы коллекции, то лучше использовать кортежи, а не списки — кортежи занимают меньше памяти.</a:t>
            </a:r>
          </a:p>
          <a:p>
            <a:r>
              <a:rPr lang="ru-RU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Объявление кортежа с помощью круглых скобок</a:t>
            </a:r>
          </a:p>
          <a:p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Наиболее популярный способ создания кортежа — просто перечислить элементы в круглых скобках, разделяя их запятыми</a:t>
            </a:r>
          </a:p>
          <a:p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digits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= (1, 2, 3, 4, 5)</a:t>
            </a:r>
          </a:p>
          <a:p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fruits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= ('яблоко', 'банан', 'вишня')</a:t>
            </a:r>
          </a:p>
        </p:txBody>
      </p:sp>
    </p:spTree>
    <p:extLst>
      <p:ext uri="{BB962C8B-B14F-4D97-AF65-F5344CB8AC3E}">
        <p14:creationId xmlns:p14="http://schemas.microsoft.com/office/powerpoint/2010/main" val="61420505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6"/>
            <a:ext cx="10782300" cy="1262497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Создание кортежа с помощью встроенной функции </a:t>
            </a:r>
            <a:r>
              <a:rPr lang="ru-RU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tuple</a:t>
            </a:r>
            <a:r>
              <a:rPr lang="ru-RU" sz="4800" b="1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441173"/>
            <a:ext cx="11666483" cy="5416827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tuple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принимает в качестве аргумента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коллекцию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(например, строку или список) и преобразует её в кортеж.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Передаём строку в функцию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tuple():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letters = tuple('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яблоко')  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print(type(letters), letters)</a:t>
            </a: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Передаём список в функцию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tuple():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apples = tuple(['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Голден', 'Карамелька', 'Антоновка’])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print(type(apples), apples)</a:t>
            </a: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Можно создать и пустой кортеж: нужно вызвать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tuple()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без аргументов.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empty_tuple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tuple()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Но особого смысла в таком кортеже нет: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добавить элементы в созданный кортеж невозможно.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92561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21423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Упаковка значений в кортеж (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packing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800101"/>
            <a:ext cx="11666483" cy="60579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переменной присвоить несколько значений, разделённых запятыми, Python автоматически «упакует» эти значения в кортеж.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fruits = 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яблоко', 'банан', 'вишня’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print(type(fruits))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print(fruits)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&lt;class 'tuple’&gt;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яблоко', 'банан', 'вишня’)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Подобным же образом можно упаковать в кортеж и один-единственный элемент. Для этого нужно присвоить переменной нужное значение, а после значения поставить запятую. Так Python поймёт, что нужно создать кортеж. Если же после значения не будет запятой, переменной будет присвоено указанное значение, а не кортеж.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Выражение </a:t>
            </a:r>
            <a:r>
              <a:rPr lang="ru-RU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fruit</a:t>
            </a:r>
            <a:r>
              <a:rPr lang="ru-RU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'яблоко'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объявит переменную типа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а чтобы создать кортеж с этим значением, после значения нужно поставить запятую: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apple = '</a:t>
            </a:r>
            <a:r>
              <a:rPr lang="ru-RU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яблоко’,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Объявлять кортеж из одного элемента без скобок технически допустимо, однако стандарты написания кода на Python рекомендуют в этом случае применять скобки.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apple</a:t>
            </a:r>
            <a:r>
              <a:rPr lang="ru-RU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'яблоко’,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Так можно, но не нужно: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apple</a:t>
            </a:r>
            <a:r>
              <a:rPr lang="ru-RU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('яблоко’,)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Вот так - хорошо, правильно и похвально:</a:t>
            </a:r>
          </a:p>
          <a:p>
            <a:pPr algn="l"/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14232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Особенности кортежей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Неизменяемость.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После объявления кортежа в него нельзя добавить элементы, удалить или заменить их. Это свойство выглядит как недостаток, однако за счёт этой особенности кортеж получает заметные преимущества.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Меньший объём в памяти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при прочих равных кортежи занимают меньший объём в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памяти, чем списки.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09345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Обращение к элементу кортежа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Получить значение элемента кортежа можно так же, как в других последовательностях, — по индексу. Индексация начинается с нуля.</a:t>
            </a: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ЗАДАНИЕ: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Объявите кортеж с элементами строкового типа: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Огурцы, Помидоры, Баклажаны, Кабачки, Тыквы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Получите из кортежа значение Кабачки по индексу и напечатайте полученное значение. Индекс отсчитывайте от начала кортежа.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vegetables</a:t>
            </a:r>
            <a:r>
              <a:rPr lang="ru-RU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...  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# объявите кортеж.</a:t>
            </a:r>
          </a:p>
          <a:p>
            <a:pPr algn="l"/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# Получите по индексу значение "Кабачки" и напечатайте его.</a:t>
            </a:r>
          </a:p>
          <a:p>
            <a:pPr algn="l"/>
            <a:r>
              <a:rPr lang="ru-RU" sz="2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print</a:t>
            </a:r>
            <a:r>
              <a:rPr lang="ru-RU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(...)</a:t>
            </a:r>
          </a:p>
        </p:txBody>
      </p:sp>
    </p:spTree>
    <p:extLst>
      <p:ext uri="{BB962C8B-B14F-4D97-AF65-F5344CB8AC3E}">
        <p14:creationId xmlns:p14="http://schemas.microsoft.com/office/powerpoint/2010/main" val="141322669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Распаковка кортежей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Кортежи, как и списки,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можно распаковать в набор переменных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присвоить значения элементов кортежа переменным: иногда работать с именованными переменными бывает удобнее, чем получать значения из последовательности по индексу.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fruits = 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яблоко', 'банан', 'вишня’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tree_1, tree_2, tree_3 = fruits</a:t>
            </a: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print(tree_1)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терминал: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яблоко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print(tree_3)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терминал: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вишня 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02202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Сортировка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Кортеж отсортировать нельзя. Однако из неотсортированного кортежа можно создать новый, отсортированный. Для этого применяют функцию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sorted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Разница между функцией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sorted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list.sort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состоит в следующем: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list.sort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работает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только со списками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; при вызове изменяется исходный список и возвращается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sorted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принимает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любую последовательность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новый объект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отсортированный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список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состоящий из элементов исходной последовательности. Сортировка — это изменение последовательности элементов, а изменять исходный кортеж нельзя. Поэтому возвращается новая последовательность, и это всегда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список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 умолчанию функция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sorted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сортирует элементы в порядке возрастания, от меньшего к большему. Можно изменить направление сортировки — для этого надо добавить параметр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reverse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=True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и сортировка будет выполнена от большего к меньшему, по убыванию.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73827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19271"/>
            <a:ext cx="11666483" cy="6738730"/>
          </a:xfrm>
        </p:spPr>
        <p:txBody>
          <a:bodyPr>
            <a:normAutofit/>
          </a:bodyPr>
          <a:lstStyle/>
          <a:p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 = ('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Огурцы', 'Помидоры', 'Баклажаны', 'Кабачки’)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Объявили кортеж...</a:t>
            </a:r>
          </a:p>
          <a:p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print(vegetables)  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и напечатали его</a:t>
            </a: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Переменной </a:t>
            </a:r>
            <a:r>
              <a:rPr lang="en-US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vegetables_sorted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присвоили результат выполнения функции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sorted():</a:t>
            </a:r>
          </a:p>
          <a:p>
            <a:pPr algn="l"/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vegetables_sorted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</a:t>
            </a:r>
            <a:r>
              <a:rPr lang="en-US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sorted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(vegetables)</a:t>
            </a:r>
          </a:p>
          <a:p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Результат работы функции 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sorted():',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vegetables_sorted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  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Напечатали результат сортировки</a:t>
            </a: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 что с исходным кортежем?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Исходный кортеж:', 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vegetables)</a:t>
            </a: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Функция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sorted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вернула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список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хотя в неё передавался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кортеж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Элементы списка — те же, что в исходном кортеже, но отсортированы по алфавиту. Исходный кортеж сохранился таким же, как был.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41787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Удаление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Главное отличие кортежей от списков —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неизменяемость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в кортеже нельзя изменять, добавлять или удалять элементы. Можно только удалить весь кортеж — для этого можно использовать оператор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del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garden_vegetables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('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Огурцы', 'Помидоры', 'Баклажаны', 'Кабачки’)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del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garden_vegetables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garden_vegetables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обращении к переменной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garden_vegetables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возникнет ошибка: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NameError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 name '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garden_vegetables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' is not defined </a:t>
            </a: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Оператор </a:t>
            </a:r>
            <a:r>
              <a:rPr lang="ru-RU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del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универсален: он применяется для удаления переменных любого типа.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75625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6"/>
            <a:ext cx="10782300" cy="1242619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Параметр </a:t>
            </a:r>
            <a:r>
              <a:rPr lang="ru-RU" sz="4800" b="1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</a:t>
            </a:r>
            <a:r>
              <a:rPr lang="ru-RU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args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произвольное число аргументов в функции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421295"/>
            <a:ext cx="11666483" cy="5436705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Кортежи применяются во многих «встроенных» операциях Python. Один из таких случаев — создание функций, способных принимать переменное количество аргументов.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демонстрации напишем функцию, которая принимает название сельскохозяйственной культуры и возвращает строку </a:t>
            </a:r>
            <a:r>
              <a:rPr lang="ru-RU" sz="2000" b="0" i="0" dirty="0">
                <a:solidFill>
                  <a:srgbClr val="FFFF00"/>
                </a:solidFill>
                <a:effectLst/>
                <a:latin typeface="YS Text"/>
              </a:rPr>
              <a:t>'Теперь у меня на грядке растёт &lt;название&gt;’.</a:t>
            </a:r>
          </a:p>
          <a:p>
            <a:pPr algn="l"/>
            <a:r>
              <a:rPr lang="ru-RU" sz="2000" dirty="0">
                <a:solidFill>
                  <a:srgbClr val="FFFF00"/>
                </a:solidFill>
                <a:latin typeface="YS Text"/>
              </a:rPr>
              <a:t> 	</a:t>
            </a:r>
            <a:r>
              <a:rPr lang="en-US" sz="2000" dirty="0">
                <a:solidFill>
                  <a:srgbClr val="FFFF00"/>
                </a:solidFill>
                <a:latin typeface="YS Text"/>
              </a:rPr>
              <a:t>def boasting(name):</a:t>
            </a:r>
          </a:p>
          <a:p>
            <a:pPr algn="l"/>
            <a:r>
              <a:rPr lang="en-US" sz="2000" dirty="0">
                <a:solidFill>
                  <a:srgbClr val="FFFF00"/>
                </a:solidFill>
                <a:latin typeface="YS Text"/>
              </a:rPr>
              <a:t>    </a:t>
            </a:r>
            <a:r>
              <a:rPr lang="ru-RU" sz="2000" dirty="0">
                <a:solidFill>
                  <a:srgbClr val="FFFF00"/>
                </a:solidFill>
                <a:latin typeface="YS Text"/>
              </a:rPr>
              <a:t>	</a:t>
            </a:r>
            <a:r>
              <a:rPr lang="en-US" sz="2000" dirty="0">
                <a:solidFill>
                  <a:srgbClr val="FFFF00"/>
                </a:solidFill>
                <a:latin typeface="YS Text"/>
              </a:rPr>
              <a:t>	print('</a:t>
            </a:r>
            <a:r>
              <a:rPr lang="ru-RU" sz="2000" dirty="0">
                <a:solidFill>
                  <a:srgbClr val="FFFF00"/>
                </a:solidFill>
                <a:latin typeface="YS Text"/>
              </a:rPr>
              <a:t>Теперь у меня на грядке растёт', </a:t>
            </a:r>
            <a:r>
              <a:rPr lang="en-US" sz="2000" dirty="0">
                <a:solidFill>
                  <a:srgbClr val="FFFF00"/>
                </a:solidFill>
                <a:latin typeface="YS Text"/>
              </a:rPr>
              <a:t>name)</a:t>
            </a:r>
          </a:p>
          <a:p>
            <a:pPr algn="l"/>
            <a:endParaRPr lang="en-US" sz="2000" dirty="0">
              <a:solidFill>
                <a:srgbClr val="FFFF00"/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rgbClr val="FFFF00"/>
                </a:solidFill>
                <a:latin typeface="YS Text"/>
              </a:rPr>
              <a:t>	</a:t>
            </a:r>
            <a:r>
              <a:rPr lang="en-US" sz="2000" dirty="0">
                <a:solidFill>
                  <a:srgbClr val="FFFF00"/>
                </a:solidFill>
                <a:latin typeface="YS Text"/>
              </a:rPr>
              <a:t>boasting('</a:t>
            </a:r>
            <a:r>
              <a:rPr lang="ru-RU" sz="2000" dirty="0">
                <a:solidFill>
                  <a:srgbClr val="FFFF00"/>
                </a:solidFill>
                <a:latin typeface="YS Text"/>
              </a:rPr>
              <a:t>ананас’)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Даже в такой несложной ситуации можно предположить, что в какой-то момент в функцию потребуется передать несколько названий. При этом заранее неизвестно, будет ли передано лишь одно название или несколько.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Именно на такой случай в Python предусмотрен специальный способ для описания параметров:          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def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func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(*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):</a:t>
            </a: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Параметр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*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(именно так, со звёздочкой перед именем) готов принять несколько позиционных аргументов, перечисленных через запятую при вызове функции.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61716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Параметр *</a:t>
            </a:r>
            <a:r>
              <a:rPr lang="en-US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args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параметр *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args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можно передать несколько аргументов;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теле функции Python объединяет эти аргументы в кортеж;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даже если не передать аргументы в параметр *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args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ничего не сломается: в функцию будет передан пустой кортеж.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Параметр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*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можно совмещать и с обычными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позиционными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а также с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именованными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параметрами.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Основные правила таковы: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Позиционные должны быть указаны до *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Именованные (или со значениями по умолчанию) должны следовать после *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Имя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*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традиционно применяют для обозначения переменного числа аргументов. Технически никто не мешает применить и любое другое имя: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*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items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*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params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— лишь бы перед именем стояла звёздочка. Однако лучше следовать традиции и применять привычное всем имя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*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— так ваш код будет легче читаться.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37303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Возврат нескольких значений из функции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return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может возвращать конкретно указанное значение, либо, если значение явно не указано,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return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по умолчанию возвращает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return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может возвращать 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несколько отдельных значений одновременно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Если возвращаемые значения перечислить после инструкции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return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через запятую, эти значения будут автоматически упакованы в кортеж — и функция вернёт этот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кортеж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def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bizarre_function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(first, second, third):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 		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total = first + second + third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		 multiplication = first * second * third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		 string = str(first) + str(second) + str(third)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 		  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Перечисление значений через запятую - это способ объявить кортеж!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 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return total, multiplication, string</a:t>
            </a: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result =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bizarre_function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(2, 4, 6)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print(result)    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Будет напечатано: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(12, 48, '246') </a:t>
            </a:r>
            <a:endParaRPr lang="en-US" sz="20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После того как функция вернула кортеж, его можно 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распаковать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и применять полученные значения по отдельности.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02485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799313"/>
          </a:xfrm>
        </p:spPr>
        <p:txBody>
          <a:bodyPr/>
          <a:lstStyle/>
          <a:p>
            <a:pPr algn="ctr"/>
            <a:r>
              <a:rPr lang="ru-RU" sz="4800" b="1" dirty="0"/>
              <a:t>Изменяемые и неизменяемые типы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38282620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6"/>
            <a:ext cx="10782300" cy="1147203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Изменяемые и неизменяемые типы данных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325879"/>
            <a:ext cx="11666483" cy="553212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 типов данных в Python, в том числе и у коллекций, есть одно важное свойство: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изменяемость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Некоторые типы —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изменяемые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(например, списки), другие —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неизменяемые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(к примеру, кортежи). По-английски изменяемые и неизменяемые типы называют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mutable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immutable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работе не всегда нужны изменяемые коллекции: довольно часто набор данных фиксирован.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Подобный пример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был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функциях с параметром *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args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Аргументы, с которыми вызвана функция, объединяются в коллекцию, которую не требуется изменять: ведь после вызова новых аргументов уже не появится! Поэтому там применён кортеж. Кортежи защищены от изменений и занимают меньше места в памяти. А это прямая выгода! Программы должны работать быстро и экономно. Даже при современных мощностях компьютеров им для каких-то операций может не хватить памяти.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понять ситуацию, надо заглянуть поглубже и рассмотреть, как Python работает с памятью.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73070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Память и «сборка мусора»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Оперативную память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компьютера можно представить в виде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стеллажа с ячейками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В эти ячейки можно что-то положить, и это «что-то» займёт часть пространства. Бесконечных стеллажей пока что не изобрели, точно так же и оперативная память любого устройства имеет предел — и память приходится экономить. Если все ячейки будут забиты данными и память кончится, работа всего устройства остановится.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63E46C-79B1-B03D-8183-6C552FB3A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1" y="2802835"/>
            <a:ext cx="7918737" cy="401571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A84427-D586-954E-1A20-C1589E5D23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3" t="9864" r="13815" b="9098"/>
          <a:stretch/>
        </p:blipFill>
        <p:spPr>
          <a:xfrm>
            <a:off x="8463169" y="3627784"/>
            <a:ext cx="3528277" cy="174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18321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298174"/>
            <a:ext cx="11666483" cy="6559827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При выполнении этой программы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в оперативной памяти устройства выделяется ячейка, а в ячейку записывается значение 'Огурцы'.</a:t>
            </a:r>
          </a:p>
          <a:p>
            <a:pPr algn="l"/>
            <a:r>
              <a:rPr lang="ru-RU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('Огурцы')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Как только программа выполнится и строка 'Огурцы' будет выведена на экран, это значение будет стёрто из оперативной памяти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!</a:t>
            </a:r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Дело в том, что значение 'Огурцы' не присвоено никакой переменной. Из этого следует, что программа чисто технически не сможет воспользоваться этим значением: к нему невозможно обратиться для повторного использования. Хранить такую запись нет смысла.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Данные, которые невозможно применить повторно, Python воспринимает как «мусор». При появлении мусора за дело берётся специальная программа — сборщик мусора. Она очищает оперативную память, освобождая ячейки для последующего использования.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же значение 'Огурцы'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присвоить переменной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картина будет иной. В памяти устройства будет выделена ячейка, в которую будет записано это значение. Переменная при этом будет ссылаться на эту ячейку памяти.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Переменные в Python не хранят значения, а выступают в роли ссылок на ячейки памяти, в которых хранятся значения этих переменных.</a:t>
            </a:r>
            <a:endParaRPr lang="en-US" sz="2800" b="0" i="1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на ячейку памяти есть ссылка, сборщик мусора не станет очищать эту ячейку: он поймёт, что эти данные нужны программе, и не будет их удалять.</a:t>
            </a:r>
          </a:p>
        </p:txBody>
      </p:sp>
    </p:spTree>
    <p:extLst>
      <p:ext uri="{BB962C8B-B14F-4D97-AF65-F5344CB8AC3E}">
        <p14:creationId xmlns:p14="http://schemas.microsoft.com/office/powerpoint/2010/main" val="374055406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98784"/>
            <a:ext cx="11666483" cy="6599582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 каждой ячейки памяти есть уникальный идентификатор — адрес, на который и ссылается переменная. Этот идентификатор можно увидеть при помощи встроенной функции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().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Переменная указывает на ячейку памяти, в которой хранятся данные. Адрес ячейки — это уникальный числовой идентификатор. На один блок памяти может ссылаться сколько угодно переменных.</a:t>
            </a: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когда одной переменной присваивается значение другой переменной — в памяти не создаётся новый объект: обе переменные будут ссылаться на одну ячейку памяти;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двум переменным литерально присвоить одно и то же значение, то в случае с неизменяемыми типами данных Python создаст в памяти лишь один объект с этим значением, а ссылаться на него будут две переменные.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23727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6"/>
            <a:ext cx="10782300" cy="735723"/>
          </a:xfrm>
        </p:spPr>
        <p:txBody>
          <a:bodyPr/>
          <a:lstStyle/>
          <a:p>
            <a:pPr algn="ctr"/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Изменяемые и неизменяемые типы данных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83974"/>
            <a:ext cx="11666483" cy="5874026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изменить значение переменной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изменяемого типа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будет изменено значение в той ячейке памяти, на которую ссылалась переменная. При этом сама переменная так и будет ссылаться на эту ячейку. Для изменения значений таких переменных применяются специальные функции.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Изменить значение переменной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неизменяемого типа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невозможно технически: для этого просто нет инструментов. Такие переменные можно только переопределить — объявить заново. Но при этом новое значение будет записано в новую ячейку памяти; переменная станет ссылаться на новую ячейку.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таком «изменении» программа потратила дополнительное время и ресурсы на запись нового значения и на удаление прежнего.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Но и с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изменяемым типом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данных такой подход не сработает: если повторно объявить переменную изменяемого типа, старая переменная будет удалена и взамен неё будет создана новая, с новым значением в новой ячейке памяти. Для изменения значений в изменяемых типах данных есть специальные способы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методы и функции.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изменении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изменяемых типов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проблеме не возникнет, а ID ячейки памяти останется тем же, что был, — то есть содержимое ячейки памяти будет перезаписано. У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неизменяемых типов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нет даже инструментов, чтобы их изменить! Переопределить — можно, а изменить — нет!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48766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1093532"/>
          </a:xfrm>
        </p:spPr>
        <p:txBody>
          <a:bodyPr/>
          <a:lstStyle/>
          <a:p>
            <a:pPr algn="ctr"/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Практические плюсы и минусы изменяемых и неизменяемых типов данных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272209"/>
            <a:ext cx="11666483" cy="558579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Неизменяемые типы </a:t>
            </a:r>
            <a:r>
              <a:rPr lang="ru-RU" sz="2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(а это, например, целые числа, числа с плавающей точкой, строки, кортежи — и не только):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Плюсы:  </a:t>
            </a:r>
            <a:r>
              <a:rPr lang="ru-RU" sz="2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Безопасность данных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неизменяемость делает код более предсказуемым — заранее известно, что значение не будет изменено.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Минусы: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Высокая «стоимость» модификации значений.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необходимости изменить значение неизменяемой переменной приходится создавать новый объект в памяти, а это требует дополнительных ресурсов.</a:t>
            </a:r>
          </a:p>
          <a:p>
            <a:pPr algn="l"/>
            <a:r>
              <a:rPr lang="ru-RU" sz="2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Изменяемые типы (например, списки):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Плюсы:  </a:t>
            </a:r>
            <a:r>
              <a:rPr lang="ru-RU" sz="2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Гибкость в модификации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можно легко и быстро менять, добавлять или удалять значения, не создавая новые объекты в памяти.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Минусы:  </a:t>
            </a:r>
            <a:r>
              <a:rPr lang="ru-RU" sz="2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Потенциальные проблемы с безопасностью данных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из-за возможности изменения значения изменяемого объекта могут возникнуть непредсказуемые ситуации.</a:t>
            </a:r>
          </a:p>
          <a:p>
            <a:pPr algn="l"/>
            <a:r>
              <a:rPr lang="ru-RU" sz="2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Расход памяти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как правило, данные изменяемых типов требуют больше места в памяти, чем аналогичные данные неизменяемых типов.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 практике важно выбирать тип данных, наилучшим образом соответствующий задаче. Если заранее известно, что значение не будет изменяться, лучше использовать данные неизменяемого типа. Если же нужна гибкость, если потребуется изменять данные в ходе выполнения программы, то изменяемый тип будет предпочтительнее.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87640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799313"/>
          </a:xfrm>
        </p:spPr>
        <p:txBody>
          <a:bodyPr/>
          <a:lstStyle/>
          <a:p>
            <a:pPr algn="ctr"/>
            <a:r>
              <a:rPr lang="ru-RU" sz="4800" b="1" dirty="0"/>
              <a:t>Последовательности: строки</a:t>
            </a:r>
          </a:p>
        </p:txBody>
      </p:sp>
    </p:spTree>
    <p:extLst>
      <p:ext uri="{BB962C8B-B14F-4D97-AF65-F5344CB8AC3E}">
        <p14:creationId xmlns:p14="http://schemas.microsoft.com/office/powerpoint/2010/main" val="400841024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str()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50405"/>
            <a:ext cx="11666483" cy="6107596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 помощью функции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можно преобразовать другие типы данных в строку или объявить пустую строку: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int_number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100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Преобразуем число в строку: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str_number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str(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int_number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str_number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  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Будет напечатано: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100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print(type(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str_number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  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Будет напечатано: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&lt;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class 'str’&gt;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переменной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int_number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хранится число, а в переменной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str_number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строка из цифр.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Буква обозначает звук, цифра означает число. Число — это сущность, которая определяет величину. С числом можно производить арифметические операции, а с цифрой — нет.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Python может воспринимать цифру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как число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с которым можно выполнять арифметические действия: так он работает с числовыми типами данных.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Но цифра может быть и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просто символом в строке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— таким же текстовым символом, как буквы или знаки препинания. И тогда Python будет обращаться с этой цифрой по тем же правилам, по которым он обращается с текстовыми символами: например, при сложении строк '7' и '7' Python вернёт строку '77'.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85900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571727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Объявление длинных строк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685800"/>
            <a:ext cx="11666483" cy="617220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объявлении длинной строки удобнее разбить её на несколько частей, иначе она выйдет за пределы экрана — и работать будет неудобно. В Python не принято делать строчки кода длиннее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79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символов.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текст заключен в двойные или одинарные кавычки, то нельзя просто взять и перенести часть фразы на новую строку — это не сработает. В общем случае Python воспринимает перенос строки как конец одной инструкции и начало следующей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ru-RU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info_string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'Когда картофель </a:t>
            </a:r>
          </a:p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был впервые привезён в Европу, </a:t>
            </a:r>
          </a:p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его выращивали исключительно как </a:t>
            </a:r>
          </a:p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декоративное растение.’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EOL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while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scanning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string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literal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End Of Line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Перенос на новую строку Python воспринял как конец объявления строки. Строка кончилась, но Python не увидел закрывающей кавычки, а это ошибка! До печати строки дело не дошло, всё сломалось раньше, прямо на первой строке кода.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Переносить строки можно, но это нужно делать по определённым правилам: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вся строка целиком заключается в скобки;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текст внутри скобок разбивается построчно, на фрагменты нужной длины;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пробелы (если они есть) оставляют в конце строчки: новую строку кода не начинают с пробела;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каждая получившаяся строчка заключается в кавычки;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для читаемости все строчки отбиваются четырьмя пробелами от начала строки кода.</a:t>
            </a:r>
            <a:endParaRPr lang="ru-RU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88861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223631"/>
            <a:ext cx="11666483" cy="6634370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статьях или книгах вы можете встретить перенос строк с использованием обратного слеша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\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Не стоит применять такой способ на практике: он считается устаревшим.</a:t>
            </a: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Так правильно: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info_string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(       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Вся строка целиком - в скобках.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'Когда картофель '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Каждый фрагмент строки - в кавычках.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               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'был впервые привезён в Европу, '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 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'его выращивали исключительно как '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 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'декоративное растение.’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Закрывающая скобка - на отдельной строке: так удобнее читать код.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info_string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78597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Объявление строки в тройных кавычках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Ещё один способ объявления строк — заключить их в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тройные кавычки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Этот способ часто используют для хранения большого сообщения в теле программы.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оutput_string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'''Современная оранжевая морковь - 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   это результат селекции. 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   Древние морковки были фиолетовыми, 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   жёлтыми или красными.’‘’</a:t>
            </a:r>
          </a:p>
          <a:p>
            <a:pPr algn="l"/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оutput_string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Обратите внимание, что при печати строк, заключённых в тройные кавычки, сохраняется разбиение по строкам.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21041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Буквы под номерами: индексы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Строка — </a:t>
            </a:r>
            <a:r>
              <a:rPr lang="ru-RU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это последовательность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упорядоченная коллекция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и элементами этой коллекции служат текстовые символы. Элементам последовательностей Python присваивает порядковые номера —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индексы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Отсчёт, как всегда, начинается с 0.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 элементам последовательности можно обратиться по индексу. Например, по индексу [4] из строки 'Python' будет получена буква o.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 элементам последовательности можно обратиться, отсчитывая их с конца. Для этого применяют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отрицательные индексы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 последний элемент строки можно получить по индексу [-1], предпоследний — по индексу [-2]...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Индексирование строки позволяет быстро и просто получать доступ к отдельным символам. Если обратиться к индексу, который выходит за пределы строки, Python выдаст ошибку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IndexError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Задание</a:t>
            </a:r>
            <a:endParaRPr lang="ru-RU" sz="2000" b="1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Из фразы </a:t>
            </a:r>
            <a:r>
              <a:rPr lang="ru-RU" sz="2000" dirty="0">
                <a:solidFill>
                  <a:srgbClr val="FFFF00"/>
                </a:solidFill>
                <a:latin typeface="YS Text"/>
              </a:rPr>
              <a:t>'Кабачки полезны для здоровья.'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получите слово </a:t>
            </a:r>
            <a:r>
              <a:rPr lang="ru-RU" sz="2000" dirty="0">
                <a:solidFill>
                  <a:srgbClr val="FFFF00"/>
                </a:solidFill>
                <a:latin typeface="YS Text"/>
              </a:rPr>
              <a:t>Клад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Для получения символов из начала фразы (Кабачки полезны) используйте положительные индексы, с конца фразы (для здоровья) — отрицательные. Учитывайте, что пробелы — это тоже элементы строки и у них тоже есть свой индекс.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7342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Изменить регистр символов в строке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вернуть копию строки, в которой все символы переведены в нижний или верхний регистр, используются операции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str.lower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 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str.upper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Символами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&lt;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здесь обозначена строка, которая будет обработана.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status_string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'Урожай ВЕЛИКОЛЕПЕН’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Можно напечатать это сообщение строчными буквами: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lower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status_string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Будет напечатано: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урожай великолепен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alarm_string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'шелковица поражена болезнью!’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Если есть проблемы, без текста в верхнем регистре не обойтись: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upper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alarm_string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Будет напечатано: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ШЕЛКОВИЦА ПОРАЖЕНА БОЛЕЗНЬЮ!</a:t>
            </a:r>
          </a:p>
          <a:p>
            <a:pPr algn="l"/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Строка — неизменяемый тип данных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и функции, изменяющие набор символов в строке, не изменяют исходную строку, а возвращают её изменённую копию. Это относится и к остальным подобным операциям.</a:t>
            </a:r>
          </a:p>
          <a:p>
            <a:pPr algn="l"/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93452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327991"/>
            <a:ext cx="11666483" cy="6530009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Действие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str.capitalize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копию строки, в которой первый символ переведён в верхний регистр, а остальные — в нижний: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harvest_string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сегодня ВЫ собрали 12 КГ огурцов’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capitalize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harvest_string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терминал: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Сегодня вы собрали 12 кг огурцов </a:t>
            </a:r>
          </a:p>
          <a:p>
            <a:pPr algn="l"/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Действие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str.title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(&lt;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&gt;)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возвращает копию строки, в которой первый символ каждого слова переведён в верхний регистр, а остальные — в нижний (заголовки в английском языке пишут именно в таком формате):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gardener_name_string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садовод тоня’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title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gardener_name_string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терминал: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Садовод Тоня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Действие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str.swapcase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(&lt;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&gt;)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возвращает копию строки, в которой регистр символов инвертирован: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inverted_string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зА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СеЗоН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СоБрАнО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ОгУрЦоВ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 185’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swapcase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inverted_string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терминал: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За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сЕзОн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сОбРаНо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оГуРцОв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 185 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26820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Поиск и замена подстрок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80223"/>
            <a:ext cx="11666483" cy="6077778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Подстрокой называют часть строки, состоящую из последовательно расположенных символов исходной строки.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строки 'Сегодня вы собрали 500 граммов помидоров' подстроками будут считаться и 'вы собрали', и 'дня вы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соб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', и '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аммов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помидоров', и какие угодно другие фрагменты, вплоть до отдельной буквы или пробела.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Действие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str.find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&gt;,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sub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ищет подстроку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sub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 строке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&lt;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и, если находит такую подстроку, </a:t>
            </a:r>
            <a:r>
              <a:rPr lang="ru-RU" sz="2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индекс первого символа подстроки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исходной строке: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yield_weight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'Сегодня вы собрали 500 граммов помидоров’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str.find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yield_weight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'граммов’))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Будет напечатано: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23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Проверим, что это за 23 вернулось: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yield_weight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[23])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Будет напечатано: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г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(первый символ искомой подстроки) 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99731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68965"/>
            <a:ext cx="11666483" cy="6689035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Команда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str.replace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&gt;,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sub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new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ищет подстроку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sub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 строке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&lt;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возвращает копию исходной строки, где подстрока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sub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заменена на подстроку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new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tomato_motto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 полезны. Помидоры красивые и весёлые.’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cucumber_motto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str.replace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tomato_motto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Помидоры', 'Огурцы’)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cucumber_motto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Будет напечатано: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Огурцы полезны. Огурцы красивые и весёлые.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Четвёртым параметром можно указать количество заменяемых значений.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cucumber_motto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str.replace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tomato_motto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Помидоры', 'Огурцы', 1)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cucumber_motto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Будет напечатано: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Огурцы полезны. Помидоры красивые и весёлые.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97099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278297"/>
            <a:ext cx="11666483" cy="6579704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Операция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str.strip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&gt;,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chars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копию исходной строки, удаляя из её начала и конца символы, перечисленные во втором аргументе. Эти символы могут быть перечислены в произвольном порядке.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Символы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!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=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 начале строки будут удалены несмотря на то, что они переданы в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strip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другом порядке. Пробелы в начале и в конце строки тоже будут удалены. А восклицательный знак в середине текста сохранится: перечисленные символы удаляются только с концов строки.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garden_message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‘ !! ==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 созрели! Урожай великолепен! == !! ‘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text =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str.strip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garden_message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‘=! ‘)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print(text)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Будет напечатано: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 созрели! Урожай великолепен 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53754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473" y="193586"/>
            <a:ext cx="10782300" cy="616453"/>
          </a:xfrm>
        </p:spPr>
        <p:txBody>
          <a:bodyPr/>
          <a:lstStyle/>
          <a:p>
            <a:pPr algn="ctr"/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Разделение строки: </a:t>
            </a:r>
            <a:r>
              <a:rPr lang="en-US" sz="44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str.split</a:t>
            </a:r>
            <a:r>
              <a:rPr lang="en-US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(&lt;str&gt;, </a:t>
            </a:r>
            <a:r>
              <a:rPr lang="en-US" sz="4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delimeter</a:t>
            </a:r>
            <a:r>
              <a:rPr lang="en-US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810039"/>
            <a:ext cx="11666483" cy="604796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Разбивает на части строку, переданную в аргументах, и возвращает список этих частей.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Границей, по которой исходная строка разделяется на фрагменты, служит символ или набор символов, переданный во втором, необязательном аргументе. Этот символ-разделитель должен быть строкой; символ-разделитель удаляется из возвращаемого значения.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'Помидоры; Огурцы; Баклажаны; Перцы; Кабачки’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Разделитель - точка с запятой и пробел: 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разделитель может состоять из нескольких символов.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str.split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'; ‘))</a:t>
            </a:r>
            <a:r>
              <a:rPr lang="ru-RU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Обратите внимание: комбинация "точка с запятой" удалена из списка.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#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Вывод: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['Помидоры', 'Огурцы', 'Баклажаны', 'Перцы', 'Кабачки']</a:t>
            </a:r>
          </a:p>
          <a:p>
            <a:pPr algn="l"/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второй аргумент не указан, строка будет разделена по пробелам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 = 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Помидоры; Огурцы; Баклажаны; Перцы; Кабачки’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Разбиваем строку, не указав разделитель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str.split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(vegetables))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['Помидоры;', 'Огурцы;', 'Баклажаны;', 'Перцы;', 'Кабачки'] </a:t>
            </a:r>
          </a:p>
        </p:txBody>
      </p:sp>
    </p:spTree>
    <p:extLst>
      <p:ext uri="{BB962C8B-B14F-4D97-AF65-F5344CB8AC3E}">
        <p14:creationId xmlns:p14="http://schemas.microsoft.com/office/powerpoint/2010/main" val="344882365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622" y="183647"/>
            <a:ext cx="11291382" cy="606514"/>
          </a:xfrm>
        </p:spPr>
        <p:txBody>
          <a:bodyPr/>
          <a:lstStyle/>
          <a:p>
            <a:pPr algn="ctr"/>
            <a:r>
              <a:rPr lang="ru-RU" sz="4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Формирование строки: </a:t>
            </a:r>
            <a:r>
              <a:rPr lang="en-US" sz="40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str.join</a:t>
            </a:r>
            <a:r>
              <a:rPr lang="en-US" sz="4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</a:t>
            </a:r>
            <a:r>
              <a:rPr lang="en-US" sz="40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delimeter</a:t>
            </a:r>
            <a:r>
              <a:rPr lang="en-US" sz="4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&lt;sequence&gt;)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Это действие, обратное предыдущему: оно преобразует последовательность строк в строку. В первом аргументе передаётся разделитель, который будет вставлен в сгенерированной строке между значениями элементов. Разделителем должна быть строка, но эта строка-разделитель может быть и пустой — ‘’.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veggie_list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Помидоры', 'Огурцы', 'Баклажаны', 'Перцы', 'Кабачки’]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Разделитель - пробел.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str.join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 ',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veggie_list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Разделитель - пробел, смайлик и пробел.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str.join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 ¯\_(</a:t>
            </a:r>
            <a:r>
              <a:rPr lang="ja-JP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ツ</a:t>
            </a:r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)_/¯ ',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veggie_list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Вывод: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 Огурцы Баклажаны Перцы Кабачки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Помидоры ¯\_(</a:t>
            </a:r>
            <a:r>
              <a:rPr lang="ja-JP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ツ</a:t>
            </a:r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)_/¯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Огурцы ¯\_(</a:t>
            </a:r>
            <a:r>
              <a:rPr lang="ja-JP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ツ</a:t>
            </a:r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)_/¯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Баклажаны ¯\_(</a:t>
            </a:r>
            <a:r>
              <a:rPr lang="ja-JP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ツ</a:t>
            </a:r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)_/¯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Перцы ¯\_(</a:t>
            </a:r>
            <a:r>
              <a:rPr lang="ja-JP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ツ</a:t>
            </a:r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)_/¯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Кабачки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76479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Включение переменных в строку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объединения строк с переменными других типов есть несколько способов.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Первый способ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конкатенация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объединение фрагментов строки с помощью оператора +. Недостаток этого метода в том, что в Python можно складывать значения только одного типа данных, поэтому при составлении строки надо привести все переменные к типу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Отдельная задача — не запутаться с пробелами.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Второй способ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 при печати перечислить через запятую значения, которые нужно напечатать. С этим способом тоже есть проблемы: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строке автоматически расставляются пробелы — а иногда они не нужны;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этот способ не поможет, если составленную строку надо вернуть из функции, а не просто напечатать.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Третий способ: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Есть более гибкий и практичный способ составления строк — с помощью функции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str.format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(&lt;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&gt;, *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vars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3989520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en-US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str.</a:t>
            </a:r>
            <a:r>
              <a:rPr lang="en-US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format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(&lt;str&gt;, *vars).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Эта функция позволяет подставлять в строку значения, перечисленные в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vars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— таких значений может быть сколько угодно.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Значение вставляется на место фигурных скобок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{N}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 строке. Номера в скобках соответствуют порядку, в котором перечислены значения; отсчёт начинается с нуля.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Никаких лишних кавычек и пробелов, а значение аргумента, передаваемого функции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format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может быть любого типа.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Значения типа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float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можно выводить как есть, а можно преобразовать — например, округлить или пересчитать в проценты. Параметры, управляющие такими преобразованиями, пишут в фигурных скобках после вызова значения.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{N}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вывести числовое значение N в исходном виде;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{N:%}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преобразовать числовое значение N в проценты;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{N:.1%}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преобразовать числовое значение N в проценты и округлить итог до одного десятичного знака — до десятых долей;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{N:.3f}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округлить числовое значение N до трёх знаков после запятой — до тысячных долей.</a:t>
            </a:r>
          </a:p>
        </p:txBody>
      </p:sp>
    </p:spTree>
    <p:extLst>
      <p:ext uri="{BB962C8B-B14F-4D97-AF65-F5344CB8AC3E}">
        <p14:creationId xmlns:p14="http://schemas.microsoft.com/office/powerpoint/2010/main" val="149475994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en-US" sz="4800" b="1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f-</a:t>
            </a:r>
            <a:r>
              <a:rPr lang="ru-RU" sz="4800" b="1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строки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95131"/>
            <a:ext cx="11666483" cy="6062870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Начиная с версии 3.6 в Python доступен ещё один способ формирования строк: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f-строки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f-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string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от англ.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formatted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string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«отформатированная строка»).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Создание f-строк похоже на работу функции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str.format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достаточно лишь вставить имя переменной в фигурных скобках в f-строку — и на это место подставится значение переменной. Никаких аргументов передавать не нужно. Прямая экономия!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Задать f-строку можно с помощью префикса f перед кавычками, обрамляющими строку.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tomatoes_yield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10.564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fstring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f'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За день вы собрали {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tomatoes_yield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}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кг помидоров’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fstring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терминал: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За день вы собрали 10.564 кг помидоров. 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f-строках доступно преобразование значений и основные арифметические операции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  <a:endParaRPr lang="en-US" sz="4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f-строках можно вызывать функции, доступные для типа переданной переменной. Например, можно вызвать функцию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upper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 для переменной типа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 т.д.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*Использование вычислений в момент формирования строки не считается хорошей практикой</a:t>
            </a: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ДОКУМЕНТАЦИЯ </a:t>
            </a:r>
            <a:r>
              <a:rPr lang="ru-RU" sz="2000" b="1" i="0" dirty="0">
                <a:effectLst/>
                <a:latin typeface="YS Text"/>
                <a:hlinkClick r:id="rId2"/>
              </a:rPr>
              <a:t>на страницу с информацией о строках</a:t>
            </a:r>
            <a:r>
              <a:rPr lang="en-US" sz="2000" b="1" dirty="0">
                <a:latin typeface="YS Text"/>
              </a:rPr>
              <a:t>.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385754698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799313"/>
          </a:xfrm>
        </p:spPr>
        <p:txBody>
          <a:bodyPr/>
          <a:lstStyle/>
          <a:p>
            <a:pPr algn="ctr"/>
            <a:r>
              <a:rPr lang="ru-RU" sz="4800" b="1" dirty="0"/>
              <a:t>Последовательности: диапазон</a:t>
            </a:r>
          </a:p>
        </p:txBody>
      </p:sp>
    </p:spTree>
    <p:extLst>
      <p:ext uri="{BB962C8B-B14F-4D97-AF65-F5344CB8AC3E}">
        <p14:creationId xmlns:p14="http://schemas.microsoft.com/office/powerpoint/2010/main" val="373810874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512094"/>
          </a:xfrm>
        </p:spPr>
        <p:txBody>
          <a:bodyPr/>
          <a:lstStyle/>
          <a:p>
            <a:pPr algn="ctr"/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Диапазон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690771"/>
            <a:ext cx="11666483" cy="6167230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Диапазон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это неизменяемая последовательность чисел. Последовательность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range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создаётся при вызове функции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range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; границы создаваемого диапазона передаются в аргументах.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Значение второй границы не включается в диапазон: например, при объявлении диапазона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range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(0, 30) число 30 не войдёт в последовательность. Первым значением последовательности будет 0, а значением последнего элемента — 29.</a:t>
            </a: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Функция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может принимать от одного до трёх аргументов: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stop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): генерирует числа от 0 до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stop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- 1.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(100) сгенерирует числа от 0 до 99 включительно.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start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stop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): генерирует числа от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start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до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stop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- 1.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(50, 100) сгенерирует числа от 50 до 99 включительно. Объявления диапазонов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(0, 100) и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(100) вернут последовательности с одинаковым набором элементов.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start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stop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step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): генерирует диапазон чисел, начинающийся со значения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start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и ограниченного значением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stop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; шаг между значениями чисел в диапазоне будет равен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step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range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(50, 100, 9) будет генерировать числа в пределах от 50 до 99 включительно с шагом 9: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50, 59, 68, … 77, 86, 95. Последним значением будет 95.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0030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63997"/>
            <a:ext cx="11666483" cy="669400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Диапазон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range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 хранит конкретные значения диапазона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Хранятся лишь правила, по которым можно вычислить конкретное значение, когда оно будет запрошено.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Именно по этой причине при печати диапазона не выводятся конкретные значения: их не запрашивали, а потому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range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не стал их вычислять; значений нет — напечатать нечего. На печать выводятся лишь границы диапазона.</a:t>
            </a: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days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range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(0, 30)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# Объявляем диапазон от 0 до 30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days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range(0, 30)</a:t>
            </a:r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Диапазон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занимает весьма незначительный объём памяти: даже диапазон чисел от единицы до миллиарда не займёт много места — ведь этот диапазон не содержит миллиард чисел.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Чтобы получить конкретные значения из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нужно обратиться к определённому элементу.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Объект типа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можно конвертировать в другие типы, например в список — с помощью функции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list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или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tuple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():</a:t>
            </a: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Преобразуем диапазон в список:',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list(range(5)))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Преобразуем диапазон в кортеж:',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tuple(range(7)))</a:t>
            </a:r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 если конвертировать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(10**9) в список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памяти потребуется довольно много, ведь миллиард элементов в списке будет храниться в явном виде.</a:t>
            </a:r>
          </a:p>
        </p:txBody>
      </p:sp>
    </p:spTree>
    <p:extLst>
      <p:ext uri="{BB962C8B-B14F-4D97-AF65-F5344CB8AC3E}">
        <p14:creationId xmlns:p14="http://schemas.microsoft.com/office/powerpoint/2010/main" val="130800296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799313"/>
          </a:xfrm>
        </p:spPr>
        <p:txBody>
          <a:bodyPr/>
          <a:lstStyle/>
          <a:p>
            <a:pPr algn="ctr"/>
            <a:r>
              <a:rPr lang="ru-RU" sz="4800" b="1" dirty="0"/>
              <a:t>Работа с последовательностями</a:t>
            </a:r>
          </a:p>
        </p:txBody>
      </p:sp>
    </p:spTree>
    <p:extLst>
      <p:ext uri="{BB962C8B-B14F-4D97-AF65-F5344CB8AC3E}">
        <p14:creationId xmlns:p14="http://schemas.microsoft.com/office/powerpoint/2010/main" val="67433666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Длина последовательности: функция </a:t>
            </a:r>
            <a:r>
              <a:rPr lang="en-US" sz="4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len</a:t>
            </a:r>
            <a:r>
              <a:rPr lang="en-US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Любая последовательность — это конечный набор элементов. Определить количество элементов можно при помощи функции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len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; аргументом в функцию передаётся последовательность, а функция возвращает число — количество элементов.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Число элементов всегда на единицу больше последнего индекса в коллекции — ведь количество элементов отсчитывается от единицы (первый элемент — именно «первый»), а индексы отсчитываются от нуля (индекс первого элемента — 0).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Таким образом, индекс последнего элемента последовательности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sequence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всегда равен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len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sequence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 - 1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Найти индекс элемента, расположенного в середине последовательности, можно выражением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len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sequence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 - 1) // 2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Нужно именно целочисленное деление — на случай, если в коллекции нечётное количество элементов: обычное деление может вернуть «шестой с половиной элемент», это не годится, такого элемента нет.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нечётном количестве элементов выражение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len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sequence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 - 1) // 2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вернёт индекс среднего элемента последовательности, а при чётном — индекс элемента перед серединой (например, для последовательности из шести элементов вернётся индекс 2).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97728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111341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Конкатенация — объединение последовательностей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292087"/>
            <a:ext cx="11666483" cy="5565913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Конкатенация последовательностей выполняется с помощью оператора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+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Объединять можно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только последовательности одного типа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Результатом конкатенации будет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новая последовательность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first_vegetable_list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['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помидор', 'огурец', 'баклажан', 'перец’]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second_vegetable_list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= ['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картофель', 'морковь', 'лук', 'чеснок’]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full_vegetable_list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first_vegetable_list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+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second_vegetable_list</a:t>
            </a:r>
            <a:endParaRPr lang="en-US" sz="20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print(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full_vegetable_list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Строки - это последовательности. Объединяем!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hybrid =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second_vegetable_list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[3] +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first_vegetable_list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[1]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print(hybrid)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Объединить диапазоны через конкатенацию не получится: диапазоны не хранят значений элементов, объединять нечего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!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08507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Умножение последовательностей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Все последовательности, за исключением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range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можно умножить на число — и в результате этой операции вернётся новая последовательность, где элементы будут дублироваться заданное число раз.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dig_more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копаю грядку! ' * 4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dig_more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small_vegetable_list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Редиска', 'Картошка', 'Морковка’]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double_vegetable_list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small_vegetable_list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* 2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double_vegetable_list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копаю грядку! копаю грядку! копаю грядку! копаю грядку! 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['Редиска', 'Картошка', 'Морковка', 'Редиска', 'Картошка', 'Морковка']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92138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1093532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Есть ли нужный элемент в последовательности?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272209"/>
            <a:ext cx="11666483" cy="558579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позволяет узнать, есть ли заданный элемент в последовательности. Этот оператор возвращает True или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Синтаксис: &lt;нужное значение&gt;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 &lt;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последовательность&gt;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Возвращает: </a:t>
            </a:r>
            <a:r>
              <a:rPr lang="en-U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YS Text"/>
              </a:rPr>
              <a:t>True/False</a:t>
            </a: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vegetable_prices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[45.5, 32.0, 28.7, 15.5]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print('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Есть ли в списке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vegetable_prices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значение 45.5?', 45.5 </a:t>
            </a:r>
            <a:r>
              <a:rPr lang="en-US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</a:t>
            </a:r>
            <a:r>
              <a:rPr lang="en-US" sz="20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vegetable_prices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 = 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Баклажаны’</a:t>
            </a:r>
          </a:p>
          <a:p>
            <a:pPr algn="l"/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print('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Есть ли в строке 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vegetable </a:t>
            </a: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значение "ж"?', 'ж' </a:t>
            </a:r>
            <a:r>
              <a:rPr lang="en-US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</a:t>
            </a: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vegetable)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Можно проверить и отсутствие элемента в последовательности — с помощью комбинированного оператора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not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in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full_vegetable_list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Помидоры', 'Огурцы', 'Баклажаны', 'Перец', 'Картофель', 'Морковь’]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Если редьки нет...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if 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Редька'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not in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full_vegetable_list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		# ...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устраиваем скандал: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Товарищи! Где редька?')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69311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Срезы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 последовательности можно получить набор элементов по определённым условиям — например, элементы с индексами от 5 до 10 или каждый второй элемент последовательности.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Получившийся набор элементов будет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последовательностью того же типа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что и исходная последовательность. Такой набор называется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«срез».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из последовательности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sequence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получить срез, в который войдут элементы, расположенные один за другим, применяют синтаксис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sequence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[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start:end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], где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start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end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индексы элементов, определяющие диапазон, из которого будет взят срез. 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!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Если в срезе указан конечный индекс, элемент с этим индексом не включается в срез.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Пример на картинке показывает, что срез [2:10] вернёт набор элементов с индексами, которые можно описать математическим выражением 2 ≤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index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&lt; 10: элемент с индексом 10 не будет включён в срез.</a:t>
            </a:r>
            <a:endParaRPr lang="ru-RU" sz="4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3E29A9-87DB-050A-13B3-4224183E9F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60" t="19049" r="16482" b="12603"/>
          <a:stretch/>
        </p:blipFill>
        <p:spPr>
          <a:xfrm>
            <a:off x="2565655" y="4376525"/>
            <a:ext cx="6637980" cy="237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33722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29209"/>
            <a:ext cx="11666483" cy="672879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получения среза можно указать только начальный или конечный индекс, тогда второй границей среза будет конец или начало исходной последовательности. 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! 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в срезе не указан конечный индекс, последний элемент включается в срез.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vegetable_name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'Картофелина’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Взять срез с восьмого (по счёту) элемента и до конца последовательности: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vegetable_name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[7:])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Напечатаются элементы с индексами от [7] до последнего, [10], включительно.</a:t>
            </a:r>
          </a:p>
          <a:p>
            <a:pPr algn="l"/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Взять срез от начала последовательности до седьмого элемента (не включая седьмой):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vegetable_name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[:7])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Напечатаются элементы с индексами от [0] до [6] включительно.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Чтобы получить срез из элементов, расположенных с определённым шагом, применяют синтаксис </a:t>
            </a:r>
            <a:r>
              <a:rPr lang="ru-RU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sequence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[</a:t>
            </a:r>
            <a:r>
              <a:rPr lang="ru-RU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start:end:step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]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 = ['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Помидоры', 'Огурцы', 'Баклажаны', 'Перец', 'Капуста’]</a:t>
            </a: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print(vegetables[0:5:2])</a:t>
            </a:r>
            <a:endParaRPr lang="ru-RU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17682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293205"/>
            <a:ext cx="11666483" cy="6564796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Можно получить срез, где последовательность элементов будет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инвертирована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элементы будут перечислены в обратном порядке. Для этого: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сначала указывается конечный индекс исходной последовательности,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потом начальный индекс исходной последовательности,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шаг указывается отрицательным числом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['Помидоры', 'Огурцы', 'Баклажаны', 'Перец', 'Капуста', 'Кабачки’]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Шаг должен иметь отрицательное значение.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('Инвертированный срез, от индекса [4] до [1]:',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[4:1:-1])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Можно не указывать границы, а задать только отрицательное значение шага.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При такой записи в срез попадёт вся последовательность в инвертированном виде.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('Срез с полной инвертированной последовательностью',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[::-1]) 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33641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Сравнение последовательностей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Последовательности можно сравнивать: можно определить, какая последовательность больше, а какая — меньше. Сравнение идёт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 по длине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процедура сравнения выполняется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 своеобразной логике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сравнении последовательностей поочерёдно сравниваются элементы с одинаковыми индексами, и при первом же различии определяется результат сравнения.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Операторы &lt;, &gt;, &lt;=, &gt;=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работают только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сравнении последовательностей одного типа и однотипных элементов в этих последовательностях.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в одной последовательности больше элементов, чем в другой, а сравниваемые элементы оказались равны, большей будет признана та последовательность, которая длиннее.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15340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6"/>
            <a:ext cx="10782300" cy="1143227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Сравнение </a:t>
            </a:r>
            <a:r>
              <a:rPr lang="ru-RU" sz="4800" b="1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строк 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операторами «больше» и «меньше»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321903"/>
            <a:ext cx="11666483" cy="5536097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Строки тоже можно сравнивать «по величине» операторами сравнения «больше», «меньше» или «равно».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Все текстовые символы (буквы, цифры, знаки препинания, пробел, иероглифы) имеют числовую кодировку: каждому символу соответствует какое-то число. На основе этой кодировки и происходит арифметическое сравнение строк. Заглавные и строчные буквы — это разные символы, соответственно и коды у них разные.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Коды символов можно найти в таблицах кодировок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Unicode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а в Python эти коды можно получить через функцию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ord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ord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('Ф’))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Вывод в терминал: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1060 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88681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83875"/>
            <a:ext cx="11666483" cy="6674126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Группы символов можно распределить по возрастанию их числовых кодов примерно так: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спецсимволы, знаки препинания и цифры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коды начинаются с числа 32 (это числовое значение символа «пробел»);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латиница — заглавные буквы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числовой код буквы A — 65;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латиница — строчные буквы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числовой код буквы a — 97;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расширенная латиница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надстрочные и подстрочные знаки, греческое письмо;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кириллица — заглавные буквы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числовой код буквы А — 1040;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кириллица — строчные буквы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числовой код буквы а — 1072.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Цифровой символ всегда «меньше», чем любой алфавитный символ.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Алфавитный символ в верхнем регистре «меньше», чем алфавитные символы в нижнем регистре.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Кириллическая А «больше», чем a в латинице (но если взять оба символа из латиницы, то выражение 'A' &lt; 'a' вернёт True).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Как только в последовательности Python найдёт неравные элементы, их отношение и определит результат сравнения: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print(‘work' &lt; ‘WORK’)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терминал: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False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Капслок - меньше!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656331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1093532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Наименьшее и наибольшее значение в последовательности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272209"/>
            <a:ext cx="11666483" cy="5585791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любой последовательности, содержащей элементы одного типа, можно найти элементы с наименьшим и наибольшим значением. Для этого применяют встроенные функции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min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max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str_of_numbers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'12345’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Максимальное значение в строке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str_of_numbers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:', max(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str_of_numbers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Максимальное значение в строке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str_of_numbers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 </a:t>
            </a:r>
            <a:r>
              <a:rPr lang="ru-RU" sz="2000" b="1" dirty="0">
                <a:solidFill>
                  <a:srgbClr val="FFC000"/>
                </a:solidFill>
                <a:latin typeface="YS Text"/>
              </a:rPr>
              <a:t>5</a:t>
            </a:r>
            <a:endParaRPr lang="en-US" sz="2000" b="1" dirty="0">
              <a:solidFill>
                <a:srgbClr val="FFC000"/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list_of_str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['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abc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', '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Abc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’]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Минимальное значение в списке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list_of_str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:', min(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list_of_str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Минимальное значение в списке 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list_of_str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: </a:t>
            </a:r>
            <a:r>
              <a:rPr lang="ru-RU" sz="2000" b="1" dirty="0" err="1">
                <a:solidFill>
                  <a:srgbClr val="FFC000"/>
                </a:solidFill>
                <a:latin typeface="YS Text"/>
              </a:rPr>
              <a:t>Abc</a:t>
            </a:r>
            <a:endParaRPr lang="en-US" sz="2000" b="1" dirty="0">
              <a:solidFill>
                <a:srgbClr val="FFC000"/>
              </a:solidFill>
              <a:latin typeface="YS Text"/>
            </a:endParaRP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tuple_of_numbers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(5, 10, 4, 25, 0)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Максимальное значение в кортеже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tuple_of_numbers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:', max(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tuple_of_numbers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Максимальное значение в кортеже 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tuple_of_numbers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: </a:t>
            </a:r>
            <a:r>
              <a:rPr lang="ru-RU" sz="2000" b="1" dirty="0">
                <a:solidFill>
                  <a:srgbClr val="FFC000"/>
                </a:solidFill>
                <a:latin typeface="YS Text"/>
              </a:rPr>
              <a:t>25</a:t>
            </a:r>
            <a:endParaRPr lang="en-US" sz="2000" b="1" dirty="0">
              <a:solidFill>
                <a:srgbClr val="FFC000"/>
              </a:solidFill>
              <a:latin typeface="YS Text"/>
            </a:endParaRP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just_range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range(30)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Минимальное значение в диапазоне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just_range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:', min(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just_range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Минимальное значение в диапазоне 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just_range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YS Text"/>
              </a:rPr>
              <a:t>: </a:t>
            </a:r>
            <a:r>
              <a:rPr lang="ru-RU" sz="2000" b="1" dirty="0">
                <a:solidFill>
                  <a:srgbClr val="FFC000"/>
                </a:solidFill>
                <a:latin typeface="YS Text"/>
              </a:rPr>
              <a:t>0</a:t>
            </a:r>
            <a:endParaRPr lang="ru-RU" sz="4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02570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799313"/>
          </a:xfrm>
        </p:spPr>
        <p:txBody>
          <a:bodyPr/>
          <a:lstStyle/>
          <a:p>
            <a:pPr algn="ctr"/>
            <a:r>
              <a:rPr lang="ru-RU" sz="4800" b="1" dirty="0"/>
              <a:t>Словарь</a:t>
            </a:r>
          </a:p>
        </p:txBody>
      </p:sp>
    </p:spTree>
    <p:extLst>
      <p:ext uri="{BB962C8B-B14F-4D97-AF65-F5344CB8AC3E}">
        <p14:creationId xmlns:p14="http://schemas.microsoft.com/office/powerpoint/2010/main" val="334703442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Словарь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Словарь, тип данных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— это изменяемая коллекция элементов. Каждый элемент словаря состоит из пары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ключ:значение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Аналогией можно считать толковый словарь, где каждому отдельному слову соответствует его определение.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Синтаксис словарей: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словари в Python записываются в фигурных скобках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{}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элементы словаря разделяются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запятой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каждый элемент состоит из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ключа и значения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между ключом и значением ставится двоеточие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после двоеточия —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пробел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пределах словаря каждый ключ должен быть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уникальным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и относиться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 неизменяемым типам данных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Объявить словарь можно несколькими способами: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 помощью фигурных скобок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Через функцию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dict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96695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Ключами словаря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могут быть не только строки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str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но и значения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любых других неизменяемых типов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status_dict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{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'one': 1,       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Ключ - строка (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str -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неизменяемый тип).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		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2: 'Число',     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Ключ - число (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int -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неизменяемый тип).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		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(3, 4): 'Кортеж'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Ключ - кортеж (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tuple -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неизменяемый тип).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} </a:t>
            </a: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Значениями в словаре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могут быть данные какого угодно типа, изменяемые и неизменяемые, в том числе и любые коллекции.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49537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Объявление словаря через функцию 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Ф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ункция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словарь. При вызове этой функции без аргументов будет создан пустой словарь. В качестве аргументов можно передать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названия ключей и их значения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и тогда имена ключей будут преобразованы в строки, а значения останутся без изменений.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! При вызове функции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dict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 аргументами ключи должны быть указаны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без кавычек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Создадим пустой словарь. Так делают, когда наполнять словарь элементами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планируется позже.</a:t>
            </a: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empty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ru-RU" sz="1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dict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()</a:t>
            </a:r>
          </a:p>
          <a:p>
            <a:pPr algn="l"/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('Печатаем пустой словарь:', 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empty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endParaRPr lang="ru-RU" sz="17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Словарям принято давать имена в соответствии со смыслом ключей.</a:t>
            </a: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ru-RU" sz="1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dict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</a:p>
          <a:p>
            <a:pPr algn="l"/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Помидоры=6.5,</a:t>
            </a:r>
          </a:p>
          <a:p>
            <a:pPr algn="l"/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Огурцы=4.3,</a:t>
            </a:r>
          </a:p>
          <a:p>
            <a:pPr algn="l"/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Баклажаны=2.8,</a:t>
            </a:r>
          </a:p>
          <a:p>
            <a:pPr algn="l"/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endParaRPr lang="ru-RU" sz="17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('Печатаем словарь с овощами:', 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  <a:endParaRPr lang="en-US" sz="17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таком синтаксисе в качестве ключа </a:t>
            </a:r>
            <a:r>
              <a:rPr lang="ru-RU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 может быть использовано число или строка</a:t>
            </a:r>
            <a:r>
              <a:rPr lang="ru-RU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содержащие специальные символы или пробелы. Если передать в функцию </a:t>
            </a:r>
            <a:r>
              <a:rPr lang="ru-RU"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dict</a:t>
            </a:r>
            <a:r>
              <a:rPr lang="ru-RU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 недопустимые ключи, возникнет синтаксическая ошибка.</a:t>
            </a:r>
            <a:endParaRPr lang="ru-RU" sz="3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99520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83875"/>
            <a:ext cx="11666483" cy="6674126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Есть и другой вариант синтаксиса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():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качестве аргумента в эту функцию можно передать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список кортежей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(каждый из которых должен состоять из двух элементов), и эти кортежи будут преобразованы в элементы словаря.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dict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 [</a:t>
            </a:r>
          </a:p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 		('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Помидоры', 6.5), </a:t>
            </a:r>
          </a:p>
          <a:p>
            <a:pPr algn="l"/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('Огурцы', 4.3), </a:t>
            </a:r>
          </a:p>
          <a:p>
            <a:pPr algn="l"/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('Баклажаны', 2.8)</a:t>
            </a:r>
          </a:p>
          <a:p>
            <a:pPr algn="l"/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])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Получится такой словарь: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{</a:t>
            </a:r>
          </a:p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		 '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Помидоры': 6.5, </a:t>
            </a:r>
          </a:p>
          <a:p>
            <a:pPr algn="l"/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'Огурцы': 4.3, </a:t>
            </a:r>
          </a:p>
          <a:p>
            <a:pPr algn="l"/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'Баклажаны': 2.8</a:t>
            </a:r>
          </a:p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} 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каждом элементе словаря ключом станет элемент кортежа с индексом [0] (он должен быть объектом неизменяемого типа), а значением для этого ключа будет элемент кортежа с индексом [1].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создании словаря из набора кортежей строки, которые будут преобразованы в ключи, должны быть в кавычках.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число элементов в кортежах будет не равно двум, возникнет ошибка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3C78D0-0423-BA18-39FE-82E2B36060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0" t="7029" r="39668" b="7319"/>
          <a:stretch/>
        </p:blipFill>
        <p:spPr>
          <a:xfrm>
            <a:off x="6301409" y="815009"/>
            <a:ext cx="4342947" cy="401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22976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Уникальность ключей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в каких-то кортежах, переданных в функцию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(),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совпадут первые элементы, в итоговый словарь попадёт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последнее значение для дублирующегося ключа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vegetable_yields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= [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		 ('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Помидоры', 6.5),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('Огурцы', 4.3),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('Баклажаны', 2.8),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('Помидоры', 5.1)  # Дубликат ключа.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]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yields_dict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=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dict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vegetable_yields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print(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yields_dict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Python создаёт элементы последовательно, читая аргументы по порядку.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Сперва будет создан элемент 'Помидоры': 6.5, а когда дело дойдёт до последнего кортежа,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Python увидит, что элемент с ключом 'Помидоры' уже существует, — и присвоит этому элементу новое значение: 5.1.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44059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en-US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</a:t>
            </a:r>
            <a:r>
              <a:rPr lang="en-US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fromkeys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(&lt;keys&gt;)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принимает в качестве обязательного аргумента последовательность элементов и возвращает словарь. Значения элементов будут ключами словаря.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Вторым, необязательным аргументом в функцию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dict.fromkeys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можно передать значение, которое будет присвоено в качестве значения всем ключам словаря. По умолчанию второй аргумент равен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 = 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dict.fromkeys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(['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Помидоры', 'Огурцы', 'Баклажаны', 'Перец’])</a:t>
            </a: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print('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Создали словарь, не передали второй аргумент:',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vegetables)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Создали словарь, не передали второй аргумент: 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{'Помидоры': </a:t>
            </a:r>
            <a:r>
              <a:rPr lang="ru-RU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None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'Огурцы': </a:t>
            </a:r>
            <a:r>
              <a:rPr lang="ru-RU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None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'Баклажаны': </a:t>
            </a:r>
            <a:r>
              <a:rPr lang="ru-RU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None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'Перец': </a:t>
            </a:r>
            <a:r>
              <a:rPr lang="ru-RU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None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}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Вторым элементом передаём в функцию значение, которое будет присвоено всем элементам словаря.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dict.fromkeys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(['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Ананасы', 'Брюква', 'Клюква', 'Артишоки'], 3.2)</a:t>
            </a: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print('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Создали словарь, вторым аргументом передали 3.2:', 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Создали словарь, вторым аргументом передали 3.2: 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{'Ананасы': 3.2, 'Брюква': 3.2, 'Клюква': 3.2, 'Артишоки': 3.2}</a:t>
            </a:r>
            <a:endParaRPr lang="ru-RU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63954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8" y="178677"/>
            <a:ext cx="11666483" cy="666149"/>
          </a:xfrm>
        </p:spPr>
        <p:txBody>
          <a:bodyPr/>
          <a:lstStyle/>
          <a:p>
            <a:pPr algn="ctr"/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ru-RU" sz="44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zip</a:t>
            </a:r>
            <a:r>
              <a:rPr lang="ru-RU" sz="4400" b="1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создание словаря из </a:t>
            </a:r>
            <a:r>
              <a:rPr lang="ru-RU" sz="4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zip</a:t>
            </a:r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-коллекции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Функция-упаковщик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zip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качестве аргументов принимает любое количество последовательностей, а возвращает объект типа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zip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коллекцию кортежей, каждый из которых содержит элементы исходных последовательностей с одинаковыми индексами.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Напечатать значение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zip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невозможно: его содержимое недоступно. Но можно преобразовать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zip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-коллекцию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список или кортеж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— и тогда удастся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заглянуть в него.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6854AC-11BB-8D8A-1CA7-19688B244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019" y="2505094"/>
            <a:ext cx="6809961" cy="425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3362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14301"/>
            <a:ext cx="11666483" cy="665424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zip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может принять на вход любое количество последовательностей. Если передать в неё две последовательности, то вложенные в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zip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кортежи будут содержать по два элемента, а такую последовательность кортежей можно преобразовать в словарь.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Итого: чтобы преобразовать два списка в словарь, нужна лишь пара шагов.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Преобразование из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zip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-объекта в словарь сработает только в том случае, если в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zip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упакованы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две последовательности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В любом другом случае при попытке создать словарь из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zip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-объекта функция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вернёт ошибку.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 = ['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Помидоры', 'Огурцы', 'Баклажаны', 'Перец', 'Капуста’]</a:t>
            </a:r>
          </a:p>
          <a:p>
            <a:pPr algn="l"/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[6.5, 4.3, 2.8, 2.2, 3.5]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Шаг первый:</a:t>
            </a: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упаковываем списки в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zip:</a:t>
            </a: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vegetables_zip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zip(vegetables, </a:t>
            </a:r>
            <a:r>
              <a:rPr lang="en-US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Шаг второй:</a:t>
            </a: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преобразуем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zip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словарь:</a:t>
            </a: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vegetables_info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en-US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dict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en-US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vegetables_zip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Печатаем словарь:</a:t>
            </a: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vegetables_info</a:t>
            </a: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  <a:endParaRPr lang="ru-RU" sz="17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последовательности, переданные в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zip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(), не совпадают по длине, ничего не сломается: лишние элементы будут отсечены.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12675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Обращение к элементам словаря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118152"/>
            <a:ext cx="11666483" cy="5739848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Традиционный способ получить значение элемента из словаря — это обратиться к элементу по ключу.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Синтаксис обращения по ключу похож на обращение </a:t>
            </a:r>
            <a:r>
              <a:rPr lang="ru-RU" sz="2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 индексу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имя_словаря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[ключ]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Если ключ — это строка, то она должна быть заключена в кавычки.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Значением словаря может быть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вложенный словарь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это бывает удобно для хранения структурированной информации. Например, все характеристики овощей можно хранить во вложенном словаре под осмысленными ключами.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Обратиться к определённому ключу вложенного словаря можно и одним выражением: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словарь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[‘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ключ'][‘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ключ_вложенного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словаря’]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 получаем значение вложенного словаря.</a:t>
            </a:r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89529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en-US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en-US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</a:t>
            </a:r>
            <a:r>
              <a:rPr lang="en-US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get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en-US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&gt;, key, default)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053548"/>
            <a:ext cx="11666483" cy="5804452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dict.get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из словаря значение по ключу. Если запрошенный ключ не найден, вернётся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None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или значение, переданное третьим, необязательным аргументом.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Эта функция выполняет ту же самую операцию, что и обращение по ключу. Например, если в словаре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vegetable_info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есть ключ 'Ананас', то получить значение этого ключа можно любым из способов: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result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=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vegetable_info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['Ананас’],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result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=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dict.get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vegetable_info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'Ананас').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Однако, если нужного ключа нет в словаре, обычное обращение по ключу вызовет ошибку. В случае с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dict.get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ошибки не возникнет.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00912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29209"/>
            <a:ext cx="11666483" cy="6728791"/>
          </a:xfrm>
        </p:spPr>
        <p:txBody>
          <a:bodyPr>
            <a:normAutofit/>
          </a:bodyPr>
          <a:lstStyle/>
          <a:p>
            <a:pPr algn="l"/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Добавление в словарь нового элемента и изменение существующего</a:t>
            </a:r>
            <a:endParaRPr lang="en-US" sz="24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Для добавления элемента в словарь нужно новому ключу словаря присвоить значение: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	</a:t>
            </a:r>
            <a:r>
              <a:rPr lang="ru-RU" sz="2400" b="1" dirty="0" err="1">
                <a:solidFill>
                  <a:srgbClr val="FFFF00"/>
                </a:solidFill>
                <a:latin typeface="YS Text"/>
              </a:rPr>
              <a:t>имя_словаря</a:t>
            </a:r>
            <a:r>
              <a:rPr lang="ru-RU" sz="2400" b="1" dirty="0">
                <a:solidFill>
                  <a:srgbClr val="FFFF00"/>
                </a:solidFill>
                <a:latin typeface="YS Text"/>
              </a:rPr>
              <a:t>[</a:t>
            </a:r>
            <a:r>
              <a:rPr lang="ru-RU" sz="2400" b="1" dirty="0" err="1">
                <a:solidFill>
                  <a:srgbClr val="FFFF00"/>
                </a:solidFill>
                <a:latin typeface="YS Text"/>
              </a:rPr>
              <a:t>новый_ключ</a:t>
            </a:r>
            <a:r>
              <a:rPr lang="ru-RU" sz="2400" b="1" dirty="0">
                <a:solidFill>
                  <a:srgbClr val="FFFF00"/>
                </a:solidFill>
                <a:latin typeface="YS Text"/>
              </a:rPr>
              <a:t>] = значение </a:t>
            </a:r>
            <a:endParaRPr lang="en-US" sz="2400" b="1" dirty="0">
              <a:solidFill>
                <a:srgbClr val="FFFF00"/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Таким же способом можно изменить значение для существующего ключа словаря.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Проверка «есть ли ключ в словаре»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Проверить, есть ли запрашиваемый ключ в словаре, можно 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через оператор </a:t>
            </a:r>
            <a:r>
              <a:rPr lang="ru-RU" sz="2400" b="1" dirty="0" err="1">
                <a:solidFill>
                  <a:srgbClr val="FFFF00"/>
                </a:solidFill>
                <a:latin typeface="YS Text"/>
              </a:rPr>
              <a:t>in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он работает так же, как и в других коллекциях.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Объединение словарей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Объединить словари можно функцией </a:t>
            </a:r>
            <a:r>
              <a:rPr lang="ru-RU" sz="2400" b="1" dirty="0" err="1">
                <a:solidFill>
                  <a:srgbClr val="FFFF00"/>
                </a:solidFill>
                <a:latin typeface="YS Text"/>
              </a:rPr>
              <a:t>dict.update</a:t>
            </a:r>
            <a:r>
              <a:rPr lang="ru-RU" sz="2400" b="1" dirty="0">
                <a:solidFill>
                  <a:srgbClr val="FFFF00"/>
                </a:solidFill>
                <a:latin typeface="YS Text"/>
              </a:rPr>
              <a:t>(&lt;dict_1&gt;, &lt;dict_2&gt;)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Она работает по принципу «добавить все элементы второго словаря в первый»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Удаление элемента из словаря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Для удаления элемента словаря применяется 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оператор </a:t>
            </a:r>
            <a:r>
              <a:rPr lang="ru-RU" sz="2400" b="1" dirty="0" err="1">
                <a:solidFill>
                  <a:srgbClr val="FFFF00"/>
                </a:solidFill>
                <a:latin typeface="YS Text"/>
              </a:rPr>
              <a:t>del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985828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Извлечение элемента из словаря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Извлечение элемента из коллекции — это одновременное выполнение двух действий: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получение этого элемента,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удаление этого элемента из коллекции.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извлечения элемента из словаря применяется функция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dict.pop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().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Она принимает три аргумента: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словарь, из которого извлекается элемент;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ключ того элемента, значение которого нужно извлечь;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необязательный аргумент — значение, которое вернёт функция в случае, если запрошенный ключ не найден в словаре.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третий аргумент не указан, а ключ в словаре не найден, возникнет ошибка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KeyError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44000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1133288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Получение всех ключей и значений элементов словаря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351722"/>
            <a:ext cx="11666483" cy="5506278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dict.keys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последовательность, хранящую ключи словаря.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dict.values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последовательность, элементами которой будут значения словаря.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Это последовательности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отдельного типа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не списки; при необходимости их можно преобразовать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например,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списки.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Из каждого элемента словаря можно извлечь ключ и значение, упаковать в кортеж — и собрать эти кортежи в коллекцию. Такая коллекция позволит работать и с ключами, и со значениями словаря одновременно.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Такое преобразование выполняется с помощью функции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dict.items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(&lt;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dict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&gt;).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Она возвращает коллекцию типа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dict_items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Каждый элемент этой коллекции — кортеж из двух элементов. Первый элемент каждого кортежа — это ключ определённого элемента словаря, второй элемент кортежа — это значение того же элемента словаря.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CABFEC-1DE0-4434-E74D-6D23D120C1A0}"/>
              </a:ext>
            </a:extLst>
          </p:cNvPr>
          <p:cNvSpPr txBox="1">
            <a:spLocks/>
          </p:cNvSpPr>
          <p:nvPr/>
        </p:nvSpPr>
        <p:spPr>
          <a:xfrm>
            <a:off x="94423" y="3284883"/>
            <a:ext cx="11907078" cy="8696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8800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Получение набора из ключей и элементов словаря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564033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Очистка словаря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очистить словарь, нужно применить функцию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dict.clear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{</a:t>
            </a: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	     '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Помидоры': 6.5,</a:t>
            </a:r>
          </a:p>
          <a:p>
            <a:pPr algn="l"/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'Огурцы': 4.3,</a:t>
            </a:r>
          </a:p>
          <a:p>
            <a:pPr algn="l"/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          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'Баклажаны': 2.8,</a:t>
            </a:r>
          </a:p>
          <a:p>
            <a:pPr algn="l"/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          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'Перец': 2.2,</a:t>
            </a:r>
          </a:p>
          <a:p>
            <a:pPr algn="l"/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          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'Тыква': 3.4</a:t>
            </a: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         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}</a:t>
            </a: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         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dict.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clear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         print(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        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терминал: 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{}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Эта функция работает точно так же, как функция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list.clear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(&lt;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list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&gt;)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для списков: словарь и список — изменяемые объекты, и функция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clear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изменяет объект, не удаляя и не заменяя его в памяти.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А вот с кортежем такой номер не пройдёт: кортеж — неизменяемый тип данных, а «удалить элементы» означало бы «изменить объект».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83862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Копирование словаря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45435"/>
            <a:ext cx="11666483" cy="611256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dict.copy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создаёт копию исходного словаря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{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		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Помидоры': 6.5,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'Огурцы': 4.3,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'Баклажаны': 2.8,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}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print('ID,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на который ссылается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:', id(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yield_copy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vegetable_yields.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copy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print('ID,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на который ссылается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yield_copy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:', id(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yield_copy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А если присвоить значение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vegetable_yields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новой переменной,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копия словаря не будет создана: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yield_just_link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print('ID,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на который ссылается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yield_just_link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:', id(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yield_just_link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print('ID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равен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ID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yield_just_link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?', id(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yield_just_link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 == id(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833523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6"/>
            <a:ext cx="10782300" cy="1610367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Неограниченное количество именованных аргументов в функции: параметр </a:t>
            </a:r>
            <a:r>
              <a:rPr lang="ru-RU" sz="4800" b="1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**</a:t>
            </a:r>
            <a:r>
              <a:rPr lang="ru-RU" sz="48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kwargs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789043"/>
            <a:ext cx="11666483" cy="506895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коротко, то параметр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**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kwargs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очень похож на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args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только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args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упаковывает аргументы в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кортеж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а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**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kwargs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в словарь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8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Ещё раз про параметр *</a:t>
            </a:r>
            <a:r>
              <a:rPr lang="ru-RU" sz="28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args</a:t>
            </a:r>
            <a:endParaRPr lang="en-US" sz="28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объявлении функции можно настроить её так, чтобы она принимала неограниченное число параметров, для этого применяется параметр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*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Этот параметр готов принять сколько угодно значений — внутри функции все эти значения будут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упакованы в кортеж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с элементами которого можно выполнять любые действия.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у функции есть только параметр *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то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все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аргументы, переданные при вызове функции, в теле этой функции будут упакованы в кортеж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же у функции несколько параметров, то первые аргументы будут переданы в именованные параметры, а остальные попадут в кортеж. 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!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объявлении функции позиционные параметры должны быть указаны до *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Так правильно: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def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any_function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(name, profession, *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args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):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Так нельзя: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def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any_function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(*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args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, name, profession):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Итог: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Параметр *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args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применяется для получения неограниченного числа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неименованных параметров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6776338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Параметр **</a:t>
            </a:r>
            <a:r>
              <a:rPr lang="en-US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kwargs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Аналогичная конструкция существует и для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именованных параметров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В этом случае при описании функции указывается параметр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**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kwargs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а в теле функции аргументы объединяются не в кортеж, а в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словарь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Общепринятое имя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**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kwargs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сокращение от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keyword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arguments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(англ. «именованные аргументы»). Это имя не предустановлено, как и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args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можно применить любое имя, лишь бы перед ним стояли две звёздочки. Однако хорошим тоном будет применять именно общепринятое имя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**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kwargs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так ваш код будет легче читать.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069244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799313"/>
          </a:xfrm>
        </p:spPr>
        <p:txBody>
          <a:bodyPr/>
          <a:lstStyle/>
          <a:p>
            <a:pPr algn="ctr"/>
            <a:r>
              <a:rPr lang="ru-RU" sz="4800" b="1" dirty="0"/>
              <a:t>Множества</a:t>
            </a:r>
          </a:p>
        </p:txBody>
      </p:sp>
    </p:spTree>
    <p:extLst>
      <p:ext uri="{BB962C8B-B14F-4D97-AF65-F5344CB8AC3E}">
        <p14:creationId xmlns:p14="http://schemas.microsoft.com/office/powerpoint/2010/main" val="313861582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5369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Множество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15617"/>
            <a:ext cx="11666483" cy="6142383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Множество (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 Python — это изменяемая </a:t>
            </a:r>
            <a:r>
              <a:rPr lang="ru-RU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неупорядоченная коллекция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Элементы множества — уникальные значения неизменяемых типов.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множество можно добавлять элементы и удалять их: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изменяемая коллекция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Если насыпать горсть пшеницы в плошку, можно высыпать часть зёрен, а можно добавить сколько угодн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о.</a:t>
            </a:r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Множество —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неупорядоченная коллекция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к элементам нельзя обратиться по индексам или автоматически вывести их по порядку. Какое из зёрен в плошке будет первым, а какое — последним? Да никакое! Обратиться к зёрнам по индексам не получится.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Изменить отдельный элемент в множестве нельзя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элементами множества могут быть только неизменяемые объекты (например, числа, строки и кортежи). Изменить зерно невозможно, ячмень не может стать пшеном.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Элементы множества должны быть уникальны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Не получится добавить в множество ещё один элемент со значением, которое уже есть в этом множестве. Нет двух одинаковых зёрен, каждое из них уникально.</a:t>
            </a: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Множества — это не последовательности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 к элементам множества нельзя обратиться по индексам, порядок элементов в множестве не определён и при каждом обращении может быть разным. Последовательностями же называют упорядоченные коллекции.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Неупорядоченные коллекции хранят элементы так, что невозможно определить, какой элемент первый, какой последний, а какой, к примеру, восьмой.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116381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503" y="178677"/>
            <a:ext cx="11666483" cy="770510"/>
          </a:xfrm>
        </p:spPr>
        <p:txBody>
          <a:bodyPr/>
          <a:lstStyle/>
          <a:p>
            <a:pPr algn="ctr"/>
            <a:r>
              <a:rPr lang="ru-RU" sz="4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Объявление множества при помощи фигурных скобок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49187"/>
            <a:ext cx="11666483" cy="5908813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Создать множество можно перечислив значения в фигурных скобках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{}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таких же, как и при объявлении словаря.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Объявление множества: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tomato_ratings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{5.0, 4.1, 4.3, 4.7, 4.7, 3.8}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tomato_ratings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консоль: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{5.0, 4.3, 3.8, 4.1, 4.7}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Порядок элементов не соответствует порядку при объявлении.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print(type(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tomato_ratings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консоль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 &lt;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class 'set’&gt; </a:t>
            </a:r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Объявить пустое множество через запись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empty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= {}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 получится: будет создан пустой словарь. Фигурные скобки применяются при объявлении обоих этих типов, но пустые скобки создадут именно словарь.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564680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Объявление множества функцией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set()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Множество можно создать через встроенную функцию. Эта же функция приводит данные других типов к типу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список с дублирующимися элементами преобразовать в множество,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дублирующиеся значения будут удалены из множества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количество элементов станет меньше и все они будут уникальными.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Это касается не только списков, но и других коллекций, которые можно привести к множеству.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marshak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'вот дом, который построил Джек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’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Приводим строку к множеству и печатаем: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marshak_set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set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marshak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marshak_set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Напечатаем длину строки (фактически - количество символов в строке) и длину сета: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('Количество символов в строке:', 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len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marshak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('Количество элементов в сете:', 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len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marshak_set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Создан сет, каждый его элемент — символ строки, и каждый элемент уникален. Дубликаты удалены, поэтому сет короче строки.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51208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561788"/>
          </a:xfrm>
        </p:spPr>
        <p:txBody>
          <a:bodyPr/>
          <a:lstStyle/>
          <a:p>
            <a:pPr algn="ctr"/>
            <a:r>
              <a:rPr lang="ru-RU" sz="40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Элемент множества — неизменяемый объект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40465"/>
            <a:ext cx="11666483" cy="611753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Элементом множества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не могут быть данные изменяемых типов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например списки.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Из списка множество будет создано лишь в том случае, если элементы списка — неизменяемые объекты.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Объявим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set, 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элементами которого будут списки:</a:t>
            </a:r>
          </a:p>
          <a:p>
            <a:pPr algn="l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 = ['</a:t>
            </a:r>
            <a:r>
              <a:rPr 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Томат', 'Огурец', 'Кабачок', 'Баклажан’]</a:t>
            </a:r>
          </a:p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vegetable_prices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[100, 50, 70, 120]</a:t>
            </a:r>
          </a:p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vegetables_set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{vegetables,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vegetable_prices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}</a:t>
            </a:r>
          </a:p>
          <a:p>
            <a:pPr algn="l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vegetables_set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терминал: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TypeError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unhashable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type: 'list’</a:t>
            </a:r>
            <a:endParaRPr lang="en-US" sz="16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Множество можно создать и из словаря: оно будет содержать только ключи. Ключи словаря — неизменяемые объекты, потому проблем не возникнет.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Создаём словарь: коллекцию, каждый элемент которой состоит из пары "овощ: цена".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</a:p>
          <a:p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Каждый ключ в словаре уникален.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Ключи словаря - неизменяемые объекты.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vegetable_prices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{'Томат': 100, 'Огурец': 50}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В </a:t>
            </a:r>
            <a:r>
              <a:rPr lang="ru-RU" sz="1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set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 передан словарь.</a:t>
            </a: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vegetable_names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set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vegetable_prices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17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vegetable_names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Будет напечатано: 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{'Томат', 'Огурец’}</a:t>
            </a: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В результате получилось множество,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состоящее из ключей исходного словаря. 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079672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800" y="2176671"/>
            <a:ext cx="10782300" cy="690769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Удаление элемента множества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40464"/>
            <a:ext cx="11666483" cy="611753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Множество — изменяемая коллекция, элементы можно удалять и добавлять.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добавления элемента в множество применяют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set.add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Это очень похоже на операцию для списков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list.append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добавляемый элемент уже есть в множестве, ничего не произойдёт, множество не изменится, но и ошибки не будет.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удаления элемента есть три способа: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set.remove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&gt;,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element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set.discard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&gt;,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element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set.pop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Операции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set.remove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set.discard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очень схожи: обе они удаляют элемент из множества.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Разница между ними в том, как они себя ведут при попытке удалить элемент, которого нет в множестве.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попытаться удалить несуществующий элемент: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set.remove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выдаст ошибку, выполнение программы остановится;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set.discard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проигнорирует эту попытку и не вызовет ошибку.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Операция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set.discard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кажется более безопасной в ситуациях, когда неизвестно, существует ли элемент в множестве или нет. Однако если нет уверенности, что нужный элемент есть в множестве и нужно обработать случаи его отсутствия, операция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set.remove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окажется предпочтительнее: она немедленно уведомит об ошибке, тогда как в случае применения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set.discard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никто даже и не узнает об отсутствии элемента.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Функция </a:t>
            </a:r>
            <a:r>
              <a:rPr lang="ru-RU" sz="2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set.pop</a:t>
            </a:r>
            <a:r>
              <a:rPr lang="ru-RU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()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удаляет и возвращает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случайный элемент множества. Для жеребьёвки отличный вариант, результат предугадать нельзя.</a:t>
            </a:r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DB92AA3-1D42-8265-B738-3F686EB5C4E4}"/>
              </a:ext>
            </a:extLst>
          </p:cNvPr>
          <p:cNvSpPr txBox="1">
            <a:spLocks/>
          </p:cNvSpPr>
          <p:nvPr/>
        </p:nvSpPr>
        <p:spPr>
          <a:xfrm>
            <a:off x="755904" y="94422"/>
            <a:ext cx="10782300" cy="6907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8800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Добавление элемента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96373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317" y="2653521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Особенности множеств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09430"/>
            <a:ext cx="11666483" cy="594857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очистки существующего множества есть функция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set.clear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точно как для списков и словарей: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 = {'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томат', 'огурец', 'баклажан', 'лук’}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set.clear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(vegetables)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print(vegetables)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терминал: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set() </a:t>
            </a:r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работе с множествами доступны инструменты, о которых другие коллекции даже и мечтать не могут. Например, одно из основных свойств множества — уникальность элементов — позволяет применять множества для очистки последовательностей от дубликатов: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 = ['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Помидор', 'Огурец', 'Кабачок', 'Баклажан', 'Цветная капуста', 'Огурец', 'Баклажан’]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uniq_vegetables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set(vegetables)</a:t>
            </a:r>
          </a:p>
          <a:p>
            <a:pPr algn="l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uniq_vegetables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Вывод в терминал: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{'Помидор', 'Огурец', 'Кабачок', 'Баклажан', 'Цветная капуста’}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Дублирующиеся названия удалены! 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FDD019E-9B12-C3F2-0E1C-6E6AEFB2B3EE}"/>
              </a:ext>
            </a:extLst>
          </p:cNvPr>
          <p:cNvSpPr txBox="1">
            <a:spLocks/>
          </p:cNvSpPr>
          <p:nvPr/>
        </p:nvSpPr>
        <p:spPr>
          <a:xfrm>
            <a:off x="755904" y="331077"/>
            <a:ext cx="10782300" cy="6516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8800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800" i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Очистка множества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61244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41301"/>
          </a:xfrm>
        </p:spPr>
        <p:txBody>
          <a:bodyPr/>
          <a:lstStyle/>
          <a:p>
            <a:pPr algn="ctr"/>
            <a:r>
              <a:rPr lang="ru-RU" sz="4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Проверка наличия элемента в множестве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864704"/>
            <a:ext cx="11666483" cy="5993296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Чтобы определить, есть ли нужный элемент в множестве, применяют оператор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Он работает так же, как и для последовательностей, но поиск выполняется гораздо быстрее — это связано с особенностью хранения множеств в памяти.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Поиск по неизменяемым объектам происходит очень быстро. Если предполагается, что по коллекции нужно будет проводить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поиск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то при возможности лучше преобразовать список в множество: это ускорит работу программы. Само по себе преобразование в множество тоже займёт время, но может быть выгоднее потратить время на преобразование — и за счёт этого ускорить поиск.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987779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Пересечение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Поиск «пересечения» (поиск совпадающих элементов) двух коллекций — востребованная операция в программировании: например, пересечением можно найти одинаковые почтовые адреса в двух списках контактов или одинаковые товары в разных интернет-магазинах.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поиска пересечения двух множеств применяют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&amp;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(логическое И).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Выражение с этим оператором возвращает новое множество, в котором будут собраны элементы, одновременно присутствующие в обоих исходных множествах: «верни элементы, которые есть в первом И во втором множествах».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Получить пересечение множеств можно и другим способом — для этого есть функция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set.intersection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(&lt;set_1&gt;, &lt;set_2&gt;)</a:t>
            </a:r>
            <a:endParaRPr lang="ru-RU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171155-47EC-D5CA-7FB2-15F3945DBA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56" t="8381" r="19946" b="6486"/>
          <a:stretch/>
        </p:blipFill>
        <p:spPr>
          <a:xfrm>
            <a:off x="3889105" y="3990561"/>
            <a:ext cx="4413790" cy="268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47278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Объединение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результате объединения двух множеств (операция «логическое ИЛИ») будет создано новое множество, содержащее все элементы исходных: «верни элементы, которые есть в первом ИЛИ во втором множестве».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Логическое ИЛИ обозначается оператором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|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Другой способ объединить два множества — применить функцию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set.union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(&lt;set_1&gt;, &lt;set_2&gt;)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0176B2-0B8A-7400-ECAD-7EB4C50C12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93" t="8742" r="11997" b="5583"/>
          <a:stretch/>
        </p:blipFill>
        <p:spPr>
          <a:xfrm>
            <a:off x="2312206" y="2980281"/>
            <a:ext cx="7364895" cy="356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83744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Разность множеств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Разность множеств возвращает новое множество, в которое войдут те элементы первого множества, которых нет среди элементов второго: «верни элементы первого множества за вычетом тех, что есть во втором».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для поиска разности — обычный минус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-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Разность можно найти и функцией </a:t>
            </a:r>
            <a:r>
              <a:rPr lang="ru-RU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set.difference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(&lt;set_1&gt;, &lt;set_2&gt;)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EE88DF-1564-01E4-8B9E-D1A0B7A017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32" t="8201" r="13587" b="5132"/>
          <a:stretch/>
        </p:blipFill>
        <p:spPr>
          <a:xfrm>
            <a:off x="2483655" y="2965208"/>
            <a:ext cx="7021997" cy="371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202206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Симметрическая разность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Симметрической разностью двух множеств будет третье множество, каждый элемент которого принадлежит либо первому, либо второму множеству, но не их пересечению: «верни элементы двух множеств, но исключи элементы, которые есть и в первом, и во втором множестве одновременно».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Для поиска симметрической разности применяют оператор «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ка́рет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^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Симметрическую разность можно найти и с помощью функции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set.symmetric_difference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(&lt;set_1&gt;, &lt;set_2&gt;)</a:t>
            </a:r>
            <a:endParaRPr lang="en-US" sz="24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CFDA50-65D5-99C5-7ABA-E00D978962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9" t="9013" r="17174" b="5583"/>
          <a:stretch/>
        </p:blipFill>
        <p:spPr>
          <a:xfrm>
            <a:off x="2529509" y="2798253"/>
            <a:ext cx="6937513" cy="388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1659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799313"/>
          </a:xfrm>
        </p:spPr>
        <p:txBody>
          <a:bodyPr/>
          <a:lstStyle/>
          <a:p>
            <a:pPr algn="ctr"/>
            <a:r>
              <a:rPr lang="ru-RU" sz="4800" b="1" dirty="0"/>
              <a:t>Цикл </a:t>
            </a:r>
            <a:r>
              <a:rPr lang="en-US" sz="4800" b="1" dirty="0"/>
              <a:t> </a:t>
            </a:r>
            <a:r>
              <a:rPr lang="en-US" sz="4800" b="1" i="1" dirty="0"/>
              <a:t>for</a:t>
            </a:r>
            <a:endParaRPr lang="ru-RU" sz="4800" b="1" i="1" dirty="0"/>
          </a:p>
        </p:txBody>
      </p:sp>
    </p:spTree>
    <p:extLst>
      <p:ext uri="{BB962C8B-B14F-4D97-AF65-F5344CB8AC3E}">
        <p14:creationId xmlns:p14="http://schemas.microsoft.com/office/powerpoint/2010/main" val="256435745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Циклы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Цикл — это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операция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позволяющая многократно выполнять один и тот же фрагмент кода. Циклы в Python объявляются специальными операторами. Обязательной составляющей цикла должно быть какое-то правило,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условие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при котором цикл прекратит выполняться, — ведь иначе он запустится и будет работать вечно.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объявление_цикла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&lt;условие&gt;: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код, который будет выполняться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несколько раз, до тех пор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пока работа цикла не будет прервана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согласно условию. 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4176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Цикл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Цикл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применяется в тех случаях, когда определённый набор операций надо выполнить известное количество раз.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Цикл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всегда применяется в сочетании с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коллекцией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или с иным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итерируемым объектом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! 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Итерируемым называют программный объект, который содержит элементы, и эти элементы можно перебрать по отдельности.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Например, список, диапазон или строка — это итерируемые объекты, а число —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неитерируемый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объект: число всегда содержит лишь само себя — одно-единственное значение.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777609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Объявление и применение цикла 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объявлении цикла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указывают: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переменную, в которую на каждой итерации будет передаваться очередной элемент коллекции;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in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имя коллекции или саму коллекцию, которую нужно перебрать в цикле;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 имени коллекции ставится двоеточие 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 объявления цикла записывается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тело цикла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код, который должен выполняться на каждой итерации. Тело цикла должно быть отбито отступом относительно строки, в которой объявлен цикл (так же, как и у функций, например).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FD5900-7452-4010-1541-A526F16477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2" t="18818" r="2112" b="13923"/>
          <a:stretch/>
        </p:blipFill>
        <p:spPr>
          <a:xfrm>
            <a:off x="1436289" y="4579683"/>
            <a:ext cx="9308910" cy="190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0939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54057"/>
            <a:ext cx="11666483" cy="6703943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Переменная, которая указана после оператора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на каждой итерации цикла принимает значение очередного элемента обрабатываемой последовательности, и это значение можно обработать в теле цикла.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Имя переменной, которая указывается после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for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придумывает разработчик. При возможности это имя создают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на основе имени коллекции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которая обрабатывается в цикле. Как правило, имя коллекции — это существительное во множественном числе, а переменная цикла — то же самое существительное, но в единственном числе: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коллекция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books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переменная цикла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book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;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коллекция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movies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— переменная цикла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movie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…</a:t>
            </a: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Циклы, в теле которых не применяется переменная цикла, — не такая уж и редкость. И чтобы сделать код понятнее, в таких случаях принято использовать в качестве имени переменной символ подчёркивания 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_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D3C8C1-1C74-B517-776A-77C7C24E0E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29" t="9826" r="14158" b="9407"/>
          <a:stretch/>
        </p:blipFill>
        <p:spPr>
          <a:xfrm>
            <a:off x="3497242" y="785190"/>
            <a:ext cx="5187003" cy="280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6607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59027"/>
            <a:ext cx="11666483" cy="6698974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Можно перебирать не элементы списков, а последовательность чисел, которая будет соответствовать индексам этих списков. Тогда на каждой итерации цикла можно получить число — индекс очередного элемента. И по индексу получить элемент из любого списка!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Первый индекс любой последовательности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sequence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ноль, а последний индекс —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len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sequence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- 1.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Значит, все индексы последовательности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sequence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будут содержаться в диапазоне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range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len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sequence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)). Вот этот диапазон и передадим в цикл — ведь в цикле можно перебирать любую последовательность.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Обращение к элементам по индексам перебором диапазона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len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sequence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)) вполне работает, однако документация Python рекомендует перебирать в цикле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for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саму коллекцию, а не её индексы.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 = ['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Помидоры', 'Огурцы', 'Баклажаны', 'Перец’]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Лучше всего делать так, когда возможно. 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for vegetable in vegetables: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Перебираем коллекцию.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 print(vegetable)</a:t>
            </a: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А так лучше не надо.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for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in range(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len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(vegetables)):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Перебираем индексы.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print(vegetables[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])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760517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Распаковка вложенных коллекций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коллекция, которую обрабатывает цикл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 качестве элементов содержит другие коллекции, то можно объявить не одну, а несколько переменных цикла (по числу элементов во вложенной коллекции), и тогда в теле цикла можно будет обработать эти значения по отдельности.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vegetables = ['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Помидоры', 'Огурцы', 'Баклажаны', 'Перец', 'Капуста’]</a:t>
            </a:r>
          </a:p>
          <a:p>
            <a:pPr algn="l"/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[6.5, 4.3, 2.8, 2.2, 3.5]</a:t>
            </a:r>
          </a:p>
          <a:p>
            <a:pPr algn="l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Получаем коллекцию кортежей, где в каждом кортеже по два элемента: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(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vegetables[0],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vegetable_yields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[0]), (vegetables[1],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vegetable_yields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[1])...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vegetable_titles_and_yields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zip(vegetables, 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</a:p>
          <a:p>
            <a:pPr algn="l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Перебираем коллекцию кортежей, распаковывая каждый кортеж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в переменные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vegetable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yield_per_meter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for vegetable, 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yield_per_meter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in 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vegetable_titles_and_yields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       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Теперь соответствующие друг другу значения из двух списков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	        # можно обработать как угодно.</a:t>
            </a:r>
          </a:p>
          <a:p>
            <a:pPr algn="l"/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	      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print(f'{vegetable}: 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Урожайность - {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yield_per_meter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* 10000:.0f} 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кг на гектар.') </a:t>
            </a:r>
            <a:endParaRPr lang="ru-RU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218409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Обработка словаря в цикле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При работе со словарём цикл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for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передаёт в переменную именно ключи словаря. Чтобы перебрать значения словаря, нужно получить их функцией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dict.values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(&lt;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&gt;)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и перебирать в цикле коллекцию значений, которую вернёт эта функция.</a:t>
            </a:r>
          </a:p>
          <a:p>
            <a:pPr algn="l"/>
            <a:endParaRPr lang="ru-RU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Чтобы обработать и ключи, и значения словаря, нужно: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Получить из словаря пары ключ: значение функцией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dict.items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(&lt;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dict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&gt;).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Она возвращает коллекцию кортежей, в каждом из которых два элемента — ключ и значение.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цикле перебрать полученную коллекцию кортежей, распаковать каждый из кортежей в отдельные переменные — и использовать полученные значения в коде.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853617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799313"/>
          </a:xfrm>
        </p:spPr>
        <p:txBody>
          <a:bodyPr/>
          <a:lstStyle/>
          <a:p>
            <a:pPr algn="ctr"/>
            <a:r>
              <a:rPr lang="ru-RU" sz="4800" b="1" dirty="0"/>
              <a:t>Цикл </a:t>
            </a:r>
            <a:r>
              <a:rPr lang="en-US" sz="4800" b="1" dirty="0"/>
              <a:t> </a:t>
            </a:r>
            <a:r>
              <a:rPr lang="en-US" sz="4800" b="1" i="1" dirty="0"/>
              <a:t>while</a:t>
            </a:r>
            <a:endParaRPr lang="ru-RU" sz="4800" b="1" i="1" dirty="0"/>
          </a:p>
        </p:txBody>
      </p:sp>
    </p:spTree>
    <p:extLst>
      <p:ext uri="{BB962C8B-B14F-4D97-AF65-F5344CB8AC3E}">
        <p14:creationId xmlns:p14="http://schemas.microsoft.com/office/powerpoint/2010/main" val="3494590595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Цикл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while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Этот цикл используется в ситуациях, когда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количество итераций неизвестно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Цикл будет выполнять вложенный в него код до тех пор, пока (англ.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while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 будет соблюдаться условие, заданное при его объявлении.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Например, многие кошки запрограммированы так: «Носись по дому, пока открыты двери!» Неизвестно, когда хозяева кошки закроют дверь, но это в конце концов случится, и выполнение кошачьей программы будет прервано.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while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дверь_открыта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== True:</a:t>
            </a:r>
          </a:p>
          <a:p>
            <a:pPr algn="l"/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   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носиться по дому 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0FB81E-BC08-6822-0BD7-33D6E3C926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74" t="8801" r="11223" b="9504"/>
          <a:stretch/>
        </p:blipFill>
        <p:spPr>
          <a:xfrm>
            <a:off x="3359078" y="3657600"/>
            <a:ext cx="5473843" cy="307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21211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342899"/>
            <a:ext cx="11666483" cy="6515101"/>
          </a:xfrm>
        </p:spPr>
        <p:txBody>
          <a:bodyPr>
            <a:normAutofit/>
          </a:bodyPr>
          <a:lstStyle/>
          <a:p>
            <a:pPr algn="l"/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Объявление цикла </a:t>
            </a:r>
            <a:r>
              <a:rPr lang="ru-RU" sz="2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while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ключевое слово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while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через пробел —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условное выражение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; цикл будет выполняться до тех пор, пока это выражение возвращает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True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 условия —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двоеточие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После объявления цикла пишется его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тело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с отступом в четыре пробела.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825FE7-AA2B-EDBC-AEFC-18C42E6D0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514" y="3280269"/>
            <a:ext cx="9426459" cy="274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04346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73935"/>
            <a:ext cx="11666483" cy="6684065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Python не принято проверять переменную на истинность через оператор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==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Хорошей практикой является следующий синтаксис:</a:t>
            </a: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is_door_open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True</a:t>
            </a: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До тех пор, пока дверь открыта...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while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is_door_open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</a:t>
            </a:r>
          </a:p>
          <a:p>
            <a:pPr algn="l"/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    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...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 проверка на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будет выглядеть так:</a:t>
            </a: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is_door_open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True</a:t>
            </a: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До тех пор, пока дверь не открыта...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while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not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is_door_open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</a:t>
            </a:r>
          </a:p>
          <a:p>
            <a:pPr algn="l"/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   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...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при объявлении цикла условие ложно, то тело цикла не выполнится ни разу.</a:t>
            </a:r>
            <a:endParaRPr lang="en-US" sz="200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 если указать выражение, значение которого всегда будет истинным или вместо выражения просто написать True, то цикл будет выполняться бесконечно.</a:t>
            </a:r>
            <a:r>
              <a:rPr lang="en-US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 практике необдуманный запуск «вечного» цикла может привести к тому, что программа никогда не перейдёт к выполнению кода, следующего за циклом, а компьютер или сервер, на котором выполняется код, может просто зависнуть.</a:t>
            </a:r>
          </a:p>
        </p:txBody>
      </p:sp>
    </p:spTree>
    <p:extLst>
      <p:ext uri="{BB962C8B-B14F-4D97-AF65-F5344CB8AC3E}">
        <p14:creationId xmlns:p14="http://schemas.microsoft.com/office/powerpoint/2010/main" val="3754622463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799313"/>
          </a:xfrm>
        </p:spPr>
        <p:txBody>
          <a:bodyPr/>
          <a:lstStyle/>
          <a:p>
            <a:pPr algn="ctr"/>
            <a:r>
              <a:rPr lang="ru-RU" sz="4800" b="1" dirty="0"/>
              <a:t>Управление циклами</a:t>
            </a:r>
            <a:endParaRPr lang="ru-RU" sz="4800" b="1" i="1" dirty="0"/>
          </a:p>
        </p:txBody>
      </p:sp>
    </p:spTree>
    <p:extLst>
      <p:ext uri="{BB962C8B-B14F-4D97-AF65-F5344CB8AC3E}">
        <p14:creationId xmlns:p14="http://schemas.microsoft.com/office/powerpoint/2010/main" val="1214212473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Вложенные циклы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Циклы можно вкладывать друг в друга, при этом вложенный цикл будет выполняться для каждой итерации внешнего цикла.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Внешний цикл, он перебирает коллекцию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elements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for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element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elements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	        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...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       # Выполняем какие-то действия в цикле,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	       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print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element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# например печатаем каждый элемент.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	       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for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item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in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element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: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И прямо в теле цикла объявляем новый цикл.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   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             ...             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И в этом цикле тоже выполняем какие-то действия.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 каждым уровнем вложенности число пробелов перед телом цикла растёт относительно начала строки. На каждом дополнительном уровне вложенности код отбивают дополнительными четырьмя пробелами.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Но может быть и другая задача, когда внешний цикл перебирает одну коллекцию, а внутренний — другую.</a:t>
            </a:r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789701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Инструкция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continue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830317"/>
            <a:ext cx="11666483" cy="5953140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Если не вмешиваться в работу цикла, он на каждой итерации выполнит весь код в теле цикла. Но можно вмешаться и настроить цикл так, чтобы он не выполнял определённую итерацию. Для этого есть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continue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(англ. «продолжить»), он означает «бросай выполнять эту итерацию и продолжай со следующей!».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break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прерывает текущий цикл, итерация по последовательности прерывается.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! 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Операторы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continue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break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влияют на работу именно того цикла, в котором они применены. Например, прерывание вложенного цикла никак не повлияет на работу внешнего.</a:t>
            </a:r>
            <a:endParaRPr lang="en-US" sz="2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Итог: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continue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полезен, когда нужно пропустить определённые итерации цикла или определенные действия внутри итерации, но продолжить выполнение оставшихся итераций.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1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break</a:t>
            </a:r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полезен, когда нужно немедленно завершить выполнение цикла: например, когда найден нужный элемент или достигнуто некоторое условие.</a:t>
            </a:r>
          </a:p>
          <a:p>
            <a:pPr algn="l"/>
            <a:r>
              <a:rPr lang="ru-RU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Эти операторы воздействуют только на текущий цикл. Если использовать их во вложенных циклах, они не повлияют на внешние циклы.</a:t>
            </a:r>
            <a:endParaRPr lang="en-US" sz="2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ru-RU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7E0BF9F-7407-469F-E36E-0364431A99D6}"/>
              </a:ext>
            </a:extLst>
          </p:cNvPr>
          <p:cNvSpPr txBox="1">
            <a:spLocks/>
          </p:cNvSpPr>
          <p:nvPr/>
        </p:nvSpPr>
        <p:spPr>
          <a:xfrm>
            <a:off x="779308" y="1723088"/>
            <a:ext cx="10782300" cy="6516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8800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Инструкция </a:t>
            </a:r>
            <a:r>
              <a:rPr lang="en-US" sz="4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3313261994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95447"/>
            <a:ext cx="12192000" cy="799313"/>
          </a:xfrm>
        </p:spPr>
        <p:txBody>
          <a:bodyPr/>
          <a:lstStyle/>
          <a:p>
            <a:pPr algn="ctr"/>
            <a:r>
              <a:rPr lang="ru-RU" sz="4800" b="1" dirty="0"/>
              <a:t>Списковые и словарные включения</a:t>
            </a:r>
            <a:endParaRPr lang="ru-RU" sz="4800" b="1" i="1" dirty="0"/>
          </a:p>
        </p:txBody>
      </p:sp>
    </p:spTree>
    <p:extLst>
      <p:ext uri="{BB962C8B-B14F-4D97-AF65-F5344CB8AC3E}">
        <p14:creationId xmlns:p14="http://schemas.microsoft.com/office/powerpoint/2010/main" val="3003713359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561788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Списковое включение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660953"/>
            <a:ext cx="11666483" cy="6197048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Создание списков посредством циклов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— востребованная задача, и для этой операции в Python есть «синтаксический сахар», сокращённый способ записи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который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называется «списковое включение» (</a:t>
            </a:r>
            <a:r>
              <a:rPr lang="ru-RU" sz="22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</a:t>
            </a:r>
            <a:r>
              <a:rPr lang="ru-RU" sz="22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2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comprehension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читается как «лист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компрехеншн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»). Это сокращённая форма записи программного кода, создающего список на основе заданных правил и условий.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Термин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comprehension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иногда переводят как «генератор списков», но этот перевод не совсем корректен: в Python есть отдельное понятие «генератор», в результате возникает терминологическая путаница.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new_sequence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= [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&lt;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значение_элемента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&gt;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for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&lt;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переменная_цикла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&gt;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in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&lt;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исходный_список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&gt;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]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</a:p>
          <a:p>
            <a:pPr algn="l"/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Этот код работает как цикл, поочерёдно создающий элементы списка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new_sequence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просто часть операций спрятана «под капот». Если посмотреть на эту конструкцию повнимательнее, можно увидеть, что она собрана из знакомых «деталей».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Первым делом c помощью квадратных скобок объявляется список, это знакомо.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Cодержимое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списка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new_sequence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создаётся с помощью конструкции, помещённой в эти скобки. С ключевого слова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for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начинается обычное объявление цикла.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...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for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&lt;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переменная_цикла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&gt;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in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&lt;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исходный_список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&gt;...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Всё, что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левее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for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— это выражение или значение, из которого на каждой итерации цикла создаётся очередной элемент списка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new_sequence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В этом выражении можно использовать переменную цикла. Выражение в левой части конструкции может возвращать что угодно, лишь бы это «что угодно» могло быть элементом списка.</a:t>
            </a:r>
          </a:p>
          <a:p>
            <a:pPr algn="l"/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118739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63997"/>
            <a:ext cx="11666483" cy="6694004"/>
          </a:xfrm>
        </p:spPr>
        <p:txBody>
          <a:bodyPr>
            <a:normAutofit/>
          </a:bodyPr>
          <a:lstStyle/>
          <a:p>
            <a:pPr algn="l"/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# Сперва решим эту задачу в обычном цикле</a:t>
            </a:r>
          </a:p>
          <a:p>
            <a:pPr algn="l"/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18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new_sequence</a:t>
            </a:r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[]</a:t>
            </a:r>
          </a:p>
          <a:p>
            <a:pPr algn="l"/>
            <a:endParaRPr lang="en-US" sz="18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for value in range(6):</a:t>
            </a:r>
          </a:p>
          <a:p>
            <a:pPr algn="l"/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  	        </a:t>
            </a:r>
            <a:r>
              <a:rPr lang="en-US" sz="18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list.append</a:t>
            </a:r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(</a:t>
            </a:r>
            <a:r>
              <a:rPr lang="en-US" sz="18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new_sequence</a:t>
            </a:r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, value * 3)</a:t>
            </a:r>
          </a:p>
          <a:p>
            <a:pPr algn="l"/>
            <a:endParaRPr lang="en-US" sz="18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print(</a:t>
            </a:r>
            <a:r>
              <a:rPr lang="en-US" sz="18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new_sequence</a:t>
            </a:r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endParaRPr lang="en-US" sz="18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# </a:t>
            </a:r>
            <a:r>
              <a:rPr lang="ru-RU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А теперь то же самое запишем в сокращённой форме:</a:t>
            </a:r>
          </a:p>
          <a:p>
            <a:pPr algn="l"/>
            <a:r>
              <a:rPr lang="en-US" sz="1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	</a:t>
            </a:r>
            <a:r>
              <a:rPr lang="en-US" sz="18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new_sequence_better</a:t>
            </a:r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 = </a:t>
            </a:r>
            <a:r>
              <a:rPr lang="en-US" sz="18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YS Text"/>
              </a:rPr>
              <a:t>[value * 3 for value in range(6)] </a:t>
            </a:r>
            <a:r>
              <a:rPr lang="en-US" sz="1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YS Text"/>
              </a:rPr>
              <a:t># </a:t>
            </a:r>
            <a:r>
              <a:rPr lang="ru-RU" sz="1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YS Text"/>
              </a:rPr>
              <a:t>Всё!</a:t>
            </a:r>
          </a:p>
          <a:p>
            <a:pPr algn="l"/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	print(</a:t>
            </a:r>
            <a:r>
              <a:rPr lang="en-US" sz="1800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new_sequence_better</a:t>
            </a:r>
            <a:r>
              <a:rPr lang="en-US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YS Text"/>
              </a:rPr>
              <a:t>)</a:t>
            </a:r>
          </a:p>
          <a:p>
            <a:pPr algn="l"/>
            <a:endParaRPr lang="ru-RU" sz="18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Выражение, расположенное перед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for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может быть логическим, и тогда будет создан список, значениями элементов которого будут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True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и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False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Например: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new_sequence_better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len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(vegetable) &gt;= 7 for vegetable in vegetables]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63802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Словарные включения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848358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Словари можно создавать при помощи конструкции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dict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comprehension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 Эта конструкция создаёт словарь на основе значений исходной последовательности — перебирает последовательность в цикле, получает её элементы и создаёт ключи и значения элементов словаря.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&lt;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имя_словаря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&gt; = </a:t>
            </a:r>
            <a:r>
              <a:rPr lang="ru-RU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YS Text"/>
              </a:rPr>
              <a:t>{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&lt;ключ&gt;: &lt;значение&gt; </a:t>
            </a:r>
            <a:r>
              <a:rPr lang="ru-RU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YS Text"/>
              </a:rPr>
              <a:t>for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&lt;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переменная_цикла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&gt; </a:t>
            </a:r>
            <a:r>
              <a:rPr lang="ru-RU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YS Text"/>
              </a:rPr>
              <a:t>in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&lt;</a:t>
            </a:r>
            <a:r>
              <a:rPr lang="ru-RU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имя_исходной_последовательности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&gt;</a:t>
            </a:r>
            <a:r>
              <a:rPr lang="ru-RU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YS Text"/>
              </a:rPr>
              <a:t>}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Синтаксис словарного включения сходен с синтаксисом спискового включения: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с помощью фигурных скобок объявляется словарь: &lt;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имя_словаря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&gt; = {};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внутри скобок записывается выражение, генерирующее элементы словаря.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 этой записи &lt;ключ&gt; и &lt;значение&gt; составляют очередной элемент словаря; это могут быть любые значения или выражения, которые создадут элемент.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В цикле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for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перебираем последовательность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range(3),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 очереди передаём значение каждого элемента в переменную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value,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для каждого элемента словаря создаём ключ и значение:</a:t>
            </a:r>
          </a:p>
          <a:p>
            <a:pPr algn="l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new_collection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{f'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Ключ {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value}': f'</a:t>
            </a:r>
            <a:r>
              <a:rPr lang="ru-RU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Значение {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value}' for value in range(3)}</a:t>
            </a:r>
          </a:p>
          <a:p>
            <a:pPr algn="l"/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print(</a:t>
            </a:r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new_collection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)</a:t>
            </a:r>
            <a:endParaRPr lang="ru-RU" sz="18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159449155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Условия в </a:t>
            </a:r>
            <a:r>
              <a:rPr lang="en-US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 comprehension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914399"/>
            <a:ext cx="11666483" cy="5943601"/>
          </a:xfrm>
        </p:spPr>
        <p:txBody>
          <a:bodyPr>
            <a:normAutofit/>
          </a:bodyPr>
          <a:lstStyle/>
          <a:p>
            <a:pPr algn="l"/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левой части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comprehension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там, где описывается значение очередного элемента для создаваемого списка, можно задать два варианта, из которых будет выбран один, в зависимости от условия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(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споминаем 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Тернарный оператор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). </a:t>
            </a:r>
          </a:p>
          <a:p>
            <a:pPr algn="l"/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fruit_yields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[164.8, 105.0, 124.3, 113.8] </a:t>
            </a:r>
          </a:p>
          <a:p>
            <a:pPr algn="l"/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corrected_fruit_yields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en-US" sz="2000" b="1" dirty="0">
                <a:solidFill>
                  <a:srgbClr val="FFFF00"/>
                </a:solidFill>
                <a:latin typeface="YS Text"/>
              </a:rPr>
              <a:t>[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yield_value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+ 1.2 </a:t>
            </a:r>
            <a:r>
              <a:rPr lang="en-US" sz="2000" b="1" dirty="0">
                <a:solidFill>
                  <a:srgbClr val="FFFF00"/>
                </a:solidFill>
                <a:latin typeface="YS Text"/>
              </a:rPr>
              <a:t>if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yield_value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&lt; 120 </a:t>
            </a:r>
            <a:r>
              <a:rPr lang="en-US" sz="2000" b="1" dirty="0">
                <a:solidFill>
                  <a:srgbClr val="FFFF00"/>
                </a:solidFill>
                <a:latin typeface="YS Text"/>
              </a:rPr>
              <a:t>else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yield_value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YS Text"/>
              </a:rPr>
              <a:t>for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yield_value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YS Text"/>
              </a:rPr>
              <a:t>in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fruit_yields</a:t>
            </a:r>
            <a:r>
              <a:rPr lang="en-US" sz="2000" b="1" dirty="0">
                <a:solidFill>
                  <a:srgbClr val="FFFF00"/>
                </a:solidFill>
                <a:latin typeface="YS Text"/>
              </a:rPr>
              <a:t>]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                      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	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|- - - -          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       Тернарный оператор               - - - -|</a:t>
            </a:r>
          </a:p>
          <a:p>
            <a:pPr algn="l"/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Такая запись как пишется, так и читается: «добавь в новый список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yield_value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+ 1.2, если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yield_value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&lt; 120, иначе добавь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yield_value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».</a:t>
            </a: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Условие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if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можно применять и без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else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Если задача будет в том, чтобы сформировать список только из тех значений, которые больше 120, тернарный оператор не потребуется. В таком случае выражение </a:t>
            </a:r>
            <a:r>
              <a:rPr lang="ru-RU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if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&lt;условие&gt;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пишется после объявления цикла.</a:t>
            </a:r>
          </a:p>
          <a:p>
            <a:pPr algn="l"/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fruit_yields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[164.8, 105.0, 124.3, 113.8] 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Присвоить новому элементу значение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yield_value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,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ЕСЛИ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yield_value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&gt; 120. </a:t>
            </a:r>
          </a:p>
          <a:p>
            <a:pPr algn="l"/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new_yields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en-US" sz="2000" b="1" dirty="0">
                <a:solidFill>
                  <a:srgbClr val="FFFF00"/>
                </a:solidFill>
                <a:latin typeface="YS Text"/>
              </a:rPr>
              <a:t>[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yield_value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YS Text"/>
              </a:rPr>
              <a:t>for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yield_value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YS Text"/>
              </a:rPr>
              <a:t>in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fruit_yields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YS Text"/>
              </a:rPr>
              <a:t>if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yield_value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&gt; 120</a:t>
            </a:r>
            <a:r>
              <a:rPr lang="en-US" sz="2000" b="1" dirty="0">
                <a:solidFill>
                  <a:srgbClr val="FFFF00"/>
                </a:solidFill>
                <a:latin typeface="YS Text"/>
              </a:rPr>
              <a:t>]</a:t>
            </a:r>
            <a:endParaRPr lang="ru-RU" sz="4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427519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1088562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Проверка элементов списка на соответствие условию: 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all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и </a:t>
            </a:r>
            <a:r>
              <a:rPr lang="ru-RU" sz="48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any</a:t>
            </a:r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267239"/>
            <a:ext cx="11666483" cy="559076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 работе с коллекциями есть и такая популярная задача: проверить, соответствуют ли элементы коллекции заданным условиям. Например, в списке с именами людей или с названиями овощей должны быть только строки, никаких чисел. В списке, где указана урожайность сельскохозяйственных культур, должны быть только положительные числа. </a:t>
            </a: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Зачастую лучше убедиться, что все элементы списка соответствуют установленным требованиям. В этом помогут функции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all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и </a:t>
            </a:r>
            <a:r>
              <a:rPr lang="ru-RU" sz="2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any</a:t>
            </a:r>
            <a:r>
              <a:rPr lang="ru-RU" sz="2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</a:t>
            </a:r>
            <a:r>
              <a:rPr lang="ru-RU" sz="24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  <a:endParaRPr lang="ru-RU" sz="200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Эти функции принимают на вход коллекции, элементами которых должны быть True,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или любые другие значения или выражения которые можно привести к True или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False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any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True, если хоть один элемент в последовательности — True.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Функция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all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() 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возвращает True, если все элементы последовательности — True.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Без проблем можно совместить эти функции с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list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</a:t>
            </a:r>
            <a:r>
              <a:rPr lang="ru-RU" sz="20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comprehension</a:t>
            </a:r>
            <a:r>
              <a:rPr lang="ru-RU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:</a:t>
            </a:r>
            <a:endParaRPr lang="en-US" sz="20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[6.5, 4.3, 2.8, 3.8, 2.2, 3.5]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Все ли проверки вернули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True?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are_all_positive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all([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&gt; 0 for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in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])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Есть ли хоть один элемент, вернувший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True?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are_any_positive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any([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&gt; 0 for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in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vegetable_yields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])</a:t>
            </a:r>
            <a:endParaRPr lang="ru-RU" sz="20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YS Text"/>
            </a:endParaRPr>
          </a:p>
          <a:p>
            <a:pPr algn="l"/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3916785037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55EA-0B55-E1BF-4821-E21710A94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8677"/>
            <a:ext cx="10782300" cy="651640"/>
          </a:xfrm>
        </p:spPr>
        <p:txBody>
          <a:bodyPr/>
          <a:lstStyle/>
          <a:p>
            <a:pPr algn="ctr"/>
            <a:r>
              <a:rPr lang="ru-RU" sz="48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Работа с вложенными списками</a:t>
            </a:r>
            <a:endParaRPr lang="ru-RU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775253"/>
            <a:ext cx="11666483" cy="6082748"/>
          </a:xfrm>
        </p:spPr>
        <p:txBody>
          <a:bodyPr>
            <a:normAutofit/>
          </a:bodyPr>
          <a:lstStyle/>
          <a:p>
            <a:pPr algn="l"/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Список </a:t>
            </a:r>
            <a:r>
              <a:rPr lang="ru-RU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garden</a:t>
            </a:r>
            <a:r>
              <a:rPr lang="ru-RU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, в котором всё хранится, описывает огород. Каждый элемент этого списка — список, описывающий грядку. Таких грядок будет четыре. Каждый список-грядка хранит названия овощей, которые растут на этой грядке.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garden = [</a:t>
            </a:r>
          </a:p>
          <a:p>
            <a:pPr algn="l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	        ['</a:t>
            </a:r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Помидоры', 'Огурцы', 'Баклажаны'], </a:t>
            </a:r>
          </a:p>
          <a:p>
            <a:pPr algn="l"/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    </a:t>
            </a:r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['Тыква', 'Перец', 'Капуста'], </a:t>
            </a:r>
          </a:p>
          <a:p>
            <a:pPr algn="l"/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    </a:t>
            </a:r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['Кабачок', 'Морковь', 'Брюква'], </a:t>
            </a:r>
          </a:p>
          <a:p>
            <a:pPr algn="l"/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 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        </a:t>
            </a:r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['Картошка', 'Свёкла', 'Репа’]</a:t>
            </a:r>
          </a:p>
          <a:p>
            <a:pPr algn="l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	</a:t>
            </a:r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] 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  <a:p>
            <a:pPr algn="l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Каждая строка — это отдельный список, и все они объединены в один большой список. Списки, в которых каждый элемент — список, а вложенные списки содержат значения, называются 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двумерными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 «Первое измерение» — внешний список, «второе» — вложенный.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По той же логике могут быть созданы и </a:t>
            </a: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трёхмерные списки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Для доступа к элементам в списке списков используется </a:t>
            </a:r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двойное индексирование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element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 = 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имя_списка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[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индекс_вмещающего_списка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][</a:t>
            </a:r>
            <a:r>
              <a:rPr lang="ru-RU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индекс_вложенного_списка</a:t>
            </a:r>
            <a:r>
              <a:rPr 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]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85181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545F32-2A88-0FC6-812E-125BD0EB9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03" y="198783"/>
            <a:ext cx="11666483" cy="665921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8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Списки списков могут быть созданы несколькими способами: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Литеральное объявление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 явное объявление элементов списка, так объявлен в примере список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garden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При помощи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list comprehension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: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синтаксис знакомый, но чуть сложнее, потому что генерируется и внешний, и вложенные списки.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# Объявляется список: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matrix = [...]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Объявляется цикл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for _ in range(rows), 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он создаст " внешний" список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из трёх элементов (ведь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rows = 3):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matrix = [ for _ in range(rows)]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Левее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for -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ещё пара квадратных скобок: каждый создаваемый элемент будет списком.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matrix = [[...] for _ in range(rows)]</a:t>
            </a: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YS Text"/>
            </a:endParaRP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Каждый вложенный список будет сгенерирован списковым включением 0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for _ in range(cols):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#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цикл выполнится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cols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раз (4), на каждой итерации будет создан элемент со значением 0.</a:t>
            </a:r>
          </a:p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YS Text"/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S Text"/>
              </a:rPr>
              <a:t>matrix = [[0 for _ in range(cols)] for _ in range(rows)]</a:t>
            </a:r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414250448"/>
      </p:ext>
    </p:extLst>
  </p:cSld>
  <p:clrMapOvr>
    <a:masterClrMapping/>
  </p:clrMapOvr>
</p:sld>
</file>

<file path=ppt/theme/theme1.xml><?xml version="1.0" encoding="utf-8"?>
<a:theme xmlns:a="http://schemas.openxmlformats.org/drawingml/2006/main" name="Метрополия">
  <a:themeElements>
    <a:clrScheme name="Метрополия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Метрополи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Метрополи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2_Метрополия">
  <a:themeElements>
    <a:clrScheme name="Метрополия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Метрополи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Метрополи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3ACF124-275F-44F2-8DE0-0A75506982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Метрополия</Template>
  <TotalTime>8374</TotalTime>
  <Words>27476</Words>
  <Application>Microsoft Office PowerPoint</Application>
  <PresentationFormat>Широкоэкранный</PresentationFormat>
  <Paragraphs>1923</Paragraphs>
  <Slides>222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222</vt:i4>
      </vt:variant>
    </vt:vector>
  </HeadingPairs>
  <TitlesOfParts>
    <vt:vector size="228" baseType="lpstr">
      <vt:lpstr>Arial</vt:lpstr>
      <vt:lpstr>Calibri Light</vt:lpstr>
      <vt:lpstr>Menlo</vt:lpstr>
      <vt:lpstr>YS Text</vt:lpstr>
      <vt:lpstr>Метрополия</vt:lpstr>
      <vt:lpstr>2_Метрополия</vt:lpstr>
      <vt:lpstr>Погружение в Python</vt:lpstr>
      <vt:lpstr>Переменные и их значения</vt:lpstr>
      <vt:lpstr>Типизация в программировании</vt:lpstr>
      <vt:lpstr>Статическая vs динамическая типизация</vt:lpstr>
      <vt:lpstr>Слабая vs сильная типизация</vt:lpstr>
      <vt:lpstr>Константы</vt:lpstr>
      <vt:lpstr>Презентация PowerPoint</vt:lpstr>
      <vt:lpstr>Не повторяйся!</vt:lpstr>
      <vt:lpstr>Функции</vt:lpstr>
      <vt:lpstr>Параметры функции</vt:lpstr>
      <vt:lpstr>Аргументы функции</vt:lpstr>
      <vt:lpstr>Презентация PowerPoint</vt:lpstr>
      <vt:lpstr>Значения параметров по умолчанию</vt:lpstr>
      <vt:lpstr>Именованные и позиционные аргументы</vt:lpstr>
      <vt:lpstr>Презентация PowerPoint</vt:lpstr>
      <vt:lpstr>Возврат значений из функции</vt:lpstr>
      <vt:lpstr>Пустая функция</vt:lpstr>
      <vt:lpstr>Пустая функция</vt:lpstr>
      <vt:lpstr>Встроенные функции</vt:lpstr>
      <vt:lpstr>Правописание</vt:lpstr>
      <vt:lpstr>Построчное разделение кода</vt:lpstr>
      <vt:lpstr>Отступ во вложенных блоках кода</vt:lpstr>
      <vt:lpstr>Делаем код читаемым</vt:lpstr>
      <vt:lpstr>Кавычки</vt:lpstr>
      <vt:lpstr>Комментарии</vt:lpstr>
      <vt:lpstr>Имена переменных и функций</vt:lpstr>
      <vt:lpstr>Модули в Python</vt:lpstr>
      <vt:lpstr>Модули в Python </vt:lpstr>
      <vt:lpstr>Модули в Python </vt:lpstr>
      <vt:lpstr>Как подключить модуль к своей программе</vt:lpstr>
      <vt:lpstr>Точечная нотация</vt:lpstr>
      <vt:lpstr>Презентация PowerPoint</vt:lpstr>
      <vt:lpstr>Презентация PowerPoint</vt:lpstr>
      <vt:lpstr>Импорты</vt:lpstr>
      <vt:lpstr>Константы из модулей</vt:lpstr>
      <vt:lpstr>Модуль-«пасхалка»</vt:lpstr>
      <vt:lpstr>Делаем ошибки</vt:lpstr>
      <vt:lpstr>Почему ошибки называют багами</vt:lpstr>
      <vt:lpstr>Ошибки и трейсбэк</vt:lpstr>
      <vt:lpstr>Ошибка «неизвестное имя»</vt:lpstr>
      <vt:lpstr>Ошибка синтаксиса</vt:lpstr>
      <vt:lpstr>Ошибка типа данных</vt:lpstr>
      <vt:lpstr>Простые типы данных</vt:lpstr>
      <vt:lpstr>Целые числа</vt:lpstr>
      <vt:lpstr>Числа с плавающей точкой</vt:lpstr>
      <vt:lpstr>Арифметические операции с числами</vt:lpstr>
      <vt:lpstr>Сложение и вычитание</vt:lpstr>
      <vt:lpstr>Презентация PowerPoint</vt:lpstr>
      <vt:lpstr>Умножение</vt:lpstr>
      <vt:lpstr>Деление</vt:lpstr>
      <vt:lpstr>Целочисленное деление</vt:lpstr>
      <vt:lpstr>Получение остатка при делении</vt:lpstr>
      <vt:lpstr>Возведение в степень</vt:lpstr>
      <vt:lpstr>Приоритеты арифметических операций</vt:lpstr>
      <vt:lpstr>Особенность чисел с плавающей точкой</vt:lpstr>
      <vt:lpstr>Презентация PowerPoint</vt:lpstr>
      <vt:lpstr>Значение None</vt:lpstr>
      <vt:lpstr>Зачем этот None</vt:lpstr>
      <vt:lpstr>Логический тип данных и операторы сравнения</vt:lpstr>
      <vt:lpstr>Булевы значения</vt:lpstr>
      <vt:lpstr>Цепочки сравнений</vt:lpstr>
      <vt:lpstr>Ветвления</vt:lpstr>
      <vt:lpstr>Ветвление if…else</vt:lpstr>
      <vt:lpstr>123</vt:lpstr>
      <vt:lpstr>Конструкция if...else</vt:lpstr>
      <vt:lpstr>123</vt:lpstr>
      <vt:lpstr>Вложенность</vt:lpstr>
      <vt:lpstr>Конструкция if...elif...else</vt:lpstr>
      <vt:lpstr>Конструкция if...elif...else</vt:lpstr>
      <vt:lpstr>Тернарный оператор</vt:lpstr>
      <vt:lpstr>Логические операторы</vt:lpstr>
      <vt:lpstr>Презентация PowerPoint</vt:lpstr>
      <vt:lpstr>Оператор AND</vt:lpstr>
      <vt:lpstr>123</vt:lpstr>
      <vt:lpstr>Оператор AND продолжение</vt:lpstr>
      <vt:lpstr>Оператор OR</vt:lpstr>
      <vt:lpstr>123</vt:lpstr>
      <vt:lpstr>Оператор OR продолжение</vt:lpstr>
      <vt:lpstr>Оператор NOT</vt:lpstr>
      <vt:lpstr>Презентация PowerPoint</vt:lpstr>
      <vt:lpstr>Презентация PowerPoint</vt:lpstr>
      <vt:lpstr>Импортируемые типы данных</vt:lpstr>
      <vt:lpstr>Модуль decimal — когда точность важна</vt:lpstr>
      <vt:lpstr>Настройка точности</vt:lpstr>
      <vt:lpstr>Презентация PowerPoint</vt:lpstr>
      <vt:lpstr>Дата и время: ещё один тип данных</vt:lpstr>
      <vt:lpstr>Стандарт времени UTC</vt:lpstr>
      <vt:lpstr>Python и время</vt:lpstr>
      <vt:lpstr>Unix-время</vt:lpstr>
      <vt:lpstr>Работа с датами и временем в Python</vt:lpstr>
      <vt:lpstr>Время: тип данных time</vt:lpstr>
      <vt:lpstr>Дата и время в одной переменной: тип данных datetime</vt:lpstr>
      <vt:lpstr>Работа с временем</vt:lpstr>
      <vt:lpstr>Промежуток времени: тип timedelta</vt:lpstr>
      <vt:lpstr>Сравнение времени</vt:lpstr>
      <vt:lpstr>Другие методы работы</vt:lpstr>
      <vt:lpstr>Форматирование времени</vt:lpstr>
      <vt:lpstr>Коллекции в Python</vt:lpstr>
      <vt:lpstr>Коллекции в Python</vt:lpstr>
      <vt:lpstr>Упорядоченные коллекции: последовательности</vt:lpstr>
      <vt:lpstr>Неупорядоченные коллекции</vt:lpstr>
      <vt:lpstr>Список</vt:lpstr>
      <vt:lpstr>Последовательности: список</vt:lpstr>
      <vt:lpstr>Особенности списков</vt:lpstr>
      <vt:lpstr>Адресация элементов</vt:lpstr>
      <vt:lpstr>Распаковка списка</vt:lpstr>
      <vt:lpstr>Добавление элемента: list.append(&lt;list&gt;, element)</vt:lpstr>
      <vt:lpstr>Добавление в список</vt:lpstr>
      <vt:lpstr>Вставка элемента по индексу: list.insert(&lt;list&gt;, index, value)</vt:lpstr>
      <vt:lpstr>Расширение списка: list.extend(&lt;list_1&gt;, &lt;list_2&gt;)</vt:lpstr>
      <vt:lpstr>Удаление элемента: list.remove(&lt;list&gt;, value)</vt:lpstr>
      <vt:lpstr>Извлечение элемента: list.pop(&lt;list&gt;, index)</vt:lpstr>
      <vt:lpstr>Индекс элемента: list.index(&lt;list&gt;, value, start, end)</vt:lpstr>
      <vt:lpstr>Подсчёт количества: list.count(&lt;list&gt;, value)</vt:lpstr>
      <vt:lpstr>Сортировка списка: list.sort(&lt;list&gt;)</vt:lpstr>
      <vt:lpstr>Инвертирование списка: list.reverse(&lt;list&gt;)</vt:lpstr>
      <vt:lpstr>Копирование списка: list.copy(&lt;list&gt;)</vt:lpstr>
      <vt:lpstr>Очистка списка: list.clear(&lt;list&gt;)</vt:lpstr>
      <vt:lpstr>Кортеж</vt:lpstr>
      <vt:lpstr>Последовательности: кортеж</vt:lpstr>
      <vt:lpstr>Создание кортежа с помощью встроенной функции tuple()</vt:lpstr>
      <vt:lpstr>Упаковка значений в кортеж (packing)</vt:lpstr>
      <vt:lpstr>Особенности кортежей</vt:lpstr>
      <vt:lpstr>Обращение к элементу кортежа</vt:lpstr>
      <vt:lpstr>Распаковка кортежей</vt:lpstr>
      <vt:lpstr>Сортировка</vt:lpstr>
      <vt:lpstr>Презентация PowerPoint</vt:lpstr>
      <vt:lpstr>Удаление</vt:lpstr>
      <vt:lpstr>Параметр *args: произвольное число аргументов в функции</vt:lpstr>
      <vt:lpstr>Параметр *args</vt:lpstr>
      <vt:lpstr>Возврат нескольких значений из функции</vt:lpstr>
      <vt:lpstr>Изменяемые и неизменяемые типы данных</vt:lpstr>
      <vt:lpstr>Изменяемые и неизменяемые типы данных</vt:lpstr>
      <vt:lpstr>Память и «сборка мусора»</vt:lpstr>
      <vt:lpstr>Презентация PowerPoint</vt:lpstr>
      <vt:lpstr>Презентация PowerPoint</vt:lpstr>
      <vt:lpstr>Изменяемые и неизменяемые типы данных</vt:lpstr>
      <vt:lpstr>Практические плюсы и минусы изменяемых и неизменяемых типов данных</vt:lpstr>
      <vt:lpstr>Последовательности: строки</vt:lpstr>
      <vt:lpstr>Функция str()</vt:lpstr>
      <vt:lpstr>Объявление длинных строк</vt:lpstr>
      <vt:lpstr>Презентация PowerPoint</vt:lpstr>
      <vt:lpstr>Объявление строки в тройных кавычках</vt:lpstr>
      <vt:lpstr>Буквы под номерами: индексы</vt:lpstr>
      <vt:lpstr>Изменить регистр символов в строке</vt:lpstr>
      <vt:lpstr>Презентация PowerPoint</vt:lpstr>
      <vt:lpstr>Поиск и замена подстрок</vt:lpstr>
      <vt:lpstr>Презентация PowerPoint</vt:lpstr>
      <vt:lpstr>Презентация PowerPoint</vt:lpstr>
      <vt:lpstr>Разделение строки: str.split(&lt;str&gt;, delimeter)</vt:lpstr>
      <vt:lpstr>Формирование строки: str.join(delimeter, &lt;sequence&gt;)</vt:lpstr>
      <vt:lpstr>Включение переменных в строку</vt:lpstr>
      <vt:lpstr>str.format(&lt;str&gt;, *vars).</vt:lpstr>
      <vt:lpstr>f-строки</vt:lpstr>
      <vt:lpstr>Последовательности: диапазон</vt:lpstr>
      <vt:lpstr>Диапазон</vt:lpstr>
      <vt:lpstr>Презентация PowerPoint</vt:lpstr>
      <vt:lpstr>Работа с последовательностями</vt:lpstr>
      <vt:lpstr>Длина последовательности: функция len()</vt:lpstr>
      <vt:lpstr>Конкатенация — объединение последовательностей</vt:lpstr>
      <vt:lpstr>Умножение последовательностей</vt:lpstr>
      <vt:lpstr>Есть ли нужный элемент в последовательности?</vt:lpstr>
      <vt:lpstr>Срезы</vt:lpstr>
      <vt:lpstr>Презентация PowerPoint</vt:lpstr>
      <vt:lpstr>Презентация PowerPoint</vt:lpstr>
      <vt:lpstr>Сравнение последовательностей</vt:lpstr>
      <vt:lpstr>Сравнение строк операторами «больше» и «меньше»</vt:lpstr>
      <vt:lpstr>Презентация PowerPoint</vt:lpstr>
      <vt:lpstr>Наименьшее и наибольшее значение в последовательности</vt:lpstr>
      <vt:lpstr>Словарь</vt:lpstr>
      <vt:lpstr>Словарь</vt:lpstr>
      <vt:lpstr>Презентация PowerPoint</vt:lpstr>
      <vt:lpstr>Объявление словаря через функцию dict()</vt:lpstr>
      <vt:lpstr>Презентация PowerPoint</vt:lpstr>
      <vt:lpstr>Уникальность ключей</vt:lpstr>
      <vt:lpstr>Функция dict.fromkeys(&lt;keys&gt;)</vt:lpstr>
      <vt:lpstr>Функция zip() и создание словаря из zip-коллекции</vt:lpstr>
      <vt:lpstr>Презентация PowerPoint</vt:lpstr>
      <vt:lpstr>Обращение к элементам словаря</vt:lpstr>
      <vt:lpstr>Функция dict.get(&lt;dict&gt;, key, default)</vt:lpstr>
      <vt:lpstr>Презентация PowerPoint</vt:lpstr>
      <vt:lpstr>Извлечение элемента из словаря</vt:lpstr>
      <vt:lpstr>Получение всех ключей и значений элементов словаря</vt:lpstr>
      <vt:lpstr>Очистка словаря</vt:lpstr>
      <vt:lpstr>Копирование словаря</vt:lpstr>
      <vt:lpstr>Неограниченное количество именованных аргументов в функции: параметр **kwargs</vt:lpstr>
      <vt:lpstr>Параметр **kwargs</vt:lpstr>
      <vt:lpstr>Множества</vt:lpstr>
      <vt:lpstr>Множество</vt:lpstr>
      <vt:lpstr>Объявление множества при помощи фигурных скобок</vt:lpstr>
      <vt:lpstr>Объявление множества функцией set()</vt:lpstr>
      <vt:lpstr>Элемент множества — неизменяемый объект</vt:lpstr>
      <vt:lpstr>Удаление элемента множества</vt:lpstr>
      <vt:lpstr>Особенности множеств</vt:lpstr>
      <vt:lpstr>Проверка наличия элемента в множестве</vt:lpstr>
      <vt:lpstr>Пересечение</vt:lpstr>
      <vt:lpstr>Объединение</vt:lpstr>
      <vt:lpstr>Разность множеств</vt:lpstr>
      <vt:lpstr>Симметрическая разность</vt:lpstr>
      <vt:lpstr>Цикл  for</vt:lpstr>
      <vt:lpstr>Циклы</vt:lpstr>
      <vt:lpstr>Цикл for</vt:lpstr>
      <vt:lpstr>Объявление и применение цикла for</vt:lpstr>
      <vt:lpstr>Презентация PowerPoint</vt:lpstr>
      <vt:lpstr>Презентация PowerPoint</vt:lpstr>
      <vt:lpstr>Распаковка вложенных коллекций</vt:lpstr>
      <vt:lpstr>Обработка словаря в цикле</vt:lpstr>
      <vt:lpstr>Цикл  while</vt:lpstr>
      <vt:lpstr>Цикл while</vt:lpstr>
      <vt:lpstr>Презентация PowerPoint</vt:lpstr>
      <vt:lpstr>Презентация PowerPoint</vt:lpstr>
      <vt:lpstr>Управление циклами</vt:lpstr>
      <vt:lpstr>Вложенные циклы</vt:lpstr>
      <vt:lpstr>Инструкция continue</vt:lpstr>
      <vt:lpstr>Списковые и словарные включения</vt:lpstr>
      <vt:lpstr>Списковое включение</vt:lpstr>
      <vt:lpstr>Презентация PowerPoint</vt:lpstr>
      <vt:lpstr>Словарные включения</vt:lpstr>
      <vt:lpstr>Условия в list comprehension</vt:lpstr>
      <vt:lpstr>Проверка элементов списка на соответствие условию: all() и any()</vt:lpstr>
      <vt:lpstr>Работа с вложенными списками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Екимов</dc:creator>
  <cp:lastModifiedBy>Илья Екимов</cp:lastModifiedBy>
  <cp:revision>23</cp:revision>
  <dcterms:created xsi:type="dcterms:W3CDTF">2025-12-23T18:42:30Z</dcterms:created>
  <dcterms:modified xsi:type="dcterms:W3CDTF">2026-03-04T11:20:35Z</dcterms:modified>
</cp:coreProperties>
</file>