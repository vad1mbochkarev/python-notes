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sldIdLst>
    <p:sldId id="258" r:id="rId3"/>
    <p:sldId id="256" r:id="rId4"/>
    <p:sldId id="257" r:id="rId5"/>
    <p:sldId id="259" r:id="rId6"/>
    <p:sldId id="260" r:id="rId7"/>
    <p:sldId id="261" r:id="rId8"/>
    <p:sldId id="274"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276" r:id="rId23"/>
    <p:sldId id="277" r:id="rId24"/>
    <p:sldId id="278" r:id="rId25"/>
    <p:sldId id="279" r:id="rId26"/>
    <p:sldId id="280" r:id="rId27"/>
    <p:sldId id="291" r:id="rId28"/>
    <p:sldId id="281" r:id="rId29"/>
    <p:sldId id="282" r:id="rId30"/>
    <p:sldId id="283" r:id="rId31"/>
    <p:sldId id="284" r:id="rId32"/>
    <p:sldId id="285" r:id="rId33"/>
    <p:sldId id="286" r:id="rId34"/>
    <p:sldId id="287" r:id="rId35"/>
    <p:sldId id="288" r:id="rId36"/>
    <p:sldId id="289" r:id="rId37"/>
    <p:sldId id="290" r:id="rId38"/>
    <p:sldId id="292" r:id="rId39"/>
    <p:sldId id="293" r:id="rId40"/>
    <p:sldId id="294" r:id="rId41"/>
    <p:sldId id="295" r:id="rId42"/>
    <p:sldId id="296" r:id="rId43"/>
    <p:sldId id="297" r:id="rId44"/>
    <p:sldId id="298" r:id="rId45"/>
    <p:sldId id="299" r:id="rId46"/>
    <p:sldId id="300" r:id="rId47"/>
    <p:sldId id="301"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51"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ru-RU"/>
              <a:t>Образец заголовка</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7" name="Date Placeholder 6"/>
          <p:cNvSpPr>
            <a:spLocks noGrp="1"/>
          </p:cNvSpPr>
          <p:nvPr>
            <p:ph type="dt" sz="half" idx="10"/>
          </p:nvPr>
        </p:nvSpPr>
        <p:spPr/>
        <p:txBody>
          <a:bodyPr/>
          <a:lstStyle/>
          <a:p>
            <a:fld id="{738C05AB-BF35-4BDF-A680-0061F70C1BC0}" type="datetimeFigureOut">
              <a:rPr lang="ru-RU" smtClean="0"/>
              <a:t>01.04.2026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1737842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535340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ru-RU"/>
              <a:t>Образец заголовка</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905654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62395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20000" y="2505075"/>
            <a:ext cx="5025216"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6" name="Content Placeholder 5"/>
          <p:cNvSpPr>
            <a:spLocks noGrp="1"/>
          </p:cNvSpPr>
          <p:nvPr>
            <p:ph sz="quarter" idx="4"/>
          </p:nvPr>
        </p:nvSpPr>
        <p:spPr>
          <a:xfrm>
            <a:off x="6319840" y="2505075"/>
            <a:ext cx="503554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738C05AB-BF35-4BDF-A680-0061F70C1BC0}" type="datetimeFigureOut">
              <a:rPr lang="ru-RU" smtClean="0"/>
              <a:t>01.04.2026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65066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06896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C05AB-BF35-4BDF-A680-0061F70C1BC0}" type="datetimeFigureOut">
              <a:rPr lang="ru-RU" smtClean="0"/>
              <a:t>01.04.2026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79631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964700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6495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49525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619258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73083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ru-RU"/>
              <a:t>Образец заголовка</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1794438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ru-RU"/>
              <a:t>Образец заголовка</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888034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337819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30618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9099498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ru-RU"/>
              <a:t>Образец заголовка</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ru-RU"/>
              <a:t>Образец подзаголовка</a:t>
            </a:r>
            <a:endParaRPr lang="en-US" dirty="0"/>
          </a:p>
        </p:txBody>
      </p:sp>
      <p:sp>
        <p:nvSpPr>
          <p:cNvPr id="7" name="Date Placeholder 6"/>
          <p:cNvSpPr>
            <a:spLocks noGrp="1"/>
          </p:cNvSpPr>
          <p:nvPr>
            <p:ph type="dt" sz="half" idx="10"/>
          </p:nvPr>
        </p:nvSpPr>
        <p:spPr/>
        <p:txBody>
          <a:bodyPr/>
          <a:lstStyle/>
          <a:p>
            <a:fld id="{738C05AB-BF35-4BDF-A680-0061F70C1BC0}" type="datetimeFigureOut">
              <a:rPr lang="ru-RU" smtClean="0"/>
              <a:t>01.04.2026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1697499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8335444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ru-RU"/>
              <a:t>Образец заголовка</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549098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6968927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20000" y="2505075"/>
            <a:ext cx="5025216"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6" name="Content Placeholder 5"/>
          <p:cNvSpPr>
            <a:spLocks noGrp="1"/>
          </p:cNvSpPr>
          <p:nvPr>
            <p:ph sz="quarter" idx="4"/>
          </p:nvPr>
        </p:nvSpPr>
        <p:spPr>
          <a:xfrm>
            <a:off x="6319840" y="2505075"/>
            <a:ext cx="503554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738C05AB-BF35-4BDF-A680-0061F70C1BC0}" type="datetimeFigureOut">
              <a:rPr lang="ru-RU" smtClean="0"/>
              <a:t>01.04.2026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16120995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74411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C05AB-BF35-4BDF-A680-0061F70C1BC0}" type="datetimeFigureOut">
              <a:rPr lang="ru-RU" smtClean="0"/>
              <a:t>01.04.2026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137426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4075109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9784002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42007190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7251818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340187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ru-RU"/>
              <a:t>Образец заголовка</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C05AB-BF35-4BDF-A680-0061F70C1BC0}" type="datetimeFigureOut">
              <a:rPr lang="ru-RU" smtClean="0"/>
              <a:t>01.04.2026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33700012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ru-RU"/>
              <a:t>Образец заголовка</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ru-RU"/>
              <a:t>Образец текста</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8782018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738C05AB-BF35-4BDF-A680-0061F70C1BC0}" type="datetimeFigureOut">
              <a:rPr lang="ru-RU" smtClean="0"/>
              <a:t>01.04.2026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657789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41368751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8C05AB-BF35-4BDF-A680-0061F70C1BC0}" type="datetimeFigureOut">
              <a:rPr lang="ru-RU" smtClean="0"/>
              <a:t>01.04.2026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423A89B-7CC6-4C2C-9D4C-FB367ED84604}" type="slidenum">
              <a:rPr lang="ru-RU" smtClean="0"/>
              <a:t>‹#›</a:t>
            </a:fld>
            <a:endParaRPr lang="ru-RU"/>
          </a:p>
        </p:txBody>
      </p:sp>
    </p:spTree>
    <p:extLst>
      <p:ext uri="{BB962C8B-B14F-4D97-AF65-F5344CB8AC3E}">
        <p14:creationId xmlns:p14="http://schemas.microsoft.com/office/powerpoint/2010/main" val="2422500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38C05AB-BF35-4BDF-A680-0061F70C1BC0}" type="datetimeFigureOut">
              <a:rPr lang="ru-RU" smtClean="0"/>
              <a:t>01.04.2026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2423A89B-7CC6-4C2C-9D4C-FB367ED84604}" type="slidenum">
              <a:rPr lang="ru-RU" smtClean="0"/>
              <a:t>‹#›</a:t>
            </a:fld>
            <a:endParaRPr lang="ru-RU"/>
          </a:p>
        </p:txBody>
      </p:sp>
    </p:spTree>
    <p:extLst>
      <p:ext uri="{BB962C8B-B14F-4D97-AF65-F5344CB8AC3E}">
        <p14:creationId xmlns:p14="http://schemas.microsoft.com/office/powerpoint/2010/main" val="33934750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38C05AB-BF35-4BDF-A680-0061F70C1BC0}" type="datetimeFigureOut">
              <a:rPr lang="ru-RU" smtClean="0"/>
              <a:t>01.04.2026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2423A89B-7CC6-4C2C-9D4C-FB367ED84604}" type="slidenum">
              <a:rPr lang="ru-RU" smtClean="0"/>
              <a:t>‹#›</a:t>
            </a:fld>
            <a:endParaRPr lang="ru-RU"/>
          </a:p>
        </p:txBody>
      </p:sp>
    </p:spTree>
    <p:extLst>
      <p:ext uri="{BB962C8B-B14F-4D97-AF65-F5344CB8AC3E}">
        <p14:creationId xmlns:p14="http://schemas.microsoft.com/office/powerpoint/2010/main" val="344499322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ocs.python.org/3.9/library/stdtypes.html#string-method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6B59CE-8986-8BBB-2BBB-341AE47575A4}"/>
              </a:ext>
            </a:extLst>
          </p:cNvPr>
          <p:cNvSpPr>
            <a:spLocks noGrp="1"/>
          </p:cNvSpPr>
          <p:nvPr>
            <p:ph type="title"/>
          </p:nvPr>
        </p:nvSpPr>
        <p:spPr>
          <a:xfrm>
            <a:off x="1095704" y="3029498"/>
            <a:ext cx="10515600" cy="1325563"/>
          </a:xfrm>
        </p:spPr>
        <p:txBody>
          <a:bodyPr>
            <a:normAutofit/>
          </a:bodyPr>
          <a:lstStyle/>
          <a:p>
            <a:pPr algn="ctr"/>
            <a:r>
              <a:rPr lang="ru-RU" sz="6000" b="1" dirty="0">
                <a:solidFill>
                  <a:schemeClr val="tx2">
                    <a:lumMod val="20000"/>
                    <a:lumOff val="80000"/>
                  </a:schemeClr>
                </a:solidFill>
              </a:rPr>
              <a:t>Классы и объекты классов</a:t>
            </a:r>
          </a:p>
        </p:txBody>
      </p:sp>
    </p:spTree>
    <p:extLst>
      <p:ext uri="{BB962C8B-B14F-4D97-AF65-F5344CB8AC3E}">
        <p14:creationId xmlns:p14="http://schemas.microsoft.com/office/powerpoint/2010/main" val="20767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162960"/>
            <a:ext cx="9369388" cy="751439"/>
          </a:xfrm>
        </p:spPr>
        <p:txBody>
          <a:bodyPr>
            <a:normAutofit fontScale="90000"/>
          </a:bodyPr>
          <a:lstStyle/>
          <a:p>
            <a:pPr algn="ctr"/>
            <a:r>
              <a:rPr lang="ru-RU" sz="6000" dirty="0">
                <a:solidFill>
                  <a:schemeClr val="accent5">
                    <a:lumMod val="60000"/>
                    <a:lumOff val="40000"/>
                  </a:schemeClr>
                </a:solidFill>
              </a:rPr>
              <a:t>Классы и объекты в Python</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1005709"/>
            <a:ext cx="11650134" cy="5615808"/>
          </a:xfrm>
        </p:spPr>
        <p:txBody>
          <a:bodyPr anchor="t">
            <a:normAutofit/>
          </a:bodyPr>
          <a:lstStyle/>
          <a:p>
            <a:pPr algn="l"/>
            <a:r>
              <a:rPr lang="ru-RU" sz="2000" b="0" i="0" dirty="0">
                <a:solidFill>
                  <a:schemeClr val="tx1"/>
                </a:solidFill>
                <a:effectLst/>
                <a:latin typeface="__Inter_e8ce0c"/>
              </a:rPr>
              <a:t>Почти всё в Python — классы или объекты какого-то класса. </a:t>
            </a:r>
          </a:p>
          <a:p>
            <a:pPr algn="l"/>
            <a:r>
              <a:rPr lang="ru-RU" sz="2000" b="0" i="0" dirty="0">
                <a:solidFill>
                  <a:schemeClr val="tx1"/>
                </a:solidFill>
                <a:effectLst/>
                <a:latin typeface="__Inter_e8ce0c"/>
              </a:rPr>
              <a:t>Например, когда вы пишете </a:t>
            </a:r>
            <a:r>
              <a:rPr lang="ru-RU" sz="2000" b="0" i="0" dirty="0" err="1">
                <a:solidFill>
                  <a:srgbClr val="92D050"/>
                </a:solidFill>
                <a:effectLst/>
                <a:latin typeface="__Inter_e8ce0c"/>
              </a:rPr>
              <a:t>page</a:t>
            </a:r>
            <a:r>
              <a:rPr lang="ru-RU" sz="2000" b="0" i="0" dirty="0">
                <a:solidFill>
                  <a:srgbClr val="92D050"/>
                </a:solidFill>
                <a:effectLst/>
                <a:latin typeface="__Inter_e8ce0c"/>
              </a:rPr>
              <a:t> = 1</a:t>
            </a:r>
            <a:r>
              <a:rPr lang="ru-RU" sz="2000" b="0" i="0" dirty="0">
                <a:solidFill>
                  <a:schemeClr val="tx1"/>
                </a:solidFill>
                <a:effectLst/>
                <a:latin typeface="__Inter_e8ce0c"/>
              </a:rPr>
              <a:t> или </a:t>
            </a:r>
            <a:r>
              <a:rPr lang="ru-RU" sz="2000" b="0" i="0" dirty="0" err="1">
                <a:solidFill>
                  <a:srgbClr val="92D050"/>
                </a:solidFill>
                <a:effectLst/>
                <a:latin typeface="__Inter_e8ce0c"/>
              </a:rPr>
              <a:t>address</a:t>
            </a:r>
            <a:r>
              <a:rPr lang="ru-RU" sz="2000" b="0" i="0" dirty="0">
                <a:solidFill>
                  <a:srgbClr val="92D050"/>
                </a:solidFill>
                <a:effectLst/>
                <a:latin typeface="__Inter_e8ce0c"/>
              </a:rPr>
              <a:t> = 'На деревню дедушке'</a:t>
            </a:r>
            <a:r>
              <a:rPr lang="ru-RU" sz="2000" b="0" i="0" dirty="0">
                <a:solidFill>
                  <a:schemeClr val="tx1"/>
                </a:solidFill>
                <a:effectLst/>
                <a:latin typeface="__Inter_e8ce0c"/>
              </a:rPr>
              <a:t>, вы не просто объявляете переменную, а создаёте объект класса </a:t>
            </a:r>
            <a:r>
              <a:rPr lang="ru-RU" sz="2000" b="0" i="0" dirty="0" err="1">
                <a:solidFill>
                  <a:schemeClr val="tx1"/>
                </a:solidFill>
                <a:effectLst/>
                <a:latin typeface="__Inter_e8ce0c"/>
              </a:rPr>
              <a:t>int</a:t>
            </a:r>
            <a:r>
              <a:rPr lang="ru-RU" sz="2000" b="0" i="0" dirty="0">
                <a:solidFill>
                  <a:schemeClr val="tx1"/>
                </a:solidFill>
                <a:effectLst/>
                <a:latin typeface="__Inter_e8ce0c"/>
              </a:rPr>
              <a:t> или </a:t>
            </a:r>
            <a:r>
              <a:rPr lang="ru-RU" sz="2000" b="0" i="0" dirty="0" err="1">
                <a:solidFill>
                  <a:schemeClr val="tx1"/>
                </a:solidFill>
                <a:effectLst/>
                <a:latin typeface="__Inter_e8ce0c"/>
              </a:rPr>
              <a:t>str</a:t>
            </a:r>
            <a:r>
              <a:rPr lang="ru-RU" sz="2000" b="0" i="0" dirty="0">
                <a:solidFill>
                  <a:schemeClr val="tx1"/>
                </a:solidFill>
                <a:effectLst/>
                <a:latin typeface="__Inter_e8ce0c"/>
              </a:rPr>
              <a:t>. </a:t>
            </a:r>
          </a:p>
          <a:p>
            <a:pPr algn="l"/>
            <a:r>
              <a:rPr lang="ru-RU" sz="2000" dirty="0">
                <a:solidFill>
                  <a:schemeClr val="tx1"/>
                </a:solidFill>
              </a:rPr>
              <a:t>Типы данных </a:t>
            </a:r>
            <a:r>
              <a:rPr lang="ru-RU" sz="2000" dirty="0" err="1">
                <a:solidFill>
                  <a:schemeClr val="tx1"/>
                </a:solidFill>
              </a:rPr>
              <a:t>str</a:t>
            </a:r>
            <a:r>
              <a:rPr lang="ru-RU" sz="2000" dirty="0">
                <a:solidFill>
                  <a:schemeClr val="tx1"/>
                </a:solidFill>
              </a:rPr>
              <a:t>, </a:t>
            </a:r>
            <a:r>
              <a:rPr lang="ru-RU" sz="2000" dirty="0" err="1">
                <a:solidFill>
                  <a:schemeClr val="tx1"/>
                </a:solidFill>
              </a:rPr>
              <a:t>int</a:t>
            </a:r>
            <a:r>
              <a:rPr lang="ru-RU" sz="2000" dirty="0">
                <a:solidFill>
                  <a:schemeClr val="tx1"/>
                </a:solidFill>
              </a:rPr>
              <a:t> и другие — всё это классы. А конкретные строки, числа, списки, словари, которые вы до сих пор создавали для своих программ, были </a:t>
            </a:r>
            <a:r>
              <a:rPr lang="ru-RU" sz="2400" b="1" dirty="0">
                <a:solidFill>
                  <a:schemeClr val="accent6">
                    <a:lumMod val="60000"/>
                    <a:lumOff val="40000"/>
                  </a:schemeClr>
                </a:solidFill>
              </a:rPr>
              <a:t>объектами</a:t>
            </a:r>
            <a:r>
              <a:rPr lang="ru-RU" sz="2000" dirty="0">
                <a:solidFill>
                  <a:schemeClr val="tx1"/>
                </a:solidFill>
              </a:rPr>
              <a:t> этих классов. </a:t>
            </a:r>
          </a:p>
          <a:p>
            <a:pPr algn="l"/>
            <a:endParaRPr lang="ru-RU" sz="2000" dirty="0">
              <a:solidFill>
                <a:schemeClr val="tx1"/>
              </a:solidFill>
            </a:endParaRPr>
          </a:p>
          <a:p>
            <a:pPr algn="l"/>
            <a:endParaRPr lang="ru-RU" sz="2000" dirty="0">
              <a:solidFill>
                <a:schemeClr val="tx1"/>
              </a:solidFill>
            </a:endParaRPr>
          </a:p>
          <a:p>
            <a:pPr algn="l"/>
            <a:endParaRPr lang="ru-RU" sz="2000" dirty="0">
              <a:solidFill>
                <a:schemeClr val="tx1"/>
              </a:solidFill>
            </a:endParaRPr>
          </a:p>
          <a:p>
            <a:pPr algn="l"/>
            <a:endParaRPr lang="ru-RU" sz="2000" dirty="0">
              <a:solidFill>
                <a:schemeClr val="tx1"/>
              </a:solidFill>
            </a:endParaRPr>
          </a:p>
          <a:p>
            <a:pPr algn="l"/>
            <a:endParaRPr lang="ru-RU" sz="2000" dirty="0">
              <a:solidFill>
                <a:schemeClr val="tx1"/>
              </a:solidFill>
            </a:endParaRPr>
          </a:p>
          <a:p>
            <a:pPr algn="l"/>
            <a:endParaRPr lang="ru-RU" sz="2000" dirty="0">
              <a:solidFill>
                <a:schemeClr val="tx1"/>
              </a:solidFill>
            </a:endParaRPr>
          </a:p>
          <a:p>
            <a:pPr algn="ctr"/>
            <a:r>
              <a:rPr lang="ru-RU" dirty="0">
                <a:solidFill>
                  <a:schemeClr val="tx1"/>
                </a:solidFill>
              </a:rPr>
              <a:t>Объект класса часто называют </a:t>
            </a:r>
            <a:r>
              <a:rPr lang="ru-RU" b="1" dirty="0">
                <a:solidFill>
                  <a:schemeClr val="accent6">
                    <a:lumMod val="60000"/>
                    <a:lumOff val="40000"/>
                  </a:schemeClr>
                </a:solidFill>
              </a:rPr>
              <a:t>экземпляром</a:t>
            </a:r>
            <a:r>
              <a:rPr lang="ru-RU" dirty="0">
                <a:solidFill>
                  <a:schemeClr val="tx1"/>
                </a:solidFill>
              </a:rPr>
              <a:t> класса. </a:t>
            </a:r>
          </a:p>
        </p:txBody>
      </p:sp>
      <p:pic>
        <p:nvPicPr>
          <p:cNvPr id="7" name="Рисунок 6">
            <a:extLst>
              <a:ext uri="{FF2B5EF4-FFF2-40B4-BE49-F238E27FC236}">
                <a16:creationId xmlns:a16="http://schemas.microsoft.com/office/drawing/2014/main" id="{1B9881D2-4D24-97F3-F845-F55E957D6AAB}"/>
              </a:ext>
            </a:extLst>
          </p:cNvPr>
          <p:cNvPicPr>
            <a:picLocks noChangeAspect="1"/>
          </p:cNvPicPr>
          <p:nvPr/>
        </p:nvPicPr>
        <p:blipFill>
          <a:blip r:embed="rId2"/>
          <a:stretch>
            <a:fillRect/>
          </a:stretch>
        </p:blipFill>
        <p:spPr>
          <a:xfrm>
            <a:off x="2350558" y="3105807"/>
            <a:ext cx="7490884" cy="1820285"/>
          </a:xfrm>
          <a:prstGeom prst="rect">
            <a:avLst/>
          </a:prstGeom>
        </p:spPr>
      </p:pic>
    </p:spTree>
    <p:extLst>
      <p:ext uri="{BB962C8B-B14F-4D97-AF65-F5344CB8AC3E}">
        <p14:creationId xmlns:p14="http://schemas.microsoft.com/office/powerpoint/2010/main" val="1046299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0"/>
            <a:ext cx="9369388" cy="656897"/>
          </a:xfrm>
        </p:spPr>
        <p:txBody>
          <a:bodyPr>
            <a:normAutofit fontScale="90000"/>
          </a:bodyPr>
          <a:lstStyle/>
          <a:p>
            <a:pPr algn="ctr"/>
            <a:r>
              <a:rPr lang="ru-RU" sz="6000" dirty="0">
                <a:solidFill>
                  <a:schemeClr val="accent5">
                    <a:lumMod val="60000"/>
                    <a:lumOff val="40000"/>
                  </a:schemeClr>
                </a:solidFill>
              </a:rPr>
              <a:t>Атрибуты</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714704"/>
            <a:ext cx="11650134" cy="6038193"/>
          </a:xfrm>
        </p:spPr>
        <p:txBody>
          <a:bodyPr anchor="t">
            <a:normAutofit fontScale="92500" lnSpcReduction="20000"/>
          </a:bodyPr>
          <a:lstStyle/>
          <a:p>
            <a:pPr algn="l"/>
            <a:r>
              <a:rPr lang="ru-RU" sz="2000" b="0" i="0" dirty="0">
                <a:solidFill>
                  <a:schemeClr val="tx1"/>
                </a:solidFill>
                <a:effectLst/>
                <a:latin typeface="__Inter_e8ce0c"/>
              </a:rPr>
              <a:t>Итак, у вас есть объект </a:t>
            </a:r>
            <a:r>
              <a:rPr lang="ru-RU" sz="2000" b="0" i="0" dirty="0" err="1">
                <a:solidFill>
                  <a:schemeClr val="tx1"/>
                </a:solidFill>
                <a:effectLst/>
                <a:latin typeface="__Inter_e8ce0c"/>
              </a:rPr>
              <a:t>address</a:t>
            </a:r>
            <a:r>
              <a:rPr lang="ru-RU" sz="2000" b="0" i="0" dirty="0">
                <a:solidFill>
                  <a:schemeClr val="tx1"/>
                </a:solidFill>
                <a:effectLst/>
                <a:latin typeface="__Inter_e8ce0c"/>
              </a:rPr>
              <a:t>, который относится к классу </a:t>
            </a:r>
            <a:r>
              <a:rPr lang="ru-RU" sz="2000" b="0" i="0" dirty="0" err="1">
                <a:solidFill>
                  <a:schemeClr val="accent6">
                    <a:lumMod val="60000"/>
                    <a:lumOff val="40000"/>
                  </a:schemeClr>
                </a:solidFill>
                <a:effectLst/>
                <a:latin typeface="__Inter_e8ce0c"/>
              </a:rPr>
              <a:t>str</a:t>
            </a:r>
            <a:r>
              <a:rPr lang="ru-RU" sz="2000" b="0" i="0" dirty="0">
                <a:solidFill>
                  <a:schemeClr val="tx1"/>
                </a:solidFill>
                <a:effectLst/>
                <a:latin typeface="__Inter_e8ce0c"/>
              </a:rPr>
              <a:t>:</a:t>
            </a:r>
          </a:p>
          <a:p>
            <a:pPr algn="l"/>
            <a:r>
              <a:rPr lang="ru-RU" sz="2000" dirty="0">
                <a:solidFill>
                  <a:schemeClr val="tx1"/>
                </a:solidFill>
                <a:latin typeface="__Inter_e8ce0c"/>
              </a:rPr>
              <a:t>	</a:t>
            </a:r>
            <a:r>
              <a:rPr lang="en-US" sz="2000" dirty="0">
                <a:solidFill>
                  <a:srgbClr val="92D050"/>
                </a:solidFill>
                <a:latin typeface="__Inter_e8ce0c"/>
              </a:rPr>
              <a:t>address = '</a:t>
            </a:r>
            <a:r>
              <a:rPr lang="ru-RU" sz="2000" dirty="0">
                <a:solidFill>
                  <a:srgbClr val="92D050"/>
                </a:solidFill>
                <a:latin typeface="__Inter_e8ce0c"/>
              </a:rPr>
              <a:t>На деревню дедушке’</a:t>
            </a:r>
          </a:p>
          <a:p>
            <a:pPr algn="l"/>
            <a:r>
              <a:rPr lang="ru-RU" sz="2000" dirty="0">
                <a:solidFill>
                  <a:schemeClr val="tx1"/>
                </a:solidFill>
              </a:rPr>
              <a:t>Вы можете создать ещё один объект класса </a:t>
            </a:r>
            <a:r>
              <a:rPr lang="ru-RU" sz="2000" dirty="0" err="1">
                <a:solidFill>
                  <a:schemeClr val="accent6">
                    <a:lumMod val="60000"/>
                    <a:lumOff val="40000"/>
                  </a:schemeClr>
                </a:solidFill>
              </a:rPr>
              <a:t>str</a:t>
            </a:r>
            <a:r>
              <a:rPr lang="ru-RU" sz="2000" dirty="0">
                <a:solidFill>
                  <a:schemeClr val="tx1"/>
                </a:solidFill>
              </a:rPr>
              <a:t>, например </a:t>
            </a:r>
            <a:r>
              <a:rPr lang="ru-RU" sz="2000" dirty="0" err="1">
                <a:solidFill>
                  <a:schemeClr val="tx1"/>
                </a:solidFill>
              </a:rPr>
              <a:t>recipient</a:t>
            </a:r>
            <a:r>
              <a:rPr lang="ru-RU" sz="2000" dirty="0">
                <a:solidFill>
                  <a:schemeClr val="tx1"/>
                </a:solidFill>
              </a:rPr>
              <a:t>:</a:t>
            </a:r>
          </a:p>
          <a:p>
            <a:pPr algn="l"/>
            <a:r>
              <a:rPr lang="ru-RU" sz="2000" dirty="0">
                <a:solidFill>
                  <a:schemeClr val="tx1"/>
                </a:solidFill>
              </a:rPr>
              <a:t>	</a:t>
            </a:r>
            <a:r>
              <a:rPr lang="en-US" sz="2000" dirty="0">
                <a:solidFill>
                  <a:srgbClr val="92D050"/>
                </a:solidFill>
              </a:rPr>
              <a:t>address = '</a:t>
            </a:r>
            <a:r>
              <a:rPr lang="ru-RU" sz="2000" dirty="0">
                <a:solidFill>
                  <a:srgbClr val="92D050"/>
                </a:solidFill>
              </a:rPr>
              <a:t>На деревню дедушке’</a:t>
            </a:r>
          </a:p>
          <a:p>
            <a:pPr algn="l"/>
            <a:r>
              <a:rPr lang="ru-RU" sz="2000" dirty="0">
                <a:solidFill>
                  <a:srgbClr val="92D050"/>
                </a:solidFill>
              </a:rPr>
              <a:t>	</a:t>
            </a:r>
            <a:r>
              <a:rPr lang="en-US" sz="2000" dirty="0">
                <a:solidFill>
                  <a:srgbClr val="92D050"/>
                </a:solidFill>
              </a:rPr>
              <a:t>recipient = '</a:t>
            </a:r>
            <a:r>
              <a:rPr lang="ru-RU" sz="2000" dirty="0">
                <a:solidFill>
                  <a:srgbClr val="92D050"/>
                </a:solidFill>
              </a:rPr>
              <a:t>Константин Макарыч’</a:t>
            </a:r>
          </a:p>
          <a:p>
            <a:pPr algn="l"/>
            <a:r>
              <a:rPr lang="ru-RU" sz="2000" dirty="0">
                <a:solidFill>
                  <a:schemeClr val="tx1"/>
                </a:solidFill>
              </a:rPr>
              <a:t>Теперь у вас есть два разных объекта, </a:t>
            </a:r>
            <a:r>
              <a:rPr lang="ru-RU" sz="2000" dirty="0" err="1">
                <a:solidFill>
                  <a:schemeClr val="tx1"/>
                </a:solidFill>
              </a:rPr>
              <a:t>address</a:t>
            </a:r>
            <a:r>
              <a:rPr lang="ru-RU" sz="2000" dirty="0">
                <a:solidFill>
                  <a:schemeClr val="tx1"/>
                </a:solidFill>
              </a:rPr>
              <a:t> и </a:t>
            </a:r>
            <a:r>
              <a:rPr lang="ru-RU" sz="2000" dirty="0" err="1">
                <a:solidFill>
                  <a:schemeClr val="tx1"/>
                </a:solidFill>
              </a:rPr>
              <a:t>recipient</a:t>
            </a:r>
            <a:r>
              <a:rPr lang="ru-RU" sz="2000" dirty="0">
                <a:solidFill>
                  <a:schemeClr val="tx1"/>
                </a:solidFill>
              </a:rPr>
              <a:t>, которые принадлежат к одному классу. Принадлежность к классу — </a:t>
            </a:r>
            <a:r>
              <a:rPr lang="ru-RU" sz="2400" b="1" dirty="0">
                <a:solidFill>
                  <a:schemeClr val="accent5">
                    <a:lumMod val="60000"/>
                    <a:lumOff val="40000"/>
                  </a:schemeClr>
                </a:solidFill>
              </a:rPr>
              <a:t>это атрибут</a:t>
            </a:r>
            <a:r>
              <a:rPr lang="ru-RU" sz="2000" dirty="0">
                <a:solidFill>
                  <a:schemeClr val="tx1"/>
                </a:solidFill>
              </a:rPr>
              <a:t>, </a:t>
            </a:r>
            <a:r>
              <a:rPr lang="ru-RU" sz="2600" b="1" dirty="0">
                <a:solidFill>
                  <a:schemeClr val="accent5">
                    <a:lumMod val="60000"/>
                    <a:lumOff val="40000"/>
                  </a:schemeClr>
                </a:solidFill>
              </a:rPr>
              <a:t>характеристика объекта</a:t>
            </a:r>
            <a:r>
              <a:rPr lang="ru-RU" sz="2000" dirty="0">
                <a:solidFill>
                  <a:schemeClr val="tx1"/>
                </a:solidFill>
              </a:rPr>
              <a:t>. Такой атрибут называется </a:t>
            </a:r>
            <a:r>
              <a:rPr lang="ru-RU" sz="2400" b="1" dirty="0">
                <a:solidFill>
                  <a:schemeClr val="accent5">
                    <a:lumMod val="60000"/>
                    <a:lumOff val="40000"/>
                  </a:schemeClr>
                </a:solidFill>
              </a:rPr>
              <a:t>__</a:t>
            </a:r>
            <a:r>
              <a:rPr lang="ru-RU" sz="2400" b="1" dirty="0" err="1">
                <a:solidFill>
                  <a:schemeClr val="accent5">
                    <a:lumMod val="60000"/>
                    <a:lumOff val="40000"/>
                  </a:schemeClr>
                </a:solidFill>
              </a:rPr>
              <a:t>class</a:t>
            </a:r>
            <a:r>
              <a:rPr lang="ru-RU" sz="2400" b="1" dirty="0">
                <a:solidFill>
                  <a:schemeClr val="accent5">
                    <a:lumMod val="60000"/>
                    <a:lumOff val="40000"/>
                  </a:schemeClr>
                </a:solidFill>
              </a:rPr>
              <a:t>__</a:t>
            </a:r>
            <a:r>
              <a:rPr lang="ru-RU" sz="2000" dirty="0">
                <a:solidFill>
                  <a:schemeClr val="accent5">
                    <a:lumMod val="60000"/>
                    <a:lumOff val="40000"/>
                  </a:schemeClr>
                </a:solidFill>
              </a:rPr>
              <a:t>. </a:t>
            </a:r>
            <a:r>
              <a:rPr lang="ru-RU" sz="2000" dirty="0">
                <a:solidFill>
                  <a:schemeClr val="tx1"/>
                </a:solidFill>
              </a:rPr>
              <a:t>К нему можно обратиться с помощью точечной нотации: </a:t>
            </a:r>
            <a:r>
              <a:rPr lang="ru-RU" sz="2400" b="1" dirty="0" err="1">
                <a:solidFill>
                  <a:schemeClr val="accent5">
                    <a:lumMod val="60000"/>
                    <a:lumOff val="40000"/>
                  </a:schemeClr>
                </a:solidFill>
              </a:rPr>
              <a:t>имя_объекта.атрибут</a:t>
            </a:r>
            <a:r>
              <a:rPr lang="ru-RU" sz="2000" dirty="0">
                <a:solidFill>
                  <a:schemeClr val="tx1"/>
                </a:solidFill>
              </a:rPr>
              <a:t>.</a:t>
            </a:r>
          </a:p>
          <a:p>
            <a:pPr algn="l"/>
            <a:r>
              <a:rPr lang="ru-RU" sz="2000" dirty="0">
                <a:solidFill>
                  <a:schemeClr val="tx1"/>
                </a:solidFill>
              </a:rPr>
              <a:t>Получается, чтобы посмотреть на атрибут принадлежности к классу объектов </a:t>
            </a:r>
            <a:r>
              <a:rPr lang="ru-RU" sz="2000" dirty="0" err="1">
                <a:solidFill>
                  <a:schemeClr val="tx1"/>
                </a:solidFill>
              </a:rPr>
              <a:t>address</a:t>
            </a:r>
            <a:r>
              <a:rPr lang="ru-RU" sz="2000" dirty="0">
                <a:solidFill>
                  <a:schemeClr val="tx1"/>
                </a:solidFill>
              </a:rPr>
              <a:t> и </a:t>
            </a:r>
            <a:r>
              <a:rPr lang="ru-RU" sz="2000" dirty="0" err="1">
                <a:solidFill>
                  <a:schemeClr val="tx1"/>
                </a:solidFill>
              </a:rPr>
              <a:t>recipient</a:t>
            </a:r>
            <a:r>
              <a:rPr lang="ru-RU" sz="2000" dirty="0">
                <a:solidFill>
                  <a:schemeClr val="tx1"/>
                </a:solidFill>
              </a:rPr>
              <a:t>, нужно написать такой код:</a:t>
            </a:r>
          </a:p>
          <a:p>
            <a:pPr algn="l"/>
            <a:r>
              <a:rPr lang="ru-RU" sz="2000" dirty="0">
                <a:solidFill>
                  <a:schemeClr val="tx1"/>
                </a:solidFill>
              </a:rPr>
              <a:t>	</a:t>
            </a:r>
            <a:r>
              <a:rPr lang="en-US" sz="2000" dirty="0">
                <a:solidFill>
                  <a:srgbClr val="92D050"/>
                </a:solidFill>
              </a:rPr>
              <a:t>address = '</a:t>
            </a:r>
            <a:r>
              <a:rPr lang="ru-RU" sz="2000" dirty="0">
                <a:solidFill>
                  <a:srgbClr val="92D050"/>
                </a:solidFill>
              </a:rPr>
              <a:t>На деревню дедушке’</a:t>
            </a:r>
          </a:p>
          <a:p>
            <a:pPr algn="l"/>
            <a:r>
              <a:rPr lang="ru-RU" sz="2000" dirty="0">
                <a:solidFill>
                  <a:srgbClr val="92D050"/>
                </a:solidFill>
              </a:rPr>
              <a:t>	</a:t>
            </a:r>
            <a:r>
              <a:rPr lang="en-US" sz="2000" dirty="0">
                <a:solidFill>
                  <a:srgbClr val="92D050"/>
                </a:solidFill>
              </a:rPr>
              <a:t>recipient = '</a:t>
            </a:r>
            <a:r>
              <a:rPr lang="ru-RU" sz="2000" dirty="0">
                <a:solidFill>
                  <a:srgbClr val="92D050"/>
                </a:solidFill>
              </a:rPr>
              <a:t>Константин Макарыч’</a:t>
            </a:r>
          </a:p>
          <a:p>
            <a:pPr algn="l"/>
            <a:endParaRPr lang="ru-RU" sz="2000" dirty="0">
              <a:solidFill>
                <a:srgbClr val="92D050"/>
              </a:solidFill>
            </a:endParaRPr>
          </a:p>
          <a:p>
            <a:pPr algn="l"/>
            <a:r>
              <a:rPr lang="ru-RU" sz="2000" dirty="0">
                <a:solidFill>
                  <a:srgbClr val="92D050"/>
                </a:solidFill>
              </a:rPr>
              <a:t>	</a:t>
            </a:r>
            <a:r>
              <a:rPr lang="en-US" sz="2000" dirty="0">
                <a:solidFill>
                  <a:srgbClr val="92D050"/>
                </a:solidFill>
              </a:rPr>
              <a:t>print(</a:t>
            </a:r>
            <a:r>
              <a:rPr lang="en-US" sz="2000" dirty="0" err="1">
                <a:solidFill>
                  <a:srgbClr val="92D050"/>
                </a:solidFill>
              </a:rPr>
              <a:t>address.__class</a:t>
            </a:r>
            <a:r>
              <a:rPr lang="en-US" sz="2000" dirty="0">
                <a:solidFill>
                  <a:srgbClr val="92D050"/>
                </a:solidFill>
              </a:rPr>
              <a:t>__)</a:t>
            </a:r>
          </a:p>
          <a:p>
            <a:pPr algn="l"/>
            <a:r>
              <a:rPr lang="ru-RU" sz="2000" dirty="0">
                <a:solidFill>
                  <a:srgbClr val="92D050"/>
                </a:solidFill>
              </a:rPr>
              <a:t>	</a:t>
            </a:r>
            <a:r>
              <a:rPr lang="en-US" sz="2000" dirty="0">
                <a:solidFill>
                  <a:srgbClr val="92D050"/>
                </a:solidFill>
              </a:rPr>
              <a:t>print(</a:t>
            </a:r>
            <a:r>
              <a:rPr lang="en-US" sz="2000" dirty="0" err="1">
                <a:solidFill>
                  <a:srgbClr val="92D050"/>
                </a:solidFill>
              </a:rPr>
              <a:t>recipient.__class</a:t>
            </a:r>
            <a:r>
              <a:rPr lang="en-US" sz="2000" dirty="0">
                <a:solidFill>
                  <a:srgbClr val="92D050"/>
                </a:solidFill>
              </a:rPr>
              <a:t>__)</a:t>
            </a:r>
          </a:p>
          <a:p>
            <a:pPr algn="l"/>
            <a:endParaRPr lang="en-US" sz="2000" dirty="0">
              <a:solidFill>
                <a:srgbClr val="92D050"/>
              </a:solidFill>
            </a:endParaRPr>
          </a:p>
          <a:p>
            <a:pPr algn="l"/>
            <a:r>
              <a:rPr lang="ru-RU" sz="2000" dirty="0">
                <a:solidFill>
                  <a:srgbClr val="92D050"/>
                </a:solidFill>
              </a:rPr>
              <a:t>	</a:t>
            </a:r>
            <a:r>
              <a:rPr lang="en-US" sz="2000" dirty="0">
                <a:solidFill>
                  <a:srgbClr val="92D050"/>
                </a:solidFill>
              </a:rPr>
              <a:t># &lt;class 'str’&gt;</a:t>
            </a:r>
          </a:p>
          <a:p>
            <a:pPr algn="l"/>
            <a:r>
              <a:rPr lang="ru-RU" sz="2000" dirty="0">
                <a:solidFill>
                  <a:srgbClr val="92D050"/>
                </a:solidFill>
              </a:rPr>
              <a:t>	</a:t>
            </a:r>
            <a:r>
              <a:rPr lang="en-US" sz="2000" dirty="0">
                <a:solidFill>
                  <a:srgbClr val="92D050"/>
                </a:solidFill>
              </a:rPr>
              <a:t># &lt;class 'str'&gt;</a:t>
            </a:r>
            <a:endParaRPr lang="ru-RU" sz="2000" dirty="0">
              <a:solidFill>
                <a:srgbClr val="92D050"/>
              </a:solidFill>
            </a:endParaRPr>
          </a:p>
        </p:txBody>
      </p:sp>
    </p:spTree>
    <p:extLst>
      <p:ext uri="{BB962C8B-B14F-4D97-AF65-F5344CB8AC3E}">
        <p14:creationId xmlns:p14="http://schemas.microsoft.com/office/powerpoint/2010/main" val="1346128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2"/>
            <a:ext cx="9369388" cy="672612"/>
          </a:xfrm>
        </p:spPr>
        <p:txBody>
          <a:bodyPr>
            <a:normAutofit fontScale="90000"/>
          </a:bodyPr>
          <a:lstStyle/>
          <a:p>
            <a:pPr algn="ctr"/>
            <a:r>
              <a:rPr lang="ru-RU" sz="6000" dirty="0">
                <a:solidFill>
                  <a:schemeClr val="accent5">
                    <a:lumMod val="60000"/>
                    <a:lumOff val="40000"/>
                  </a:schemeClr>
                </a:solidFill>
              </a:rPr>
              <a:t>Методы</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779930"/>
            <a:ext cx="11650134" cy="5972968"/>
          </a:xfrm>
        </p:spPr>
        <p:txBody>
          <a:bodyPr anchor="t">
            <a:normAutofit/>
          </a:bodyPr>
          <a:lstStyle/>
          <a:p>
            <a:pPr algn="l"/>
            <a:r>
              <a:rPr lang="ru-RU" sz="2000" b="0" i="0" dirty="0">
                <a:solidFill>
                  <a:schemeClr val="tx1"/>
                </a:solidFill>
                <a:effectLst/>
                <a:latin typeface="__Inter_e8ce0c"/>
              </a:rPr>
              <a:t>С методами вы уже знакомы, вы даже использовали их для того, чтобы писать свои программы. Например, вы переводили все буквы в строке в верхний регистр с помощью метода </a:t>
            </a:r>
            <a:r>
              <a:rPr lang="ru-RU" sz="2000" b="1" i="0" dirty="0" err="1">
                <a:solidFill>
                  <a:schemeClr val="accent5">
                    <a:lumMod val="60000"/>
                    <a:lumOff val="40000"/>
                  </a:schemeClr>
                </a:solidFill>
                <a:effectLst/>
                <a:latin typeface="__Inter_e8ce0c"/>
              </a:rPr>
              <a:t>upper</a:t>
            </a:r>
            <a:r>
              <a:rPr lang="ru-RU" sz="2000" b="1" i="0" dirty="0">
                <a:solidFill>
                  <a:schemeClr val="accent5">
                    <a:lumMod val="60000"/>
                    <a:lumOff val="40000"/>
                  </a:schemeClr>
                </a:solidFill>
                <a:effectLst/>
                <a:latin typeface="__Inter_e8ce0c"/>
              </a:rPr>
              <a:t>()</a:t>
            </a:r>
            <a:r>
              <a:rPr lang="ru-RU" sz="2000" b="0" i="0" dirty="0">
                <a:solidFill>
                  <a:schemeClr val="tx1"/>
                </a:solidFill>
                <a:effectLst/>
                <a:latin typeface="__Inter_e8ce0c"/>
              </a:rPr>
              <a:t>:</a:t>
            </a:r>
          </a:p>
          <a:p>
            <a:pPr algn="l"/>
            <a:r>
              <a:rPr lang="ru-RU" sz="2000" dirty="0">
                <a:solidFill>
                  <a:schemeClr val="tx1"/>
                </a:solidFill>
                <a:latin typeface="__Inter_e8ce0c"/>
              </a:rPr>
              <a:t>	</a:t>
            </a:r>
            <a:r>
              <a:rPr lang="en-US" sz="1600" b="0" i="0" dirty="0">
                <a:solidFill>
                  <a:srgbClr val="00B050"/>
                </a:solidFill>
                <a:effectLst/>
                <a:latin typeface="Menlo"/>
              </a:rPr>
              <a:t>address = '</a:t>
            </a:r>
            <a:r>
              <a:rPr lang="ru-RU" sz="1600" b="0" i="0" dirty="0">
                <a:solidFill>
                  <a:srgbClr val="00B050"/>
                </a:solidFill>
                <a:effectLst/>
                <a:latin typeface="Menlo"/>
              </a:rPr>
              <a:t>На деревню дедушке’ </a:t>
            </a:r>
          </a:p>
          <a:p>
            <a:pPr algn="l"/>
            <a:r>
              <a:rPr lang="ru-RU" sz="1600" dirty="0">
                <a:solidFill>
                  <a:srgbClr val="00B050"/>
                </a:solidFill>
                <a:latin typeface="Menlo"/>
              </a:rPr>
              <a:t>	</a:t>
            </a:r>
            <a:r>
              <a:rPr lang="en-US" sz="1600" b="0" i="0" dirty="0" err="1">
                <a:solidFill>
                  <a:srgbClr val="00B050"/>
                </a:solidFill>
                <a:effectLst/>
                <a:latin typeface="Menlo"/>
              </a:rPr>
              <a:t>uppercase_address</a:t>
            </a:r>
            <a:r>
              <a:rPr lang="en-US" sz="1600" b="0" i="0" dirty="0">
                <a:solidFill>
                  <a:srgbClr val="00B050"/>
                </a:solidFill>
                <a:effectLst/>
                <a:latin typeface="Menlo"/>
              </a:rPr>
              <a:t> = </a:t>
            </a:r>
            <a:r>
              <a:rPr lang="en-US" sz="1600" b="0" i="0" dirty="0" err="1">
                <a:solidFill>
                  <a:srgbClr val="00B050"/>
                </a:solidFill>
                <a:effectLst/>
                <a:latin typeface="Menlo"/>
              </a:rPr>
              <a:t>str.upper</a:t>
            </a:r>
            <a:r>
              <a:rPr lang="en-US" sz="1600" b="0" i="0" dirty="0">
                <a:solidFill>
                  <a:srgbClr val="00B050"/>
                </a:solidFill>
                <a:effectLst/>
                <a:latin typeface="Menlo"/>
              </a:rPr>
              <a:t>(address)</a:t>
            </a:r>
            <a:endParaRPr lang="ru-RU" sz="1600" b="0" i="0" dirty="0">
              <a:solidFill>
                <a:srgbClr val="00B050"/>
              </a:solidFill>
              <a:effectLst/>
              <a:latin typeface="Menlo"/>
            </a:endParaRPr>
          </a:p>
          <a:p>
            <a:pPr algn="l"/>
            <a:endParaRPr lang="ru-RU" sz="1600" dirty="0">
              <a:latin typeface="Menlo"/>
            </a:endParaRPr>
          </a:p>
          <a:p>
            <a:pPr algn="l"/>
            <a:endParaRPr lang="ru-RU" sz="1600" b="0" i="0" dirty="0">
              <a:effectLst/>
              <a:latin typeface="Menlo"/>
            </a:endParaRPr>
          </a:p>
          <a:p>
            <a:pPr algn="l"/>
            <a:endParaRPr lang="ru-RU" sz="1600" dirty="0">
              <a:latin typeface="Menlo"/>
            </a:endParaRPr>
          </a:p>
          <a:p>
            <a:pPr algn="l"/>
            <a:br>
              <a:rPr lang="ru-RU" sz="1600" b="0" i="0" dirty="0">
                <a:effectLst/>
                <a:latin typeface="Menlo"/>
              </a:rPr>
            </a:br>
            <a:r>
              <a:rPr lang="ru-RU" sz="2000" b="0" i="0" dirty="0">
                <a:solidFill>
                  <a:schemeClr val="tx1"/>
                </a:solidFill>
                <a:effectLst/>
                <a:latin typeface="YS Text"/>
              </a:rPr>
              <a:t>Здесь объект </a:t>
            </a:r>
            <a:r>
              <a:rPr lang="ru-RU" sz="2000" b="0" i="0" dirty="0" err="1">
                <a:solidFill>
                  <a:schemeClr val="tx1"/>
                </a:solidFill>
                <a:effectLst/>
                <a:latin typeface="YS Text"/>
              </a:rPr>
              <a:t>address</a:t>
            </a:r>
            <a:r>
              <a:rPr lang="ru-RU" sz="2000" b="0" i="0" dirty="0">
                <a:solidFill>
                  <a:schemeClr val="tx1"/>
                </a:solidFill>
                <a:effectLst/>
                <a:latin typeface="YS Text"/>
              </a:rPr>
              <a:t> передаётся в качестве аргумента методу </a:t>
            </a:r>
            <a:r>
              <a:rPr lang="ru-RU" sz="2000" b="0" i="0" dirty="0" err="1">
                <a:solidFill>
                  <a:schemeClr val="tx1"/>
                </a:solidFill>
                <a:effectLst/>
                <a:latin typeface="YS Text"/>
              </a:rPr>
              <a:t>upper</a:t>
            </a:r>
            <a:r>
              <a:rPr lang="ru-RU" sz="2000" b="0" i="0" dirty="0">
                <a:solidFill>
                  <a:schemeClr val="tx1"/>
                </a:solidFill>
                <a:effectLst/>
                <a:latin typeface="YS Text"/>
              </a:rPr>
              <a:t>() класса </a:t>
            </a:r>
            <a:r>
              <a:rPr lang="ru-RU" sz="2000" b="0" i="0" dirty="0" err="1">
                <a:solidFill>
                  <a:schemeClr val="tx1"/>
                </a:solidFill>
                <a:effectLst/>
                <a:latin typeface="YS Text"/>
              </a:rPr>
              <a:t>str</a:t>
            </a:r>
            <a:r>
              <a:rPr lang="ru-RU" sz="2000" b="0" i="0" dirty="0">
                <a:solidFill>
                  <a:schemeClr val="tx1"/>
                </a:solidFill>
                <a:effectLst/>
                <a:latin typeface="YS Text"/>
              </a:rPr>
              <a:t>.</a:t>
            </a:r>
          </a:p>
          <a:p>
            <a:pPr algn="l"/>
            <a:r>
              <a:rPr lang="ru-RU" sz="2000" dirty="0">
                <a:solidFill>
                  <a:schemeClr val="tx1"/>
                </a:solidFill>
                <a:latin typeface="YS Text"/>
              </a:rPr>
              <a:t>Но можно сделать иначе. </a:t>
            </a:r>
            <a:r>
              <a:rPr lang="ru-RU" sz="2000" dirty="0" err="1">
                <a:solidFill>
                  <a:schemeClr val="accent5">
                    <a:lumMod val="60000"/>
                    <a:lumOff val="40000"/>
                  </a:schemeClr>
                </a:solidFill>
                <a:latin typeface="YS Text"/>
              </a:rPr>
              <a:t>address</a:t>
            </a:r>
            <a:r>
              <a:rPr lang="ru-RU" sz="2000" dirty="0">
                <a:solidFill>
                  <a:schemeClr val="tx1"/>
                </a:solidFill>
                <a:latin typeface="YS Text"/>
              </a:rPr>
              <a:t> — объект класса </a:t>
            </a:r>
            <a:r>
              <a:rPr lang="ru-RU" sz="2000" dirty="0" err="1">
                <a:solidFill>
                  <a:schemeClr val="accent5">
                    <a:lumMod val="60000"/>
                    <a:lumOff val="40000"/>
                  </a:schemeClr>
                </a:solidFill>
                <a:latin typeface="YS Text"/>
              </a:rPr>
              <a:t>str</a:t>
            </a:r>
            <a:r>
              <a:rPr lang="ru-RU" sz="2000" dirty="0">
                <a:solidFill>
                  <a:schemeClr val="tx1"/>
                </a:solidFill>
                <a:latin typeface="YS Text"/>
              </a:rPr>
              <a:t>, и к этому объекту можно применить любой метод, с которым умеет работать класс </a:t>
            </a:r>
            <a:r>
              <a:rPr lang="ru-RU" sz="2000" dirty="0" err="1">
                <a:solidFill>
                  <a:schemeClr val="accent5">
                    <a:lumMod val="60000"/>
                    <a:lumOff val="40000"/>
                  </a:schemeClr>
                </a:solidFill>
                <a:latin typeface="YS Text"/>
              </a:rPr>
              <a:t>str</a:t>
            </a:r>
            <a:r>
              <a:rPr lang="ru-RU" sz="2000" dirty="0">
                <a:solidFill>
                  <a:schemeClr val="tx1"/>
                </a:solidFill>
                <a:latin typeface="YS Text"/>
              </a:rPr>
              <a:t>. Делается это по такому шаблону: </a:t>
            </a:r>
            <a:r>
              <a:rPr lang="ru-RU" sz="2000" b="1" dirty="0" err="1">
                <a:solidFill>
                  <a:schemeClr val="accent5">
                    <a:lumMod val="60000"/>
                    <a:lumOff val="40000"/>
                  </a:schemeClr>
                </a:solidFill>
                <a:latin typeface="YS Text"/>
              </a:rPr>
              <a:t>имя_объекта.метод</a:t>
            </a:r>
            <a:r>
              <a:rPr lang="ru-RU" sz="2000" b="1" dirty="0">
                <a:solidFill>
                  <a:schemeClr val="accent5">
                    <a:lumMod val="60000"/>
                    <a:lumOff val="40000"/>
                  </a:schemeClr>
                </a:solidFill>
                <a:latin typeface="YS Text"/>
              </a:rPr>
              <a:t>()</a:t>
            </a:r>
            <a:r>
              <a:rPr lang="ru-RU" sz="2000" dirty="0">
                <a:solidFill>
                  <a:schemeClr val="tx1"/>
                </a:solidFill>
                <a:latin typeface="YS Text"/>
              </a:rPr>
              <a:t>. Обратите внимание на скобки в шаблоне — у метода могут быть аргументы, </a:t>
            </a:r>
            <a:r>
              <a:rPr lang="ru-RU" sz="2000" b="0" i="0" dirty="0">
                <a:solidFill>
                  <a:schemeClr val="tx1"/>
                </a:solidFill>
                <a:effectLst/>
                <a:latin typeface="YS Text"/>
              </a:rPr>
              <a:t>поэтому скобки обязательны:</a:t>
            </a:r>
            <a:endParaRPr lang="ru-RU" sz="2000" dirty="0">
              <a:solidFill>
                <a:schemeClr val="tx1"/>
              </a:solidFill>
              <a:latin typeface="YS Text"/>
            </a:endParaRPr>
          </a:p>
        </p:txBody>
      </p:sp>
      <p:pic>
        <p:nvPicPr>
          <p:cNvPr id="6" name="Рисунок 5">
            <a:extLst>
              <a:ext uri="{FF2B5EF4-FFF2-40B4-BE49-F238E27FC236}">
                <a16:creationId xmlns:a16="http://schemas.microsoft.com/office/drawing/2014/main" id="{BD76ED7E-419E-C0AB-9D85-E9B11CDA56D7}"/>
              </a:ext>
            </a:extLst>
          </p:cNvPr>
          <p:cNvPicPr>
            <a:picLocks noChangeAspect="1"/>
          </p:cNvPicPr>
          <p:nvPr/>
        </p:nvPicPr>
        <p:blipFill>
          <a:blip r:embed="rId2"/>
          <a:srcRect l="781" t="16177" r="1485" b="20474"/>
          <a:stretch/>
        </p:blipFill>
        <p:spPr>
          <a:xfrm>
            <a:off x="3141233" y="2227452"/>
            <a:ext cx="6029662" cy="1086524"/>
          </a:xfrm>
          <a:prstGeom prst="rect">
            <a:avLst/>
          </a:prstGeom>
        </p:spPr>
      </p:pic>
      <p:pic>
        <p:nvPicPr>
          <p:cNvPr id="7" name="Рисунок 6">
            <a:extLst>
              <a:ext uri="{FF2B5EF4-FFF2-40B4-BE49-F238E27FC236}">
                <a16:creationId xmlns:a16="http://schemas.microsoft.com/office/drawing/2014/main" id="{639A4B7D-16B1-6439-7920-0501D876C853}"/>
              </a:ext>
            </a:extLst>
          </p:cNvPr>
          <p:cNvPicPr>
            <a:picLocks noChangeAspect="1"/>
          </p:cNvPicPr>
          <p:nvPr/>
        </p:nvPicPr>
        <p:blipFill>
          <a:blip r:embed="rId3"/>
          <a:srcRect l="455" t="14053" r="1375" b="12461"/>
          <a:stretch/>
        </p:blipFill>
        <p:spPr>
          <a:xfrm>
            <a:off x="3141233" y="4979561"/>
            <a:ext cx="6029662" cy="1410481"/>
          </a:xfrm>
          <a:prstGeom prst="rect">
            <a:avLst/>
          </a:prstGeom>
        </p:spPr>
      </p:pic>
    </p:spTree>
    <p:extLst>
      <p:ext uri="{BB962C8B-B14F-4D97-AF65-F5344CB8AC3E}">
        <p14:creationId xmlns:p14="http://schemas.microsoft.com/office/powerpoint/2010/main" val="3400202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Атрибуты и методы в документации Python</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В документации Python подробно описаны все типы данных и перечислены связанные с ними методы и атрибуты. Если</a:t>
            </a:r>
            <a:r>
              <a:rPr lang="ru-RU" sz="2000" b="0" i="0" dirty="0">
                <a:effectLst/>
                <a:latin typeface="YS Text"/>
              </a:rPr>
              <a:t> </a:t>
            </a:r>
            <a:r>
              <a:rPr lang="ru-RU" sz="2000" b="0" i="0" dirty="0">
                <a:effectLst/>
                <a:latin typeface="YS Text"/>
                <a:hlinkClick r:id="rId2"/>
              </a:rPr>
              <a:t>перейти в этот раздел</a:t>
            </a:r>
            <a:r>
              <a:rPr lang="ru-RU" sz="2000" b="0" i="0" dirty="0">
                <a:effectLst/>
                <a:latin typeface="YS Text"/>
              </a:rPr>
              <a:t> </a:t>
            </a:r>
            <a:r>
              <a:rPr lang="ru-RU" sz="2000" b="0" i="0" dirty="0">
                <a:solidFill>
                  <a:schemeClr val="tx1"/>
                </a:solidFill>
                <a:effectLst/>
                <a:latin typeface="YS Text"/>
              </a:rPr>
              <a:t>и полистать его, можно увидеть много знакомого.</a:t>
            </a:r>
          </a:p>
          <a:p>
            <a:pPr algn="l"/>
            <a:r>
              <a:rPr lang="ru-RU" sz="2000" dirty="0">
                <a:solidFill>
                  <a:schemeClr val="tx1"/>
                </a:solidFill>
                <a:latin typeface="YS Text"/>
              </a:rPr>
              <a:t>Подчёркиваниями с обеих сторон выделяются названия </a:t>
            </a:r>
            <a:r>
              <a:rPr lang="ru-RU" sz="2000" b="1" dirty="0">
                <a:solidFill>
                  <a:schemeClr val="accent5">
                    <a:lumMod val="60000"/>
                    <a:lumOff val="40000"/>
                  </a:schemeClr>
                </a:solidFill>
                <a:latin typeface="YS Text"/>
              </a:rPr>
              <a:t>специальных атрибутов и методов</a:t>
            </a:r>
            <a:r>
              <a:rPr lang="ru-RU" sz="2000" dirty="0">
                <a:solidFill>
                  <a:schemeClr val="tx1"/>
                </a:solidFill>
                <a:latin typeface="YS Text"/>
              </a:rPr>
              <a:t>. Так их проще отличить от обычных. Такие специальные атрибуты и методы ещё называют «</a:t>
            </a:r>
            <a:r>
              <a:rPr lang="ru-RU" sz="2000" dirty="0">
                <a:solidFill>
                  <a:schemeClr val="accent5">
                    <a:lumMod val="60000"/>
                    <a:lumOff val="40000"/>
                  </a:schemeClr>
                </a:solidFill>
                <a:latin typeface="YS Text"/>
              </a:rPr>
              <a:t>магическими</a:t>
            </a:r>
            <a:r>
              <a:rPr lang="ru-RU" sz="2000" dirty="0">
                <a:solidFill>
                  <a:schemeClr val="tx1"/>
                </a:solidFill>
                <a:latin typeface="YS Text"/>
              </a:rPr>
              <a:t>».</a:t>
            </a:r>
          </a:p>
          <a:p>
            <a:pPr algn="l"/>
            <a:endParaRPr lang="ru-RU" sz="2000" dirty="0">
              <a:solidFill>
                <a:schemeClr val="tx1"/>
              </a:solidFill>
              <a:latin typeface="YS Text"/>
            </a:endParaRPr>
          </a:p>
        </p:txBody>
      </p:sp>
      <p:pic>
        <p:nvPicPr>
          <p:cNvPr id="4" name="Рисунок 3">
            <a:extLst>
              <a:ext uri="{FF2B5EF4-FFF2-40B4-BE49-F238E27FC236}">
                <a16:creationId xmlns:a16="http://schemas.microsoft.com/office/drawing/2014/main" id="{2F1536E4-A84C-6B1C-4A4D-1D13FB45094A}"/>
              </a:ext>
            </a:extLst>
          </p:cNvPr>
          <p:cNvPicPr>
            <a:picLocks noChangeAspect="1"/>
          </p:cNvPicPr>
          <p:nvPr/>
        </p:nvPicPr>
        <p:blipFill>
          <a:blip r:embed="rId3"/>
          <a:stretch>
            <a:fillRect/>
          </a:stretch>
        </p:blipFill>
        <p:spPr>
          <a:xfrm>
            <a:off x="2869510" y="2140872"/>
            <a:ext cx="6283413" cy="4612025"/>
          </a:xfrm>
          <a:prstGeom prst="rect">
            <a:avLst/>
          </a:prstGeom>
        </p:spPr>
      </p:pic>
    </p:spTree>
    <p:extLst>
      <p:ext uri="{BB962C8B-B14F-4D97-AF65-F5344CB8AC3E}">
        <p14:creationId xmlns:p14="http://schemas.microsoft.com/office/powerpoint/2010/main" val="802894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Autofit/>
          </a:bodyPr>
          <a:lstStyle/>
          <a:p>
            <a:pPr algn="ctr"/>
            <a:r>
              <a:rPr lang="ru-RU" sz="4800" dirty="0">
                <a:solidFill>
                  <a:schemeClr val="accent5">
                    <a:lumMod val="60000"/>
                    <a:lumOff val="40000"/>
                  </a:schemeClr>
                </a:solidFill>
                <a:latin typeface="YS Text"/>
              </a:rPr>
              <a:t>Специальные, или магические, атрибуты и методы</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Специальные, или магические, атрибуты и методы — это «</a:t>
            </a:r>
            <a:r>
              <a:rPr lang="ru-RU" sz="2000" b="0" i="0" dirty="0">
                <a:solidFill>
                  <a:schemeClr val="accent5">
                    <a:lumMod val="60000"/>
                    <a:lumOff val="40000"/>
                  </a:schemeClr>
                </a:solidFill>
                <a:effectLst/>
                <a:latin typeface="YS Text"/>
              </a:rPr>
              <a:t>настройки по умолчанию</a:t>
            </a:r>
            <a:r>
              <a:rPr lang="ru-RU" sz="2000" b="0" i="0" dirty="0">
                <a:solidFill>
                  <a:schemeClr val="tx1"/>
                </a:solidFill>
                <a:effectLst/>
                <a:latin typeface="YS Text"/>
              </a:rPr>
              <a:t>». Как, например, у смартфона есть заводские настройки, так и почти у всех объектов и классов в программировании есть магические атрибуты и методы. У них особенный синтаксис — в начале и в конце названия ставится по два подчёркивания, вот так: </a:t>
            </a:r>
            <a:r>
              <a:rPr lang="ru-RU" sz="2400" b="1" i="0" dirty="0">
                <a:solidFill>
                  <a:schemeClr val="accent5">
                    <a:lumMod val="60000"/>
                    <a:lumOff val="40000"/>
                  </a:schemeClr>
                </a:solidFill>
                <a:effectLst/>
                <a:latin typeface="YS Text"/>
              </a:rPr>
              <a:t>__название__</a:t>
            </a:r>
            <a:r>
              <a:rPr lang="ru-RU" sz="2000" b="0" i="0" dirty="0">
                <a:solidFill>
                  <a:schemeClr val="tx1"/>
                </a:solidFill>
                <a:effectLst/>
                <a:latin typeface="YS Text"/>
              </a:rPr>
              <a:t>.</a:t>
            </a:r>
          </a:p>
          <a:p>
            <a:pPr algn="l"/>
            <a:r>
              <a:rPr lang="ru-RU" sz="2000" dirty="0">
                <a:solidFill>
                  <a:srgbClr val="92D050"/>
                </a:solidFill>
                <a:latin typeface="YS Text"/>
              </a:rPr>
              <a:t>Пример такого магического метода — </a:t>
            </a:r>
            <a:r>
              <a:rPr lang="ru-RU" sz="2400" b="1" dirty="0">
                <a:solidFill>
                  <a:srgbClr val="92D050"/>
                </a:solidFill>
                <a:latin typeface="YS Text"/>
              </a:rPr>
              <a:t>__</a:t>
            </a:r>
            <a:r>
              <a:rPr lang="ru-RU" sz="2400" b="1" dirty="0" err="1">
                <a:solidFill>
                  <a:srgbClr val="92D050"/>
                </a:solidFill>
                <a:latin typeface="YS Text"/>
              </a:rPr>
              <a:t>add</a:t>
            </a:r>
            <a:r>
              <a:rPr lang="ru-RU" sz="2400" b="1" dirty="0">
                <a:solidFill>
                  <a:srgbClr val="92D050"/>
                </a:solidFill>
                <a:latin typeface="YS Text"/>
              </a:rPr>
              <a:t>__(). </a:t>
            </a:r>
            <a:r>
              <a:rPr lang="ru-RU" sz="2000" dirty="0">
                <a:solidFill>
                  <a:srgbClr val="92D050"/>
                </a:solidFill>
                <a:latin typeface="YS Text"/>
              </a:rPr>
              <a:t>Он есть у всех классов и объектов. Этот метод знает, как действовать, когда вы используете оператор +. Вы можете использовать этот оператор для решения разных задач: сложения чисел, конкатенации строк, объединения списков. </a:t>
            </a:r>
          </a:p>
          <a:p>
            <a:pPr algn="l"/>
            <a:r>
              <a:rPr lang="ru-RU" sz="2000" dirty="0">
                <a:solidFill>
                  <a:srgbClr val="92D050"/>
                </a:solidFill>
                <a:latin typeface="YS Text"/>
              </a:rPr>
              <a:t>Магический метод __</a:t>
            </a:r>
            <a:r>
              <a:rPr lang="ru-RU" sz="2000" dirty="0" err="1">
                <a:solidFill>
                  <a:srgbClr val="92D050"/>
                </a:solidFill>
                <a:latin typeface="YS Text"/>
              </a:rPr>
              <a:t>add</a:t>
            </a:r>
            <a:r>
              <a:rPr lang="ru-RU" sz="2000" dirty="0">
                <a:solidFill>
                  <a:srgbClr val="92D050"/>
                </a:solidFill>
                <a:latin typeface="YS Text"/>
              </a:rPr>
              <a:t>__() распознаёт задачу и всегда знает, как поступить с данными в каждом конкретном случае. Вам не нужно вызывать этот метод и что-то разъяснять ему, достаточно просто написать 2 + 3 или 'роман' + 'тик', и каждый раз вы будете получать нужный результат.</a:t>
            </a:r>
          </a:p>
          <a:p>
            <a:pPr algn="l"/>
            <a:r>
              <a:rPr lang="ru-RU" sz="2000" dirty="0">
                <a:solidFill>
                  <a:schemeClr val="tx1"/>
                </a:solidFill>
                <a:latin typeface="YS Text"/>
              </a:rPr>
              <a:t>Программисты обычно не вызывают магические методы и атрибуты напрямую. Эти методы и атрибуты, как правило, просто сообщают Python, как обрабатывать объекты и классы в определённых ситуациях.</a:t>
            </a:r>
          </a:p>
        </p:txBody>
      </p:sp>
    </p:spTree>
    <p:extLst>
      <p:ext uri="{BB962C8B-B14F-4D97-AF65-F5344CB8AC3E}">
        <p14:creationId xmlns:p14="http://schemas.microsoft.com/office/powerpoint/2010/main" val="477591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6B59CE-8986-8BBB-2BBB-341AE47575A4}"/>
              </a:ext>
            </a:extLst>
          </p:cNvPr>
          <p:cNvSpPr>
            <a:spLocks noGrp="1"/>
          </p:cNvSpPr>
          <p:nvPr>
            <p:ph type="title"/>
          </p:nvPr>
        </p:nvSpPr>
        <p:spPr>
          <a:xfrm>
            <a:off x="1095704" y="3029498"/>
            <a:ext cx="10515600" cy="1325563"/>
          </a:xfrm>
        </p:spPr>
        <p:txBody>
          <a:bodyPr>
            <a:normAutofit fontScale="90000"/>
          </a:bodyPr>
          <a:lstStyle/>
          <a:p>
            <a:pPr algn="ctr"/>
            <a:r>
              <a:rPr lang="ru-RU" sz="6000" b="1" dirty="0">
                <a:solidFill>
                  <a:schemeClr val="tx2">
                    <a:lumMod val="20000"/>
                    <a:lumOff val="80000"/>
                  </a:schemeClr>
                </a:solidFill>
              </a:rPr>
              <a:t>Собственные классы и объекты</a:t>
            </a:r>
          </a:p>
        </p:txBody>
      </p:sp>
    </p:spTree>
    <p:extLst>
      <p:ext uri="{BB962C8B-B14F-4D97-AF65-F5344CB8AC3E}">
        <p14:creationId xmlns:p14="http://schemas.microsoft.com/office/powerpoint/2010/main" val="136182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Как объявить класс</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Для объявления классов в Python используется уже знакомый вам шаблон — такой же, как и для объявления функций, циклов и ветвлений. </a:t>
            </a:r>
          </a:p>
          <a:p>
            <a:pPr algn="l"/>
            <a:r>
              <a:rPr lang="ru-RU" sz="2000" b="0" i="0" dirty="0">
                <a:solidFill>
                  <a:schemeClr val="tx1"/>
                </a:solidFill>
                <a:effectLst/>
                <a:latin typeface="YS Text"/>
              </a:rPr>
              <a:t>Вам нужно:</a:t>
            </a:r>
          </a:p>
          <a:p>
            <a:pPr marL="457200" indent="-457200" algn="l">
              <a:buFont typeface="+mj-lt"/>
              <a:buAutoNum type="arabicPeriod"/>
            </a:pPr>
            <a:r>
              <a:rPr lang="ru-RU" sz="2000" b="0" i="0" dirty="0">
                <a:solidFill>
                  <a:schemeClr val="tx1"/>
                </a:solidFill>
                <a:effectLst/>
                <a:latin typeface="YS Text"/>
              </a:rPr>
              <a:t>Написать ключевое слово </a:t>
            </a:r>
            <a:r>
              <a:rPr lang="ru-RU" sz="2000" b="1" i="0" dirty="0" err="1">
                <a:solidFill>
                  <a:schemeClr val="accent5">
                    <a:lumMod val="60000"/>
                    <a:lumOff val="40000"/>
                  </a:schemeClr>
                </a:solidFill>
                <a:effectLst/>
                <a:latin typeface="YS Text"/>
              </a:rPr>
              <a:t>class</a:t>
            </a:r>
            <a:r>
              <a:rPr lang="ru-RU" sz="2000" b="0" i="0" dirty="0">
                <a:solidFill>
                  <a:schemeClr val="tx1"/>
                </a:solidFill>
                <a:effectLst/>
                <a:latin typeface="YS Text"/>
              </a:rPr>
              <a:t>.</a:t>
            </a:r>
          </a:p>
          <a:p>
            <a:pPr marL="457200" indent="-457200" algn="l">
              <a:buFont typeface="+mj-lt"/>
              <a:buAutoNum type="arabicPeriod"/>
            </a:pPr>
            <a:r>
              <a:rPr lang="ru-RU" sz="2000" b="0" i="0" dirty="0">
                <a:solidFill>
                  <a:schemeClr val="tx1"/>
                </a:solidFill>
                <a:effectLst/>
                <a:latin typeface="YS Text"/>
              </a:rPr>
              <a:t>Указать имя класса.</a:t>
            </a:r>
          </a:p>
          <a:p>
            <a:pPr marL="457200" indent="-457200" algn="l">
              <a:buFont typeface="+mj-lt"/>
              <a:buAutoNum type="arabicPeriod"/>
            </a:pPr>
            <a:r>
              <a:rPr lang="ru-RU" sz="2000" b="0" i="0" dirty="0">
                <a:solidFill>
                  <a:schemeClr val="tx1"/>
                </a:solidFill>
                <a:effectLst/>
                <a:latin typeface="YS Text"/>
              </a:rPr>
              <a:t>Поставить двоеточие.</a:t>
            </a:r>
          </a:p>
          <a:p>
            <a:pPr marL="457200" indent="-457200" algn="l">
              <a:buFont typeface="+mj-lt"/>
              <a:buAutoNum type="arabicPeriod"/>
            </a:pPr>
            <a:r>
              <a:rPr lang="ru-RU" sz="2000" b="0" i="0" dirty="0">
                <a:solidFill>
                  <a:schemeClr val="tx1"/>
                </a:solidFill>
                <a:effectLst/>
                <a:latin typeface="YS Text"/>
              </a:rPr>
              <a:t>Описать тело класса с отступом в четыре пробела.</a:t>
            </a:r>
          </a:p>
          <a:p>
            <a:pPr algn="l"/>
            <a:r>
              <a:rPr lang="ru-RU" sz="2000" dirty="0">
                <a:solidFill>
                  <a:schemeClr val="tx1"/>
                </a:solidFill>
                <a:latin typeface="YS Text"/>
              </a:rPr>
              <a:t>	# Ключевое слово </a:t>
            </a:r>
            <a:r>
              <a:rPr lang="ru-RU" sz="2000" dirty="0" err="1">
                <a:solidFill>
                  <a:schemeClr val="tx1"/>
                </a:solidFill>
                <a:latin typeface="YS Text"/>
              </a:rPr>
              <a:t>class</a:t>
            </a:r>
            <a:r>
              <a:rPr lang="ru-RU" sz="2000" dirty="0">
                <a:solidFill>
                  <a:schemeClr val="tx1"/>
                </a:solidFill>
                <a:latin typeface="YS Text"/>
              </a:rPr>
              <a:t> и имя класса.</a:t>
            </a:r>
          </a:p>
          <a:p>
            <a:pPr algn="l"/>
            <a:r>
              <a:rPr lang="ru-RU" sz="2000" dirty="0">
                <a:solidFill>
                  <a:schemeClr val="tx1"/>
                </a:solidFill>
                <a:latin typeface="YS Text"/>
              </a:rPr>
              <a:t>	</a:t>
            </a:r>
            <a:r>
              <a:rPr lang="ru-RU" sz="2000" b="1" dirty="0" err="1">
                <a:solidFill>
                  <a:srgbClr val="00B050"/>
                </a:solidFill>
                <a:latin typeface="YS Text"/>
              </a:rPr>
              <a:t>class</a:t>
            </a:r>
            <a:r>
              <a:rPr lang="ru-RU" sz="2000" b="1" dirty="0">
                <a:solidFill>
                  <a:srgbClr val="00B050"/>
                </a:solidFill>
                <a:latin typeface="YS Text"/>
              </a:rPr>
              <a:t> </a:t>
            </a:r>
            <a:r>
              <a:rPr lang="ru-RU" sz="2000" b="1" dirty="0" err="1">
                <a:solidFill>
                  <a:srgbClr val="00B050"/>
                </a:solidFill>
                <a:latin typeface="YS Text"/>
              </a:rPr>
              <a:t>ИмяКласса</a:t>
            </a:r>
            <a:r>
              <a:rPr lang="ru-RU" sz="2000" b="1" dirty="0">
                <a:solidFill>
                  <a:srgbClr val="00B050"/>
                </a:solidFill>
                <a:latin typeface="YS Text"/>
              </a:rPr>
              <a:t>:</a:t>
            </a:r>
          </a:p>
          <a:p>
            <a:pPr algn="l"/>
            <a:r>
              <a:rPr lang="ru-RU" sz="2000" dirty="0">
                <a:solidFill>
                  <a:schemeClr val="tx1"/>
                </a:solidFill>
                <a:latin typeface="YS Text"/>
              </a:rPr>
              <a:t>    		# Тело класса.</a:t>
            </a:r>
          </a:p>
          <a:p>
            <a:pPr algn="l"/>
            <a:r>
              <a:rPr lang="ru-RU" sz="2000" dirty="0">
                <a:solidFill>
                  <a:schemeClr val="tx1"/>
                </a:solidFill>
                <a:latin typeface="YS Text"/>
              </a:rPr>
              <a:t>  		  </a:t>
            </a:r>
            <a:r>
              <a:rPr lang="ru-RU" sz="2400" b="1" dirty="0">
                <a:solidFill>
                  <a:srgbClr val="00B050"/>
                </a:solidFill>
                <a:latin typeface="YS Text"/>
              </a:rPr>
              <a:t>...</a:t>
            </a:r>
            <a:endParaRPr lang="ru-RU" sz="2000" b="1" dirty="0">
              <a:solidFill>
                <a:srgbClr val="00B050"/>
              </a:solidFill>
              <a:latin typeface="YS Text"/>
            </a:endParaRPr>
          </a:p>
          <a:p>
            <a:pPr algn="l"/>
            <a:endParaRPr lang="ru-RU" sz="2000" dirty="0">
              <a:solidFill>
                <a:srgbClr val="92D050"/>
              </a:solidFill>
              <a:latin typeface="YS Text"/>
            </a:endParaRPr>
          </a:p>
        </p:txBody>
      </p:sp>
    </p:spTree>
    <p:extLst>
      <p:ext uri="{BB962C8B-B14F-4D97-AF65-F5344CB8AC3E}">
        <p14:creationId xmlns:p14="http://schemas.microsoft.com/office/powerpoint/2010/main" val="4004902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Как давать имена классам</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Имена классам принято давать по правилам:</a:t>
            </a:r>
          </a:p>
          <a:p>
            <a:pPr marL="342900" indent="-342900" algn="l">
              <a:buFont typeface="Arial" panose="020B0604020202020204" pitchFamily="34" charset="0"/>
              <a:buChar char="•"/>
            </a:pPr>
            <a:r>
              <a:rPr lang="ru-RU" sz="2000" b="0" i="0" dirty="0">
                <a:solidFill>
                  <a:schemeClr val="tx1"/>
                </a:solidFill>
                <a:effectLst/>
                <a:latin typeface="YS Text"/>
              </a:rPr>
              <a:t>Пишите имя класса на английском и с большой буквы.</a:t>
            </a:r>
          </a:p>
          <a:p>
            <a:pPr marL="342900" indent="-342900" algn="l">
              <a:buFont typeface="Arial" panose="020B0604020202020204" pitchFamily="34" charset="0"/>
              <a:buChar char="•"/>
            </a:pPr>
            <a:r>
              <a:rPr lang="ru-RU" sz="2000" b="0" i="0" dirty="0">
                <a:solidFill>
                  <a:schemeClr val="tx1"/>
                </a:solidFill>
                <a:effectLst/>
                <a:latin typeface="YS Text"/>
              </a:rPr>
              <a:t>Если имя класса состоит из нескольких слов, используйте </a:t>
            </a:r>
            <a:r>
              <a:rPr lang="ru-RU" sz="2000" b="0" i="0" dirty="0" err="1">
                <a:solidFill>
                  <a:schemeClr val="tx1"/>
                </a:solidFill>
                <a:effectLst/>
                <a:latin typeface="YS Text"/>
              </a:rPr>
              <a:t>CamelCase</a:t>
            </a:r>
            <a:r>
              <a:rPr lang="ru-RU" sz="2000" b="0" i="0" dirty="0">
                <a:solidFill>
                  <a:schemeClr val="tx1"/>
                </a:solidFill>
                <a:effectLst/>
                <a:latin typeface="YS Text"/>
              </a:rPr>
              <a:t> (англ. «</a:t>
            </a:r>
            <a:r>
              <a:rPr lang="ru-RU" sz="2000" b="0" i="0" dirty="0" err="1">
                <a:solidFill>
                  <a:schemeClr val="tx1"/>
                </a:solidFill>
                <a:effectLst/>
                <a:latin typeface="YS Text"/>
              </a:rPr>
              <a:t>ВерблюжийРегистр</a:t>
            </a:r>
            <a:r>
              <a:rPr lang="ru-RU" sz="2000" b="0" i="0" dirty="0">
                <a:solidFill>
                  <a:schemeClr val="tx1"/>
                </a:solidFill>
                <a:effectLst/>
                <a:latin typeface="YS Text"/>
              </a:rPr>
              <a:t>», также «</a:t>
            </a:r>
            <a:r>
              <a:rPr lang="ru-RU" sz="2000" b="0" i="0" dirty="0" err="1">
                <a:solidFill>
                  <a:schemeClr val="tx1"/>
                </a:solidFill>
                <a:effectLst/>
                <a:latin typeface="YS Text"/>
              </a:rPr>
              <a:t>ГорбатыйРегистр</a:t>
            </a:r>
            <a:r>
              <a:rPr lang="ru-RU" sz="2000" b="0" i="0" dirty="0">
                <a:solidFill>
                  <a:schemeClr val="tx1"/>
                </a:solidFill>
                <a:effectLst/>
                <a:latin typeface="YS Text"/>
              </a:rPr>
              <a:t>», «</a:t>
            </a:r>
            <a:r>
              <a:rPr lang="ru-RU" sz="2000" b="0" i="0" dirty="0" err="1">
                <a:solidFill>
                  <a:schemeClr val="tx1"/>
                </a:solidFill>
                <a:effectLst/>
                <a:latin typeface="YS Text"/>
              </a:rPr>
              <a:t>СтильВерблюда</a:t>
            </a:r>
            <a:r>
              <a:rPr lang="ru-RU" sz="2000" b="0" i="0" dirty="0">
                <a:solidFill>
                  <a:schemeClr val="tx1"/>
                </a:solidFill>
                <a:effectLst/>
                <a:latin typeface="YS Text"/>
              </a:rPr>
              <a:t>»), то есть каждое слово пишите с большой буквы, между словами не используйте пробелы или подчёркивания.</a:t>
            </a:r>
          </a:p>
          <a:p>
            <a:pPr marL="342900" indent="-342900" algn="l">
              <a:buFont typeface="Arial" panose="020B0604020202020204" pitchFamily="34" charset="0"/>
              <a:buChar char="•"/>
            </a:pPr>
            <a:r>
              <a:rPr lang="ru-RU" sz="2000" b="0" i="0" dirty="0">
                <a:solidFill>
                  <a:schemeClr val="tx1"/>
                </a:solidFill>
                <a:effectLst/>
                <a:latin typeface="YS Text"/>
              </a:rPr>
              <a:t>Часто классы — это концепции из реального мира, поэтому выбирайте для их названий существительные.</a:t>
            </a:r>
          </a:p>
          <a:p>
            <a:pPr marL="342900" indent="-342900" algn="l">
              <a:buFont typeface="Arial" panose="020B0604020202020204" pitchFamily="34" charset="0"/>
              <a:buChar char="•"/>
            </a:pPr>
            <a:r>
              <a:rPr lang="ru-RU" sz="2000" b="0" i="0" dirty="0">
                <a:solidFill>
                  <a:schemeClr val="tx1"/>
                </a:solidFill>
                <a:effectLst/>
                <a:latin typeface="YS Text"/>
              </a:rPr>
              <a:t>Выбирайте понятные и информативные имена. Они должны отражать назначение класса.</a:t>
            </a:r>
          </a:p>
          <a:p>
            <a:pPr marL="342900" indent="-342900" algn="l">
              <a:buFont typeface="Arial" panose="020B0604020202020204" pitchFamily="34" charset="0"/>
              <a:buChar char="•"/>
            </a:pPr>
            <a:r>
              <a:rPr lang="ru-RU" sz="2000" b="0" i="0" dirty="0">
                <a:solidFill>
                  <a:schemeClr val="tx1"/>
                </a:solidFill>
                <a:effectLst/>
                <a:latin typeface="YS Text"/>
              </a:rPr>
              <a:t>Старайтесь избегать аббревиатур или неочевидных сокращений, если они не общеприняты.</a:t>
            </a:r>
          </a:p>
          <a:p>
            <a:pPr marL="342900" indent="-342900" algn="l">
              <a:buFont typeface="Arial" panose="020B0604020202020204" pitchFamily="34" charset="0"/>
              <a:buChar char="•"/>
            </a:pPr>
            <a:r>
              <a:rPr lang="ru-RU" sz="2000" b="0" i="0" dirty="0">
                <a:solidFill>
                  <a:schemeClr val="tx1"/>
                </a:solidFill>
                <a:effectLst/>
                <a:latin typeface="YS Text"/>
              </a:rPr>
              <a:t>Не используйте имена, которые уже заняты встроенными типами или классами в Python.</a:t>
            </a:r>
          </a:p>
          <a:p>
            <a:pPr algn="l"/>
            <a:endParaRPr lang="ru-RU" sz="2000" dirty="0">
              <a:solidFill>
                <a:srgbClr val="92D050"/>
              </a:solidFill>
              <a:latin typeface="YS Text"/>
            </a:endParaRPr>
          </a:p>
        </p:txBody>
      </p:sp>
    </p:spTree>
    <p:extLst>
      <p:ext uri="{BB962C8B-B14F-4D97-AF65-F5344CB8AC3E}">
        <p14:creationId xmlns:p14="http://schemas.microsoft.com/office/powerpoint/2010/main" val="522013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b="0" i="0" dirty="0">
                <a:solidFill>
                  <a:schemeClr val="tx1"/>
                </a:solidFill>
                <a:effectLst/>
                <a:latin typeface="YS Text"/>
              </a:rPr>
              <a:t>Выберите удачные имена классов.</a:t>
            </a:r>
          </a:p>
          <a:p>
            <a:pPr algn="l"/>
            <a:r>
              <a:rPr lang="ru-RU" dirty="0">
                <a:solidFill>
                  <a:schemeClr val="tx1"/>
                </a:solidFill>
                <a:latin typeface="YS Text"/>
              </a:rPr>
              <a:t>-    </a:t>
            </a:r>
            <a:r>
              <a:rPr lang="ru-RU" dirty="0" err="1">
                <a:solidFill>
                  <a:schemeClr val="tx1"/>
                </a:solidFill>
                <a:latin typeface="YS Text"/>
              </a:rPr>
              <a:t>RocketScience</a:t>
            </a:r>
            <a:endParaRPr lang="ru-RU" dirty="0">
              <a:solidFill>
                <a:schemeClr val="tx1"/>
              </a:solidFill>
              <a:latin typeface="YS Text"/>
            </a:endParaRPr>
          </a:p>
          <a:p>
            <a:pPr algn="l"/>
            <a:r>
              <a:rPr lang="ru-RU" dirty="0">
                <a:solidFill>
                  <a:schemeClr val="tx1"/>
                </a:solidFill>
                <a:latin typeface="YS Text"/>
              </a:rPr>
              <a:t>-    </a:t>
            </a:r>
            <a:r>
              <a:rPr lang="ru-RU" dirty="0" err="1">
                <a:solidFill>
                  <a:schemeClr val="tx1"/>
                </a:solidFill>
                <a:latin typeface="YS Text"/>
              </a:rPr>
              <a:t>data</a:t>
            </a:r>
            <a:endParaRPr lang="ru-RU" dirty="0">
              <a:solidFill>
                <a:schemeClr val="tx1"/>
              </a:solidFill>
              <a:latin typeface="YS Text"/>
            </a:endParaRPr>
          </a:p>
          <a:p>
            <a:pPr algn="l"/>
            <a:r>
              <a:rPr lang="ru-RU" dirty="0">
                <a:solidFill>
                  <a:schemeClr val="tx1"/>
                </a:solidFill>
                <a:latin typeface="YS Text"/>
              </a:rPr>
              <a:t>-    </a:t>
            </a:r>
            <a:r>
              <a:rPr lang="ru-RU" dirty="0" err="1">
                <a:solidFill>
                  <a:schemeClr val="tx1"/>
                </a:solidFill>
                <a:latin typeface="YS Text"/>
              </a:rPr>
              <a:t>info_extraction</a:t>
            </a:r>
            <a:endParaRPr lang="ru-RU" dirty="0">
              <a:solidFill>
                <a:schemeClr val="tx1"/>
              </a:solidFill>
              <a:latin typeface="YS Text"/>
            </a:endParaRPr>
          </a:p>
          <a:p>
            <a:pPr algn="l"/>
            <a:r>
              <a:rPr lang="ru-RU" dirty="0">
                <a:solidFill>
                  <a:schemeClr val="tx1"/>
                </a:solidFill>
                <a:latin typeface="YS Text"/>
              </a:rPr>
              <a:t>-    KLA</a:t>
            </a:r>
          </a:p>
          <a:p>
            <a:pPr algn="l"/>
            <a:r>
              <a:rPr lang="ru-RU" dirty="0">
                <a:solidFill>
                  <a:schemeClr val="tx1"/>
                </a:solidFill>
                <a:latin typeface="YS Text"/>
              </a:rPr>
              <a:t>-    </a:t>
            </a:r>
            <a:r>
              <a:rPr lang="ru-RU" dirty="0" err="1">
                <a:solidFill>
                  <a:schemeClr val="tx1"/>
                </a:solidFill>
                <a:latin typeface="YS Text"/>
              </a:rPr>
              <a:t>UserAccount</a:t>
            </a:r>
            <a:endParaRPr lang="ru-RU" dirty="0">
              <a:solidFill>
                <a:schemeClr val="tx1"/>
              </a:solidFill>
              <a:latin typeface="YS Text"/>
            </a:endParaRPr>
          </a:p>
          <a:p>
            <a:pPr algn="l"/>
            <a:r>
              <a:rPr lang="ru-RU" dirty="0">
                <a:solidFill>
                  <a:schemeClr val="tx1"/>
                </a:solidFill>
                <a:latin typeface="YS Text"/>
              </a:rPr>
              <a:t>-    </a:t>
            </a:r>
            <a:r>
              <a:rPr lang="ru-RU" dirty="0" err="1">
                <a:solidFill>
                  <a:schemeClr val="tx1"/>
                </a:solidFill>
                <a:latin typeface="YS Text"/>
              </a:rPr>
              <a:t>Str</a:t>
            </a:r>
            <a:endParaRPr lang="ru-RU" dirty="0">
              <a:solidFill>
                <a:schemeClr val="tx1"/>
              </a:solidFill>
              <a:latin typeface="YS Text"/>
            </a:endParaRPr>
          </a:p>
          <a:p>
            <a:pPr algn="l"/>
            <a:r>
              <a:rPr lang="ru-RU" dirty="0">
                <a:solidFill>
                  <a:schemeClr val="tx1"/>
                </a:solidFill>
                <a:latin typeface="YS Text"/>
              </a:rPr>
              <a:t>-    Phone</a:t>
            </a:r>
          </a:p>
        </p:txBody>
      </p:sp>
    </p:spTree>
    <p:extLst>
      <p:ext uri="{BB962C8B-B14F-4D97-AF65-F5344CB8AC3E}">
        <p14:creationId xmlns:p14="http://schemas.microsoft.com/office/powerpoint/2010/main" val="278200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Первый класс</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lnSpcReduction="10000"/>
          </a:bodyPr>
          <a:lstStyle/>
          <a:p>
            <a:pPr algn="l"/>
            <a:r>
              <a:rPr lang="ru-RU" sz="2000" dirty="0">
                <a:solidFill>
                  <a:schemeClr val="tx1"/>
                </a:solidFill>
                <a:latin typeface="YS Text"/>
              </a:rPr>
              <a:t>М</a:t>
            </a:r>
            <a:r>
              <a:rPr lang="ru-RU" sz="2000" b="0" i="0" dirty="0">
                <a:solidFill>
                  <a:schemeClr val="tx1"/>
                </a:solidFill>
                <a:effectLst/>
                <a:latin typeface="YS Text"/>
              </a:rPr>
              <a:t>ожем объявить класс для телефона, это можно сделать, например, вот так:</a:t>
            </a:r>
          </a:p>
          <a:p>
            <a:pPr algn="l"/>
            <a:r>
              <a:rPr lang="ru-RU" sz="2000" dirty="0">
                <a:solidFill>
                  <a:schemeClr val="tx1"/>
                </a:solidFill>
                <a:latin typeface="YS Text"/>
              </a:rPr>
              <a:t>	</a:t>
            </a:r>
            <a:r>
              <a:rPr lang="en-US" sz="2000" dirty="0">
                <a:solidFill>
                  <a:srgbClr val="00B050"/>
                </a:solidFill>
                <a:latin typeface="YS Text"/>
              </a:rPr>
              <a:t>class Phone:</a:t>
            </a:r>
          </a:p>
          <a:p>
            <a:pPr algn="l"/>
            <a:r>
              <a:rPr lang="en-US" sz="2000" dirty="0">
                <a:solidFill>
                  <a:srgbClr val="00B050"/>
                </a:solidFill>
                <a:latin typeface="YS Text"/>
              </a:rPr>
              <a:t>    </a:t>
            </a:r>
            <a:r>
              <a:rPr lang="ru-RU" sz="2000" dirty="0">
                <a:solidFill>
                  <a:srgbClr val="00B050"/>
                </a:solidFill>
                <a:latin typeface="YS Text"/>
              </a:rPr>
              <a:t>		</a:t>
            </a:r>
            <a:r>
              <a:rPr lang="en-US" sz="2000" dirty="0">
                <a:solidFill>
                  <a:srgbClr val="00B050"/>
                </a:solidFill>
                <a:latin typeface="YS Text"/>
              </a:rPr>
              <a:t>pass</a:t>
            </a:r>
            <a:endParaRPr lang="ru-RU" sz="2000" dirty="0">
              <a:solidFill>
                <a:srgbClr val="00B050"/>
              </a:solidFill>
              <a:latin typeface="YS Text"/>
            </a:endParaRPr>
          </a:p>
          <a:p>
            <a:pPr algn="l"/>
            <a:r>
              <a:rPr lang="ru-RU" sz="2000" dirty="0">
                <a:solidFill>
                  <a:schemeClr val="tx1"/>
                </a:solidFill>
                <a:latin typeface="YS Text"/>
              </a:rPr>
              <a:t>У вашего класса пока нет ни методов, ни атрибутов, поэтому в теле функции поставлена «заглушка» — инструкция </a:t>
            </a:r>
            <a:r>
              <a:rPr lang="ru-RU" sz="2000" dirty="0" err="1">
                <a:solidFill>
                  <a:schemeClr val="tx1"/>
                </a:solidFill>
                <a:latin typeface="YS Text"/>
              </a:rPr>
              <a:t>pass</a:t>
            </a:r>
            <a:r>
              <a:rPr lang="ru-RU" sz="2000" dirty="0">
                <a:solidFill>
                  <a:schemeClr val="tx1"/>
                </a:solidFill>
                <a:latin typeface="YS Text"/>
              </a:rPr>
              <a:t>.</a:t>
            </a:r>
          </a:p>
          <a:p>
            <a:pPr algn="l"/>
            <a:r>
              <a:rPr lang="ru-RU" sz="2000" dirty="0">
                <a:solidFill>
                  <a:schemeClr val="tx1"/>
                </a:solidFill>
                <a:latin typeface="YS Text"/>
              </a:rPr>
              <a:t>Хоть класс пока и пуст, вы всё равно можете создавать его </a:t>
            </a:r>
            <a:r>
              <a:rPr lang="ru-RU" sz="2400" b="1" dirty="0">
                <a:solidFill>
                  <a:schemeClr val="accent5">
                    <a:lumMod val="60000"/>
                    <a:lumOff val="40000"/>
                  </a:schemeClr>
                </a:solidFill>
                <a:latin typeface="YS Text"/>
              </a:rPr>
              <a:t>экземпляры</a:t>
            </a:r>
            <a:r>
              <a:rPr lang="ru-RU" sz="2000" dirty="0">
                <a:solidFill>
                  <a:schemeClr val="tx1"/>
                </a:solidFill>
                <a:latin typeface="YS Text"/>
              </a:rPr>
              <a:t>. Просто позовите класс по имени, как если бы это была функция, и присвойте результат переменной:</a:t>
            </a:r>
          </a:p>
          <a:p>
            <a:pPr algn="l"/>
            <a:r>
              <a:rPr lang="ru-RU" sz="2000" dirty="0">
                <a:solidFill>
                  <a:schemeClr val="tx1"/>
                </a:solidFill>
                <a:latin typeface="YS Text"/>
              </a:rPr>
              <a:t>	</a:t>
            </a:r>
            <a:r>
              <a:rPr lang="en-US" sz="2000" dirty="0">
                <a:solidFill>
                  <a:srgbClr val="00B050"/>
                </a:solidFill>
                <a:latin typeface="YS Text"/>
              </a:rPr>
              <a:t>class Phone:</a:t>
            </a:r>
          </a:p>
          <a:p>
            <a:pPr algn="l"/>
            <a:r>
              <a:rPr lang="en-US" sz="2000" dirty="0">
                <a:solidFill>
                  <a:srgbClr val="00B050"/>
                </a:solidFill>
                <a:latin typeface="YS Text"/>
              </a:rPr>
              <a:t>    </a:t>
            </a:r>
            <a:r>
              <a:rPr lang="ru-RU" sz="2000" dirty="0">
                <a:solidFill>
                  <a:srgbClr val="00B050"/>
                </a:solidFill>
                <a:latin typeface="YS Text"/>
              </a:rPr>
              <a:t>		</a:t>
            </a:r>
            <a:r>
              <a:rPr lang="en-US" sz="2000" dirty="0">
                <a:solidFill>
                  <a:srgbClr val="00B050"/>
                </a:solidFill>
                <a:latin typeface="YS Text"/>
              </a:rPr>
              <a:t>pass</a:t>
            </a:r>
            <a:endParaRPr lang="ru-RU" sz="2000" dirty="0">
              <a:solidFill>
                <a:srgbClr val="00B050"/>
              </a:solidFill>
              <a:latin typeface="YS Text"/>
            </a:endParaRPr>
          </a:p>
          <a:p>
            <a:pPr algn="l"/>
            <a:endParaRPr lang="en-US" sz="2000" dirty="0">
              <a:solidFill>
                <a:schemeClr val="tx1"/>
              </a:solidFill>
              <a:latin typeface="YS Text"/>
            </a:endParaRPr>
          </a:p>
          <a:p>
            <a:pPr algn="l"/>
            <a:r>
              <a:rPr lang="ru-RU" sz="2000" dirty="0">
                <a:solidFill>
                  <a:schemeClr val="tx1"/>
                </a:solidFill>
                <a:latin typeface="YS Text"/>
              </a:rPr>
              <a:t>	</a:t>
            </a:r>
            <a:r>
              <a:rPr lang="en-US" sz="2000" dirty="0" err="1">
                <a:solidFill>
                  <a:srgbClr val="00B050"/>
                </a:solidFill>
                <a:latin typeface="YS Text"/>
              </a:rPr>
              <a:t>my_phone</a:t>
            </a:r>
            <a:r>
              <a:rPr lang="en-US" sz="2000" dirty="0">
                <a:solidFill>
                  <a:srgbClr val="00B050"/>
                </a:solidFill>
                <a:latin typeface="YS Text"/>
              </a:rPr>
              <a:t> = Phone()</a:t>
            </a:r>
            <a:r>
              <a:rPr lang="ru-RU" sz="2000" dirty="0">
                <a:solidFill>
                  <a:srgbClr val="00B050"/>
                </a:solidFill>
                <a:latin typeface="YS Text"/>
              </a:rPr>
              <a:t>    </a:t>
            </a:r>
            <a:r>
              <a:rPr lang="en-US" sz="2000" dirty="0">
                <a:solidFill>
                  <a:schemeClr val="tx1"/>
                </a:solidFill>
                <a:latin typeface="YS Text"/>
              </a:rPr>
              <a:t># </a:t>
            </a:r>
            <a:r>
              <a:rPr lang="ru-RU" sz="2000" dirty="0">
                <a:solidFill>
                  <a:schemeClr val="tx1"/>
                </a:solidFill>
                <a:latin typeface="YS Text"/>
              </a:rPr>
              <a:t>Создать экземпляр класса </a:t>
            </a:r>
            <a:r>
              <a:rPr lang="en-US" sz="2000" dirty="0">
                <a:solidFill>
                  <a:schemeClr val="tx1"/>
                </a:solidFill>
                <a:latin typeface="YS Text"/>
              </a:rPr>
              <a:t>Phone().</a:t>
            </a:r>
            <a:endParaRPr lang="ru-RU" sz="2000" dirty="0">
              <a:solidFill>
                <a:schemeClr val="tx1"/>
              </a:solidFill>
              <a:latin typeface="YS Text"/>
            </a:endParaRPr>
          </a:p>
          <a:p>
            <a:pPr algn="l"/>
            <a:endParaRPr lang="ru-RU" sz="2000" dirty="0">
              <a:solidFill>
                <a:schemeClr val="tx1"/>
              </a:solidFill>
              <a:latin typeface="YS Text"/>
            </a:endParaRPr>
          </a:p>
          <a:p>
            <a:pPr algn="l"/>
            <a:r>
              <a:rPr lang="ru-RU" sz="2000" dirty="0">
                <a:solidFill>
                  <a:schemeClr val="tx1"/>
                </a:solidFill>
                <a:latin typeface="YS Text"/>
              </a:rPr>
              <a:t>Теперь с помощью функции </a:t>
            </a:r>
            <a:r>
              <a:rPr lang="ru-RU" sz="2000" dirty="0" err="1">
                <a:solidFill>
                  <a:schemeClr val="accent5">
                    <a:lumMod val="60000"/>
                    <a:lumOff val="40000"/>
                  </a:schemeClr>
                </a:solidFill>
                <a:latin typeface="YS Text"/>
              </a:rPr>
              <a:t>type</a:t>
            </a:r>
            <a:r>
              <a:rPr lang="ru-RU" sz="2000" dirty="0">
                <a:solidFill>
                  <a:schemeClr val="accent5">
                    <a:lumMod val="60000"/>
                    <a:lumOff val="40000"/>
                  </a:schemeClr>
                </a:solidFill>
                <a:latin typeface="YS Text"/>
              </a:rPr>
              <a:t>() </a:t>
            </a:r>
            <a:r>
              <a:rPr lang="ru-RU" sz="2000" dirty="0">
                <a:solidFill>
                  <a:schemeClr val="tx1"/>
                </a:solidFill>
                <a:latin typeface="YS Text"/>
              </a:rPr>
              <a:t>можно убедиться, что вы действительно создали экземпляр класса Phone. Вывод формата </a:t>
            </a:r>
            <a:r>
              <a:rPr lang="ru-RU" sz="2000" dirty="0" err="1">
                <a:solidFill>
                  <a:schemeClr val="accent5">
                    <a:lumMod val="60000"/>
                    <a:lumOff val="40000"/>
                  </a:schemeClr>
                </a:solidFill>
                <a:latin typeface="YS Text"/>
              </a:rPr>
              <a:t>class</a:t>
            </a:r>
            <a:r>
              <a:rPr lang="ru-RU" sz="2000" dirty="0">
                <a:solidFill>
                  <a:schemeClr val="accent5">
                    <a:lumMod val="60000"/>
                    <a:lumOff val="40000"/>
                  </a:schemeClr>
                </a:solidFill>
                <a:latin typeface="YS Text"/>
              </a:rPr>
              <a:t> '__</a:t>
            </a:r>
            <a:r>
              <a:rPr lang="ru-RU" sz="2000" dirty="0" err="1">
                <a:solidFill>
                  <a:schemeClr val="accent5">
                    <a:lumMod val="60000"/>
                    <a:lumOff val="40000"/>
                  </a:schemeClr>
                </a:solidFill>
                <a:latin typeface="YS Text"/>
              </a:rPr>
              <a:t>main</a:t>
            </a:r>
            <a:r>
              <a:rPr lang="ru-RU" sz="2000" dirty="0">
                <a:solidFill>
                  <a:schemeClr val="accent5">
                    <a:lumMod val="60000"/>
                    <a:lumOff val="40000"/>
                  </a:schemeClr>
                </a:solidFill>
                <a:latin typeface="YS Text"/>
              </a:rPr>
              <a:t>__.Phone'</a:t>
            </a:r>
            <a:r>
              <a:rPr lang="ru-RU" sz="2000" dirty="0">
                <a:solidFill>
                  <a:schemeClr val="tx1"/>
                </a:solidFill>
                <a:latin typeface="YS Text"/>
              </a:rPr>
              <a:t> для переменной </a:t>
            </a:r>
            <a:r>
              <a:rPr lang="ru-RU" sz="2000" dirty="0" err="1">
                <a:solidFill>
                  <a:schemeClr val="tx1"/>
                </a:solidFill>
                <a:latin typeface="YS Text"/>
              </a:rPr>
              <a:t>my_phone</a:t>
            </a:r>
            <a:r>
              <a:rPr lang="ru-RU" sz="2000" dirty="0">
                <a:solidFill>
                  <a:schemeClr val="tx1"/>
                </a:solidFill>
                <a:latin typeface="YS Text"/>
              </a:rPr>
              <a:t> можно прочитать как </a:t>
            </a:r>
            <a:r>
              <a:rPr lang="ru-RU" sz="2400" dirty="0">
                <a:solidFill>
                  <a:srgbClr val="92D050"/>
                </a:solidFill>
                <a:latin typeface="YS Text"/>
              </a:rPr>
              <a:t>«тип переменной </a:t>
            </a:r>
            <a:r>
              <a:rPr lang="ru-RU" sz="2400" dirty="0" err="1">
                <a:solidFill>
                  <a:srgbClr val="92D050"/>
                </a:solidFill>
                <a:latin typeface="YS Text"/>
              </a:rPr>
              <a:t>my_phone</a:t>
            </a:r>
            <a:r>
              <a:rPr lang="ru-RU" sz="2400" dirty="0">
                <a:solidFill>
                  <a:srgbClr val="92D050"/>
                </a:solidFill>
                <a:latin typeface="YS Text"/>
              </a:rPr>
              <a:t> — экземпляр класса Phone»</a:t>
            </a:r>
            <a:r>
              <a:rPr lang="ru-RU" sz="2000" dirty="0">
                <a:solidFill>
                  <a:schemeClr val="tx1"/>
                </a:solidFill>
                <a:latin typeface="YS Text"/>
              </a:rPr>
              <a:t>.</a:t>
            </a:r>
          </a:p>
          <a:p>
            <a:pPr algn="l"/>
            <a:r>
              <a:rPr lang="ru-RU" sz="2000" dirty="0">
                <a:solidFill>
                  <a:schemeClr val="tx1"/>
                </a:solidFill>
                <a:latin typeface="YS Text"/>
              </a:rPr>
              <a:t>Пока у объекта </a:t>
            </a:r>
            <a:r>
              <a:rPr lang="ru-RU" sz="2000" dirty="0" err="1">
                <a:solidFill>
                  <a:schemeClr val="tx1"/>
                </a:solidFill>
                <a:latin typeface="YS Text"/>
              </a:rPr>
              <a:t>my_phone</a:t>
            </a:r>
            <a:r>
              <a:rPr lang="ru-RU" sz="2000" dirty="0">
                <a:solidFill>
                  <a:schemeClr val="tx1"/>
                </a:solidFill>
                <a:latin typeface="YS Text"/>
              </a:rPr>
              <a:t> нет никаких особых возможностей, но сам механизм создания объектов из класса уже работает. </a:t>
            </a:r>
            <a:endParaRPr lang="en-US" sz="2000" dirty="0">
              <a:solidFill>
                <a:schemeClr val="tx1"/>
              </a:solidFill>
              <a:latin typeface="YS Text"/>
            </a:endParaRPr>
          </a:p>
          <a:p>
            <a:pPr algn="l"/>
            <a:endParaRPr lang="ru-RU" sz="2000" dirty="0">
              <a:solidFill>
                <a:schemeClr val="tx1"/>
              </a:solidFill>
              <a:latin typeface="YS Text"/>
            </a:endParaRPr>
          </a:p>
        </p:txBody>
      </p:sp>
    </p:spTree>
    <p:extLst>
      <p:ext uri="{BB962C8B-B14F-4D97-AF65-F5344CB8AC3E}">
        <p14:creationId xmlns:p14="http://schemas.microsoft.com/office/powerpoint/2010/main" val="2179330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Атрибуты класса и объекта класса</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777766"/>
            <a:ext cx="11650134" cy="6080234"/>
          </a:xfrm>
        </p:spPr>
        <p:txBody>
          <a:bodyPr anchor="t">
            <a:normAutofit fontScale="92500" lnSpcReduction="10000"/>
          </a:bodyPr>
          <a:lstStyle/>
          <a:p>
            <a:pPr algn="l"/>
            <a:r>
              <a:rPr lang="ru-RU" sz="2000" b="0" i="0" dirty="0">
                <a:solidFill>
                  <a:schemeClr val="tx1"/>
                </a:solidFill>
                <a:effectLst/>
                <a:latin typeface="YS Text"/>
              </a:rPr>
              <a:t>Атрибуты класса прописываются </a:t>
            </a:r>
            <a:r>
              <a:rPr lang="ru-RU" sz="2000" b="1" i="0" dirty="0">
                <a:solidFill>
                  <a:schemeClr val="accent5">
                    <a:lumMod val="60000"/>
                    <a:lumOff val="40000"/>
                  </a:schemeClr>
                </a:solidFill>
                <a:effectLst/>
                <a:latin typeface="YS Text"/>
              </a:rPr>
              <a:t>в теле класса</a:t>
            </a:r>
            <a:r>
              <a:rPr lang="ru-RU" sz="2000" b="0" i="0" dirty="0">
                <a:solidFill>
                  <a:schemeClr val="tx1"/>
                </a:solidFill>
                <a:effectLst/>
                <a:latin typeface="YS Text"/>
              </a:rPr>
              <a:t>. Они объявляются как обычные переменные: нужно задать название атрибута и присвоить ему значение. </a:t>
            </a:r>
          </a:p>
          <a:p>
            <a:pPr algn="l"/>
            <a:r>
              <a:rPr lang="ru-RU" sz="2000" b="0" i="0" dirty="0">
                <a:solidFill>
                  <a:schemeClr val="tx1"/>
                </a:solidFill>
                <a:effectLst/>
                <a:latin typeface="YS Text"/>
              </a:rPr>
              <a:t>Если в классе Phone нужно абстрагировать проводные телефоны, то можно добавить в этот класс атрибут </a:t>
            </a:r>
            <a:r>
              <a:rPr lang="ru-RU" sz="2000" b="0" i="0" dirty="0" err="1">
                <a:solidFill>
                  <a:schemeClr val="tx1"/>
                </a:solidFill>
                <a:effectLst/>
                <a:latin typeface="YS Text"/>
              </a:rPr>
              <a:t>line_type</a:t>
            </a:r>
            <a:r>
              <a:rPr lang="ru-RU" sz="2000" b="0" i="0" dirty="0">
                <a:solidFill>
                  <a:schemeClr val="tx1"/>
                </a:solidFill>
                <a:effectLst/>
                <a:latin typeface="YS Text"/>
              </a:rPr>
              <a:t> и присвоить ему значение 'проводной</a:t>
            </a:r>
            <a:r>
              <a:rPr lang="ru-RU" sz="2000" dirty="0">
                <a:solidFill>
                  <a:schemeClr val="tx1"/>
                </a:solidFill>
                <a:latin typeface="YS Text"/>
              </a:rPr>
              <a:t>'</a:t>
            </a:r>
            <a:r>
              <a:rPr lang="ru-RU" sz="2000" b="0" i="0" dirty="0">
                <a:solidFill>
                  <a:schemeClr val="tx1"/>
                </a:solidFill>
                <a:effectLst/>
                <a:latin typeface="YS Text"/>
              </a:rPr>
              <a:t>:</a:t>
            </a:r>
          </a:p>
          <a:p>
            <a:pPr algn="l"/>
            <a:r>
              <a:rPr lang="ru-RU" sz="2000" dirty="0">
                <a:solidFill>
                  <a:schemeClr val="tx1"/>
                </a:solidFill>
                <a:latin typeface="YS Text"/>
              </a:rPr>
              <a:t>	</a:t>
            </a:r>
            <a:r>
              <a:rPr lang="ru-RU" sz="1800" dirty="0" err="1">
                <a:solidFill>
                  <a:srgbClr val="00B050"/>
                </a:solidFill>
                <a:latin typeface="YS Text"/>
              </a:rPr>
              <a:t>class</a:t>
            </a:r>
            <a:r>
              <a:rPr lang="ru-RU" sz="1800" dirty="0">
                <a:solidFill>
                  <a:srgbClr val="00B050"/>
                </a:solidFill>
                <a:latin typeface="YS Text"/>
              </a:rPr>
              <a:t> Phone:</a:t>
            </a:r>
          </a:p>
          <a:p>
            <a:pPr algn="l"/>
            <a:r>
              <a:rPr lang="ru-RU" sz="1800" dirty="0">
                <a:solidFill>
                  <a:schemeClr val="tx1"/>
                </a:solidFill>
                <a:latin typeface="YS Text"/>
              </a:rPr>
              <a:t>    		# Вот здесь объявлен атрибут класса.</a:t>
            </a:r>
          </a:p>
          <a:p>
            <a:pPr algn="l"/>
            <a:r>
              <a:rPr lang="ru-RU" sz="1800" dirty="0">
                <a:solidFill>
                  <a:schemeClr val="tx1"/>
                </a:solidFill>
                <a:latin typeface="YS Text"/>
              </a:rPr>
              <a:t>    		</a:t>
            </a:r>
            <a:r>
              <a:rPr lang="ru-RU" sz="1800" dirty="0" err="1">
                <a:solidFill>
                  <a:srgbClr val="00B050"/>
                </a:solidFill>
                <a:latin typeface="YS Text"/>
              </a:rPr>
              <a:t>line_type</a:t>
            </a:r>
            <a:r>
              <a:rPr lang="ru-RU" sz="1800" dirty="0">
                <a:solidFill>
                  <a:srgbClr val="00B050"/>
                </a:solidFill>
                <a:latin typeface="YS Text"/>
              </a:rPr>
              <a:t> = 'проводной'</a:t>
            </a:r>
            <a:endParaRPr lang="en-US" sz="1800" dirty="0">
              <a:solidFill>
                <a:srgbClr val="00B050"/>
              </a:solidFill>
              <a:latin typeface="YS Text"/>
            </a:endParaRPr>
          </a:p>
          <a:p>
            <a:pPr algn="l"/>
            <a:r>
              <a:rPr lang="ru-RU" sz="2000" dirty="0">
                <a:solidFill>
                  <a:schemeClr val="tx1"/>
                </a:solidFill>
                <a:latin typeface="YS Text"/>
              </a:rPr>
              <a:t>На основе этого класса можно создавать объекты — экземпляры класса:</a:t>
            </a:r>
            <a:endParaRPr lang="en-US" sz="2000" dirty="0">
              <a:solidFill>
                <a:schemeClr val="tx1"/>
              </a:solidFill>
              <a:latin typeface="YS Text"/>
            </a:endParaRPr>
          </a:p>
          <a:p>
            <a:pPr algn="l"/>
            <a:r>
              <a:rPr lang="en-US" sz="2000" dirty="0">
                <a:solidFill>
                  <a:schemeClr val="tx1"/>
                </a:solidFill>
                <a:latin typeface="YS Text"/>
              </a:rPr>
              <a:t>	</a:t>
            </a:r>
            <a:r>
              <a:rPr lang="ru-RU" sz="1800" dirty="0">
                <a:solidFill>
                  <a:schemeClr val="tx1"/>
                </a:solidFill>
                <a:latin typeface="YS Text"/>
              </a:rPr>
              <a:t># Первый экземпляр класса.</a:t>
            </a:r>
          </a:p>
          <a:p>
            <a:pPr algn="l"/>
            <a:r>
              <a:rPr lang="en-US" sz="1800" dirty="0">
                <a:solidFill>
                  <a:schemeClr val="tx1"/>
                </a:solidFill>
                <a:latin typeface="YS Text"/>
              </a:rPr>
              <a:t>	</a:t>
            </a:r>
            <a:r>
              <a:rPr lang="en-US" sz="1800" dirty="0" err="1">
                <a:solidFill>
                  <a:srgbClr val="00B050"/>
                </a:solidFill>
                <a:latin typeface="YS Text"/>
              </a:rPr>
              <a:t>rotary_phone</a:t>
            </a:r>
            <a:r>
              <a:rPr lang="en-US" sz="1800" dirty="0">
                <a:solidFill>
                  <a:srgbClr val="00B050"/>
                </a:solidFill>
                <a:latin typeface="YS Text"/>
              </a:rPr>
              <a:t> = Phone()</a:t>
            </a:r>
          </a:p>
          <a:p>
            <a:pPr algn="l"/>
            <a:r>
              <a:rPr lang="en-US" sz="1800" dirty="0">
                <a:solidFill>
                  <a:schemeClr val="tx1"/>
                </a:solidFill>
                <a:latin typeface="YS Text"/>
              </a:rPr>
              <a:t>	# </a:t>
            </a:r>
            <a:r>
              <a:rPr lang="ru-RU" sz="1800" dirty="0">
                <a:solidFill>
                  <a:schemeClr val="tx1"/>
                </a:solidFill>
                <a:latin typeface="YS Text"/>
              </a:rPr>
              <a:t>И второй.</a:t>
            </a:r>
          </a:p>
          <a:p>
            <a:pPr algn="l"/>
            <a:r>
              <a:rPr lang="en-US" sz="1800" dirty="0">
                <a:solidFill>
                  <a:schemeClr val="tx1"/>
                </a:solidFill>
                <a:latin typeface="YS Text"/>
              </a:rPr>
              <a:t>	</a:t>
            </a:r>
            <a:r>
              <a:rPr lang="en-US" sz="1800" dirty="0" err="1">
                <a:solidFill>
                  <a:srgbClr val="00B050"/>
                </a:solidFill>
                <a:latin typeface="YS Text"/>
              </a:rPr>
              <a:t>keypad_phone</a:t>
            </a:r>
            <a:r>
              <a:rPr lang="en-US" sz="1800" dirty="0">
                <a:solidFill>
                  <a:srgbClr val="00B050"/>
                </a:solidFill>
                <a:latin typeface="YS Text"/>
              </a:rPr>
              <a:t> = Phone() </a:t>
            </a:r>
          </a:p>
          <a:p>
            <a:pPr algn="l"/>
            <a:r>
              <a:rPr lang="ru-RU" sz="2000" dirty="0">
                <a:solidFill>
                  <a:schemeClr val="tx1"/>
                </a:solidFill>
                <a:latin typeface="YS Text"/>
              </a:rPr>
              <a:t>Созданным объектам доступны все атрибуты класса Phone, а именно атрибут </a:t>
            </a:r>
            <a:r>
              <a:rPr lang="ru-RU" sz="2000" dirty="0" err="1">
                <a:solidFill>
                  <a:schemeClr val="tx1"/>
                </a:solidFill>
                <a:latin typeface="YS Text"/>
              </a:rPr>
              <a:t>line_type</a:t>
            </a:r>
            <a:r>
              <a:rPr lang="ru-RU" sz="2000" dirty="0">
                <a:solidFill>
                  <a:schemeClr val="tx1"/>
                </a:solidFill>
                <a:latin typeface="YS Text"/>
              </a:rPr>
              <a:t>. Доступ к этому атрибуту можно получить через точечную нотацию:</a:t>
            </a:r>
            <a:endParaRPr lang="en-US" sz="2000" dirty="0">
              <a:solidFill>
                <a:schemeClr val="tx1"/>
              </a:solidFill>
              <a:latin typeface="YS Text"/>
            </a:endParaRPr>
          </a:p>
          <a:p>
            <a:pPr algn="l"/>
            <a:r>
              <a:rPr lang="en-US" sz="2000" dirty="0">
                <a:solidFill>
                  <a:schemeClr val="tx1"/>
                </a:solidFill>
                <a:latin typeface="YS Text"/>
              </a:rPr>
              <a:t>	</a:t>
            </a:r>
            <a:r>
              <a:rPr lang="ru-RU" sz="2000" dirty="0">
                <a:solidFill>
                  <a:schemeClr val="tx1"/>
                </a:solidFill>
                <a:latin typeface="YS Text"/>
              </a:rPr>
              <a:t># Печать содержимого атрибута </a:t>
            </a:r>
            <a:r>
              <a:rPr lang="en-US" sz="2000" dirty="0" err="1">
                <a:solidFill>
                  <a:schemeClr val="tx1"/>
                </a:solidFill>
                <a:latin typeface="YS Text"/>
              </a:rPr>
              <a:t>line_type</a:t>
            </a:r>
            <a:r>
              <a:rPr lang="en-US" sz="2000" dirty="0">
                <a:solidFill>
                  <a:schemeClr val="tx1"/>
                </a:solidFill>
                <a:latin typeface="YS Text"/>
              </a:rPr>
              <a:t> </a:t>
            </a:r>
            <a:r>
              <a:rPr lang="ru-RU" sz="2000" dirty="0">
                <a:solidFill>
                  <a:schemeClr val="tx1"/>
                </a:solidFill>
                <a:latin typeface="YS Text"/>
              </a:rPr>
              <a:t>через объект </a:t>
            </a:r>
            <a:r>
              <a:rPr lang="en-US" sz="2000" dirty="0" err="1">
                <a:solidFill>
                  <a:schemeClr val="tx1"/>
                </a:solidFill>
                <a:latin typeface="YS Text"/>
              </a:rPr>
              <a:t>keypad_phone</a:t>
            </a:r>
            <a:r>
              <a:rPr lang="en-US" sz="2000" dirty="0">
                <a:solidFill>
                  <a:schemeClr val="tx1"/>
                </a:solidFill>
                <a:latin typeface="YS Text"/>
              </a:rPr>
              <a:t>.</a:t>
            </a:r>
          </a:p>
          <a:p>
            <a:pPr algn="l"/>
            <a:r>
              <a:rPr lang="en-US" sz="2000" dirty="0">
                <a:solidFill>
                  <a:schemeClr val="tx1"/>
                </a:solidFill>
                <a:latin typeface="YS Text"/>
              </a:rPr>
              <a:t>	</a:t>
            </a:r>
            <a:r>
              <a:rPr lang="en-US" sz="2000" dirty="0">
                <a:solidFill>
                  <a:srgbClr val="00B050"/>
                </a:solidFill>
                <a:latin typeface="YS Text"/>
              </a:rPr>
              <a:t>print(</a:t>
            </a:r>
            <a:r>
              <a:rPr lang="en-US" sz="2000" dirty="0" err="1">
                <a:solidFill>
                  <a:srgbClr val="00B050"/>
                </a:solidFill>
                <a:latin typeface="YS Text"/>
              </a:rPr>
              <a:t>keypad_phone.line_type</a:t>
            </a:r>
            <a:r>
              <a:rPr lang="en-US" sz="2000" dirty="0">
                <a:solidFill>
                  <a:srgbClr val="00B050"/>
                </a:solidFill>
                <a:latin typeface="YS Text"/>
              </a:rPr>
              <a:t>)</a:t>
            </a:r>
          </a:p>
          <a:p>
            <a:pPr algn="l"/>
            <a:r>
              <a:rPr lang="en-US" sz="2000" dirty="0">
                <a:solidFill>
                  <a:schemeClr val="tx1"/>
                </a:solidFill>
                <a:latin typeface="YS Text"/>
              </a:rPr>
              <a:t>	# </a:t>
            </a:r>
            <a:r>
              <a:rPr lang="ru-RU" sz="2000" dirty="0">
                <a:solidFill>
                  <a:schemeClr val="tx1"/>
                </a:solidFill>
                <a:latin typeface="YS Text"/>
              </a:rPr>
              <a:t>Выведется:</a:t>
            </a:r>
          </a:p>
          <a:p>
            <a:pPr algn="l"/>
            <a:r>
              <a:rPr lang="en-US" sz="2000" dirty="0">
                <a:solidFill>
                  <a:schemeClr val="tx1"/>
                </a:solidFill>
                <a:latin typeface="YS Text"/>
              </a:rPr>
              <a:t>	</a:t>
            </a:r>
            <a:r>
              <a:rPr lang="ru-RU" sz="2000" dirty="0">
                <a:solidFill>
                  <a:srgbClr val="00B050"/>
                </a:solidFill>
                <a:latin typeface="YS Text"/>
              </a:rPr>
              <a:t>проводной</a:t>
            </a:r>
          </a:p>
          <a:p>
            <a:pPr algn="l"/>
            <a:endParaRPr lang="ru-RU" sz="2000" dirty="0">
              <a:solidFill>
                <a:schemeClr val="accent5">
                  <a:lumMod val="60000"/>
                  <a:lumOff val="40000"/>
                </a:schemeClr>
              </a:solidFill>
              <a:latin typeface="YS Text"/>
            </a:endParaRPr>
          </a:p>
        </p:txBody>
      </p:sp>
    </p:spTree>
    <p:extLst>
      <p:ext uri="{BB962C8B-B14F-4D97-AF65-F5344CB8AC3E}">
        <p14:creationId xmlns:p14="http://schemas.microsoft.com/office/powerpoint/2010/main" val="3119827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400" b="0" i="0" dirty="0">
                <a:solidFill>
                  <a:schemeClr val="tx1"/>
                </a:solidFill>
                <a:effectLst/>
                <a:latin typeface="YS Text"/>
              </a:rPr>
              <a:t>Атрибут </a:t>
            </a:r>
            <a:r>
              <a:rPr lang="ru-RU" sz="2400" b="0" i="0" dirty="0" err="1">
                <a:solidFill>
                  <a:schemeClr val="tx1"/>
                </a:solidFill>
                <a:effectLst/>
                <a:latin typeface="YS Text"/>
              </a:rPr>
              <a:t>line_type</a:t>
            </a:r>
            <a:r>
              <a:rPr lang="ru-RU" sz="2400" b="0" i="0" dirty="0">
                <a:solidFill>
                  <a:schemeClr val="tx1"/>
                </a:solidFill>
                <a:effectLst/>
                <a:latin typeface="YS Text"/>
              </a:rPr>
              <a:t> — это </a:t>
            </a:r>
            <a:r>
              <a:rPr lang="ru-RU" sz="2400" b="1" i="0" dirty="0">
                <a:solidFill>
                  <a:schemeClr val="accent5">
                    <a:lumMod val="60000"/>
                    <a:lumOff val="40000"/>
                  </a:schemeClr>
                </a:solidFill>
                <a:effectLst/>
                <a:latin typeface="YS Text"/>
              </a:rPr>
              <a:t>атрибут класса</a:t>
            </a:r>
            <a:r>
              <a:rPr lang="ru-RU" sz="2400" b="0" i="0" dirty="0">
                <a:solidFill>
                  <a:schemeClr val="tx1"/>
                </a:solidFill>
                <a:effectLst/>
                <a:latin typeface="YS Text"/>
              </a:rPr>
              <a:t>, каждый экземпляр класса будет иметь доступ к нему. Объявляется он как простая переменная в теле класса.</a:t>
            </a:r>
          </a:p>
          <a:p>
            <a:pPr algn="l"/>
            <a:r>
              <a:rPr lang="ru-RU" sz="2400" b="0" i="0" dirty="0">
                <a:solidFill>
                  <a:schemeClr val="tx1"/>
                </a:solidFill>
                <a:effectLst/>
                <a:latin typeface="YS Text"/>
              </a:rPr>
              <a:t>На базе класса Phone можно создать бесчисленное количество объектов (проводных телефонов). Но когда вы описываете классы, вы можете предусмотреть лишь то, что та или иная характеристика точно будет, а вот её значение для каждого объекта предугадать не получится. </a:t>
            </a:r>
          </a:p>
          <a:p>
            <a:pPr algn="l"/>
            <a:r>
              <a:rPr lang="ru-RU" sz="2400" b="0" i="0" dirty="0">
                <a:solidFill>
                  <a:schemeClr val="tx1"/>
                </a:solidFill>
                <a:effectLst/>
                <a:latin typeface="YS Text"/>
              </a:rPr>
              <a:t>Точное значение вы чаще всего будете знать только в момент создания объекта. Например, когда придумывали идею телефона, никто и не задумывался о том, какой у телефона будет цвет, вес и тип набора. Понятно было лишь то, что все эти характеристики точно будут у готового устройства.</a:t>
            </a:r>
          </a:p>
          <a:p>
            <a:pPr algn="l"/>
            <a:r>
              <a:rPr lang="ru-RU" sz="2400" b="0" i="0" dirty="0">
                <a:solidFill>
                  <a:schemeClr val="tx1"/>
                </a:solidFill>
                <a:effectLst/>
                <a:latin typeface="YS Text"/>
              </a:rPr>
              <a:t>Получается, вам нужно предусмотреть определённые характеристики ещё в классе, а при создании объекта задать этим характеристикам конкретные значения.</a:t>
            </a:r>
          </a:p>
          <a:p>
            <a:pPr algn="l"/>
            <a:r>
              <a:rPr lang="ru-RU" sz="2400" b="0" i="0" dirty="0">
                <a:solidFill>
                  <a:schemeClr val="tx1"/>
                </a:solidFill>
                <a:effectLst/>
                <a:latin typeface="YS Text"/>
              </a:rPr>
              <a:t>Реализовать такую логику можно при помощи магического метода </a:t>
            </a:r>
            <a:r>
              <a:rPr lang="ru-RU" sz="2800" b="1" i="0" dirty="0">
                <a:solidFill>
                  <a:schemeClr val="accent5">
                    <a:lumMod val="60000"/>
                    <a:lumOff val="40000"/>
                  </a:schemeClr>
                </a:solidFill>
                <a:effectLst/>
                <a:latin typeface="YS Text"/>
              </a:rPr>
              <a:t>__</a:t>
            </a:r>
            <a:r>
              <a:rPr lang="ru-RU" sz="2800" b="1" i="0" dirty="0" err="1">
                <a:solidFill>
                  <a:schemeClr val="accent5">
                    <a:lumMod val="60000"/>
                    <a:lumOff val="40000"/>
                  </a:schemeClr>
                </a:solidFill>
                <a:effectLst/>
                <a:latin typeface="YS Text"/>
              </a:rPr>
              <a:t>init</a:t>
            </a:r>
            <a:r>
              <a:rPr lang="ru-RU" sz="2800" b="1" i="0" dirty="0">
                <a:solidFill>
                  <a:schemeClr val="accent5">
                    <a:lumMod val="60000"/>
                    <a:lumOff val="40000"/>
                  </a:schemeClr>
                </a:solidFill>
                <a:effectLst/>
                <a:latin typeface="YS Text"/>
              </a:rPr>
              <a:t>__.</a:t>
            </a:r>
            <a:endParaRPr lang="ru-RU" sz="2000" b="1" dirty="0">
              <a:solidFill>
                <a:schemeClr val="accent5">
                  <a:lumMod val="60000"/>
                  <a:lumOff val="40000"/>
                </a:schemeClr>
              </a:solidFill>
              <a:latin typeface="YS Text"/>
            </a:endParaRPr>
          </a:p>
        </p:txBody>
      </p:sp>
    </p:spTree>
    <p:extLst>
      <p:ext uri="{BB962C8B-B14F-4D97-AF65-F5344CB8AC3E}">
        <p14:creationId xmlns:p14="http://schemas.microsoft.com/office/powerpoint/2010/main" val="1281295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Autofit/>
          </a:bodyPr>
          <a:lstStyle/>
          <a:p>
            <a:pPr algn="ctr"/>
            <a:r>
              <a:rPr lang="ru-RU" sz="4800" dirty="0">
                <a:solidFill>
                  <a:schemeClr val="accent5">
                    <a:lumMod val="60000"/>
                    <a:lumOff val="40000"/>
                  </a:schemeClr>
                </a:solidFill>
                <a:latin typeface="YS Text"/>
              </a:rPr>
              <a:t>Магический метод </a:t>
            </a:r>
            <a:r>
              <a:rPr lang="ru-RU" sz="4800" b="1" dirty="0">
                <a:solidFill>
                  <a:schemeClr val="accent5">
                    <a:lumMod val="60000"/>
                    <a:lumOff val="40000"/>
                  </a:schemeClr>
                </a:solidFill>
                <a:latin typeface="YS Text"/>
              </a:rPr>
              <a:t>__</a:t>
            </a:r>
            <a:r>
              <a:rPr lang="ru-RU" sz="4800" b="1" dirty="0" err="1">
                <a:solidFill>
                  <a:schemeClr val="accent5">
                    <a:lumMod val="60000"/>
                    <a:lumOff val="40000"/>
                  </a:schemeClr>
                </a:solidFill>
                <a:latin typeface="YS Text"/>
              </a:rPr>
              <a:t>init</a:t>
            </a:r>
            <a:r>
              <a:rPr lang="ru-RU" sz="4800" b="1" dirty="0">
                <a:solidFill>
                  <a:schemeClr val="accent5">
                    <a:lumMod val="60000"/>
                    <a:lumOff val="40000"/>
                  </a:schemeClr>
                </a:solidFill>
                <a:latin typeface="YS Text"/>
              </a:rPr>
              <a:t>__ </a:t>
            </a:r>
            <a:r>
              <a:rPr lang="ru-RU" sz="4800" dirty="0">
                <a:solidFill>
                  <a:schemeClr val="accent5">
                    <a:lumMod val="60000"/>
                    <a:lumOff val="40000"/>
                  </a:schemeClr>
                </a:solidFill>
                <a:latin typeface="YS Text"/>
              </a:rPr>
              <a:t>и атрибуты объекта</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58066" y="833718"/>
            <a:ext cx="11650134" cy="5919179"/>
          </a:xfrm>
        </p:spPr>
        <p:txBody>
          <a:bodyPr anchor="t">
            <a:normAutofit/>
          </a:bodyPr>
          <a:lstStyle/>
          <a:p>
            <a:pPr algn="l"/>
            <a:r>
              <a:rPr lang="ru-RU" sz="2000" b="0" i="0" dirty="0">
                <a:solidFill>
                  <a:schemeClr val="tx1"/>
                </a:solidFill>
                <a:effectLst/>
                <a:latin typeface="YS Text"/>
              </a:rPr>
              <a:t>Предположим, что нужно произвести пять телефонов. Есть «идея телефона», эту идею можно воплотить в чертеже. Для изготовления телефонов понадобится машина, которая будет по чертежу создавать сами телефоны. Как только машина получит чертёж, она сможет производить любое количество телефонов. </a:t>
            </a:r>
          </a:p>
          <a:p>
            <a:pPr algn="l"/>
            <a:r>
              <a:rPr lang="ru-RU" sz="2000" b="0" i="0" dirty="0">
                <a:solidFill>
                  <a:schemeClr val="tx1"/>
                </a:solidFill>
                <a:effectLst/>
                <a:latin typeface="YS Text"/>
              </a:rPr>
              <a:t>Чертёж — это </a:t>
            </a:r>
            <a:r>
              <a:rPr lang="ru-RU" sz="2000" b="0" i="0" dirty="0">
                <a:solidFill>
                  <a:schemeClr val="accent5">
                    <a:lumMod val="60000"/>
                    <a:lumOff val="40000"/>
                  </a:schemeClr>
                </a:solidFill>
                <a:effectLst/>
                <a:latin typeface="YS Text"/>
              </a:rPr>
              <a:t>класс</a:t>
            </a:r>
            <a:r>
              <a:rPr lang="ru-RU" sz="2000" b="0" i="0" dirty="0">
                <a:solidFill>
                  <a:schemeClr val="tx1"/>
                </a:solidFill>
                <a:effectLst/>
                <a:latin typeface="YS Text"/>
              </a:rPr>
              <a:t>, а готовые телефоны — </a:t>
            </a:r>
            <a:r>
              <a:rPr lang="ru-RU" sz="2000" b="0" i="0" dirty="0">
                <a:solidFill>
                  <a:schemeClr val="accent5">
                    <a:lumMod val="60000"/>
                    <a:lumOff val="40000"/>
                  </a:schemeClr>
                </a:solidFill>
                <a:effectLst/>
                <a:latin typeface="YS Text"/>
              </a:rPr>
              <a:t>объекты</a:t>
            </a:r>
            <a:r>
              <a:rPr lang="ru-RU" sz="2000" b="0" i="0" dirty="0">
                <a:solidFill>
                  <a:schemeClr val="tx1"/>
                </a:solidFill>
                <a:effectLst/>
                <a:latin typeface="YS Text"/>
              </a:rPr>
              <a:t>. </a:t>
            </a:r>
          </a:p>
          <a:p>
            <a:pPr algn="l"/>
            <a:r>
              <a:rPr lang="ru-RU" sz="2000" b="0" i="0" dirty="0">
                <a:solidFill>
                  <a:schemeClr val="tx1"/>
                </a:solidFill>
                <a:effectLst/>
                <a:latin typeface="YS Text"/>
              </a:rPr>
              <a:t>Машину, которая создаёт объект класса, называют </a:t>
            </a:r>
            <a:r>
              <a:rPr lang="ru-RU" sz="2400" b="1" i="0" dirty="0">
                <a:solidFill>
                  <a:schemeClr val="accent5">
                    <a:lumMod val="60000"/>
                    <a:lumOff val="40000"/>
                  </a:schemeClr>
                </a:solidFill>
                <a:effectLst/>
                <a:latin typeface="YS Text"/>
              </a:rPr>
              <a:t>конструктор класса</a:t>
            </a:r>
            <a:r>
              <a:rPr lang="ru-RU" sz="2000" b="0" i="0" dirty="0">
                <a:solidFill>
                  <a:schemeClr val="tx1"/>
                </a:solidFill>
                <a:effectLst/>
                <a:latin typeface="YS Text"/>
              </a:rPr>
              <a:t>. </a:t>
            </a:r>
          </a:p>
          <a:p>
            <a:pPr algn="l"/>
            <a:r>
              <a:rPr lang="ru-RU" sz="2000" b="0" i="0" dirty="0">
                <a:solidFill>
                  <a:schemeClr val="tx1"/>
                </a:solidFill>
                <a:effectLst/>
                <a:latin typeface="YS Text"/>
              </a:rPr>
              <a:t>Под капотом Python в конструкторе класса объект «формируется» в два этапа:</a:t>
            </a:r>
            <a:endParaRPr lang="en-US" sz="2000" b="0" i="0" dirty="0">
              <a:solidFill>
                <a:schemeClr val="tx1"/>
              </a:solidFill>
              <a:effectLst/>
              <a:latin typeface="YS Text"/>
            </a:endParaRPr>
          </a:p>
          <a:p>
            <a:pPr marL="342900" indent="-342900" algn="l">
              <a:buFont typeface="Arial" panose="020B0604020202020204" pitchFamily="34" charset="0"/>
              <a:buChar char="•"/>
            </a:pPr>
            <a:r>
              <a:rPr lang="ru-RU" sz="2000" b="0" i="0" dirty="0">
                <a:solidFill>
                  <a:schemeClr val="tx1"/>
                </a:solidFill>
                <a:effectLst/>
                <a:latin typeface="YS Text"/>
              </a:rPr>
              <a:t> сперва магический метод __</a:t>
            </a:r>
            <a:r>
              <a:rPr lang="ru-RU" sz="2000" b="0" i="0" dirty="0" err="1">
                <a:solidFill>
                  <a:schemeClr val="tx1"/>
                </a:solidFill>
                <a:effectLst/>
                <a:latin typeface="YS Text"/>
              </a:rPr>
              <a:t>new</a:t>
            </a:r>
            <a:r>
              <a:rPr lang="ru-RU" sz="2000" b="0" i="0" dirty="0">
                <a:solidFill>
                  <a:schemeClr val="tx1"/>
                </a:solidFill>
                <a:effectLst/>
                <a:latin typeface="YS Text"/>
              </a:rPr>
              <a:t>__ создаёт новый объект класса,</a:t>
            </a:r>
          </a:p>
          <a:p>
            <a:pPr marL="342900" indent="-342900" algn="l">
              <a:buFont typeface="Arial" panose="020B0604020202020204" pitchFamily="34" charset="0"/>
              <a:buChar char="•"/>
            </a:pPr>
            <a:r>
              <a:rPr lang="en-US" sz="2000" b="0" i="0" dirty="0">
                <a:solidFill>
                  <a:schemeClr val="tx1"/>
                </a:solidFill>
                <a:effectLst/>
                <a:latin typeface="YS Text"/>
              </a:rPr>
              <a:t> </a:t>
            </a:r>
            <a:r>
              <a:rPr lang="ru-RU" sz="2000" b="0" i="0" dirty="0">
                <a:solidFill>
                  <a:schemeClr val="tx1"/>
                </a:solidFill>
                <a:effectLst/>
                <a:latin typeface="YS Text"/>
              </a:rPr>
              <a:t>затем магический метод __</a:t>
            </a:r>
            <a:r>
              <a:rPr lang="ru-RU" sz="2000" b="0" i="0" dirty="0" err="1">
                <a:solidFill>
                  <a:schemeClr val="tx1"/>
                </a:solidFill>
                <a:effectLst/>
                <a:latin typeface="YS Text"/>
              </a:rPr>
              <a:t>init</a:t>
            </a:r>
            <a:r>
              <a:rPr lang="ru-RU" sz="2000" b="0" i="0" dirty="0">
                <a:solidFill>
                  <a:schemeClr val="tx1"/>
                </a:solidFill>
                <a:effectLst/>
                <a:latin typeface="YS Text"/>
              </a:rPr>
              <a:t>__ инициализирует объект — устанавливает для него значения атрибутов, переданных в конструктор класса.</a:t>
            </a:r>
            <a:endParaRPr lang="en-US" sz="2000" b="0" i="0" dirty="0">
              <a:solidFill>
                <a:schemeClr val="tx1"/>
              </a:solidFill>
              <a:effectLst/>
              <a:latin typeface="YS Text"/>
            </a:endParaRPr>
          </a:p>
          <a:p>
            <a:pPr algn="l"/>
            <a:r>
              <a:rPr lang="ru-RU" sz="2400" b="1" dirty="0">
                <a:solidFill>
                  <a:schemeClr val="accent5">
                    <a:lumMod val="60000"/>
                    <a:lumOff val="40000"/>
                  </a:schemeClr>
                </a:solidFill>
                <a:latin typeface="YS Text"/>
              </a:rPr>
              <a:t>Создание объекта </a:t>
            </a:r>
            <a:r>
              <a:rPr lang="ru-RU" sz="2000" dirty="0">
                <a:solidFill>
                  <a:schemeClr val="tx1"/>
                </a:solidFill>
                <a:latin typeface="YS Text"/>
              </a:rPr>
              <a:t>выполняется магическим методом </a:t>
            </a:r>
            <a:r>
              <a:rPr lang="ru-RU" sz="2000" dirty="0">
                <a:solidFill>
                  <a:schemeClr val="accent5">
                    <a:lumMod val="60000"/>
                    <a:lumOff val="40000"/>
                  </a:schemeClr>
                </a:solidFill>
                <a:latin typeface="YS Text"/>
              </a:rPr>
              <a:t>__</a:t>
            </a:r>
            <a:r>
              <a:rPr lang="ru-RU" sz="2000" dirty="0" err="1">
                <a:solidFill>
                  <a:schemeClr val="accent5">
                    <a:lumMod val="60000"/>
                    <a:lumOff val="40000"/>
                  </a:schemeClr>
                </a:solidFill>
                <a:latin typeface="YS Text"/>
              </a:rPr>
              <a:t>new</a:t>
            </a:r>
            <a:r>
              <a:rPr lang="ru-RU" sz="2000" dirty="0">
                <a:solidFill>
                  <a:schemeClr val="accent5">
                    <a:lumMod val="60000"/>
                    <a:lumOff val="40000"/>
                  </a:schemeClr>
                </a:solidFill>
                <a:latin typeface="YS Text"/>
              </a:rPr>
              <a:t>__</a:t>
            </a:r>
            <a:r>
              <a:rPr lang="ru-RU" sz="2000" dirty="0">
                <a:solidFill>
                  <a:schemeClr val="tx1"/>
                </a:solidFill>
                <a:latin typeface="YS Text"/>
              </a:rPr>
              <a:t>. Как правило, при работе с классами его почти никогда не описывают явно: в большинстве случаев вполне достаточно того, как этот метод работает под капотом.</a:t>
            </a:r>
            <a:endParaRPr lang="en-US" sz="2000" dirty="0">
              <a:solidFill>
                <a:schemeClr val="tx1"/>
              </a:solidFill>
              <a:latin typeface="YS Text"/>
            </a:endParaRPr>
          </a:p>
          <a:p>
            <a:pPr algn="l"/>
            <a:r>
              <a:rPr lang="ru-RU" sz="2400" b="1" dirty="0">
                <a:solidFill>
                  <a:schemeClr val="accent5">
                    <a:lumMod val="60000"/>
                    <a:lumOff val="40000"/>
                  </a:schemeClr>
                </a:solidFill>
                <a:latin typeface="YS Text"/>
              </a:rPr>
              <a:t>Инициализация объекта </a:t>
            </a:r>
            <a:r>
              <a:rPr lang="ru-RU" sz="2000" dirty="0">
                <a:solidFill>
                  <a:schemeClr val="tx1"/>
                </a:solidFill>
                <a:latin typeface="YS Text"/>
              </a:rPr>
              <a:t>выполняется магическим методом </a:t>
            </a:r>
            <a:r>
              <a:rPr lang="ru-RU" sz="2000" dirty="0">
                <a:solidFill>
                  <a:schemeClr val="accent5">
                    <a:lumMod val="60000"/>
                    <a:lumOff val="40000"/>
                  </a:schemeClr>
                </a:solidFill>
                <a:latin typeface="YS Text"/>
              </a:rPr>
              <a:t>__</a:t>
            </a:r>
            <a:r>
              <a:rPr lang="ru-RU" sz="2000" dirty="0" err="1">
                <a:solidFill>
                  <a:schemeClr val="accent5">
                    <a:lumMod val="60000"/>
                    <a:lumOff val="40000"/>
                  </a:schemeClr>
                </a:solidFill>
                <a:latin typeface="YS Text"/>
              </a:rPr>
              <a:t>init</a:t>
            </a:r>
            <a:r>
              <a:rPr lang="ru-RU" sz="2000" dirty="0">
                <a:solidFill>
                  <a:schemeClr val="accent5">
                    <a:lumMod val="60000"/>
                    <a:lumOff val="40000"/>
                  </a:schemeClr>
                </a:solidFill>
                <a:latin typeface="YS Text"/>
              </a:rPr>
              <a:t>__</a:t>
            </a:r>
            <a:r>
              <a:rPr lang="ru-RU" sz="2000" dirty="0">
                <a:solidFill>
                  <a:schemeClr val="tx1"/>
                </a:solidFill>
                <a:latin typeface="YS Text"/>
              </a:rPr>
              <a:t>, этот метод называют «инициализатор класса» или просто «</a:t>
            </a:r>
            <a:r>
              <a:rPr lang="ru-RU" sz="2000" dirty="0" err="1">
                <a:solidFill>
                  <a:schemeClr val="tx1"/>
                </a:solidFill>
                <a:latin typeface="YS Text"/>
              </a:rPr>
              <a:t>инит</a:t>
            </a:r>
            <a:r>
              <a:rPr lang="ru-RU" sz="2000" dirty="0">
                <a:solidFill>
                  <a:schemeClr val="tx1"/>
                </a:solidFill>
                <a:latin typeface="YS Text"/>
              </a:rPr>
              <a:t>». </a:t>
            </a:r>
          </a:p>
          <a:p>
            <a:pPr algn="l"/>
            <a:r>
              <a:rPr lang="ru-RU" sz="2000" dirty="0">
                <a:solidFill>
                  <a:schemeClr val="tx1"/>
                </a:solidFill>
                <a:latin typeface="YS Text"/>
              </a:rPr>
              <a:t>Атрибуты объектов каждого конкретного класса описываются именно в методе __</a:t>
            </a:r>
            <a:r>
              <a:rPr lang="ru-RU" sz="2000" dirty="0" err="1">
                <a:solidFill>
                  <a:schemeClr val="tx1"/>
                </a:solidFill>
                <a:latin typeface="YS Text"/>
              </a:rPr>
              <a:t>init</a:t>
            </a:r>
            <a:r>
              <a:rPr lang="ru-RU" sz="2000" dirty="0">
                <a:solidFill>
                  <a:schemeClr val="tx1"/>
                </a:solidFill>
                <a:latin typeface="YS Text"/>
              </a:rPr>
              <a:t>__, и если у объектов должны быть атрибуты — разработчик должен явным образом описать этот метод в классе.</a:t>
            </a:r>
          </a:p>
        </p:txBody>
      </p:sp>
    </p:spTree>
    <p:extLst>
      <p:ext uri="{BB962C8B-B14F-4D97-AF65-F5344CB8AC3E}">
        <p14:creationId xmlns:p14="http://schemas.microsoft.com/office/powerpoint/2010/main" val="4098521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123</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7"/>
            <a:ext cx="11650134" cy="6024283"/>
          </a:xfrm>
        </p:spPr>
        <p:txBody>
          <a:bodyPr anchor="t">
            <a:normAutofit fontScale="92500" lnSpcReduction="10000"/>
          </a:bodyPr>
          <a:lstStyle/>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endParaRPr lang="en-US" sz="2000" dirty="0">
              <a:solidFill>
                <a:schemeClr val="tx1"/>
              </a:solidFill>
              <a:latin typeface="YS Text"/>
            </a:endParaRPr>
          </a:p>
          <a:p>
            <a:pPr algn="l"/>
            <a:r>
              <a:rPr lang="ru-RU" sz="2000" dirty="0">
                <a:solidFill>
                  <a:schemeClr val="tx1"/>
                </a:solidFill>
                <a:latin typeface="YS Text"/>
              </a:rPr>
              <a:t>Конструктор класса объявляется как обычная функция, ведь любые методы, магические или обычные, по своей сути — просто функции, объявленные в классе, со своими параметрами и телом.</a:t>
            </a:r>
          </a:p>
          <a:p>
            <a:pPr algn="l"/>
            <a:r>
              <a:rPr lang="ru-RU" sz="2000" dirty="0">
                <a:solidFill>
                  <a:schemeClr val="tx1"/>
                </a:solidFill>
                <a:latin typeface="YS Text"/>
              </a:rPr>
              <a:t>В общем виде класс с методом будет выглядеть так:</a:t>
            </a:r>
            <a:endParaRPr lang="en-US" sz="2000" dirty="0">
              <a:solidFill>
                <a:schemeClr val="tx1"/>
              </a:solidFill>
              <a:latin typeface="YS Text"/>
            </a:endParaRPr>
          </a:p>
          <a:p>
            <a:pPr algn="l"/>
            <a:r>
              <a:rPr lang="en-US" sz="2000" dirty="0">
                <a:solidFill>
                  <a:schemeClr val="tx1"/>
                </a:solidFill>
                <a:latin typeface="YS Text"/>
              </a:rPr>
              <a:t>	</a:t>
            </a:r>
            <a:r>
              <a:rPr lang="ru-RU" sz="1700" b="1" dirty="0" err="1">
                <a:solidFill>
                  <a:srgbClr val="00B050"/>
                </a:solidFill>
                <a:latin typeface="YS Text"/>
              </a:rPr>
              <a:t>class</a:t>
            </a:r>
            <a:r>
              <a:rPr lang="ru-RU" sz="1700" b="1" dirty="0">
                <a:solidFill>
                  <a:srgbClr val="00B050"/>
                </a:solidFill>
                <a:latin typeface="YS Text"/>
              </a:rPr>
              <a:t> </a:t>
            </a:r>
            <a:r>
              <a:rPr lang="ru-RU" sz="1700" b="1" dirty="0" err="1">
                <a:solidFill>
                  <a:srgbClr val="00B050"/>
                </a:solidFill>
                <a:latin typeface="YS Text"/>
              </a:rPr>
              <a:t>ИмяКласса</a:t>
            </a:r>
            <a:r>
              <a:rPr lang="ru-RU" sz="1700" b="1" dirty="0">
                <a:solidFill>
                  <a:srgbClr val="00B050"/>
                </a:solidFill>
                <a:latin typeface="YS Text"/>
              </a:rPr>
              <a:t>:</a:t>
            </a:r>
          </a:p>
          <a:p>
            <a:pPr algn="l"/>
            <a:r>
              <a:rPr lang="ru-RU" sz="1700" dirty="0">
                <a:solidFill>
                  <a:schemeClr val="tx1"/>
                </a:solidFill>
                <a:latin typeface="YS Text"/>
              </a:rPr>
              <a:t>    </a:t>
            </a:r>
            <a:r>
              <a:rPr lang="en-US" sz="1700" dirty="0">
                <a:solidFill>
                  <a:schemeClr val="tx1"/>
                </a:solidFill>
                <a:latin typeface="YS Text"/>
              </a:rPr>
              <a:t>	</a:t>
            </a:r>
            <a:r>
              <a:rPr lang="ru-RU" sz="1700" dirty="0">
                <a:solidFill>
                  <a:schemeClr val="tx1"/>
                </a:solidFill>
                <a:latin typeface="YS Text"/>
              </a:rPr>
              <a:t># Тут можно указать атрибуты класса.</a:t>
            </a:r>
          </a:p>
          <a:p>
            <a:pPr algn="l"/>
            <a:r>
              <a:rPr lang="ru-RU" sz="1700" dirty="0">
                <a:solidFill>
                  <a:schemeClr val="tx1"/>
                </a:solidFill>
                <a:latin typeface="YS Text"/>
              </a:rPr>
              <a:t>   </a:t>
            </a:r>
            <a:r>
              <a:rPr lang="en-US" sz="1700" dirty="0">
                <a:solidFill>
                  <a:schemeClr val="tx1"/>
                </a:solidFill>
                <a:latin typeface="YS Text"/>
              </a:rPr>
              <a:t>		</a:t>
            </a:r>
            <a:r>
              <a:rPr lang="ru-RU" sz="1700" dirty="0">
                <a:solidFill>
                  <a:schemeClr val="tx1"/>
                </a:solidFill>
                <a:latin typeface="YS Text"/>
              </a:rPr>
              <a:t> </a:t>
            </a:r>
            <a:r>
              <a:rPr lang="ru-RU" sz="1700" b="1" dirty="0">
                <a:solidFill>
                  <a:srgbClr val="00B050"/>
                </a:solidFill>
                <a:latin typeface="YS Text"/>
              </a:rPr>
              <a:t>...</a:t>
            </a:r>
          </a:p>
          <a:p>
            <a:pPr algn="l"/>
            <a:r>
              <a:rPr lang="ru-RU" sz="1700" dirty="0">
                <a:solidFill>
                  <a:schemeClr val="tx1"/>
                </a:solidFill>
                <a:latin typeface="YS Text"/>
              </a:rPr>
              <a:t>   </a:t>
            </a:r>
            <a:r>
              <a:rPr lang="en-US" sz="1700" dirty="0">
                <a:solidFill>
                  <a:schemeClr val="tx1"/>
                </a:solidFill>
                <a:latin typeface="YS Text"/>
              </a:rPr>
              <a:t>	</a:t>
            </a:r>
            <a:r>
              <a:rPr lang="ru-RU" sz="1700" dirty="0">
                <a:solidFill>
                  <a:schemeClr val="tx1"/>
                </a:solidFill>
                <a:latin typeface="YS Text"/>
              </a:rPr>
              <a:t>	 # Тут объявлен метод, в скобках указываются параметры.</a:t>
            </a:r>
          </a:p>
          <a:p>
            <a:pPr algn="l"/>
            <a:r>
              <a:rPr lang="ru-RU" sz="1700" dirty="0">
                <a:solidFill>
                  <a:schemeClr val="tx1"/>
                </a:solidFill>
                <a:latin typeface="YS Text"/>
              </a:rPr>
              <a:t>    </a:t>
            </a:r>
            <a:r>
              <a:rPr lang="en-US" sz="1700" dirty="0">
                <a:solidFill>
                  <a:schemeClr val="tx1"/>
                </a:solidFill>
                <a:latin typeface="YS Text"/>
              </a:rPr>
              <a:t>	</a:t>
            </a:r>
            <a:r>
              <a:rPr lang="ru-RU" sz="1700" dirty="0">
                <a:solidFill>
                  <a:schemeClr val="tx1"/>
                </a:solidFill>
                <a:latin typeface="YS Text"/>
              </a:rPr>
              <a:t>	</a:t>
            </a:r>
            <a:r>
              <a:rPr lang="ru-RU" sz="1700" b="1" dirty="0" err="1">
                <a:solidFill>
                  <a:srgbClr val="00B050"/>
                </a:solidFill>
                <a:latin typeface="YS Text"/>
              </a:rPr>
              <a:t>def</a:t>
            </a:r>
            <a:r>
              <a:rPr lang="ru-RU" sz="1700" b="1" dirty="0">
                <a:solidFill>
                  <a:srgbClr val="00B050"/>
                </a:solidFill>
                <a:latin typeface="YS Text"/>
              </a:rPr>
              <a:t> </a:t>
            </a:r>
            <a:r>
              <a:rPr lang="ru-RU" sz="1700" b="1" dirty="0" err="1">
                <a:solidFill>
                  <a:srgbClr val="00B050"/>
                </a:solidFill>
                <a:latin typeface="YS Text"/>
              </a:rPr>
              <a:t>имя_метода</a:t>
            </a:r>
            <a:r>
              <a:rPr lang="ru-RU" sz="1700" b="1" dirty="0">
                <a:solidFill>
                  <a:srgbClr val="00B050"/>
                </a:solidFill>
                <a:latin typeface="YS Text"/>
              </a:rPr>
              <a:t>(</a:t>
            </a:r>
            <a:r>
              <a:rPr lang="ru-RU" sz="1700" b="1" dirty="0" err="1">
                <a:solidFill>
                  <a:srgbClr val="00B050"/>
                </a:solidFill>
                <a:latin typeface="YS Text"/>
              </a:rPr>
              <a:t>self</a:t>
            </a:r>
            <a:r>
              <a:rPr lang="ru-RU" sz="1700" b="1" dirty="0">
                <a:solidFill>
                  <a:srgbClr val="00B050"/>
                </a:solidFill>
                <a:latin typeface="YS Text"/>
              </a:rPr>
              <a:t>, ...):</a:t>
            </a:r>
          </a:p>
          <a:p>
            <a:pPr algn="l"/>
            <a:r>
              <a:rPr lang="ru-RU" sz="1700" dirty="0">
                <a:solidFill>
                  <a:schemeClr val="tx1"/>
                </a:solidFill>
                <a:latin typeface="YS Text"/>
              </a:rPr>
              <a:t>       </a:t>
            </a:r>
            <a:r>
              <a:rPr lang="en-US" sz="1700" dirty="0">
                <a:solidFill>
                  <a:schemeClr val="tx1"/>
                </a:solidFill>
                <a:latin typeface="YS Text"/>
              </a:rPr>
              <a:t>		</a:t>
            </a:r>
            <a:r>
              <a:rPr lang="ru-RU" sz="1700" dirty="0">
                <a:solidFill>
                  <a:schemeClr val="tx1"/>
                </a:solidFill>
                <a:latin typeface="YS Text"/>
              </a:rPr>
              <a:t> 	</a:t>
            </a:r>
            <a:r>
              <a:rPr lang="ru-RU" sz="1700" b="1" dirty="0">
                <a:solidFill>
                  <a:srgbClr val="00B050"/>
                </a:solidFill>
                <a:latin typeface="YS Text"/>
              </a:rPr>
              <a:t>... </a:t>
            </a:r>
            <a:r>
              <a:rPr lang="ru-RU" sz="1700" dirty="0">
                <a:solidFill>
                  <a:schemeClr val="tx1"/>
                </a:solidFill>
                <a:latin typeface="YS Text"/>
              </a:rPr>
              <a:t># Тут можно описать тело метода.</a:t>
            </a:r>
            <a:r>
              <a:rPr lang="ru-RU" sz="1700" b="1" dirty="0">
                <a:solidFill>
                  <a:srgbClr val="00B050"/>
                </a:solidFill>
                <a:latin typeface="YS Text"/>
              </a:rPr>
              <a:t> </a:t>
            </a:r>
          </a:p>
        </p:txBody>
      </p:sp>
      <p:pic>
        <p:nvPicPr>
          <p:cNvPr id="4" name="Рисунок 3">
            <a:extLst>
              <a:ext uri="{FF2B5EF4-FFF2-40B4-BE49-F238E27FC236}">
                <a16:creationId xmlns:a16="http://schemas.microsoft.com/office/drawing/2014/main" id="{849B8D28-A2BE-E2EE-10F9-20C564A757AC}"/>
              </a:ext>
            </a:extLst>
          </p:cNvPr>
          <p:cNvPicPr>
            <a:picLocks noChangeAspect="1"/>
          </p:cNvPicPr>
          <p:nvPr/>
        </p:nvPicPr>
        <p:blipFill>
          <a:blip r:embed="rId2"/>
          <a:srcRect l="1683" t="14423" r="949" b="14656"/>
          <a:stretch/>
        </p:blipFill>
        <p:spPr>
          <a:xfrm>
            <a:off x="1673572" y="110357"/>
            <a:ext cx="8844855" cy="3578774"/>
          </a:xfrm>
          <a:prstGeom prst="rect">
            <a:avLst/>
          </a:prstGeom>
        </p:spPr>
      </p:pic>
      <p:sp>
        <p:nvSpPr>
          <p:cNvPr id="5" name="TextBox 4">
            <a:extLst>
              <a:ext uri="{FF2B5EF4-FFF2-40B4-BE49-F238E27FC236}">
                <a16:creationId xmlns:a16="http://schemas.microsoft.com/office/drawing/2014/main" id="{6610244E-FAAA-D67A-0EC3-62A60C83444A}"/>
              </a:ext>
            </a:extLst>
          </p:cNvPr>
          <p:cNvSpPr txBox="1"/>
          <p:nvPr/>
        </p:nvSpPr>
        <p:spPr>
          <a:xfrm>
            <a:off x="8234855" y="3381354"/>
            <a:ext cx="1834055" cy="307777"/>
          </a:xfrm>
          <a:prstGeom prst="rect">
            <a:avLst/>
          </a:prstGeom>
          <a:noFill/>
        </p:spPr>
        <p:txBody>
          <a:bodyPr wrap="square" rtlCol="0">
            <a:spAutoFit/>
          </a:bodyPr>
          <a:lstStyle/>
          <a:p>
            <a:r>
              <a:rPr lang="en-US" sz="1400" dirty="0">
                <a:solidFill>
                  <a:schemeClr val="bg1">
                    <a:lumMod val="95000"/>
                    <a:lumOff val="5000"/>
                  </a:schemeClr>
                </a:solidFill>
              </a:rPr>
              <a:t>/</a:t>
            </a:r>
            <a:r>
              <a:rPr lang="ru-RU" sz="1400" dirty="0">
                <a:solidFill>
                  <a:schemeClr val="bg1">
                    <a:lumMod val="95000"/>
                    <a:lumOff val="5000"/>
                  </a:schemeClr>
                </a:solidFill>
              </a:rPr>
              <a:t> экземпляр класса</a:t>
            </a:r>
          </a:p>
        </p:txBody>
      </p:sp>
    </p:spTree>
    <p:extLst>
      <p:ext uri="{BB962C8B-B14F-4D97-AF65-F5344CB8AC3E}">
        <p14:creationId xmlns:p14="http://schemas.microsoft.com/office/powerpoint/2010/main" val="1502993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157656"/>
            <a:ext cx="11650134" cy="6595242"/>
          </a:xfrm>
        </p:spPr>
        <p:txBody>
          <a:bodyPr anchor="t">
            <a:normAutofit/>
          </a:bodyPr>
          <a:lstStyle/>
          <a:p>
            <a:pPr algn="l"/>
            <a:r>
              <a:rPr lang="ru-RU" sz="2000" b="0" i="0" dirty="0">
                <a:solidFill>
                  <a:schemeClr val="tx1"/>
                </a:solidFill>
                <a:effectLst/>
                <a:latin typeface="YS Text"/>
              </a:rPr>
              <a:t>А класс с конструктором будет таким:</a:t>
            </a:r>
            <a:endParaRPr lang="en-US" sz="2000" b="0" i="0" dirty="0">
              <a:solidFill>
                <a:schemeClr val="tx1"/>
              </a:solidFill>
              <a:effectLst/>
              <a:latin typeface="YS Text"/>
            </a:endParaRPr>
          </a:p>
          <a:p>
            <a:pPr algn="l"/>
            <a:r>
              <a:rPr lang="en-US" sz="2000" dirty="0">
                <a:solidFill>
                  <a:schemeClr val="tx1"/>
                </a:solidFill>
                <a:latin typeface="YS Text"/>
              </a:rPr>
              <a:t>	</a:t>
            </a:r>
            <a:r>
              <a:rPr lang="ru-RU" sz="2000" b="1" dirty="0" err="1">
                <a:solidFill>
                  <a:srgbClr val="00B050"/>
                </a:solidFill>
                <a:latin typeface="YS Text"/>
              </a:rPr>
              <a:t>class</a:t>
            </a:r>
            <a:r>
              <a:rPr lang="ru-RU" sz="2000" b="1" dirty="0">
                <a:solidFill>
                  <a:srgbClr val="00B050"/>
                </a:solidFill>
                <a:latin typeface="YS Text"/>
              </a:rPr>
              <a:t> </a:t>
            </a:r>
            <a:r>
              <a:rPr lang="ru-RU" sz="2000" b="1" dirty="0" err="1">
                <a:solidFill>
                  <a:srgbClr val="00B050"/>
                </a:solidFill>
                <a:latin typeface="YS Text"/>
              </a:rPr>
              <a:t>ИмяКласса</a:t>
            </a:r>
            <a:r>
              <a:rPr lang="ru-RU" sz="2000" b="1" dirty="0">
                <a:solidFill>
                  <a:srgbClr val="00B050"/>
                </a:solidFill>
                <a:latin typeface="YS Text"/>
              </a:rPr>
              <a:t>:</a:t>
            </a:r>
          </a:p>
          <a:p>
            <a:pPr algn="l"/>
            <a:r>
              <a:rPr lang="ru-RU" sz="2000" dirty="0">
                <a:solidFill>
                  <a:schemeClr val="tx1"/>
                </a:solidFill>
                <a:latin typeface="YS Text"/>
              </a:rPr>
              <a:t>    </a:t>
            </a:r>
            <a:r>
              <a:rPr lang="en-US" sz="2000" dirty="0">
                <a:solidFill>
                  <a:schemeClr val="tx1"/>
                </a:solidFill>
                <a:latin typeface="YS Text"/>
              </a:rPr>
              <a:t>	</a:t>
            </a:r>
            <a:r>
              <a:rPr lang="ru-RU" sz="2000" dirty="0">
                <a:solidFill>
                  <a:schemeClr val="tx1"/>
                </a:solidFill>
                <a:latin typeface="YS Text"/>
              </a:rPr>
              <a:t># Тут можно указать атрибуты класса.</a:t>
            </a:r>
          </a:p>
          <a:p>
            <a:pPr algn="l"/>
            <a:r>
              <a:rPr lang="ru-RU" sz="2000" dirty="0">
                <a:solidFill>
                  <a:schemeClr val="tx1"/>
                </a:solidFill>
                <a:latin typeface="YS Text"/>
              </a:rPr>
              <a:t>    </a:t>
            </a:r>
            <a:r>
              <a:rPr lang="en-US" sz="2000" dirty="0">
                <a:solidFill>
                  <a:schemeClr val="tx1"/>
                </a:solidFill>
                <a:latin typeface="YS Text"/>
              </a:rPr>
              <a:t>		</a:t>
            </a:r>
            <a:r>
              <a:rPr lang="ru-RU" sz="2000" b="1" dirty="0">
                <a:solidFill>
                  <a:srgbClr val="00B050"/>
                </a:solidFill>
                <a:latin typeface="YS Text"/>
              </a:rPr>
              <a:t>...</a:t>
            </a:r>
          </a:p>
          <a:p>
            <a:pPr algn="l"/>
            <a:endParaRPr lang="ru-RU" sz="2000" dirty="0">
              <a:solidFill>
                <a:schemeClr val="tx1"/>
              </a:solidFill>
              <a:latin typeface="YS Text"/>
            </a:endParaRPr>
          </a:p>
          <a:p>
            <a:pPr algn="l"/>
            <a:r>
              <a:rPr lang="ru-RU" sz="2000" dirty="0">
                <a:solidFill>
                  <a:schemeClr val="tx1"/>
                </a:solidFill>
                <a:latin typeface="YS Text"/>
              </a:rPr>
              <a:t>    </a:t>
            </a:r>
            <a:r>
              <a:rPr lang="en-US" sz="2000" dirty="0">
                <a:solidFill>
                  <a:schemeClr val="tx1"/>
                </a:solidFill>
                <a:latin typeface="YS Text"/>
              </a:rPr>
              <a:t>		</a:t>
            </a:r>
            <a:r>
              <a:rPr lang="ru-RU" sz="2000" dirty="0">
                <a:solidFill>
                  <a:schemeClr val="tx1"/>
                </a:solidFill>
                <a:latin typeface="YS Text"/>
              </a:rPr>
              <a:t># Объявлен конструктор.</a:t>
            </a:r>
          </a:p>
          <a:p>
            <a:pPr algn="l"/>
            <a:r>
              <a:rPr lang="ru-RU" sz="2000" dirty="0">
                <a:solidFill>
                  <a:schemeClr val="tx1"/>
                </a:solidFill>
                <a:latin typeface="YS Text"/>
              </a:rPr>
              <a:t>    </a:t>
            </a:r>
            <a:r>
              <a:rPr lang="en-US" sz="2000" dirty="0">
                <a:solidFill>
                  <a:schemeClr val="tx1"/>
                </a:solidFill>
                <a:latin typeface="YS Text"/>
              </a:rPr>
              <a:t>		</a:t>
            </a:r>
            <a:r>
              <a:rPr lang="ru-RU" sz="2000" b="1" dirty="0" err="1">
                <a:solidFill>
                  <a:srgbClr val="00B050"/>
                </a:solidFill>
                <a:latin typeface="YS Text"/>
              </a:rPr>
              <a:t>def</a:t>
            </a:r>
            <a:r>
              <a:rPr lang="ru-RU" sz="2000" b="1" dirty="0">
                <a:solidFill>
                  <a:srgbClr val="00B050"/>
                </a:solidFill>
                <a:latin typeface="YS Text"/>
              </a:rPr>
              <a:t> </a:t>
            </a:r>
            <a:r>
              <a:rPr lang="ru-RU" sz="2000" b="1" dirty="0">
                <a:solidFill>
                  <a:schemeClr val="accent5">
                    <a:lumMod val="60000"/>
                    <a:lumOff val="40000"/>
                  </a:schemeClr>
                </a:solidFill>
                <a:latin typeface="YS Text"/>
              </a:rPr>
              <a:t>__</a:t>
            </a:r>
            <a:r>
              <a:rPr lang="ru-RU" sz="2000" b="1" dirty="0" err="1">
                <a:solidFill>
                  <a:schemeClr val="accent5">
                    <a:lumMod val="60000"/>
                    <a:lumOff val="40000"/>
                  </a:schemeClr>
                </a:solidFill>
                <a:latin typeface="YS Text"/>
              </a:rPr>
              <a:t>init</a:t>
            </a:r>
            <a:r>
              <a:rPr lang="ru-RU" sz="2000" b="1" dirty="0">
                <a:solidFill>
                  <a:schemeClr val="accent5">
                    <a:lumMod val="60000"/>
                    <a:lumOff val="40000"/>
                  </a:schemeClr>
                </a:solidFill>
                <a:latin typeface="YS Text"/>
              </a:rPr>
              <a:t>__</a:t>
            </a:r>
            <a:r>
              <a:rPr lang="ru-RU" sz="2000" b="1" dirty="0">
                <a:solidFill>
                  <a:srgbClr val="00B050"/>
                </a:solidFill>
                <a:latin typeface="YS Text"/>
              </a:rPr>
              <a:t>(</a:t>
            </a:r>
            <a:r>
              <a:rPr lang="ru-RU" sz="2000" b="1" dirty="0" err="1">
                <a:solidFill>
                  <a:srgbClr val="00B050"/>
                </a:solidFill>
                <a:latin typeface="YS Text"/>
              </a:rPr>
              <a:t>self</a:t>
            </a:r>
            <a:r>
              <a:rPr lang="ru-RU" sz="2000" b="1" dirty="0">
                <a:solidFill>
                  <a:srgbClr val="00B050"/>
                </a:solidFill>
                <a:latin typeface="YS Text"/>
              </a:rPr>
              <a:t>, ...):</a:t>
            </a:r>
          </a:p>
          <a:p>
            <a:pPr algn="l"/>
            <a:r>
              <a:rPr lang="ru-RU" sz="2000" dirty="0">
                <a:solidFill>
                  <a:schemeClr val="tx1"/>
                </a:solidFill>
                <a:latin typeface="YS Text"/>
              </a:rPr>
              <a:t>       </a:t>
            </a:r>
            <a:r>
              <a:rPr lang="en-US" sz="2000" dirty="0">
                <a:solidFill>
                  <a:schemeClr val="tx1"/>
                </a:solidFill>
                <a:latin typeface="YS Text"/>
              </a:rPr>
              <a:t>			</a:t>
            </a:r>
            <a:r>
              <a:rPr lang="ru-RU" sz="2000" dirty="0">
                <a:solidFill>
                  <a:schemeClr val="tx1"/>
                </a:solidFill>
                <a:latin typeface="YS Text"/>
              </a:rPr>
              <a:t> </a:t>
            </a:r>
            <a:r>
              <a:rPr lang="ru-RU" sz="2000" b="1" dirty="0">
                <a:solidFill>
                  <a:srgbClr val="00B050"/>
                </a:solidFill>
                <a:latin typeface="YS Text"/>
              </a:rPr>
              <a:t>...</a:t>
            </a:r>
            <a:endParaRPr lang="en-US" sz="2000" b="1" dirty="0">
              <a:solidFill>
                <a:srgbClr val="00B050"/>
              </a:solidFill>
              <a:latin typeface="YS Text"/>
            </a:endParaRPr>
          </a:p>
          <a:p>
            <a:pPr algn="l"/>
            <a:r>
              <a:rPr lang="ru-RU" sz="2000" dirty="0">
                <a:solidFill>
                  <a:schemeClr val="tx1"/>
                </a:solidFill>
                <a:latin typeface="YS Text"/>
              </a:rPr>
              <a:t>Таким образом </a:t>
            </a:r>
            <a:r>
              <a:rPr lang="ru-RU" sz="2400" b="1" dirty="0">
                <a:solidFill>
                  <a:schemeClr val="accent5">
                    <a:lumMod val="60000"/>
                    <a:lumOff val="40000"/>
                  </a:schemeClr>
                </a:solidFill>
                <a:latin typeface="YS Text"/>
              </a:rPr>
              <a:t>конструктор это</a:t>
            </a:r>
            <a:r>
              <a:rPr lang="ru-RU" sz="2000" dirty="0">
                <a:solidFill>
                  <a:schemeClr val="tx1"/>
                </a:solidFill>
                <a:latin typeface="YS Text"/>
              </a:rPr>
              <a:t> - </a:t>
            </a:r>
            <a:r>
              <a:rPr lang="ru-RU" sz="2000" i="0" dirty="0">
                <a:solidFill>
                  <a:schemeClr val="tx1"/>
                </a:solidFill>
                <a:effectLst/>
                <a:latin typeface="YS Text"/>
              </a:rPr>
              <a:t>это такой общий метод класса, в котором можно задать общие для объектов атрибуты. А конкретные значения можно указать или сразу, или уже тогда, когда будут создаваться конкретные объекты.</a:t>
            </a:r>
            <a:endParaRPr lang="en-US" sz="2000" dirty="0">
              <a:solidFill>
                <a:schemeClr val="tx1"/>
              </a:solidFill>
              <a:latin typeface="YS Text"/>
            </a:endParaRPr>
          </a:p>
          <a:p>
            <a:pPr algn="l"/>
            <a:r>
              <a:rPr lang="ru-RU" sz="2000" dirty="0">
                <a:solidFill>
                  <a:schemeClr val="tx1"/>
                </a:solidFill>
                <a:latin typeface="YS Text"/>
              </a:rPr>
              <a:t>Первым параметром в методы экземпляра всегда передаётся параметр </a:t>
            </a:r>
            <a:r>
              <a:rPr lang="ru-RU" sz="2400" b="1" dirty="0" err="1">
                <a:solidFill>
                  <a:schemeClr val="accent5">
                    <a:lumMod val="60000"/>
                    <a:lumOff val="40000"/>
                  </a:schemeClr>
                </a:solidFill>
                <a:latin typeface="YS Text"/>
              </a:rPr>
              <a:t>self</a:t>
            </a:r>
            <a:r>
              <a:rPr lang="ru-RU" sz="2000" dirty="0">
                <a:solidFill>
                  <a:schemeClr val="tx1"/>
                </a:solidFill>
                <a:latin typeface="YS Text"/>
              </a:rPr>
              <a:t> (англ. «сам»). </a:t>
            </a:r>
          </a:p>
          <a:p>
            <a:pPr algn="l"/>
            <a:r>
              <a:rPr lang="ru-RU" sz="2000" dirty="0">
                <a:solidFill>
                  <a:schemeClr val="tx1"/>
                </a:solidFill>
                <a:latin typeface="YS Text"/>
              </a:rPr>
              <a:t>Когда создается объект, Python вызывает конструктор класса и автоматически передаёт в него первым аргументом тот самый объект, который создаётся. Благодаря такой механике конструктор может взаимодействовать с атрибутами или другими методами конкретного объекта. И надо как-то присвоить переданный аргумент именно тому объекту, который создаётся при вызове конструктора, а не какому-то другому! Таким образом </a:t>
            </a:r>
            <a:r>
              <a:rPr lang="en-US" sz="2400" b="1" dirty="0">
                <a:solidFill>
                  <a:schemeClr val="accent5">
                    <a:lumMod val="60000"/>
                    <a:lumOff val="40000"/>
                  </a:schemeClr>
                </a:solidFill>
                <a:latin typeface="YS Text"/>
              </a:rPr>
              <a:t>self</a:t>
            </a:r>
            <a:r>
              <a:rPr lang="en-US" sz="2000" dirty="0">
                <a:solidFill>
                  <a:schemeClr val="tx1"/>
                </a:solidFill>
                <a:latin typeface="YS Text"/>
              </a:rPr>
              <a:t> </a:t>
            </a:r>
            <a:r>
              <a:rPr lang="ru-RU" sz="2000" dirty="0">
                <a:solidFill>
                  <a:schemeClr val="tx1"/>
                </a:solidFill>
                <a:latin typeface="YS Text"/>
              </a:rPr>
              <a:t>это своего рода </a:t>
            </a:r>
            <a:r>
              <a:rPr lang="ru-RU" sz="2000" dirty="0">
                <a:solidFill>
                  <a:schemeClr val="accent5">
                    <a:lumMod val="60000"/>
                    <a:lumOff val="40000"/>
                  </a:schemeClr>
                </a:solidFill>
                <a:latin typeface="YS Text"/>
              </a:rPr>
              <a:t>указатель на объект</a:t>
            </a:r>
            <a:r>
              <a:rPr lang="ru-RU" sz="2000" dirty="0">
                <a:solidFill>
                  <a:schemeClr val="tx1"/>
                </a:solidFill>
                <a:latin typeface="YS Text"/>
              </a:rPr>
              <a:t>.</a:t>
            </a:r>
            <a:endParaRPr lang="en-US" sz="2000" dirty="0">
              <a:solidFill>
                <a:schemeClr val="tx1"/>
              </a:solidFill>
              <a:latin typeface="YS Text"/>
            </a:endParaRPr>
          </a:p>
          <a:p>
            <a:pPr algn="l"/>
            <a:endParaRPr lang="ru-RU" sz="2000" dirty="0">
              <a:solidFill>
                <a:schemeClr val="tx1"/>
              </a:solidFill>
              <a:latin typeface="YS Text"/>
            </a:endParaRPr>
          </a:p>
        </p:txBody>
      </p:sp>
    </p:spTree>
    <p:extLst>
      <p:ext uri="{BB962C8B-B14F-4D97-AF65-F5344CB8AC3E}">
        <p14:creationId xmlns:p14="http://schemas.microsoft.com/office/powerpoint/2010/main" val="2346551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178895" y="210208"/>
            <a:ext cx="11650134" cy="6385034"/>
          </a:xfrm>
        </p:spPr>
        <p:txBody>
          <a:bodyPr anchor="t">
            <a:normAutofit/>
          </a:bodyPr>
          <a:lstStyle/>
          <a:p>
            <a:pPr algn="l"/>
            <a:r>
              <a:rPr lang="ru-RU" sz="2000" b="0" i="0" dirty="0">
                <a:solidFill>
                  <a:schemeClr val="tx1"/>
                </a:solidFill>
                <a:effectLst/>
                <a:latin typeface="YS Text"/>
              </a:rPr>
              <a:t>Добавим в класс Phone конструктор класса. Он должен принимать два параметра: обязательный </a:t>
            </a:r>
            <a:r>
              <a:rPr lang="ru-RU" sz="2000" b="0" i="0" dirty="0" err="1">
                <a:solidFill>
                  <a:schemeClr val="tx1"/>
                </a:solidFill>
                <a:effectLst/>
                <a:latin typeface="YS Text"/>
              </a:rPr>
              <a:t>self</a:t>
            </a:r>
            <a:r>
              <a:rPr lang="ru-RU" sz="2000" b="0" i="0" dirty="0">
                <a:solidFill>
                  <a:schemeClr val="tx1"/>
                </a:solidFill>
                <a:effectLst/>
                <a:latin typeface="YS Text"/>
              </a:rPr>
              <a:t> и ещё один, тот, который будет отвечать за тип набора проводного телефона. Назовем его </a:t>
            </a:r>
            <a:r>
              <a:rPr lang="ru-RU" sz="2000" b="0" i="0" dirty="0" err="1">
                <a:solidFill>
                  <a:schemeClr val="tx1"/>
                </a:solidFill>
                <a:effectLst/>
                <a:latin typeface="YS Text"/>
              </a:rPr>
              <a:t>dial_type_value</a:t>
            </a:r>
            <a:r>
              <a:rPr lang="ru-RU" sz="2000" b="0" i="0" dirty="0">
                <a:solidFill>
                  <a:schemeClr val="tx1"/>
                </a:solidFill>
                <a:effectLst/>
                <a:latin typeface="YS Text"/>
              </a:rPr>
              <a:t>.</a:t>
            </a:r>
          </a:p>
          <a:p>
            <a:pPr algn="l"/>
            <a:r>
              <a:rPr lang="ru-RU" sz="2000" dirty="0">
                <a:solidFill>
                  <a:schemeClr val="tx1"/>
                </a:solidFill>
                <a:latin typeface="YS Text"/>
              </a:rPr>
              <a:t>Код класса Phone с конструктором, который содержит два параметра, и также можно объявлять атрибуты объекта: </a:t>
            </a:r>
          </a:p>
          <a:p>
            <a:pPr algn="l"/>
            <a:r>
              <a:rPr lang="ru-RU" sz="2000" dirty="0">
                <a:solidFill>
                  <a:schemeClr val="tx1"/>
                </a:solidFill>
                <a:latin typeface="YS Text"/>
              </a:rPr>
              <a:t>	</a:t>
            </a:r>
            <a:r>
              <a:rPr lang="ru-RU" sz="1800" b="1" dirty="0" err="1">
                <a:solidFill>
                  <a:srgbClr val="00B050"/>
                </a:solidFill>
                <a:latin typeface="YS Text"/>
              </a:rPr>
              <a:t>class</a:t>
            </a:r>
            <a:r>
              <a:rPr lang="ru-RU" sz="1800" b="1" dirty="0">
                <a:solidFill>
                  <a:srgbClr val="00B050"/>
                </a:solidFill>
                <a:latin typeface="YS Text"/>
              </a:rPr>
              <a:t> Phone:</a:t>
            </a:r>
          </a:p>
          <a:p>
            <a:pPr algn="l"/>
            <a:r>
              <a:rPr lang="ru-RU" sz="1800" dirty="0">
                <a:solidFill>
                  <a:schemeClr val="tx1"/>
                </a:solidFill>
                <a:latin typeface="YS Text"/>
              </a:rPr>
              <a:t>    		# Атрибут класса никуда не девается.</a:t>
            </a:r>
          </a:p>
          <a:p>
            <a:pPr algn="l"/>
            <a:r>
              <a:rPr lang="ru-RU" sz="1800" dirty="0">
                <a:solidFill>
                  <a:schemeClr val="tx1"/>
                </a:solidFill>
                <a:latin typeface="YS Text"/>
              </a:rPr>
              <a:t>    		</a:t>
            </a:r>
            <a:r>
              <a:rPr lang="ru-RU" sz="1800" b="1" dirty="0" err="1">
                <a:solidFill>
                  <a:srgbClr val="00B050"/>
                </a:solidFill>
                <a:latin typeface="YS Text"/>
              </a:rPr>
              <a:t>line_type</a:t>
            </a:r>
            <a:r>
              <a:rPr lang="ru-RU" sz="1800" b="1" dirty="0">
                <a:solidFill>
                  <a:srgbClr val="00B050"/>
                </a:solidFill>
                <a:latin typeface="YS Text"/>
              </a:rPr>
              <a:t> = 'проводной'</a:t>
            </a:r>
          </a:p>
          <a:p>
            <a:pPr algn="l"/>
            <a:endParaRPr lang="ru-RU" sz="1800" dirty="0">
              <a:solidFill>
                <a:schemeClr val="tx1"/>
              </a:solidFill>
              <a:latin typeface="YS Text"/>
            </a:endParaRPr>
          </a:p>
          <a:p>
            <a:pPr algn="l"/>
            <a:r>
              <a:rPr lang="ru-RU" sz="1800" dirty="0">
                <a:solidFill>
                  <a:schemeClr val="tx1"/>
                </a:solidFill>
                <a:latin typeface="YS Text"/>
              </a:rPr>
              <a:t>    		# Это инициализатор класса, в котором объявлено два параметра.</a:t>
            </a:r>
          </a:p>
          <a:p>
            <a:pPr algn="l"/>
            <a:r>
              <a:rPr lang="ru-RU" sz="1800" dirty="0">
                <a:solidFill>
                  <a:schemeClr val="tx1"/>
                </a:solidFill>
                <a:latin typeface="YS Text"/>
              </a:rPr>
              <a:t>    		</a:t>
            </a:r>
            <a:r>
              <a:rPr lang="ru-RU" sz="1800" b="1" dirty="0" err="1">
                <a:solidFill>
                  <a:srgbClr val="00B050"/>
                </a:solidFill>
                <a:latin typeface="YS Text"/>
              </a:rPr>
              <a:t>def</a:t>
            </a:r>
            <a:r>
              <a:rPr lang="ru-RU" sz="1800" b="1" dirty="0">
                <a:solidFill>
                  <a:srgbClr val="00B050"/>
                </a:solidFill>
                <a:latin typeface="YS Text"/>
              </a:rPr>
              <a:t> __</a:t>
            </a:r>
            <a:r>
              <a:rPr lang="ru-RU" sz="1800" b="1" dirty="0" err="1">
                <a:solidFill>
                  <a:srgbClr val="00B050"/>
                </a:solidFill>
                <a:latin typeface="YS Text"/>
              </a:rPr>
              <a:t>init</a:t>
            </a:r>
            <a:r>
              <a:rPr lang="ru-RU" sz="1800" b="1" dirty="0">
                <a:solidFill>
                  <a:srgbClr val="00B050"/>
                </a:solidFill>
                <a:latin typeface="YS Text"/>
              </a:rPr>
              <a:t>__(</a:t>
            </a:r>
            <a:r>
              <a:rPr lang="ru-RU" sz="1800" b="1" dirty="0" err="1">
                <a:solidFill>
                  <a:srgbClr val="00B050"/>
                </a:solidFill>
                <a:latin typeface="YS Text"/>
              </a:rPr>
              <a:t>self</a:t>
            </a:r>
            <a:r>
              <a:rPr lang="ru-RU" sz="1800" b="1" dirty="0">
                <a:solidFill>
                  <a:srgbClr val="00B050"/>
                </a:solidFill>
                <a:latin typeface="YS Text"/>
              </a:rPr>
              <a:t>, </a:t>
            </a:r>
            <a:r>
              <a:rPr lang="ru-RU" sz="1800" b="1" dirty="0" err="1">
                <a:solidFill>
                  <a:srgbClr val="00B050"/>
                </a:solidFill>
                <a:latin typeface="YS Text"/>
              </a:rPr>
              <a:t>dial_type_value</a:t>
            </a:r>
            <a:r>
              <a:rPr lang="ru-RU" sz="1800" b="1" dirty="0">
                <a:solidFill>
                  <a:srgbClr val="00B050"/>
                </a:solidFill>
                <a:latin typeface="YS Text"/>
              </a:rPr>
              <a:t>):</a:t>
            </a:r>
          </a:p>
          <a:p>
            <a:pPr algn="l"/>
            <a:r>
              <a:rPr lang="ru-RU" sz="1800" dirty="0">
                <a:solidFill>
                  <a:schemeClr val="tx1"/>
                </a:solidFill>
                <a:latin typeface="YS Text"/>
              </a:rPr>
              <a:t>        			# Вот он - атрибут объекта.</a:t>
            </a:r>
          </a:p>
          <a:p>
            <a:pPr algn="l"/>
            <a:r>
              <a:rPr lang="ru-RU" sz="1800" dirty="0">
                <a:solidFill>
                  <a:schemeClr val="tx1"/>
                </a:solidFill>
                <a:latin typeface="YS Text"/>
              </a:rPr>
              <a:t>        			</a:t>
            </a:r>
            <a:r>
              <a:rPr lang="en-US" sz="1800" b="1" dirty="0" err="1">
                <a:solidFill>
                  <a:srgbClr val="00B050"/>
                </a:solidFill>
                <a:latin typeface="YS Text"/>
              </a:rPr>
              <a:t>self.dial_type</a:t>
            </a:r>
            <a:r>
              <a:rPr lang="en-US" sz="1800" b="1" dirty="0">
                <a:solidFill>
                  <a:srgbClr val="00B050"/>
                </a:solidFill>
                <a:latin typeface="YS Text"/>
              </a:rPr>
              <a:t> = </a:t>
            </a:r>
            <a:r>
              <a:rPr lang="en-US" sz="1800" b="1" dirty="0" err="1">
                <a:solidFill>
                  <a:srgbClr val="00B050"/>
                </a:solidFill>
                <a:latin typeface="YS Text"/>
              </a:rPr>
              <a:t>dial_type_value</a:t>
            </a:r>
            <a:endParaRPr lang="ru-RU" sz="1800" b="1" dirty="0">
              <a:solidFill>
                <a:srgbClr val="00B050"/>
              </a:solidFill>
              <a:latin typeface="YS Text"/>
            </a:endParaRPr>
          </a:p>
          <a:p>
            <a:pPr algn="l"/>
            <a:r>
              <a:rPr lang="ru-RU" sz="2000" dirty="0">
                <a:solidFill>
                  <a:schemeClr val="tx1"/>
                </a:solidFill>
                <a:latin typeface="YS Text"/>
              </a:rPr>
              <a:t>Здесь </a:t>
            </a:r>
            <a:r>
              <a:rPr lang="ru-RU" sz="2000" dirty="0" err="1">
                <a:solidFill>
                  <a:schemeClr val="tx1"/>
                </a:solidFill>
                <a:latin typeface="YS Text"/>
              </a:rPr>
              <a:t>dial_type</a:t>
            </a:r>
            <a:r>
              <a:rPr lang="ru-RU" sz="2000" dirty="0">
                <a:solidFill>
                  <a:schemeClr val="tx1"/>
                </a:solidFill>
                <a:latin typeface="YS Text"/>
              </a:rPr>
              <a:t> — это атрибут объекта, </a:t>
            </a:r>
            <a:r>
              <a:rPr lang="ru-RU" sz="2000" dirty="0" err="1">
                <a:solidFill>
                  <a:schemeClr val="tx1"/>
                </a:solidFill>
                <a:latin typeface="YS Text"/>
              </a:rPr>
              <a:t>dial_type_value</a:t>
            </a:r>
            <a:r>
              <a:rPr lang="ru-RU" sz="2000" dirty="0">
                <a:solidFill>
                  <a:schemeClr val="tx1"/>
                </a:solidFill>
                <a:latin typeface="YS Text"/>
              </a:rPr>
              <a:t> — значение для атрибута объекта, которое берётся из параметра конструктора.</a:t>
            </a:r>
          </a:p>
          <a:p>
            <a:pPr algn="l"/>
            <a:endParaRPr lang="ru-RU" sz="2000" dirty="0">
              <a:solidFill>
                <a:schemeClr val="tx1"/>
              </a:solidFill>
              <a:latin typeface="YS Text"/>
            </a:endParaRPr>
          </a:p>
          <a:p>
            <a:pPr algn="l"/>
            <a:r>
              <a:rPr lang="ru-RU" sz="2000" dirty="0">
                <a:solidFill>
                  <a:schemeClr val="accent5">
                    <a:lumMod val="60000"/>
                    <a:lumOff val="40000"/>
                  </a:schemeClr>
                </a:solidFill>
                <a:latin typeface="YS Text"/>
              </a:rPr>
              <a:t>Название атрибута объекта и название значения могут совпадать</a:t>
            </a:r>
            <a:r>
              <a:rPr lang="ru-RU" sz="2000" dirty="0">
                <a:solidFill>
                  <a:schemeClr val="tx1"/>
                </a:solidFill>
                <a:latin typeface="YS Text"/>
              </a:rPr>
              <a:t>, то есть можно написать и </a:t>
            </a:r>
            <a:r>
              <a:rPr lang="ru-RU" sz="2000" dirty="0" err="1">
                <a:solidFill>
                  <a:schemeClr val="tx1"/>
                </a:solidFill>
                <a:latin typeface="YS Text"/>
              </a:rPr>
              <a:t>self.dial_type_value</a:t>
            </a:r>
            <a:r>
              <a:rPr lang="ru-RU" sz="2000" dirty="0">
                <a:solidFill>
                  <a:schemeClr val="tx1"/>
                </a:solidFill>
                <a:latin typeface="YS Text"/>
              </a:rPr>
              <a:t> = </a:t>
            </a:r>
            <a:r>
              <a:rPr lang="ru-RU" sz="2000" dirty="0" err="1">
                <a:solidFill>
                  <a:schemeClr val="tx1"/>
                </a:solidFill>
                <a:latin typeface="YS Text"/>
              </a:rPr>
              <a:t>dial_type_value</a:t>
            </a:r>
            <a:r>
              <a:rPr lang="ru-RU" sz="2000" dirty="0">
                <a:solidFill>
                  <a:schemeClr val="tx1"/>
                </a:solidFill>
                <a:latin typeface="YS Text"/>
              </a:rPr>
              <a:t>, и ни к какой ошибке это не приведёт.</a:t>
            </a:r>
          </a:p>
        </p:txBody>
      </p:sp>
    </p:spTree>
    <p:extLst>
      <p:ext uri="{BB962C8B-B14F-4D97-AF65-F5344CB8AC3E}">
        <p14:creationId xmlns:p14="http://schemas.microsoft.com/office/powerpoint/2010/main" val="1457320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Значение атрибута обычно задаётся при создании объекта, таким образом для разных объектов можно установить </a:t>
            </a:r>
            <a:r>
              <a:rPr lang="ru-RU" sz="2000" b="1" i="0" dirty="0">
                <a:solidFill>
                  <a:schemeClr val="accent5">
                    <a:lumMod val="60000"/>
                    <a:lumOff val="40000"/>
                  </a:schemeClr>
                </a:solidFill>
                <a:effectLst/>
                <a:latin typeface="YS Text"/>
              </a:rPr>
              <a:t>собственное значение для атрибута </a:t>
            </a:r>
            <a:r>
              <a:rPr lang="ru-RU" sz="2000" b="0" i="0" dirty="0" err="1">
                <a:solidFill>
                  <a:schemeClr val="tx1"/>
                </a:solidFill>
                <a:effectLst/>
                <a:latin typeface="YS Text"/>
              </a:rPr>
              <a:t>dial_type_value</a:t>
            </a:r>
            <a:r>
              <a:rPr lang="ru-RU" sz="2000" b="0" i="0" dirty="0">
                <a:solidFill>
                  <a:schemeClr val="tx1"/>
                </a:solidFill>
                <a:effectLst/>
                <a:latin typeface="YS Text"/>
              </a:rPr>
              <a:t> — дисковый, кнопочный, голосовой, телепатический… </a:t>
            </a:r>
          </a:p>
          <a:p>
            <a:pPr algn="l"/>
            <a:r>
              <a:rPr lang="ru-RU" sz="2000" dirty="0">
                <a:solidFill>
                  <a:schemeClr val="tx1"/>
                </a:solidFill>
                <a:latin typeface="YS Text"/>
              </a:rPr>
              <a:t>	</a:t>
            </a:r>
            <a:r>
              <a:rPr lang="ru-RU" sz="1800" b="1" dirty="0">
                <a:solidFill>
                  <a:srgbClr val="00B050"/>
                </a:solidFill>
                <a:latin typeface="YS Text"/>
              </a:rPr>
              <a:t>…</a:t>
            </a:r>
          </a:p>
          <a:p>
            <a:pPr algn="l"/>
            <a:endParaRPr lang="ru-RU" sz="1800" dirty="0">
              <a:solidFill>
                <a:schemeClr val="tx1"/>
              </a:solidFill>
              <a:latin typeface="YS Text"/>
            </a:endParaRPr>
          </a:p>
          <a:p>
            <a:pPr algn="l"/>
            <a:r>
              <a:rPr lang="ru-RU" sz="1800" dirty="0">
                <a:solidFill>
                  <a:schemeClr val="tx1"/>
                </a:solidFill>
                <a:latin typeface="YS Text"/>
              </a:rPr>
              <a:t>	# Создать объект </a:t>
            </a:r>
            <a:r>
              <a:rPr lang="en-US" sz="1800" dirty="0" err="1">
                <a:solidFill>
                  <a:schemeClr val="tx1"/>
                </a:solidFill>
                <a:latin typeface="YS Text"/>
              </a:rPr>
              <a:t>rotary_phone</a:t>
            </a:r>
            <a:r>
              <a:rPr lang="en-US" sz="1800" dirty="0">
                <a:solidFill>
                  <a:schemeClr val="tx1"/>
                </a:solidFill>
                <a:latin typeface="YS Text"/>
              </a:rPr>
              <a:t> </a:t>
            </a:r>
            <a:r>
              <a:rPr lang="ru-RU" sz="1800" dirty="0">
                <a:solidFill>
                  <a:schemeClr val="tx1"/>
                </a:solidFill>
                <a:latin typeface="YS Text"/>
              </a:rPr>
              <a:t>со значением </a:t>
            </a:r>
            <a:r>
              <a:rPr lang="en-US" sz="1800" dirty="0" err="1">
                <a:solidFill>
                  <a:schemeClr val="tx1"/>
                </a:solidFill>
                <a:latin typeface="YS Text"/>
              </a:rPr>
              <a:t>dial_type_value</a:t>
            </a:r>
            <a:r>
              <a:rPr lang="en-US" sz="1800" dirty="0">
                <a:solidFill>
                  <a:schemeClr val="tx1"/>
                </a:solidFill>
                <a:latin typeface="YS Text"/>
              </a:rPr>
              <a:t>,</a:t>
            </a:r>
            <a:r>
              <a:rPr lang="ru-RU" sz="1800" dirty="0">
                <a:solidFill>
                  <a:schemeClr val="tx1"/>
                </a:solidFill>
                <a:latin typeface="YS Text"/>
              </a:rPr>
              <a:t> равным 'дисковый’.</a:t>
            </a:r>
          </a:p>
          <a:p>
            <a:pPr algn="l"/>
            <a:r>
              <a:rPr lang="ru-RU" sz="1800" dirty="0">
                <a:solidFill>
                  <a:schemeClr val="tx1"/>
                </a:solidFill>
                <a:latin typeface="YS Text"/>
              </a:rPr>
              <a:t>	</a:t>
            </a:r>
            <a:r>
              <a:rPr lang="en-US" sz="1800" b="1" dirty="0" err="1">
                <a:solidFill>
                  <a:srgbClr val="00B050"/>
                </a:solidFill>
                <a:latin typeface="YS Text"/>
              </a:rPr>
              <a:t>rotary_phone</a:t>
            </a:r>
            <a:r>
              <a:rPr lang="en-US" sz="1800" b="1" dirty="0">
                <a:solidFill>
                  <a:srgbClr val="00B050"/>
                </a:solidFill>
                <a:latin typeface="YS Text"/>
              </a:rPr>
              <a:t> = Phone(</a:t>
            </a:r>
            <a:r>
              <a:rPr lang="en-US" sz="1800" b="1" dirty="0" err="1">
                <a:solidFill>
                  <a:srgbClr val="00B050"/>
                </a:solidFill>
                <a:latin typeface="YS Text"/>
              </a:rPr>
              <a:t>dial_type_value</a:t>
            </a:r>
            <a:r>
              <a:rPr lang="en-US" sz="1800" b="1" dirty="0">
                <a:solidFill>
                  <a:srgbClr val="00B050"/>
                </a:solidFill>
                <a:latin typeface="YS Text"/>
              </a:rPr>
              <a:t>='</a:t>
            </a:r>
            <a:r>
              <a:rPr lang="ru-RU" sz="1800" b="1" dirty="0">
                <a:solidFill>
                  <a:srgbClr val="00B050"/>
                </a:solidFill>
                <a:latin typeface="YS Text"/>
              </a:rPr>
              <a:t>дисковый’)</a:t>
            </a:r>
          </a:p>
          <a:p>
            <a:pPr algn="l"/>
            <a:r>
              <a:rPr lang="ru-RU" sz="1800" dirty="0">
                <a:solidFill>
                  <a:schemeClr val="tx1"/>
                </a:solidFill>
                <a:latin typeface="YS Text"/>
              </a:rPr>
              <a:t>	# Создать объект </a:t>
            </a:r>
            <a:r>
              <a:rPr lang="en-US" sz="1800" dirty="0" err="1">
                <a:solidFill>
                  <a:schemeClr val="tx1"/>
                </a:solidFill>
                <a:latin typeface="YS Text"/>
              </a:rPr>
              <a:t>keypad_phone</a:t>
            </a:r>
            <a:r>
              <a:rPr lang="en-US" sz="1800" dirty="0">
                <a:solidFill>
                  <a:schemeClr val="tx1"/>
                </a:solidFill>
                <a:latin typeface="YS Text"/>
              </a:rPr>
              <a:t> </a:t>
            </a:r>
            <a:r>
              <a:rPr lang="ru-RU" sz="1800" dirty="0">
                <a:solidFill>
                  <a:schemeClr val="tx1"/>
                </a:solidFill>
                <a:latin typeface="YS Text"/>
              </a:rPr>
              <a:t>со значением </a:t>
            </a:r>
            <a:r>
              <a:rPr lang="en-US" sz="1800" dirty="0" err="1">
                <a:solidFill>
                  <a:schemeClr val="tx1"/>
                </a:solidFill>
                <a:latin typeface="YS Text"/>
              </a:rPr>
              <a:t>dial_type_value</a:t>
            </a:r>
            <a:r>
              <a:rPr lang="en-US" sz="1800" dirty="0">
                <a:solidFill>
                  <a:schemeClr val="tx1"/>
                </a:solidFill>
                <a:latin typeface="YS Text"/>
              </a:rPr>
              <a:t>,</a:t>
            </a:r>
            <a:r>
              <a:rPr lang="ru-RU" sz="1800" dirty="0">
                <a:solidFill>
                  <a:schemeClr val="tx1"/>
                </a:solidFill>
                <a:latin typeface="YS Text"/>
              </a:rPr>
              <a:t> равным 'кнопочный’.</a:t>
            </a:r>
          </a:p>
          <a:p>
            <a:pPr algn="l"/>
            <a:r>
              <a:rPr lang="ru-RU" sz="1800" dirty="0">
                <a:solidFill>
                  <a:schemeClr val="tx1"/>
                </a:solidFill>
                <a:latin typeface="YS Text"/>
              </a:rPr>
              <a:t>	</a:t>
            </a:r>
            <a:r>
              <a:rPr lang="en-US" sz="1800" b="1" dirty="0" err="1">
                <a:solidFill>
                  <a:srgbClr val="00B050"/>
                </a:solidFill>
                <a:latin typeface="YS Text"/>
              </a:rPr>
              <a:t>keypad_phone</a:t>
            </a:r>
            <a:r>
              <a:rPr lang="en-US" sz="1800" b="1" dirty="0">
                <a:solidFill>
                  <a:srgbClr val="00B050"/>
                </a:solidFill>
                <a:latin typeface="YS Text"/>
              </a:rPr>
              <a:t> = Phone(</a:t>
            </a:r>
            <a:r>
              <a:rPr lang="en-US" sz="1800" b="1" dirty="0" err="1">
                <a:solidFill>
                  <a:srgbClr val="00B050"/>
                </a:solidFill>
                <a:latin typeface="YS Text"/>
              </a:rPr>
              <a:t>dial_type_value</a:t>
            </a:r>
            <a:r>
              <a:rPr lang="en-US" sz="1800" b="1" dirty="0">
                <a:solidFill>
                  <a:srgbClr val="00B050"/>
                </a:solidFill>
                <a:latin typeface="YS Text"/>
              </a:rPr>
              <a:t>='</a:t>
            </a:r>
            <a:r>
              <a:rPr lang="ru-RU" sz="1800" b="1" dirty="0">
                <a:solidFill>
                  <a:srgbClr val="00B050"/>
                </a:solidFill>
                <a:latin typeface="YS Text"/>
              </a:rPr>
              <a:t>кнопочный’) </a:t>
            </a:r>
          </a:p>
          <a:p>
            <a:pPr algn="l"/>
            <a:endParaRPr lang="ru-RU" sz="1800" b="1" dirty="0">
              <a:solidFill>
                <a:srgbClr val="00B050"/>
              </a:solidFill>
              <a:latin typeface="YS Text"/>
            </a:endParaRPr>
          </a:p>
          <a:p>
            <a:pPr algn="l"/>
            <a:r>
              <a:rPr lang="ru-RU" sz="2400" dirty="0">
                <a:solidFill>
                  <a:schemeClr val="tx1"/>
                </a:solidFill>
                <a:latin typeface="YS Text"/>
              </a:rPr>
              <a:t>Когда при создании объекта передаётся значение атрибута — иногда говорят «передать значение атрибута в </a:t>
            </a:r>
            <a:r>
              <a:rPr lang="ru-RU" sz="2400" dirty="0" err="1">
                <a:solidFill>
                  <a:schemeClr val="tx1"/>
                </a:solidFill>
                <a:latin typeface="YS Text"/>
              </a:rPr>
              <a:t>инит</a:t>
            </a:r>
            <a:r>
              <a:rPr lang="ru-RU" sz="2400" dirty="0">
                <a:solidFill>
                  <a:schemeClr val="tx1"/>
                </a:solidFill>
                <a:latin typeface="YS Text"/>
              </a:rPr>
              <a:t>» или «передать значение атрибута в конструктор класса». Это нормальный рабочий сленг, однако не дайте сбить себя с толку: </a:t>
            </a:r>
            <a:r>
              <a:rPr lang="ru-RU" sz="2400" dirty="0">
                <a:solidFill>
                  <a:schemeClr val="accent5">
                    <a:lumMod val="60000"/>
                    <a:lumOff val="40000"/>
                  </a:schemeClr>
                </a:solidFill>
                <a:latin typeface="YS Text"/>
              </a:rPr>
              <a:t>метод __</a:t>
            </a:r>
            <a:r>
              <a:rPr lang="ru-RU" sz="2400" dirty="0" err="1">
                <a:solidFill>
                  <a:schemeClr val="accent5">
                    <a:lumMod val="60000"/>
                    <a:lumOff val="40000"/>
                  </a:schemeClr>
                </a:solidFill>
                <a:latin typeface="YS Text"/>
              </a:rPr>
              <a:t>init</a:t>
            </a:r>
            <a:r>
              <a:rPr lang="ru-RU" sz="2400" dirty="0">
                <a:solidFill>
                  <a:schemeClr val="accent5">
                    <a:lumMod val="60000"/>
                    <a:lumOff val="40000"/>
                  </a:schemeClr>
                </a:solidFill>
                <a:latin typeface="YS Text"/>
              </a:rPr>
              <a:t>__ </a:t>
            </a:r>
            <a:r>
              <a:rPr lang="ru-RU" sz="2400" dirty="0">
                <a:solidFill>
                  <a:schemeClr val="tx1"/>
                </a:solidFill>
                <a:latin typeface="YS Text"/>
              </a:rPr>
              <a:t>— это не конструктор класса, а лишь его часть.</a:t>
            </a:r>
          </a:p>
          <a:p>
            <a:pPr algn="l"/>
            <a:endParaRPr lang="ru-RU" sz="2000" dirty="0">
              <a:solidFill>
                <a:schemeClr val="tx1"/>
              </a:solidFill>
              <a:latin typeface="YS Text"/>
            </a:endParaRPr>
          </a:p>
          <a:p>
            <a:pPr algn="l"/>
            <a:endParaRPr lang="ru-RU" sz="2000" dirty="0">
              <a:solidFill>
                <a:srgbClr val="92D050"/>
              </a:solidFill>
              <a:latin typeface="YS Text"/>
            </a:endParaRPr>
          </a:p>
        </p:txBody>
      </p:sp>
    </p:spTree>
    <p:extLst>
      <p:ext uri="{BB962C8B-B14F-4D97-AF65-F5344CB8AC3E}">
        <p14:creationId xmlns:p14="http://schemas.microsoft.com/office/powerpoint/2010/main" val="532643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Замена значений атрибутов</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После создания </a:t>
            </a:r>
            <a:r>
              <a:rPr lang="ru-RU" sz="2000" b="1" i="0" dirty="0">
                <a:solidFill>
                  <a:schemeClr val="accent5">
                    <a:lumMod val="60000"/>
                    <a:lumOff val="40000"/>
                  </a:schemeClr>
                </a:solidFill>
                <a:effectLst/>
                <a:latin typeface="YS Text"/>
              </a:rPr>
              <a:t>объекту</a:t>
            </a:r>
            <a:r>
              <a:rPr lang="ru-RU" sz="2000" b="0" i="0" dirty="0">
                <a:solidFill>
                  <a:schemeClr val="tx1"/>
                </a:solidFill>
                <a:effectLst/>
                <a:latin typeface="YS Text"/>
              </a:rPr>
              <a:t> доступны все атрибуты — и атрибуты класса, и атрибуты объекта. Значения атрибутов класса и объекта </a:t>
            </a:r>
            <a:r>
              <a:rPr lang="ru-RU" sz="2000" b="0" i="0" dirty="0">
                <a:solidFill>
                  <a:schemeClr val="accent5">
                    <a:lumMod val="60000"/>
                    <a:lumOff val="40000"/>
                  </a:schemeClr>
                </a:solidFill>
                <a:effectLst/>
                <a:latin typeface="YS Text"/>
              </a:rPr>
              <a:t>можно поменять</a:t>
            </a:r>
            <a:r>
              <a:rPr lang="ru-RU" sz="2000" b="0" i="0" dirty="0">
                <a:solidFill>
                  <a:schemeClr val="tx1"/>
                </a:solidFill>
                <a:effectLst/>
                <a:latin typeface="YS Text"/>
              </a:rPr>
              <a:t>, но есть нюанс, который нужно учитывать.</a:t>
            </a:r>
          </a:p>
          <a:p>
            <a:pPr algn="ctr"/>
            <a:r>
              <a:rPr lang="ru-RU" sz="2800" dirty="0">
                <a:solidFill>
                  <a:schemeClr val="tx1"/>
                </a:solidFill>
                <a:latin typeface="YS Text"/>
              </a:rPr>
              <a:t>Значения </a:t>
            </a:r>
            <a:r>
              <a:rPr lang="ru-RU" sz="2800" b="1" dirty="0">
                <a:solidFill>
                  <a:schemeClr val="accent5">
                    <a:lumMod val="60000"/>
                    <a:lumOff val="40000"/>
                  </a:schemeClr>
                </a:solidFill>
                <a:latin typeface="YS Text"/>
              </a:rPr>
              <a:t>атрибутов объекта </a:t>
            </a:r>
            <a:r>
              <a:rPr lang="ru-RU" sz="2800" dirty="0">
                <a:solidFill>
                  <a:schemeClr val="tx1"/>
                </a:solidFill>
                <a:latin typeface="YS Text"/>
              </a:rPr>
              <a:t>хранятся в самом объекте, </a:t>
            </a:r>
          </a:p>
          <a:p>
            <a:pPr algn="ctr"/>
            <a:r>
              <a:rPr lang="ru-RU" sz="2800" dirty="0">
                <a:solidFill>
                  <a:schemeClr val="tx1"/>
                </a:solidFill>
                <a:latin typeface="YS Text"/>
              </a:rPr>
              <a:t>а значения </a:t>
            </a:r>
            <a:r>
              <a:rPr lang="ru-RU" sz="2800" b="1" dirty="0">
                <a:solidFill>
                  <a:schemeClr val="accent5">
                    <a:lumMod val="60000"/>
                    <a:lumOff val="40000"/>
                  </a:schemeClr>
                </a:solidFill>
                <a:latin typeface="YS Text"/>
              </a:rPr>
              <a:t>атрибутов класса </a:t>
            </a:r>
            <a:r>
              <a:rPr lang="ru-RU" sz="2800" dirty="0">
                <a:solidFill>
                  <a:schemeClr val="tx1"/>
                </a:solidFill>
                <a:latin typeface="YS Text"/>
              </a:rPr>
              <a:t>объект получает из класса.</a:t>
            </a:r>
          </a:p>
          <a:p>
            <a:pPr algn="l"/>
            <a:r>
              <a:rPr lang="ru-RU" sz="2000" dirty="0">
                <a:solidFill>
                  <a:schemeClr val="tx1"/>
                </a:solidFill>
                <a:latin typeface="YS Text"/>
              </a:rPr>
              <a:t>Чтобы поменять значение атрибута объекта, нужно:</a:t>
            </a:r>
          </a:p>
          <a:p>
            <a:pPr marL="457200" indent="-457200" algn="l">
              <a:buFont typeface="+mj-lt"/>
              <a:buAutoNum type="arabicPeriod"/>
            </a:pPr>
            <a:r>
              <a:rPr lang="ru-RU" sz="2000" dirty="0">
                <a:solidFill>
                  <a:schemeClr val="tx1"/>
                </a:solidFill>
                <a:latin typeface="YS Text"/>
              </a:rPr>
              <a:t>Создать объект с первоначальным значением атрибута.</a:t>
            </a:r>
          </a:p>
          <a:p>
            <a:pPr marL="457200" indent="-457200" algn="l">
              <a:buFont typeface="+mj-lt"/>
              <a:buAutoNum type="arabicPeriod"/>
            </a:pPr>
            <a:r>
              <a:rPr lang="ru-RU" sz="2000" dirty="0">
                <a:solidFill>
                  <a:schemeClr val="tx1"/>
                </a:solidFill>
                <a:latin typeface="YS Text"/>
              </a:rPr>
              <a:t>Через объект обратиться к атрибуту и задать ему новое значение.</a:t>
            </a:r>
          </a:p>
          <a:p>
            <a:pPr algn="l"/>
            <a:r>
              <a:rPr lang="ru-RU" sz="2000" dirty="0">
                <a:solidFill>
                  <a:schemeClr val="tx1"/>
                </a:solidFill>
                <a:latin typeface="YS Text"/>
              </a:rPr>
              <a:t>	# Создать объект класса Phone с первоначальным значением атрибута объекта </a:t>
            </a:r>
            <a:r>
              <a:rPr lang="ru-RU" sz="2000" dirty="0" err="1">
                <a:solidFill>
                  <a:schemeClr val="tx1"/>
                </a:solidFill>
                <a:latin typeface="YS Text"/>
              </a:rPr>
              <a:t>dial_type</a:t>
            </a:r>
            <a:r>
              <a:rPr lang="ru-RU" sz="2000" dirty="0">
                <a:solidFill>
                  <a:schemeClr val="tx1"/>
                </a:solidFill>
                <a:latin typeface="YS Text"/>
              </a:rPr>
              <a:t>.</a:t>
            </a:r>
          </a:p>
          <a:p>
            <a:pPr lvl="1" algn="l"/>
            <a:r>
              <a:rPr lang="ru-RU" sz="800" dirty="0">
                <a:solidFill>
                  <a:schemeClr val="tx1"/>
                </a:solidFill>
                <a:latin typeface="YS Text"/>
              </a:rPr>
              <a:t>	</a:t>
            </a:r>
            <a:r>
              <a:rPr lang="en-US" dirty="0" err="1">
                <a:solidFill>
                  <a:srgbClr val="00B050"/>
                </a:solidFill>
                <a:latin typeface="YS Text"/>
              </a:rPr>
              <a:t>rotary_phone</a:t>
            </a:r>
            <a:r>
              <a:rPr lang="en-US" dirty="0">
                <a:solidFill>
                  <a:srgbClr val="00B050"/>
                </a:solidFill>
                <a:latin typeface="YS Text"/>
              </a:rPr>
              <a:t> = Phone(</a:t>
            </a:r>
            <a:r>
              <a:rPr lang="en-US" dirty="0" err="1">
                <a:solidFill>
                  <a:srgbClr val="00B050"/>
                </a:solidFill>
                <a:latin typeface="YS Text"/>
              </a:rPr>
              <a:t>dial_type_value</a:t>
            </a:r>
            <a:r>
              <a:rPr lang="en-US" dirty="0">
                <a:solidFill>
                  <a:srgbClr val="00B050"/>
                </a:solidFill>
                <a:latin typeface="YS Text"/>
              </a:rPr>
              <a:t>='</a:t>
            </a:r>
            <a:r>
              <a:rPr lang="en-US" dirty="0" err="1">
                <a:solidFill>
                  <a:srgbClr val="00B050"/>
                </a:solidFill>
                <a:latin typeface="YS Text"/>
              </a:rPr>
              <a:t>дисковый</a:t>
            </a:r>
            <a:r>
              <a:rPr lang="en-US" dirty="0">
                <a:solidFill>
                  <a:srgbClr val="00B050"/>
                </a:solidFill>
                <a:latin typeface="YS Text"/>
              </a:rPr>
              <a:t>’)</a:t>
            </a:r>
            <a:endParaRPr lang="ru-RU" dirty="0">
              <a:solidFill>
                <a:srgbClr val="00B050"/>
              </a:solidFill>
              <a:latin typeface="YS Text"/>
            </a:endParaRPr>
          </a:p>
          <a:p>
            <a:pPr lvl="1" algn="l"/>
            <a:r>
              <a:rPr lang="ru-RU" dirty="0">
                <a:solidFill>
                  <a:schemeClr val="tx1"/>
                </a:solidFill>
                <a:latin typeface="YS Text"/>
              </a:rPr>
              <a:t>	# Поменять первоначальное значение атрибута объекта </a:t>
            </a:r>
            <a:r>
              <a:rPr lang="ru-RU" dirty="0" err="1">
                <a:solidFill>
                  <a:schemeClr val="tx1"/>
                </a:solidFill>
                <a:latin typeface="YS Text"/>
              </a:rPr>
              <a:t>dial_type</a:t>
            </a:r>
            <a:r>
              <a:rPr lang="ru-RU" dirty="0">
                <a:solidFill>
                  <a:schemeClr val="tx1"/>
                </a:solidFill>
                <a:latin typeface="YS Text"/>
              </a:rPr>
              <a:t>.</a:t>
            </a:r>
          </a:p>
          <a:p>
            <a:pPr lvl="1" algn="l"/>
            <a:r>
              <a:rPr lang="ru-RU" dirty="0">
                <a:solidFill>
                  <a:schemeClr val="tx1"/>
                </a:solidFill>
                <a:latin typeface="YS Text"/>
              </a:rPr>
              <a:t>	</a:t>
            </a:r>
            <a:r>
              <a:rPr lang="ru-RU" dirty="0" err="1">
                <a:solidFill>
                  <a:srgbClr val="00B050"/>
                </a:solidFill>
                <a:latin typeface="YS Text"/>
              </a:rPr>
              <a:t>rotary_phone.dial_type</a:t>
            </a:r>
            <a:r>
              <a:rPr lang="ru-RU" dirty="0">
                <a:solidFill>
                  <a:srgbClr val="00B050"/>
                </a:solidFill>
                <a:latin typeface="YS Text"/>
              </a:rPr>
              <a:t> = 'кнопочный'</a:t>
            </a:r>
            <a:endParaRPr lang="ru-RU" sz="2000" dirty="0">
              <a:solidFill>
                <a:srgbClr val="00B050"/>
              </a:solidFill>
              <a:latin typeface="YS Text"/>
            </a:endParaRPr>
          </a:p>
          <a:p>
            <a:pPr algn="l"/>
            <a:r>
              <a:rPr lang="ru-RU" sz="2000" dirty="0">
                <a:solidFill>
                  <a:schemeClr val="tx1"/>
                </a:solidFill>
                <a:latin typeface="YS Text"/>
              </a:rPr>
              <a:t>Значение атрибута класса тоже можно поменять, но для его изменения не обязательно создавать объект. К атрибуту класса можно обратиться напрямую — через класс</a:t>
            </a:r>
          </a:p>
          <a:p>
            <a:pPr algn="l"/>
            <a:r>
              <a:rPr lang="ru-RU" sz="2000" dirty="0">
                <a:solidFill>
                  <a:schemeClr val="tx1"/>
                </a:solidFill>
                <a:latin typeface="YS Text"/>
              </a:rPr>
              <a:t>	# Поменять значение атрибута класса </a:t>
            </a:r>
            <a:r>
              <a:rPr lang="ru-RU" sz="2000" dirty="0" err="1">
                <a:solidFill>
                  <a:schemeClr val="tx1"/>
                </a:solidFill>
                <a:latin typeface="YS Text"/>
              </a:rPr>
              <a:t>line_type</a:t>
            </a:r>
            <a:r>
              <a:rPr lang="ru-RU" sz="2000" dirty="0">
                <a:solidFill>
                  <a:schemeClr val="tx1"/>
                </a:solidFill>
                <a:latin typeface="YS Text"/>
              </a:rPr>
              <a:t>.</a:t>
            </a:r>
          </a:p>
          <a:p>
            <a:pPr algn="l"/>
            <a:r>
              <a:rPr lang="ru-RU" sz="2800" dirty="0">
                <a:solidFill>
                  <a:schemeClr val="tx1"/>
                </a:solidFill>
                <a:latin typeface="YS Text"/>
              </a:rPr>
              <a:t>	</a:t>
            </a:r>
            <a:r>
              <a:rPr lang="en-US" sz="2000" dirty="0" err="1">
                <a:solidFill>
                  <a:srgbClr val="00B050"/>
                </a:solidFill>
                <a:latin typeface="YS Text"/>
              </a:rPr>
              <a:t>Phone.line_type</a:t>
            </a:r>
            <a:r>
              <a:rPr lang="en-US" sz="2000" dirty="0">
                <a:solidFill>
                  <a:srgbClr val="00B050"/>
                </a:solidFill>
                <a:latin typeface="YS Text"/>
              </a:rPr>
              <a:t> = '</a:t>
            </a:r>
            <a:r>
              <a:rPr lang="ru-RU" sz="2000" dirty="0">
                <a:solidFill>
                  <a:srgbClr val="00B050"/>
                </a:solidFill>
                <a:latin typeface="YS Text"/>
              </a:rPr>
              <a:t>беспроводной'</a:t>
            </a:r>
          </a:p>
          <a:p>
            <a:pPr algn="l"/>
            <a:endParaRPr lang="ru-RU" sz="2800" dirty="0">
              <a:solidFill>
                <a:srgbClr val="92D050"/>
              </a:solidFill>
              <a:latin typeface="YS Text"/>
            </a:endParaRPr>
          </a:p>
        </p:txBody>
      </p:sp>
    </p:spTree>
    <p:extLst>
      <p:ext uri="{BB962C8B-B14F-4D97-AF65-F5344CB8AC3E}">
        <p14:creationId xmlns:p14="http://schemas.microsoft.com/office/powerpoint/2010/main" val="2307469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961696"/>
            <a:ext cx="11650134" cy="5791201"/>
          </a:xfrm>
        </p:spPr>
        <p:txBody>
          <a:bodyPr anchor="t">
            <a:normAutofit/>
          </a:bodyPr>
          <a:lstStyle/>
          <a:p>
            <a:pPr algn="l"/>
            <a:r>
              <a:rPr lang="ru-RU" sz="2000" b="0" i="0" dirty="0">
                <a:solidFill>
                  <a:schemeClr val="tx1"/>
                </a:solidFill>
                <a:effectLst/>
                <a:latin typeface="YS Text"/>
              </a:rPr>
              <a:t>Если значение атрибута класса попытаться поменять через объект, то в этом случае новое значение получит только этот объект. </a:t>
            </a:r>
          </a:p>
          <a:p>
            <a:pPr algn="l"/>
            <a:r>
              <a:rPr lang="ru-RU" sz="2000" dirty="0">
                <a:solidFill>
                  <a:schemeClr val="tx1"/>
                </a:solidFill>
                <a:latin typeface="YS Text"/>
              </a:rPr>
              <a:t>Значение атрибута класса будет изменено уже после того, как объект будет создан, однако объект всё равно «</a:t>
            </a:r>
            <a:r>
              <a:rPr lang="ru-RU" sz="2000" dirty="0" err="1">
                <a:solidFill>
                  <a:schemeClr val="tx1"/>
                </a:solidFill>
                <a:latin typeface="YS Text"/>
              </a:rPr>
              <a:t>увидет</a:t>
            </a:r>
            <a:r>
              <a:rPr lang="ru-RU" sz="2000" dirty="0">
                <a:solidFill>
                  <a:schemeClr val="tx1"/>
                </a:solidFill>
                <a:latin typeface="YS Text"/>
              </a:rPr>
              <a:t>» новое значение. </a:t>
            </a:r>
            <a:r>
              <a:rPr lang="ru-RU" sz="2400" b="1" dirty="0">
                <a:solidFill>
                  <a:schemeClr val="accent5">
                    <a:lumMod val="60000"/>
                    <a:lumOff val="40000"/>
                  </a:schemeClr>
                </a:solidFill>
                <a:latin typeface="YS Text"/>
              </a:rPr>
              <a:t>Объект не хранит значение атрибута класса, а лишь ссылается на него</a:t>
            </a:r>
            <a:r>
              <a:rPr lang="ru-RU" sz="2000" dirty="0">
                <a:solidFill>
                  <a:schemeClr val="tx1"/>
                </a:solidFill>
                <a:latin typeface="YS Text"/>
              </a:rPr>
              <a:t>.</a:t>
            </a:r>
          </a:p>
          <a:p>
            <a:pPr algn="l"/>
            <a:endParaRPr lang="ru-RU" sz="2000" dirty="0">
              <a:solidFill>
                <a:schemeClr val="tx1"/>
              </a:solidFill>
              <a:latin typeface="YS Text"/>
            </a:endParaRPr>
          </a:p>
          <a:p>
            <a:pPr algn="l"/>
            <a:r>
              <a:rPr lang="ru-RU" sz="2400" b="1" dirty="0">
                <a:solidFill>
                  <a:schemeClr val="accent5">
                    <a:lumMod val="60000"/>
                    <a:lumOff val="40000"/>
                  </a:schemeClr>
                </a:solidFill>
                <a:latin typeface="YS Text"/>
              </a:rPr>
              <a:t>НО! Если же в объекте явно задать новое значение атрибута с именем атрибута класса, то объект сохранит собственное значение, а не ссылку на класс</a:t>
            </a:r>
            <a:r>
              <a:rPr lang="ru-RU" sz="2000" dirty="0">
                <a:solidFill>
                  <a:schemeClr val="tx1"/>
                </a:solidFill>
                <a:latin typeface="YS Text"/>
              </a:rPr>
              <a:t>.</a:t>
            </a:r>
          </a:p>
        </p:txBody>
      </p:sp>
    </p:spTree>
    <p:extLst>
      <p:ext uri="{BB962C8B-B14F-4D97-AF65-F5344CB8AC3E}">
        <p14:creationId xmlns:p14="http://schemas.microsoft.com/office/powerpoint/2010/main" val="1612573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Методы объекта. Объявление методов</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Задача — заставить объекты действовать. За действия отвечают методы.</a:t>
            </a:r>
          </a:p>
          <a:p>
            <a:pPr algn="l"/>
            <a:r>
              <a:rPr lang="ru-RU" sz="2000" dirty="0">
                <a:solidFill>
                  <a:schemeClr val="tx1"/>
                </a:solidFill>
                <a:latin typeface="YS Text"/>
              </a:rPr>
              <a:t>У вас есть дисковый телефон (объект </a:t>
            </a:r>
            <a:r>
              <a:rPr lang="ru-RU" sz="2000" dirty="0" err="1">
                <a:solidFill>
                  <a:schemeClr val="tx1"/>
                </a:solidFill>
                <a:latin typeface="YS Text"/>
              </a:rPr>
              <a:t>rotary_phone</a:t>
            </a:r>
            <a:r>
              <a:rPr lang="ru-RU" sz="2000" dirty="0">
                <a:solidFill>
                  <a:schemeClr val="tx1"/>
                </a:solidFill>
                <a:latin typeface="YS Text"/>
              </a:rPr>
              <a:t>), но он пока совсем ничего не умеет делать. Наделите его возможностью оповещать вас о входящем вызове — пусть у телефона появится возможность «звенеть».</a:t>
            </a:r>
          </a:p>
          <a:p>
            <a:pPr algn="l"/>
            <a:r>
              <a:rPr lang="ru-RU" sz="2000" dirty="0">
                <a:solidFill>
                  <a:schemeClr val="tx1"/>
                </a:solidFill>
                <a:latin typeface="YS Text"/>
              </a:rPr>
              <a:t>Для этого объекту </a:t>
            </a:r>
            <a:r>
              <a:rPr lang="ru-RU" sz="2000" dirty="0" err="1">
                <a:solidFill>
                  <a:schemeClr val="tx1"/>
                </a:solidFill>
                <a:latin typeface="YS Text"/>
              </a:rPr>
              <a:t>rotary_phone</a:t>
            </a:r>
            <a:r>
              <a:rPr lang="ru-RU" sz="2000" dirty="0">
                <a:solidFill>
                  <a:schemeClr val="tx1"/>
                </a:solidFill>
                <a:latin typeface="YS Text"/>
              </a:rPr>
              <a:t> понадобится метод, который и будет отвечать за сигнал вызова. Методы объекта описываются сразу после инициализатора класса. Первым параметром указывается </a:t>
            </a:r>
            <a:r>
              <a:rPr lang="ru-RU" sz="2000" dirty="0" err="1">
                <a:solidFill>
                  <a:schemeClr val="accent5">
                    <a:lumMod val="60000"/>
                    <a:lumOff val="40000"/>
                  </a:schemeClr>
                </a:solidFill>
                <a:latin typeface="YS Text"/>
              </a:rPr>
              <a:t>self</a:t>
            </a:r>
            <a:r>
              <a:rPr lang="ru-RU" sz="2000" dirty="0">
                <a:solidFill>
                  <a:schemeClr val="tx1"/>
                </a:solidFill>
                <a:latin typeface="YS Text"/>
              </a:rPr>
              <a:t>. Между инициализатором класса и методами должна быть пустая строка:</a:t>
            </a:r>
          </a:p>
          <a:p>
            <a:pPr algn="l"/>
            <a:r>
              <a:rPr lang="ru-RU" sz="2000" dirty="0">
                <a:solidFill>
                  <a:schemeClr val="tx1"/>
                </a:solidFill>
                <a:latin typeface="YS Text"/>
              </a:rPr>
              <a:t>	</a:t>
            </a:r>
            <a:r>
              <a:rPr lang="en-US" sz="1800" b="0" i="0" dirty="0">
                <a:solidFill>
                  <a:srgbClr val="C678DD"/>
                </a:solidFill>
                <a:effectLst/>
                <a:latin typeface="Menlo"/>
              </a:rPr>
              <a:t>class</a:t>
            </a:r>
            <a:r>
              <a:rPr lang="en-US" sz="1800" b="0" i="0" dirty="0">
                <a:effectLst/>
                <a:latin typeface="Menlo"/>
              </a:rPr>
              <a:t> </a:t>
            </a:r>
            <a:r>
              <a:rPr lang="en-US" sz="1800" b="0" i="0" dirty="0">
                <a:solidFill>
                  <a:srgbClr val="CA8D3D"/>
                </a:solidFill>
                <a:effectLst/>
                <a:latin typeface="Menlo"/>
              </a:rPr>
              <a:t>Phone</a:t>
            </a:r>
            <a:r>
              <a:rPr lang="en-US" sz="1800" b="0" i="0" dirty="0">
                <a:effectLst/>
                <a:latin typeface="Menlo"/>
              </a:rPr>
              <a:t>: </a:t>
            </a:r>
            <a:endParaRPr lang="ru-RU" sz="1800" b="0" i="0" dirty="0">
              <a:effectLst/>
              <a:latin typeface="Menlo"/>
            </a:endParaRPr>
          </a:p>
          <a:p>
            <a:pPr algn="l"/>
            <a:r>
              <a:rPr lang="ru-RU" sz="1800" dirty="0">
                <a:latin typeface="Menlo"/>
              </a:rPr>
              <a:t>		</a:t>
            </a:r>
            <a:r>
              <a:rPr lang="en-US" sz="1800" b="0" i="0" dirty="0" err="1">
                <a:effectLst/>
                <a:latin typeface="Menlo"/>
              </a:rPr>
              <a:t>line_type</a:t>
            </a:r>
            <a:r>
              <a:rPr lang="en-US" sz="1800" b="0" i="0" dirty="0">
                <a:effectLst/>
                <a:latin typeface="Menlo"/>
              </a:rPr>
              <a:t> = </a:t>
            </a:r>
            <a:r>
              <a:rPr lang="en-US" sz="1800" b="0" i="0" dirty="0">
                <a:solidFill>
                  <a:srgbClr val="32A846"/>
                </a:solidFill>
                <a:effectLst/>
                <a:latin typeface="Menlo"/>
              </a:rPr>
              <a:t>'</a:t>
            </a:r>
            <a:r>
              <a:rPr lang="ru-RU" sz="1800" b="0" i="0" dirty="0">
                <a:solidFill>
                  <a:srgbClr val="32A846"/>
                </a:solidFill>
                <a:effectLst/>
                <a:latin typeface="Menlo"/>
              </a:rPr>
              <a:t>проводной’</a:t>
            </a:r>
            <a:r>
              <a:rPr lang="ru-RU" sz="1800" b="0" i="0" dirty="0">
                <a:effectLst/>
                <a:latin typeface="Menlo"/>
              </a:rPr>
              <a:t> </a:t>
            </a:r>
          </a:p>
          <a:p>
            <a:pPr algn="l"/>
            <a:endParaRPr lang="ru-RU" sz="1800" dirty="0">
              <a:solidFill>
                <a:srgbClr val="C678DD"/>
              </a:solidFill>
              <a:latin typeface="Menlo"/>
            </a:endParaRPr>
          </a:p>
          <a:p>
            <a:pPr algn="l"/>
            <a:r>
              <a:rPr lang="ru-RU" sz="1800" b="0" i="0" dirty="0">
                <a:solidFill>
                  <a:srgbClr val="C678DD"/>
                </a:solidFill>
                <a:effectLst/>
                <a:latin typeface="Menlo"/>
              </a:rPr>
              <a:t>		</a:t>
            </a:r>
            <a:r>
              <a:rPr lang="en-US" sz="1800" b="0" i="0" dirty="0">
                <a:solidFill>
                  <a:srgbClr val="C678DD"/>
                </a:solidFill>
                <a:effectLst/>
                <a:latin typeface="Menlo"/>
              </a:rPr>
              <a:t>def</a:t>
            </a:r>
            <a:r>
              <a:rPr lang="en-US" sz="1800" b="0" i="0" dirty="0">
                <a:effectLst/>
                <a:latin typeface="Menlo"/>
              </a:rPr>
              <a:t> __</a:t>
            </a:r>
            <a:r>
              <a:rPr lang="en-US" sz="1800" b="0" i="0" dirty="0" err="1">
                <a:effectLst/>
                <a:latin typeface="Menlo"/>
              </a:rPr>
              <a:t>init</a:t>
            </a:r>
            <a:r>
              <a:rPr lang="en-US" sz="1800" b="0" i="0" dirty="0">
                <a:effectLst/>
                <a:latin typeface="Menlo"/>
              </a:rPr>
              <a:t>__(self, </a:t>
            </a:r>
            <a:r>
              <a:rPr lang="en-US" sz="1800" b="0" i="0" dirty="0" err="1">
                <a:effectLst/>
                <a:latin typeface="Menlo"/>
              </a:rPr>
              <a:t>dial_type_value</a:t>
            </a:r>
            <a:r>
              <a:rPr lang="en-US" sz="1800" b="0" i="0" dirty="0">
                <a:effectLst/>
                <a:latin typeface="Menlo"/>
              </a:rPr>
              <a:t>): </a:t>
            </a:r>
            <a:endParaRPr lang="ru-RU" sz="1800" b="0" i="0" dirty="0">
              <a:effectLst/>
              <a:latin typeface="Menlo"/>
            </a:endParaRPr>
          </a:p>
          <a:p>
            <a:pPr algn="l"/>
            <a:r>
              <a:rPr lang="ru-RU" sz="1800" dirty="0">
                <a:latin typeface="Menlo"/>
              </a:rPr>
              <a:t>			</a:t>
            </a:r>
            <a:r>
              <a:rPr lang="en-US" sz="1800" b="0" i="0" dirty="0" err="1">
                <a:effectLst/>
                <a:latin typeface="Menlo"/>
              </a:rPr>
              <a:t>self.dial_type</a:t>
            </a:r>
            <a:r>
              <a:rPr lang="en-US" sz="1800" b="0" i="0" dirty="0">
                <a:effectLst/>
                <a:latin typeface="Menlo"/>
              </a:rPr>
              <a:t> = </a:t>
            </a:r>
            <a:r>
              <a:rPr lang="en-US" sz="1800" b="0" i="0" dirty="0" err="1">
                <a:effectLst/>
                <a:latin typeface="Menlo"/>
              </a:rPr>
              <a:t>dial_type_value</a:t>
            </a:r>
            <a:r>
              <a:rPr lang="en-US" sz="1800" b="0" i="0" dirty="0">
                <a:effectLst/>
                <a:latin typeface="Menlo"/>
              </a:rPr>
              <a:t> </a:t>
            </a:r>
            <a:endParaRPr lang="ru-RU" sz="1800" b="0" i="0" dirty="0">
              <a:effectLst/>
              <a:latin typeface="Menlo"/>
            </a:endParaRPr>
          </a:p>
          <a:p>
            <a:pPr algn="l"/>
            <a:r>
              <a:rPr lang="ru-RU" sz="1800" dirty="0">
                <a:solidFill>
                  <a:srgbClr val="5C6370"/>
                </a:solidFill>
                <a:latin typeface="Menlo"/>
              </a:rPr>
              <a:t>	</a:t>
            </a:r>
          </a:p>
          <a:p>
            <a:pPr algn="l"/>
            <a:r>
              <a:rPr lang="ru-RU" sz="1800" b="0" i="1" dirty="0">
                <a:solidFill>
                  <a:srgbClr val="5C6370"/>
                </a:solidFill>
                <a:effectLst/>
                <a:latin typeface="Menlo"/>
              </a:rPr>
              <a:t>		</a:t>
            </a:r>
            <a:r>
              <a:rPr lang="en-US" sz="1800" b="0" i="1" dirty="0">
                <a:solidFill>
                  <a:schemeClr val="tx1"/>
                </a:solidFill>
                <a:effectLst/>
                <a:latin typeface="Menlo"/>
              </a:rPr>
              <a:t># </a:t>
            </a:r>
            <a:r>
              <a:rPr lang="ru-RU" sz="1800" b="0" i="1" dirty="0">
                <a:solidFill>
                  <a:schemeClr val="tx1"/>
                </a:solidFill>
                <a:effectLst/>
                <a:latin typeface="Menlo"/>
              </a:rPr>
              <a:t>Вот он - новый метод!</a:t>
            </a:r>
            <a:r>
              <a:rPr lang="ru-RU" sz="1800" b="0" i="0" dirty="0">
                <a:solidFill>
                  <a:schemeClr val="tx1"/>
                </a:solidFill>
                <a:effectLst/>
                <a:latin typeface="Menlo"/>
              </a:rPr>
              <a:t> </a:t>
            </a:r>
          </a:p>
          <a:p>
            <a:pPr algn="l"/>
            <a:r>
              <a:rPr lang="ru-RU" sz="1800" dirty="0">
                <a:solidFill>
                  <a:srgbClr val="C678DD"/>
                </a:solidFill>
                <a:latin typeface="Menlo"/>
              </a:rPr>
              <a:t>		</a:t>
            </a:r>
            <a:r>
              <a:rPr lang="en-US" sz="1800" b="0" i="0" dirty="0">
                <a:solidFill>
                  <a:srgbClr val="C678DD"/>
                </a:solidFill>
                <a:effectLst/>
                <a:latin typeface="Menlo"/>
              </a:rPr>
              <a:t>def</a:t>
            </a:r>
            <a:r>
              <a:rPr lang="en-US" sz="1800" b="0" i="0" dirty="0">
                <a:effectLst/>
                <a:latin typeface="Menlo"/>
              </a:rPr>
              <a:t> ring(self): </a:t>
            </a:r>
            <a:endParaRPr lang="ru-RU" sz="1800" b="0" i="0" dirty="0">
              <a:effectLst/>
              <a:latin typeface="Menlo"/>
            </a:endParaRPr>
          </a:p>
          <a:p>
            <a:pPr algn="l"/>
            <a:r>
              <a:rPr lang="ru-RU" sz="1800" dirty="0">
                <a:solidFill>
                  <a:srgbClr val="CA8D3D"/>
                </a:solidFill>
                <a:latin typeface="Menlo"/>
              </a:rPr>
              <a:t>			</a:t>
            </a:r>
            <a:r>
              <a:rPr lang="en-US" sz="1800" b="0" i="0" dirty="0">
                <a:solidFill>
                  <a:srgbClr val="CA8D3D"/>
                </a:solidFill>
                <a:effectLst/>
                <a:latin typeface="Menlo"/>
              </a:rPr>
              <a:t>print</a:t>
            </a:r>
            <a:r>
              <a:rPr lang="en-US" sz="1800" b="0" i="0" dirty="0">
                <a:effectLst/>
                <a:latin typeface="Menlo"/>
              </a:rPr>
              <a:t>(</a:t>
            </a:r>
            <a:r>
              <a:rPr lang="en-US" sz="1800" b="0" i="0" dirty="0">
                <a:solidFill>
                  <a:srgbClr val="32A846"/>
                </a:solidFill>
                <a:effectLst/>
                <a:latin typeface="Menlo"/>
              </a:rPr>
              <a:t>'</a:t>
            </a:r>
            <a:r>
              <a:rPr lang="ru-RU" sz="1800" b="0" i="0" dirty="0" err="1">
                <a:solidFill>
                  <a:srgbClr val="32A846"/>
                </a:solidFill>
                <a:effectLst/>
                <a:latin typeface="Menlo"/>
              </a:rPr>
              <a:t>Дзззззыыыыыыыынь</a:t>
            </a:r>
            <a:r>
              <a:rPr lang="ru-RU" sz="1800" b="0" i="0" dirty="0">
                <a:solidFill>
                  <a:srgbClr val="32A846"/>
                </a:solidFill>
                <a:effectLst/>
                <a:latin typeface="Menlo"/>
              </a:rPr>
              <a:t>!'</a:t>
            </a:r>
            <a:r>
              <a:rPr lang="ru-RU" sz="1800" b="0" i="0" dirty="0">
                <a:effectLst/>
                <a:latin typeface="Menlo"/>
              </a:rPr>
              <a:t>) </a:t>
            </a:r>
            <a:endParaRPr lang="ru-RU" dirty="0">
              <a:solidFill>
                <a:schemeClr val="tx1"/>
              </a:solidFill>
              <a:latin typeface="YS Text"/>
            </a:endParaRPr>
          </a:p>
        </p:txBody>
      </p:sp>
    </p:spTree>
    <p:extLst>
      <p:ext uri="{BB962C8B-B14F-4D97-AF65-F5344CB8AC3E}">
        <p14:creationId xmlns:p14="http://schemas.microsoft.com/office/powerpoint/2010/main" val="2129911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84034"/>
            <a:ext cx="9369388" cy="662103"/>
          </a:xfrm>
        </p:spPr>
        <p:txBody>
          <a:bodyPr>
            <a:normAutofit fontScale="90000"/>
          </a:bodyPr>
          <a:lstStyle/>
          <a:p>
            <a:pPr algn="ctr"/>
            <a:r>
              <a:rPr lang="ru-RU" sz="6000" dirty="0">
                <a:solidFill>
                  <a:schemeClr val="accent5">
                    <a:lumMod val="60000"/>
                    <a:lumOff val="40000"/>
                  </a:schemeClr>
                </a:solidFill>
                <a:latin typeface="YS Text"/>
              </a:rPr>
              <a:t>Вызов методов</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420414" y="578070"/>
            <a:ext cx="11451020" cy="6279930"/>
          </a:xfrm>
        </p:spPr>
        <p:txBody>
          <a:bodyPr anchor="t">
            <a:normAutofit lnSpcReduction="10000"/>
          </a:bodyPr>
          <a:lstStyle/>
          <a:p>
            <a:pPr algn="l"/>
            <a:r>
              <a:rPr lang="ru-RU" sz="2000" b="0" i="0" dirty="0">
                <a:solidFill>
                  <a:schemeClr val="tx1"/>
                </a:solidFill>
                <a:effectLst/>
                <a:latin typeface="YS Text"/>
              </a:rPr>
              <a:t>Методы объявляются в теле класса, но по умолчанию они принадлежат объектам. Чтобы вызвать метод, нужно создать объект, а потом обратиться к методу через точечную нотацию по шаблону: </a:t>
            </a:r>
            <a:r>
              <a:rPr lang="ru-RU" sz="2400" b="1" i="0" dirty="0" err="1">
                <a:solidFill>
                  <a:schemeClr val="accent5">
                    <a:lumMod val="60000"/>
                    <a:lumOff val="40000"/>
                  </a:schemeClr>
                </a:solidFill>
                <a:effectLst/>
                <a:latin typeface="YS Text"/>
              </a:rPr>
              <a:t>имя_объекта.имя_метода</a:t>
            </a:r>
            <a:r>
              <a:rPr lang="ru-RU" sz="2400" b="1" i="0" dirty="0">
                <a:solidFill>
                  <a:schemeClr val="accent5">
                    <a:lumMod val="60000"/>
                    <a:lumOff val="40000"/>
                  </a:schemeClr>
                </a:solidFill>
                <a:effectLst/>
                <a:latin typeface="YS Text"/>
              </a:rPr>
              <a:t>()</a:t>
            </a:r>
            <a:r>
              <a:rPr lang="ru-RU" sz="2000" b="0" i="0" dirty="0">
                <a:solidFill>
                  <a:schemeClr val="tx1"/>
                </a:solidFill>
                <a:effectLst/>
                <a:latin typeface="YS Text"/>
              </a:rPr>
              <a:t>. </a:t>
            </a:r>
          </a:p>
          <a:p>
            <a:pPr algn="l"/>
            <a:r>
              <a:rPr lang="ru-RU" sz="2000" b="0" i="0" dirty="0">
                <a:solidFill>
                  <a:schemeClr val="tx1"/>
                </a:solidFill>
                <a:effectLst/>
                <a:latin typeface="YS Text"/>
              </a:rPr>
              <a:t>При вызове метода в скобках указываются аргументы, точно так же, как и при вызове функции. Аргумент </a:t>
            </a:r>
            <a:r>
              <a:rPr lang="ru-RU" sz="2000" b="0" i="0" dirty="0" err="1">
                <a:solidFill>
                  <a:schemeClr val="accent5">
                    <a:lumMod val="60000"/>
                    <a:lumOff val="40000"/>
                  </a:schemeClr>
                </a:solidFill>
                <a:effectLst/>
                <a:latin typeface="YS Text"/>
              </a:rPr>
              <a:t>self</a:t>
            </a:r>
            <a:r>
              <a:rPr lang="ru-RU" sz="2000" b="0" i="0" dirty="0">
                <a:solidFill>
                  <a:schemeClr val="accent5">
                    <a:lumMod val="60000"/>
                    <a:lumOff val="40000"/>
                  </a:schemeClr>
                </a:solidFill>
                <a:effectLst/>
                <a:latin typeface="YS Text"/>
              </a:rPr>
              <a:t> указывать не нужно</a:t>
            </a:r>
            <a:r>
              <a:rPr lang="ru-RU" sz="2000" b="0" i="0" dirty="0">
                <a:solidFill>
                  <a:schemeClr val="tx1"/>
                </a:solidFill>
                <a:effectLst/>
                <a:latin typeface="YS Text"/>
              </a:rPr>
              <a:t>, потому что, как и в случае с магическим методом </a:t>
            </a:r>
            <a:r>
              <a:rPr lang="ru-RU" sz="2000" b="0" i="0" dirty="0">
                <a:solidFill>
                  <a:schemeClr val="accent5">
                    <a:lumMod val="60000"/>
                    <a:lumOff val="40000"/>
                  </a:schemeClr>
                </a:solidFill>
                <a:effectLst/>
                <a:latin typeface="YS Text"/>
              </a:rPr>
              <a:t>__</a:t>
            </a:r>
            <a:r>
              <a:rPr lang="ru-RU" sz="2000" b="0" i="0" dirty="0" err="1">
                <a:solidFill>
                  <a:schemeClr val="accent5">
                    <a:lumMod val="60000"/>
                    <a:lumOff val="40000"/>
                  </a:schemeClr>
                </a:solidFill>
                <a:effectLst/>
                <a:latin typeface="YS Text"/>
              </a:rPr>
              <a:t>init</a:t>
            </a:r>
            <a:r>
              <a:rPr lang="ru-RU" sz="2000" b="0" i="0" dirty="0">
                <a:solidFill>
                  <a:schemeClr val="accent5">
                    <a:lumMod val="60000"/>
                    <a:lumOff val="40000"/>
                  </a:schemeClr>
                </a:solidFill>
                <a:effectLst/>
                <a:latin typeface="YS Text"/>
              </a:rPr>
              <a:t>__</a:t>
            </a:r>
            <a:r>
              <a:rPr lang="ru-RU" sz="2000" b="0" i="0" dirty="0">
                <a:solidFill>
                  <a:schemeClr val="tx1"/>
                </a:solidFill>
                <a:effectLst/>
                <a:latin typeface="YS Text"/>
              </a:rPr>
              <a:t>, при вызове обычных методов Python самостоятельно в качестве первого аргумента передаёт сам экземпляр класса.</a:t>
            </a:r>
          </a:p>
          <a:p>
            <a:pPr algn="l"/>
            <a:r>
              <a:rPr lang="ru-RU" sz="1200" b="0" i="0" dirty="0">
                <a:solidFill>
                  <a:srgbClr val="C678DD"/>
                </a:solidFill>
                <a:effectLst/>
                <a:latin typeface="Menlo"/>
              </a:rPr>
              <a:t>	</a:t>
            </a:r>
            <a:r>
              <a:rPr lang="en-US" sz="1600" b="0" i="0" dirty="0">
                <a:solidFill>
                  <a:srgbClr val="C678DD"/>
                </a:solidFill>
                <a:effectLst/>
                <a:latin typeface="Menlo"/>
              </a:rPr>
              <a:t>class</a:t>
            </a:r>
            <a:r>
              <a:rPr lang="en-US" sz="1600" b="0" i="0" dirty="0">
                <a:effectLst/>
                <a:latin typeface="Menlo"/>
              </a:rPr>
              <a:t> </a:t>
            </a:r>
            <a:r>
              <a:rPr lang="en-US" sz="1600" b="0" i="0" dirty="0">
                <a:solidFill>
                  <a:srgbClr val="CA8D3D"/>
                </a:solidFill>
                <a:effectLst/>
                <a:latin typeface="Menlo"/>
              </a:rPr>
              <a:t>Phone</a:t>
            </a:r>
            <a:r>
              <a:rPr lang="en-US" sz="1600" b="0" i="0" dirty="0">
                <a:effectLst/>
                <a:latin typeface="Menlo"/>
              </a:rPr>
              <a:t>: </a:t>
            </a:r>
            <a:endParaRPr lang="ru-RU" sz="1600" b="0" i="0" dirty="0">
              <a:effectLst/>
              <a:latin typeface="Menlo"/>
            </a:endParaRPr>
          </a:p>
          <a:p>
            <a:pPr algn="l"/>
            <a:r>
              <a:rPr lang="ru-RU" sz="1600" dirty="0">
                <a:latin typeface="Menlo"/>
              </a:rPr>
              <a:t>		</a:t>
            </a:r>
            <a:r>
              <a:rPr lang="en-US" sz="1600" b="0" i="0" dirty="0" err="1">
                <a:effectLst/>
                <a:latin typeface="Menlo"/>
              </a:rPr>
              <a:t>line_type</a:t>
            </a:r>
            <a:r>
              <a:rPr lang="en-US" sz="1600" b="0" i="0" dirty="0">
                <a:effectLst/>
                <a:latin typeface="Menlo"/>
              </a:rPr>
              <a:t> = </a:t>
            </a:r>
            <a:r>
              <a:rPr lang="en-US" sz="1600" b="0" i="0" dirty="0">
                <a:solidFill>
                  <a:srgbClr val="32A846"/>
                </a:solidFill>
                <a:effectLst/>
                <a:latin typeface="Menlo"/>
              </a:rPr>
              <a:t>'</a:t>
            </a:r>
            <a:r>
              <a:rPr lang="ru-RU" sz="1600" b="0" i="0" dirty="0">
                <a:solidFill>
                  <a:srgbClr val="32A846"/>
                </a:solidFill>
                <a:effectLst/>
                <a:latin typeface="Menlo"/>
              </a:rPr>
              <a:t>проводной’</a:t>
            </a:r>
            <a:r>
              <a:rPr lang="ru-RU" sz="1600" b="0" i="0" dirty="0">
                <a:effectLst/>
                <a:latin typeface="Menlo"/>
              </a:rPr>
              <a:t> </a:t>
            </a:r>
          </a:p>
          <a:p>
            <a:pPr algn="l"/>
            <a:r>
              <a:rPr lang="ru-RU" sz="1600" dirty="0">
                <a:solidFill>
                  <a:srgbClr val="C678DD"/>
                </a:solidFill>
                <a:latin typeface="Menlo"/>
              </a:rPr>
              <a:t>		</a:t>
            </a:r>
            <a:r>
              <a:rPr lang="en-US" sz="1600" b="0" i="0" dirty="0">
                <a:solidFill>
                  <a:srgbClr val="C678DD"/>
                </a:solidFill>
                <a:effectLst/>
                <a:latin typeface="Menlo"/>
              </a:rPr>
              <a:t>def</a:t>
            </a:r>
            <a:r>
              <a:rPr lang="en-US" sz="1600" b="0" i="0" dirty="0">
                <a:effectLst/>
                <a:latin typeface="Menlo"/>
              </a:rPr>
              <a:t> __</a:t>
            </a:r>
            <a:r>
              <a:rPr lang="en-US" sz="1600" b="0" i="0" dirty="0" err="1">
                <a:effectLst/>
                <a:latin typeface="Menlo"/>
              </a:rPr>
              <a:t>init</a:t>
            </a:r>
            <a:r>
              <a:rPr lang="en-US" sz="1600" b="0" i="0" dirty="0">
                <a:effectLst/>
                <a:latin typeface="Menlo"/>
              </a:rPr>
              <a:t>__(self, </a:t>
            </a:r>
            <a:r>
              <a:rPr lang="en-US" sz="1600" b="0" i="0" dirty="0" err="1">
                <a:effectLst/>
                <a:latin typeface="Menlo"/>
              </a:rPr>
              <a:t>dial_type_value</a:t>
            </a:r>
            <a:r>
              <a:rPr lang="en-US" sz="1600" b="0" i="0" dirty="0">
                <a:effectLst/>
                <a:latin typeface="Menlo"/>
              </a:rPr>
              <a:t>): </a:t>
            </a:r>
            <a:endParaRPr lang="ru-RU" sz="1600" b="0" i="0" dirty="0">
              <a:effectLst/>
              <a:latin typeface="Menlo"/>
            </a:endParaRPr>
          </a:p>
          <a:p>
            <a:pPr algn="l"/>
            <a:r>
              <a:rPr lang="ru-RU" sz="1600" dirty="0">
                <a:latin typeface="Menlo"/>
              </a:rPr>
              <a:t>			</a:t>
            </a:r>
            <a:r>
              <a:rPr lang="en-US" sz="1600" b="0" i="0" dirty="0" err="1">
                <a:effectLst/>
                <a:latin typeface="Menlo"/>
              </a:rPr>
              <a:t>self.dial_type</a:t>
            </a:r>
            <a:r>
              <a:rPr lang="en-US" sz="1600" b="0" i="0" dirty="0">
                <a:effectLst/>
                <a:latin typeface="Menlo"/>
              </a:rPr>
              <a:t> = </a:t>
            </a:r>
            <a:r>
              <a:rPr lang="en-US" sz="1600" b="0" i="0" dirty="0" err="1">
                <a:effectLst/>
                <a:latin typeface="Menlo"/>
              </a:rPr>
              <a:t>dial_type_value</a:t>
            </a:r>
            <a:r>
              <a:rPr lang="en-US" sz="1600" b="0" i="0" dirty="0">
                <a:effectLst/>
                <a:latin typeface="Menlo"/>
              </a:rPr>
              <a:t> </a:t>
            </a:r>
            <a:endParaRPr lang="ru-RU" sz="1600" b="0" i="0" dirty="0">
              <a:effectLst/>
              <a:latin typeface="Menlo"/>
            </a:endParaRPr>
          </a:p>
          <a:p>
            <a:pPr algn="l"/>
            <a:endParaRPr lang="ru-RU" sz="1600" b="0" i="0" dirty="0">
              <a:effectLst/>
              <a:latin typeface="Menlo"/>
            </a:endParaRPr>
          </a:p>
          <a:p>
            <a:pPr algn="l"/>
            <a:r>
              <a:rPr lang="ru-RU" sz="1600" dirty="0">
                <a:solidFill>
                  <a:srgbClr val="C678DD"/>
                </a:solidFill>
                <a:latin typeface="Menlo"/>
              </a:rPr>
              <a:t>		</a:t>
            </a:r>
            <a:r>
              <a:rPr lang="en-US" sz="1600" b="0" i="0" dirty="0">
                <a:solidFill>
                  <a:srgbClr val="C678DD"/>
                </a:solidFill>
                <a:effectLst/>
                <a:latin typeface="Menlo"/>
              </a:rPr>
              <a:t>def</a:t>
            </a:r>
            <a:r>
              <a:rPr lang="en-US" sz="1600" b="0" i="0" dirty="0">
                <a:effectLst/>
                <a:latin typeface="Menlo"/>
              </a:rPr>
              <a:t> ring(self): </a:t>
            </a:r>
            <a:endParaRPr lang="ru-RU" sz="1600" b="0" i="0" dirty="0">
              <a:effectLst/>
              <a:latin typeface="Menlo"/>
            </a:endParaRPr>
          </a:p>
          <a:p>
            <a:pPr algn="l"/>
            <a:r>
              <a:rPr lang="ru-RU" sz="1600" dirty="0">
                <a:solidFill>
                  <a:srgbClr val="CA8D3D"/>
                </a:solidFill>
                <a:latin typeface="Menlo"/>
              </a:rPr>
              <a:t>			</a:t>
            </a:r>
            <a:r>
              <a:rPr lang="en-US" sz="1600" b="0" i="0" dirty="0">
                <a:solidFill>
                  <a:srgbClr val="CA8D3D"/>
                </a:solidFill>
                <a:effectLst/>
                <a:latin typeface="Menlo"/>
              </a:rPr>
              <a:t>print</a:t>
            </a:r>
            <a:r>
              <a:rPr lang="en-US" sz="1600" b="0" i="0" dirty="0">
                <a:effectLst/>
                <a:latin typeface="Menlo"/>
              </a:rPr>
              <a:t>(</a:t>
            </a:r>
            <a:r>
              <a:rPr lang="en-US" sz="1600" b="0" i="0" dirty="0">
                <a:solidFill>
                  <a:srgbClr val="32A846"/>
                </a:solidFill>
                <a:effectLst/>
                <a:latin typeface="Menlo"/>
              </a:rPr>
              <a:t>'</a:t>
            </a:r>
            <a:r>
              <a:rPr lang="ru-RU" sz="1600" b="0" i="0" dirty="0" err="1">
                <a:solidFill>
                  <a:srgbClr val="32A846"/>
                </a:solidFill>
                <a:effectLst/>
                <a:latin typeface="Menlo"/>
              </a:rPr>
              <a:t>Дзззззыыыыыыыынь</a:t>
            </a:r>
            <a:r>
              <a:rPr lang="ru-RU" sz="1600" b="0" i="0" dirty="0">
                <a:solidFill>
                  <a:srgbClr val="32A846"/>
                </a:solidFill>
                <a:effectLst/>
                <a:latin typeface="Menlo"/>
              </a:rPr>
              <a:t>!’</a:t>
            </a:r>
            <a:r>
              <a:rPr lang="ru-RU" sz="1600" b="0" i="0" dirty="0">
                <a:effectLst/>
                <a:latin typeface="Menlo"/>
              </a:rPr>
              <a:t>)</a:t>
            </a:r>
          </a:p>
          <a:p>
            <a:pPr algn="l"/>
            <a:endParaRPr lang="ru-RU" sz="1600" dirty="0">
              <a:latin typeface="Menlo"/>
            </a:endParaRPr>
          </a:p>
          <a:p>
            <a:pPr algn="l"/>
            <a:r>
              <a:rPr lang="ru-RU" sz="1600" b="0" i="0" dirty="0">
                <a:effectLst/>
                <a:latin typeface="Menlo"/>
              </a:rPr>
              <a:t>	 </a:t>
            </a:r>
            <a:r>
              <a:rPr lang="ru-RU" sz="1600" b="0" i="1" dirty="0">
                <a:solidFill>
                  <a:schemeClr val="tx1"/>
                </a:solidFill>
                <a:effectLst/>
                <a:latin typeface="Menlo"/>
              </a:rPr>
              <a:t># Создать </a:t>
            </a:r>
            <a:r>
              <a:rPr lang="ru-RU" sz="1600" b="0" i="1" dirty="0" err="1">
                <a:solidFill>
                  <a:schemeClr val="tx1"/>
                </a:solidFill>
                <a:effectLst/>
                <a:latin typeface="Menlo"/>
              </a:rPr>
              <a:t>экземляр</a:t>
            </a:r>
            <a:r>
              <a:rPr lang="ru-RU" sz="1600" b="0" i="1" dirty="0">
                <a:solidFill>
                  <a:schemeClr val="tx1"/>
                </a:solidFill>
                <a:effectLst/>
                <a:latin typeface="Menlo"/>
              </a:rPr>
              <a:t> класса </a:t>
            </a:r>
            <a:r>
              <a:rPr lang="en-US" sz="1600" b="0" i="1" dirty="0">
                <a:solidFill>
                  <a:schemeClr val="tx1"/>
                </a:solidFill>
                <a:effectLst/>
                <a:latin typeface="Menlo"/>
              </a:rPr>
              <a:t>Phone.</a:t>
            </a:r>
            <a:r>
              <a:rPr lang="en-US" sz="1600" b="0" i="0" dirty="0">
                <a:solidFill>
                  <a:schemeClr val="tx1"/>
                </a:solidFill>
                <a:effectLst/>
                <a:latin typeface="Menlo"/>
              </a:rPr>
              <a:t> </a:t>
            </a:r>
            <a:endParaRPr lang="ru-RU" sz="1600" b="0" i="0" dirty="0">
              <a:solidFill>
                <a:schemeClr val="tx1"/>
              </a:solidFill>
              <a:effectLst/>
              <a:latin typeface="Menlo"/>
            </a:endParaRPr>
          </a:p>
          <a:p>
            <a:pPr algn="l"/>
            <a:r>
              <a:rPr lang="ru-RU" sz="1600" dirty="0">
                <a:latin typeface="Menlo"/>
              </a:rPr>
              <a:t>	</a:t>
            </a:r>
            <a:r>
              <a:rPr lang="en-US" sz="1600" b="0" i="0" dirty="0" err="1">
                <a:effectLst/>
                <a:latin typeface="Menlo"/>
              </a:rPr>
              <a:t>rotary_phone</a:t>
            </a:r>
            <a:r>
              <a:rPr lang="en-US" sz="1600" b="0" i="0" dirty="0">
                <a:effectLst/>
                <a:latin typeface="Menlo"/>
              </a:rPr>
              <a:t> = Phone(</a:t>
            </a:r>
            <a:r>
              <a:rPr lang="en-US" sz="1600" b="0" i="0" dirty="0" err="1">
                <a:effectLst/>
                <a:latin typeface="Menlo"/>
              </a:rPr>
              <a:t>dial_type_value</a:t>
            </a:r>
            <a:r>
              <a:rPr lang="en-US" sz="1600" b="0" i="0" dirty="0">
                <a:effectLst/>
                <a:latin typeface="Menlo"/>
              </a:rPr>
              <a:t>=</a:t>
            </a:r>
            <a:r>
              <a:rPr lang="en-US" sz="1600" b="0" i="0" dirty="0">
                <a:solidFill>
                  <a:srgbClr val="32A846"/>
                </a:solidFill>
                <a:effectLst/>
                <a:latin typeface="Menlo"/>
              </a:rPr>
              <a:t>'</a:t>
            </a:r>
            <a:r>
              <a:rPr lang="ru-RU" sz="1600" b="0" i="0" dirty="0">
                <a:solidFill>
                  <a:srgbClr val="32A846"/>
                </a:solidFill>
                <a:effectLst/>
                <a:latin typeface="Menlo"/>
              </a:rPr>
              <a:t>дисковый’</a:t>
            </a:r>
            <a:r>
              <a:rPr lang="ru-RU" sz="1600" b="0" i="0" dirty="0">
                <a:effectLst/>
                <a:latin typeface="Menlo"/>
              </a:rPr>
              <a:t>) </a:t>
            </a:r>
          </a:p>
          <a:p>
            <a:pPr algn="l"/>
            <a:r>
              <a:rPr lang="ru-RU" sz="1600" dirty="0">
                <a:solidFill>
                  <a:srgbClr val="5C6370"/>
                </a:solidFill>
                <a:latin typeface="Menlo"/>
              </a:rPr>
              <a:t>	</a:t>
            </a:r>
            <a:r>
              <a:rPr lang="ru-RU" sz="1600" b="0" i="1" dirty="0">
                <a:solidFill>
                  <a:schemeClr val="tx1"/>
                </a:solidFill>
                <a:effectLst/>
                <a:latin typeface="Menlo"/>
              </a:rPr>
              <a:t># Вызвать метод </a:t>
            </a:r>
            <a:r>
              <a:rPr lang="en-US" sz="1600" b="0" i="1" dirty="0">
                <a:solidFill>
                  <a:schemeClr val="tx1"/>
                </a:solidFill>
                <a:effectLst/>
                <a:latin typeface="Menlo"/>
              </a:rPr>
              <a:t>ring </a:t>
            </a:r>
            <a:r>
              <a:rPr lang="ru-RU" sz="1600" b="0" i="1" dirty="0">
                <a:solidFill>
                  <a:schemeClr val="tx1"/>
                </a:solidFill>
                <a:effectLst/>
                <a:latin typeface="Menlo"/>
              </a:rPr>
              <a:t>для экземпляра </a:t>
            </a:r>
            <a:r>
              <a:rPr lang="en-US" sz="1600" b="0" i="1" dirty="0" err="1">
                <a:solidFill>
                  <a:schemeClr val="tx1"/>
                </a:solidFill>
                <a:effectLst/>
                <a:latin typeface="Menlo"/>
              </a:rPr>
              <a:t>rotary_phone</a:t>
            </a:r>
            <a:r>
              <a:rPr lang="en-US" sz="1600" b="0" i="1" dirty="0">
                <a:solidFill>
                  <a:schemeClr val="tx1"/>
                </a:solidFill>
                <a:effectLst/>
                <a:latin typeface="Menlo"/>
              </a:rPr>
              <a:t>. </a:t>
            </a:r>
            <a:r>
              <a:rPr lang="ru-RU" sz="1600" b="0" i="1" dirty="0">
                <a:solidFill>
                  <a:schemeClr val="tx1"/>
                </a:solidFill>
                <a:effectLst/>
                <a:latin typeface="Menlo"/>
              </a:rPr>
              <a:t>В методе </a:t>
            </a:r>
            <a:r>
              <a:rPr lang="en-US" sz="1600" b="0" i="1" dirty="0">
                <a:solidFill>
                  <a:schemeClr val="tx1"/>
                </a:solidFill>
                <a:effectLst/>
                <a:latin typeface="Menlo"/>
              </a:rPr>
              <a:t>ring() </a:t>
            </a:r>
            <a:r>
              <a:rPr lang="ru-RU" sz="1600" b="0" i="1" dirty="0">
                <a:solidFill>
                  <a:schemeClr val="tx1"/>
                </a:solidFill>
                <a:effectLst/>
                <a:latin typeface="Menlo"/>
              </a:rPr>
              <a:t>есть</a:t>
            </a:r>
            <a:r>
              <a:rPr lang="ru-RU" sz="1600" b="0" i="0" dirty="0">
                <a:solidFill>
                  <a:schemeClr val="tx1"/>
                </a:solidFill>
                <a:effectLst/>
                <a:latin typeface="Menlo"/>
              </a:rPr>
              <a:t> </a:t>
            </a:r>
            <a:r>
              <a:rPr lang="ru-RU" sz="1600" b="0" i="1" dirty="0">
                <a:solidFill>
                  <a:schemeClr val="tx1"/>
                </a:solidFill>
                <a:effectLst/>
                <a:latin typeface="Menlo"/>
              </a:rPr>
              <a:t>единственный параметр </a:t>
            </a:r>
            <a:r>
              <a:rPr lang="en-US" sz="1600" b="0" i="1" dirty="0">
                <a:solidFill>
                  <a:schemeClr val="tx1"/>
                </a:solidFill>
                <a:effectLst/>
                <a:latin typeface="Menlo"/>
              </a:rPr>
              <a:t>self. </a:t>
            </a:r>
            <a:endParaRPr lang="ru-RU" sz="1600" b="0" i="0" dirty="0">
              <a:solidFill>
                <a:schemeClr val="tx1"/>
              </a:solidFill>
              <a:effectLst/>
              <a:latin typeface="Menlo"/>
            </a:endParaRPr>
          </a:p>
          <a:p>
            <a:pPr algn="l"/>
            <a:r>
              <a:rPr lang="ru-RU" sz="1600" dirty="0">
                <a:solidFill>
                  <a:schemeClr val="tx1"/>
                </a:solidFill>
                <a:latin typeface="Menlo"/>
              </a:rPr>
              <a:t>	</a:t>
            </a:r>
            <a:r>
              <a:rPr lang="ru-RU" sz="1600" b="0" i="1" dirty="0">
                <a:solidFill>
                  <a:schemeClr val="tx1"/>
                </a:solidFill>
                <a:effectLst/>
                <a:latin typeface="Menlo"/>
              </a:rPr>
              <a:t># Передавать его в качестве аргумента не нужно.</a:t>
            </a:r>
            <a:r>
              <a:rPr lang="ru-RU" sz="1600" b="0" i="0" dirty="0">
                <a:solidFill>
                  <a:schemeClr val="tx1"/>
                </a:solidFill>
                <a:effectLst/>
                <a:latin typeface="Menlo"/>
              </a:rPr>
              <a:t> </a:t>
            </a:r>
            <a:r>
              <a:rPr lang="en-US" sz="1600" b="0" i="1" dirty="0">
                <a:solidFill>
                  <a:schemeClr val="tx1"/>
                </a:solidFill>
                <a:effectLst/>
                <a:latin typeface="Menlo"/>
              </a:rPr>
              <a:t>Python </a:t>
            </a:r>
            <a:r>
              <a:rPr lang="ru-RU" sz="1600" b="0" i="1" dirty="0">
                <a:solidFill>
                  <a:schemeClr val="tx1"/>
                </a:solidFill>
                <a:effectLst/>
                <a:latin typeface="Menlo"/>
              </a:rPr>
              <a:t>сделает это автоматически.</a:t>
            </a:r>
            <a:r>
              <a:rPr lang="ru-RU" sz="1600" b="0" i="0" dirty="0">
                <a:solidFill>
                  <a:schemeClr val="tx1"/>
                </a:solidFill>
                <a:effectLst/>
                <a:latin typeface="Menlo"/>
              </a:rPr>
              <a:t> </a:t>
            </a:r>
          </a:p>
          <a:p>
            <a:pPr algn="l"/>
            <a:r>
              <a:rPr lang="ru-RU" sz="1600" dirty="0">
                <a:solidFill>
                  <a:schemeClr val="tx1"/>
                </a:solidFill>
                <a:latin typeface="Menlo"/>
              </a:rPr>
              <a:t>	</a:t>
            </a:r>
            <a:r>
              <a:rPr lang="en-US" sz="1600" b="0" i="0" dirty="0" err="1">
                <a:effectLst/>
                <a:latin typeface="Menlo"/>
              </a:rPr>
              <a:t>rotary_phone.ring</a:t>
            </a:r>
            <a:r>
              <a:rPr lang="en-US" sz="1600" b="0" i="0" dirty="0">
                <a:effectLst/>
                <a:latin typeface="Menlo"/>
              </a:rPr>
              <a:t>()</a:t>
            </a:r>
            <a:endParaRPr lang="ru-RU" sz="1600" dirty="0">
              <a:solidFill>
                <a:srgbClr val="92D050"/>
              </a:solidFill>
              <a:latin typeface="YS Text"/>
            </a:endParaRPr>
          </a:p>
        </p:txBody>
      </p:sp>
    </p:spTree>
    <p:extLst>
      <p:ext uri="{BB962C8B-B14F-4D97-AF65-F5344CB8AC3E}">
        <p14:creationId xmlns:p14="http://schemas.microsoft.com/office/powerpoint/2010/main" val="3158303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105104"/>
            <a:ext cx="11650134" cy="6647794"/>
          </a:xfrm>
        </p:spPr>
        <p:txBody>
          <a:bodyPr anchor="t">
            <a:normAutofit lnSpcReduction="10000"/>
          </a:bodyPr>
          <a:lstStyle/>
          <a:p>
            <a:pPr algn="l"/>
            <a:r>
              <a:rPr lang="ru-RU" sz="2000" b="0" i="0" dirty="0">
                <a:solidFill>
                  <a:schemeClr val="tx1"/>
                </a:solidFill>
                <a:effectLst/>
                <a:latin typeface="YS Text"/>
              </a:rPr>
              <a:t>«Звенеть» телефон вы научили, теперь пусть он оповещает, по какому номеру вы звоните и какой тип связи используете. Это тоже действие, а значит, нужен ещё один метод. Подходящее название для него — </a:t>
            </a:r>
            <a:r>
              <a:rPr lang="ru-RU" sz="2000" b="0" i="0" dirty="0" err="1">
                <a:solidFill>
                  <a:schemeClr val="accent5">
                    <a:lumMod val="60000"/>
                    <a:lumOff val="40000"/>
                  </a:schemeClr>
                </a:solidFill>
                <a:effectLst/>
                <a:latin typeface="YS Text"/>
              </a:rPr>
              <a:t>call</a:t>
            </a:r>
            <a:r>
              <a:rPr lang="ru-RU" sz="2000" b="0" i="0" dirty="0">
                <a:solidFill>
                  <a:schemeClr val="accent5">
                    <a:lumMod val="60000"/>
                    <a:lumOff val="40000"/>
                  </a:schemeClr>
                </a:solidFill>
                <a:effectLst/>
                <a:latin typeface="YS Text"/>
              </a:rPr>
              <a:t>().</a:t>
            </a:r>
          </a:p>
          <a:p>
            <a:pPr algn="l"/>
            <a:r>
              <a:rPr lang="ru-RU" sz="2000" b="0" i="0" dirty="0">
                <a:solidFill>
                  <a:schemeClr val="tx1"/>
                </a:solidFill>
                <a:effectLst/>
                <a:latin typeface="YS Text"/>
              </a:rPr>
              <a:t>Звонить можно по разным номерам, поэтому кроме </a:t>
            </a:r>
            <a:r>
              <a:rPr lang="ru-RU" sz="2000" b="0" i="0" dirty="0" err="1">
                <a:solidFill>
                  <a:schemeClr val="tx1"/>
                </a:solidFill>
                <a:effectLst/>
                <a:latin typeface="YS Text"/>
              </a:rPr>
              <a:t>self</a:t>
            </a:r>
            <a:r>
              <a:rPr lang="ru-RU" sz="2000" b="0" i="0" dirty="0">
                <a:solidFill>
                  <a:schemeClr val="tx1"/>
                </a:solidFill>
                <a:effectLst/>
                <a:latin typeface="YS Text"/>
              </a:rPr>
              <a:t> новому методу понадобится ещё один параметр — номер. Пусть он называется </a:t>
            </a:r>
            <a:r>
              <a:rPr lang="ru-RU" sz="2000" b="0" i="0" dirty="0" err="1">
                <a:solidFill>
                  <a:schemeClr val="accent5">
                    <a:lumMod val="60000"/>
                    <a:lumOff val="40000"/>
                  </a:schemeClr>
                </a:solidFill>
                <a:effectLst/>
                <a:latin typeface="YS Text"/>
              </a:rPr>
              <a:t>phone_number</a:t>
            </a:r>
            <a:r>
              <a:rPr lang="ru-RU" sz="2000" b="0" i="0" dirty="0">
                <a:solidFill>
                  <a:schemeClr val="tx1"/>
                </a:solidFill>
                <a:effectLst/>
                <a:latin typeface="YS Text"/>
              </a:rPr>
              <a:t>, а его значением будет строка формата </a:t>
            </a:r>
            <a:r>
              <a:rPr lang="ru-RU" sz="2000" b="0" i="0" dirty="0" err="1">
                <a:solidFill>
                  <a:schemeClr val="accent5">
                    <a:lumMod val="60000"/>
                    <a:lumOff val="40000"/>
                  </a:schemeClr>
                </a:solidFill>
                <a:effectLst/>
                <a:latin typeface="YS Text"/>
              </a:rPr>
              <a:t>xxx-xxxx</a:t>
            </a:r>
            <a:r>
              <a:rPr lang="ru-RU" sz="2000" b="0" i="0" dirty="0">
                <a:solidFill>
                  <a:schemeClr val="tx1"/>
                </a:solidFill>
                <a:effectLst/>
                <a:latin typeface="YS Text"/>
              </a:rPr>
              <a:t>.</a:t>
            </a:r>
          </a:p>
          <a:p>
            <a:pPr algn="l"/>
            <a:r>
              <a:rPr lang="en-US" sz="1400" b="0" i="0" dirty="0">
                <a:solidFill>
                  <a:srgbClr val="C678DD"/>
                </a:solidFill>
                <a:effectLst/>
                <a:latin typeface="Menlo"/>
              </a:rPr>
              <a:t>class</a:t>
            </a:r>
            <a:r>
              <a:rPr lang="en-US" sz="1400" b="0" i="0" dirty="0">
                <a:effectLst/>
                <a:latin typeface="Menlo"/>
              </a:rPr>
              <a:t> </a:t>
            </a:r>
            <a:r>
              <a:rPr lang="en-US" sz="1400" b="0" i="0" dirty="0">
                <a:solidFill>
                  <a:srgbClr val="CA8D3D"/>
                </a:solidFill>
                <a:effectLst/>
                <a:latin typeface="Menlo"/>
              </a:rPr>
              <a:t>Phone</a:t>
            </a:r>
            <a:r>
              <a:rPr lang="en-US" sz="1400" b="0" i="0" dirty="0">
                <a:effectLst/>
                <a:latin typeface="Menlo"/>
              </a:rPr>
              <a:t>: </a:t>
            </a:r>
            <a:endParaRPr lang="ru-RU" sz="1400" b="0" i="0" dirty="0">
              <a:effectLst/>
              <a:latin typeface="Menlo"/>
            </a:endParaRPr>
          </a:p>
          <a:p>
            <a:pPr algn="l"/>
            <a:r>
              <a:rPr lang="ru-RU" sz="1400" dirty="0">
                <a:latin typeface="Menlo"/>
              </a:rPr>
              <a:t>	</a:t>
            </a:r>
            <a:r>
              <a:rPr lang="en-US" sz="1400" b="0" i="0" dirty="0" err="1">
                <a:effectLst/>
                <a:latin typeface="Menlo"/>
              </a:rPr>
              <a:t>line_type</a:t>
            </a:r>
            <a:r>
              <a:rPr lang="en-US" sz="1400" b="0" i="0" dirty="0">
                <a:effectLst/>
                <a:latin typeface="Menlo"/>
              </a:rPr>
              <a:t> = </a:t>
            </a:r>
            <a:r>
              <a:rPr lang="en-US" sz="1400" b="0" i="0" dirty="0">
                <a:solidFill>
                  <a:srgbClr val="32A846"/>
                </a:solidFill>
                <a:effectLst/>
                <a:latin typeface="Menlo"/>
              </a:rPr>
              <a:t>'</a:t>
            </a:r>
            <a:r>
              <a:rPr lang="ru-RU" sz="1400" b="0" i="0" dirty="0">
                <a:solidFill>
                  <a:srgbClr val="32A846"/>
                </a:solidFill>
                <a:effectLst/>
                <a:latin typeface="Menlo"/>
              </a:rPr>
              <a:t>проводной’</a:t>
            </a:r>
            <a:r>
              <a:rPr lang="ru-RU" sz="1400" b="0" i="0" dirty="0">
                <a:effectLst/>
                <a:latin typeface="Menlo"/>
              </a:rPr>
              <a:t> </a:t>
            </a:r>
          </a:p>
          <a:p>
            <a:pPr algn="l"/>
            <a:endParaRPr lang="ru-RU" sz="1400" dirty="0">
              <a:solidFill>
                <a:srgbClr val="C678DD"/>
              </a:solidFill>
              <a:latin typeface="Menlo"/>
            </a:endParaRPr>
          </a:p>
          <a:p>
            <a:pPr algn="l"/>
            <a:r>
              <a:rPr lang="ru-RU" sz="1400" b="0" i="0" dirty="0">
                <a:solidFill>
                  <a:srgbClr val="C678DD"/>
                </a:solidFill>
                <a:effectLst/>
                <a:latin typeface="Menlo"/>
              </a:rPr>
              <a:t>	</a:t>
            </a:r>
            <a:r>
              <a:rPr lang="en-US" sz="1400" b="0" i="0" dirty="0">
                <a:solidFill>
                  <a:srgbClr val="C678DD"/>
                </a:solidFill>
                <a:effectLst/>
                <a:latin typeface="Menlo"/>
              </a:rPr>
              <a:t>def</a:t>
            </a:r>
            <a:r>
              <a:rPr lang="en-US" sz="1400" b="0" i="0" dirty="0">
                <a:effectLst/>
                <a:latin typeface="Menlo"/>
              </a:rPr>
              <a:t> __</a:t>
            </a:r>
            <a:r>
              <a:rPr lang="en-US" sz="1400" b="0" i="0" dirty="0" err="1">
                <a:effectLst/>
                <a:latin typeface="Menlo"/>
              </a:rPr>
              <a:t>init</a:t>
            </a:r>
            <a:r>
              <a:rPr lang="en-US" sz="1400" b="0" i="0" dirty="0">
                <a:effectLst/>
                <a:latin typeface="Menlo"/>
              </a:rPr>
              <a:t>__(self, </a:t>
            </a:r>
            <a:r>
              <a:rPr lang="en-US" sz="1400" b="0" i="0" dirty="0" err="1">
                <a:effectLst/>
                <a:latin typeface="Menlo"/>
              </a:rPr>
              <a:t>dial_type_value</a:t>
            </a:r>
            <a:r>
              <a:rPr lang="en-US" sz="1400" b="0" i="0" dirty="0">
                <a:effectLst/>
                <a:latin typeface="Menlo"/>
              </a:rPr>
              <a:t>): </a:t>
            </a:r>
            <a:endParaRPr lang="ru-RU" sz="1400" b="0" i="0" dirty="0">
              <a:effectLst/>
              <a:latin typeface="Menlo"/>
            </a:endParaRPr>
          </a:p>
          <a:p>
            <a:pPr algn="l"/>
            <a:r>
              <a:rPr lang="ru-RU" sz="1400" dirty="0">
                <a:latin typeface="Menlo"/>
              </a:rPr>
              <a:t>		</a:t>
            </a:r>
            <a:r>
              <a:rPr lang="en-US" sz="1400" b="0" i="0" dirty="0" err="1">
                <a:effectLst/>
                <a:latin typeface="Menlo"/>
              </a:rPr>
              <a:t>self.dial_type</a:t>
            </a:r>
            <a:r>
              <a:rPr lang="en-US" sz="1400" b="0" i="0" dirty="0">
                <a:effectLst/>
                <a:latin typeface="Menlo"/>
              </a:rPr>
              <a:t> = </a:t>
            </a:r>
            <a:r>
              <a:rPr lang="en-US" sz="1400" b="0" i="0" dirty="0" err="1">
                <a:effectLst/>
                <a:latin typeface="Menlo"/>
              </a:rPr>
              <a:t>dial_type_value</a:t>
            </a:r>
            <a:r>
              <a:rPr lang="en-US" sz="1400" b="0" i="0" dirty="0">
                <a:effectLst/>
                <a:latin typeface="Menlo"/>
              </a:rPr>
              <a:t> </a:t>
            </a:r>
            <a:endParaRPr lang="ru-RU" sz="1400" b="0" i="0" dirty="0">
              <a:effectLst/>
              <a:latin typeface="Menlo"/>
            </a:endParaRPr>
          </a:p>
          <a:p>
            <a:pPr algn="l"/>
            <a:endParaRPr lang="ru-RU" sz="1400" dirty="0">
              <a:solidFill>
                <a:srgbClr val="C678DD"/>
              </a:solidFill>
              <a:latin typeface="Menlo"/>
            </a:endParaRPr>
          </a:p>
          <a:p>
            <a:pPr algn="l"/>
            <a:r>
              <a:rPr lang="ru-RU" sz="1400" b="0" i="0" dirty="0">
                <a:solidFill>
                  <a:srgbClr val="C678DD"/>
                </a:solidFill>
                <a:effectLst/>
                <a:latin typeface="Menlo"/>
              </a:rPr>
              <a:t>	</a:t>
            </a:r>
            <a:r>
              <a:rPr lang="en-US" sz="1400" b="0" i="0" dirty="0">
                <a:solidFill>
                  <a:srgbClr val="C678DD"/>
                </a:solidFill>
                <a:effectLst/>
                <a:latin typeface="Menlo"/>
              </a:rPr>
              <a:t>def</a:t>
            </a:r>
            <a:r>
              <a:rPr lang="en-US" sz="1400" b="0" i="0" dirty="0">
                <a:effectLst/>
                <a:latin typeface="Menlo"/>
              </a:rPr>
              <a:t> ring(self): </a:t>
            </a:r>
            <a:endParaRPr lang="ru-RU" sz="1400" b="0" i="0" dirty="0">
              <a:effectLst/>
              <a:latin typeface="Menlo"/>
            </a:endParaRPr>
          </a:p>
          <a:p>
            <a:pPr algn="l"/>
            <a:r>
              <a:rPr lang="ru-RU" sz="1400" dirty="0">
                <a:solidFill>
                  <a:srgbClr val="CA8D3D"/>
                </a:solidFill>
                <a:latin typeface="Menlo"/>
              </a:rPr>
              <a:t>		</a:t>
            </a:r>
            <a:r>
              <a:rPr lang="en-US" sz="1400" b="0" i="0" dirty="0">
                <a:solidFill>
                  <a:srgbClr val="CA8D3D"/>
                </a:solidFill>
                <a:effectLst/>
                <a:latin typeface="Menlo"/>
              </a:rPr>
              <a:t>print</a:t>
            </a:r>
            <a:r>
              <a:rPr lang="en-US" sz="1400" b="0" i="0" dirty="0">
                <a:effectLst/>
                <a:latin typeface="Menlo"/>
              </a:rPr>
              <a:t>(</a:t>
            </a:r>
            <a:r>
              <a:rPr lang="en-US" sz="1400" b="0" i="0" dirty="0">
                <a:solidFill>
                  <a:srgbClr val="32A846"/>
                </a:solidFill>
                <a:effectLst/>
                <a:latin typeface="Menlo"/>
              </a:rPr>
              <a:t>'</a:t>
            </a:r>
            <a:r>
              <a:rPr lang="ru-RU" sz="1400" b="0" i="0" dirty="0" err="1">
                <a:solidFill>
                  <a:srgbClr val="32A846"/>
                </a:solidFill>
                <a:effectLst/>
                <a:latin typeface="Menlo"/>
              </a:rPr>
              <a:t>Дзззззыыыыыыыынь</a:t>
            </a:r>
            <a:r>
              <a:rPr lang="ru-RU" sz="1400" b="0" i="0" dirty="0">
                <a:solidFill>
                  <a:srgbClr val="32A846"/>
                </a:solidFill>
                <a:effectLst/>
                <a:latin typeface="Menlo"/>
              </a:rPr>
              <a:t>!’</a:t>
            </a:r>
            <a:r>
              <a:rPr lang="ru-RU" sz="1400" b="0" i="0" dirty="0">
                <a:effectLst/>
                <a:latin typeface="Menlo"/>
              </a:rPr>
              <a:t>) </a:t>
            </a:r>
          </a:p>
          <a:p>
            <a:pPr algn="l"/>
            <a:r>
              <a:rPr lang="ru-RU" sz="1400" dirty="0">
                <a:solidFill>
                  <a:srgbClr val="5C6370"/>
                </a:solidFill>
                <a:latin typeface="Menlo"/>
              </a:rPr>
              <a:t>	</a:t>
            </a:r>
            <a:r>
              <a:rPr lang="ru-RU" sz="1400" b="0" i="1" dirty="0">
                <a:solidFill>
                  <a:schemeClr val="tx1"/>
                </a:solidFill>
                <a:effectLst/>
                <a:latin typeface="Menlo"/>
              </a:rPr>
              <a:t># Это новый метод, уже с двумя параметрами.</a:t>
            </a:r>
            <a:r>
              <a:rPr lang="ru-RU" sz="1400" b="0" i="0" dirty="0">
                <a:solidFill>
                  <a:schemeClr val="tx1"/>
                </a:solidFill>
                <a:effectLst/>
                <a:latin typeface="Menlo"/>
              </a:rPr>
              <a:t> </a:t>
            </a:r>
          </a:p>
          <a:p>
            <a:pPr algn="l"/>
            <a:r>
              <a:rPr lang="ru-RU" sz="1400" dirty="0">
                <a:solidFill>
                  <a:srgbClr val="C678DD"/>
                </a:solidFill>
                <a:latin typeface="Menlo"/>
              </a:rPr>
              <a:t>	</a:t>
            </a:r>
            <a:r>
              <a:rPr lang="en-US" sz="1400" b="0" i="0" dirty="0">
                <a:solidFill>
                  <a:srgbClr val="C678DD"/>
                </a:solidFill>
                <a:effectLst/>
                <a:latin typeface="Menlo"/>
              </a:rPr>
              <a:t>def</a:t>
            </a:r>
            <a:r>
              <a:rPr lang="en-US" sz="1400" b="0" i="0" dirty="0">
                <a:effectLst/>
                <a:latin typeface="Menlo"/>
              </a:rPr>
              <a:t> call(self, </a:t>
            </a:r>
            <a:r>
              <a:rPr lang="en-US" sz="1400" b="0" i="0" dirty="0" err="1">
                <a:effectLst/>
                <a:latin typeface="Menlo"/>
              </a:rPr>
              <a:t>phone_number</a:t>
            </a:r>
            <a:r>
              <a:rPr lang="en-US" sz="1400" b="0" i="0" dirty="0">
                <a:effectLst/>
                <a:latin typeface="Menlo"/>
              </a:rPr>
              <a:t>): </a:t>
            </a:r>
            <a:endParaRPr lang="ru-RU" sz="1400" b="0" i="0" dirty="0">
              <a:effectLst/>
              <a:latin typeface="Menlo"/>
            </a:endParaRPr>
          </a:p>
          <a:p>
            <a:pPr algn="l"/>
            <a:r>
              <a:rPr lang="ru-RU" sz="1400" dirty="0">
                <a:solidFill>
                  <a:srgbClr val="5C6370"/>
                </a:solidFill>
                <a:latin typeface="Menlo"/>
              </a:rPr>
              <a:t>		</a:t>
            </a:r>
            <a:r>
              <a:rPr lang="en-US" sz="1400" b="0" i="1" dirty="0">
                <a:solidFill>
                  <a:schemeClr val="tx1"/>
                </a:solidFill>
                <a:effectLst/>
                <a:latin typeface="Menlo"/>
              </a:rPr>
              <a:t># </a:t>
            </a:r>
            <a:r>
              <a:rPr lang="ru-RU" sz="1400" b="0" i="1" dirty="0">
                <a:solidFill>
                  <a:schemeClr val="tx1"/>
                </a:solidFill>
                <a:effectLst/>
                <a:latin typeface="Menlo"/>
              </a:rPr>
              <a:t>Сначала в вывод подставляется значение параметра </a:t>
            </a:r>
            <a:r>
              <a:rPr lang="en-US" sz="1400" b="0" i="1" dirty="0" err="1">
                <a:solidFill>
                  <a:schemeClr val="tx1"/>
                </a:solidFill>
                <a:effectLst/>
                <a:latin typeface="Menlo"/>
              </a:rPr>
              <a:t>phone_number</a:t>
            </a:r>
            <a:r>
              <a:rPr lang="en-US" sz="1400" b="0" i="1" dirty="0">
                <a:solidFill>
                  <a:schemeClr val="tx1"/>
                </a:solidFill>
                <a:effectLst/>
                <a:latin typeface="Menlo"/>
              </a:rPr>
              <a:t>,</a:t>
            </a:r>
            <a:r>
              <a:rPr lang="en-US" sz="1400" b="0" i="0" dirty="0">
                <a:solidFill>
                  <a:schemeClr val="tx1"/>
                </a:solidFill>
                <a:effectLst/>
                <a:latin typeface="Menlo"/>
              </a:rPr>
              <a:t> </a:t>
            </a:r>
            <a:r>
              <a:rPr lang="en-US" sz="1400" b="0" i="1" dirty="0">
                <a:solidFill>
                  <a:schemeClr val="tx1"/>
                </a:solidFill>
                <a:effectLst/>
                <a:latin typeface="Menlo"/>
              </a:rPr>
              <a:t># </a:t>
            </a:r>
            <a:r>
              <a:rPr lang="ru-RU" sz="1400" b="0" i="1" dirty="0">
                <a:solidFill>
                  <a:schemeClr val="tx1"/>
                </a:solidFill>
                <a:effectLst/>
                <a:latin typeface="Menlo"/>
              </a:rPr>
              <a:t>а затем - атрибута класса </a:t>
            </a:r>
            <a:r>
              <a:rPr lang="en-US" sz="1400" b="0" i="1" dirty="0">
                <a:solidFill>
                  <a:schemeClr val="tx1"/>
                </a:solidFill>
                <a:effectLst/>
                <a:latin typeface="Menlo"/>
              </a:rPr>
              <a:t>Phone.</a:t>
            </a:r>
            <a:r>
              <a:rPr lang="en-US" sz="1400" b="0" i="0" dirty="0">
                <a:solidFill>
                  <a:schemeClr val="tx1"/>
                </a:solidFill>
                <a:effectLst/>
                <a:latin typeface="Menlo"/>
              </a:rPr>
              <a:t> </a:t>
            </a:r>
            <a:endParaRPr lang="ru-RU" sz="1400" b="0" i="0" dirty="0">
              <a:solidFill>
                <a:schemeClr val="tx1"/>
              </a:solidFill>
              <a:effectLst/>
              <a:latin typeface="Menlo"/>
            </a:endParaRPr>
          </a:p>
          <a:p>
            <a:pPr algn="l"/>
            <a:r>
              <a:rPr lang="ru-RU" sz="1400" dirty="0">
                <a:solidFill>
                  <a:srgbClr val="CA8D3D"/>
                </a:solidFill>
                <a:latin typeface="Menlo"/>
              </a:rPr>
              <a:t>		</a:t>
            </a:r>
            <a:r>
              <a:rPr lang="en-US" sz="1400" b="0" i="0" dirty="0">
                <a:solidFill>
                  <a:srgbClr val="CA8D3D"/>
                </a:solidFill>
                <a:effectLst/>
                <a:latin typeface="Menlo"/>
              </a:rPr>
              <a:t>print</a:t>
            </a:r>
            <a:r>
              <a:rPr lang="en-US" sz="1400" b="0" i="0" dirty="0">
                <a:effectLst/>
                <a:latin typeface="Menlo"/>
              </a:rPr>
              <a:t>(</a:t>
            </a:r>
            <a:r>
              <a:rPr lang="en-US" sz="1400" b="0" i="0" dirty="0">
                <a:solidFill>
                  <a:srgbClr val="32A846"/>
                </a:solidFill>
                <a:effectLst/>
                <a:latin typeface="Menlo"/>
              </a:rPr>
              <a:t>f'</a:t>
            </a:r>
            <a:r>
              <a:rPr lang="ru-RU" sz="1400" b="0" i="0" dirty="0">
                <a:solidFill>
                  <a:srgbClr val="32A846"/>
                </a:solidFill>
                <a:effectLst/>
                <a:latin typeface="Menlo"/>
              </a:rPr>
              <a:t>Звоню по номеру {</a:t>
            </a:r>
            <a:r>
              <a:rPr lang="en-US" sz="1400" b="0" i="0" dirty="0" err="1">
                <a:solidFill>
                  <a:srgbClr val="32A846"/>
                </a:solidFill>
                <a:effectLst/>
                <a:latin typeface="Menlo"/>
              </a:rPr>
              <a:t>phone_number</a:t>
            </a:r>
            <a:r>
              <a:rPr lang="en-US" sz="1400" b="0" i="0" dirty="0">
                <a:solidFill>
                  <a:srgbClr val="32A846"/>
                </a:solidFill>
                <a:effectLst/>
                <a:latin typeface="Menlo"/>
              </a:rPr>
              <a:t>}! </a:t>
            </a:r>
            <a:r>
              <a:rPr lang="ru-RU" sz="1400" b="0" i="0" dirty="0">
                <a:solidFill>
                  <a:srgbClr val="32A846"/>
                </a:solidFill>
                <a:effectLst/>
                <a:latin typeface="Menlo"/>
              </a:rPr>
              <a:t>Тип связи - {</a:t>
            </a:r>
            <a:r>
              <a:rPr lang="en-US" sz="1400" b="0" i="0" dirty="0" err="1">
                <a:solidFill>
                  <a:srgbClr val="32A846"/>
                </a:solidFill>
                <a:effectLst/>
                <a:latin typeface="Menlo"/>
              </a:rPr>
              <a:t>self.line_type</a:t>
            </a:r>
            <a:r>
              <a:rPr lang="en-US" sz="1400" b="0" i="0" dirty="0">
                <a:solidFill>
                  <a:srgbClr val="32A846"/>
                </a:solidFill>
                <a:effectLst/>
                <a:latin typeface="Menlo"/>
              </a:rPr>
              <a:t>}.’</a:t>
            </a:r>
            <a:r>
              <a:rPr lang="en-US" sz="1400" b="0" i="0" dirty="0">
                <a:effectLst/>
                <a:latin typeface="Menlo"/>
              </a:rPr>
              <a:t>) </a:t>
            </a:r>
            <a:endParaRPr lang="ru-RU" sz="1400" b="0" i="0" dirty="0">
              <a:effectLst/>
              <a:latin typeface="Menlo"/>
            </a:endParaRPr>
          </a:p>
          <a:p>
            <a:pPr algn="l"/>
            <a:endParaRPr lang="ru-RU" sz="1400" b="0" i="0" dirty="0">
              <a:effectLst/>
              <a:latin typeface="Menlo"/>
            </a:endParaRPr>
          </a:p>
          <a:p>
            <a:pPr algn="l"/>
            <a:r>
              <a:rPr lang="en-US" sz="1400" b="0" i="0" dirty="0" err="1">
                <a:effectLst/>
                <a:latin typeface="Menlo"/>
              </a:rPr>
              <a:t>rotary_phone</a:t>
            </a:r>
            <a:r>
              <a:rPr lang="en-US" sz="1400" b="0" i="0" dirty="0">
                <a:effectLst/>
                <a:latin typeface="Menlo"/>
              </a:rPr>
              <a:t> = Phone(</a:t>
            </a:r>
            <a:r>
              <a:rPr lang="en-US" sz="1400" b="0" i="0" dirty="0" err="1">
                <a:effectLst/>
                <a:latin typeface="Menlo"/>
              </a:rPr>
              <a:t>dial_type_value</a:t>
            </a:r>
            <a:r>
              <a:rPr lang="en-US" sz="1400" b="0" i="0" dirty="0">
                <a:effectLst/>
                <a:latin typeface="Menlo"/>
              </a:rPr>
              <a:t>=</a:t>
            </a:r>
            <a:r>
              <a:rPr lang="en-US" sz="1400" b="0" i="0" dirty="0">
                <a:solidFill>
                  <a:srgbClr val="32A846"/>
                </a:solidFill>
                <a:effectLst/>
                <a:latin typeface="Menlo"/>
              </a:rPr>
              <a:t>'</a:t>
            </a:r>
            <a:r>
              <a:rPr lang="ru-RU" sz="1400" b="0" i="0" dirty="0">
                <a:solidFill>
                  <a:srgbClr val="32A846"/>
                </a:solidFill>
                <a:effectLst/>
                <a:latin typeface="Menlo"/>
              </a:rPr>
              <a:t>дисковый’</a:t>
            </a:r>
            <a:r>
              <a:rPr lang="ru-RU" sz="1400" b="0" i="0" dirty="0">
                <a:effectLst/>
                <a:latin typeface="Menlo"/>
              </a:rPr>
              <a:t>) </a:t>
            </a:r>
            <a:endParaRPr lang="ru-RU" sz="1400" dirty="0">
              <a:solidFill>
                <a:srgbClr val="5C6370"/>
              </a:solidFill>
              <a:latin typeface="Menlo"/>
            </a:endParaRPr>
          </a:p>
          <a:p>
            <a:pPr algn="l"/>
            <a:r>
              <a:rPr lang="ru-RU" sz="1400" b="0" i="1" dirty="0">
                <a:solidFill>
                  <a:schemeClr val="tx1"/>
                </a:solidFill>
                <a:effectLst/>
                <a:latin typeface="Menlo"/>
              </a:rPr>
              <a:t># Вызов метода </a:t>
            </a:r>
            <a:r>
              <a:rPr lang="en-US" sz="1400" b="0" i="1" dirty="0">
                <a:solidFill>
                  <a:schemeClr val="tx1"/>
                </a:solidFill>
                <a:effectLst/>
                <a:latin typeface="Menlo"/>
              </a:rPr>
              <a:t>call(). </a:t>
            </a:r>
            <a:r>
              <a:rPr lang="ru-RU" sz="1400" b="0" i="1" dirty="0">
                <a:solidFill>
                  <a:schemeClr val="tx1"/>
                </a:solidFill>
                <a:effectLst/>
                <a:latin typeface="Menlo"/>
              </a:rPr>
              <a:t>Передаётся аргумент '555-2368'</a:t>
            </a:r>
            <a:r>
              <a:rPr lang="ru-RU" sz="1400" b="0" i="0" dirty="0">
                <a:solidFill>
                  <a:schemeClr val="tx1"/>
                </a:solidFill>
                <a:effectLst/>
                <a:latin typeface="Menlo"/>
              </a:rPr>
              <a:t> </a:t>
            </a:r>
            <a:r>
              <a:rPr lang="ru-RU" sz="1400" b="0" i="1" dirty="0">
                <a:solidFill>
                  <a:schemeClr val="tx1"/>
                </a:solidFill>
                <a:effectLst/>
                <a:latin typeface="Menlo"/>
              </a:rPr>
              <a:t>для параметра </a:t>
            </a:r>
            <a:r>
              <a:rPr lang="en-US" sz="1400" b="0" i="1" dirty="0" err="1">
                <a:solidFill>
                  <a:schemeClr val="tx1"/>
                </a:solidFill>
                <a:effectLst/>
                <a:latin typeface="Menlo"/>
              </a:rPr>
              <a:t>phone_number</a:t>
            </a:r>
            <a:r>
              <a:rPr lang="en-US" sz="1400" b="0" i="1" dirty="0">
                <a:solidFill>
                  <a:schemeClr val="tx1"/>
                </a:solidFill>
                <a:effectLst/>
                <a:latin typeface="Menlo"/>
              </a:rPr>
              <a:t>.</a:t>
            </a:r>
            <a:r>
              <a:rPr lang="en-US" sz="1400" b="0" i="0" dirty="0">
                <a:solidFill>
                  <a:schemeClr val="tx1"/>
                </a:solidFill>
                <a:effectLst/>
                <a:latin typeface="Menlo"/>
              </a:rPr>
              <a:t> </a:t>
            </a:r>
            <a:endParaRPr lang="ru-RU" sz="1400" b="0" i="0" dirty="0">
              <a:solidFill>
                <a:schemeClr val="tx1"/>
              </a:solidFill>
              <a:effectLst/>
              <a:latin typeface="Menlo"/>
            </a:endParaRPr>
          </a:p>
          <a:p>
            <a:pPr algn="l"/>
            <a:r>
              <a:rPr lang="en-US" sz="1400" b="0" i="0" dirty="0" err="1">
                <a:effectLst/>
                <a:latin typeface="Menlo"/>
              </a:rPr>
              <a:t>rotary_phone.call</a:t>
            </a:r>
            <a:r>
              <a:rPr lang="en-US" sz="1400" b="0" i="0" dirty="0">
                <a:effectLst/>
                <a:latin typeface="Menlo"/>
              </a:rPr>
              <a:t>(</a:t>
            </a:r>
            <a:r>
              <a:rPr lang="en-US" sz="1400" b="0" i="0" dirty="0">
                <a:solidFill>
                  <a:srgbClr val="32A846"/>
                </a:solidFill>
                <a:effectLst/>
                <a:latin typeface="Menlo"/>
              </a:rPr>
              <a:t>'555-2368'</a:t>
            </a:r>
            <a:r>
              <a:rPr lang="en-US" sz="1400" b="0" i="0" dirty="0">
                <a:effectLst/>
                <a:latin typeface="Menlo"/>
              </a:rPr>
              <a:t>) </a:t>
            </a:r>
            <a:r>
              <a:rPr lang="en-US" sz="1400" b="0" i="1" dirty="0">
                <a:solidFill>
                  <a:schemeClr val="tx1"/>
                </a:solidFill>
                <a:effectLst/>
                <a:latin typeface="Menlo"/>
              </a:rPr>
              <a:t># </a:t>
            </a:r>
            <a:r>
              <a:rPr lang="ru-RU" sz="1400" b="0" i="1" dirty="0">
                <a:solidFill>
                  <a:schemeClr val="tx1"/>
                </a:solidFill>
                <a:effectLst/>
                <a:latin typeface="Menlo"/>
              </a:rPr>
              <a:t>Выведется:</a:t>
            </a:r>
            <a:r>
              <a:rPr lang="ru-RU" sz="1400" b="0" i="0" dirty="0">
                <a:solidFill>
                  <a:schemeClr val="tx1"/>
                </a:solidFill>
                <a:effectLst/>
                <a:latin typeface="Menlo"/>
              </a:rPr>
              <a:t> </a:t>
            </a:r>
            <a:r>
              <a:rPr lang="ru-RU" sz="1400" b="0" i="1" dirty="0">
                <a:solidFill>
                  <a:schemeClr val="tx1"/>
                </a:solidFill>
                <a:effectLst/>
                <a:latin typeface="Menlo"/>
              </a:rPr>
              <a:t>Звоню по номеру 555-2368! Тип связи - проводной.</a:t>
            </a:r>
            <a:endParaRPr lang="ru-RU" sz="2000" dirty="0">
              <a:solidFill>
                <a:schemeClr val="tx1"/>
              </a:solidFill>
              <a:latin typeface="YS Text"/>
            </a:endParaRPr>
          </a:p>
        </p:txBody>
      </p:sp>
    </p:spTree>
    <p:extLst>
      <p:ext uri="{BB962C8B-B14F-4D97-AF65-F5344CB8AC3E}">
        <p14:creationId xmlns:p14="http://schemas.microsoft.com/office/powerpoint/2010/main" val="795498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Замена значений атрибутов через метод</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Значения атрибутов можно поменять через </a:t>
            </a:r>
            <a:r>
              <a:rPr lang="ru-RU" sz="2000" b="0" i="0" dirty="0">
                <a:solidFill>
                  <a:schemeClr val="accent5">
                    <a:lumMod val="60000"/>
                    <a:lumOff val="40000"/>
                  </a:schemeClr>
                </a:solidFill>
                <a:effectLst/>
                <a:latin typeface="YS Text"/>
              </a:rPr>
              <a:t>точечную нотацию</a:t>
            </a:r>
            <a:r>
              <a:rPr lang="ru-RU" sz="2000" b="0" i="0" dirty="0">
                <a:solidFill>
                  <a:schemeClr val="tx1"/>
                </a:solidFill>
                <a:effectLst/>
                <a:latin typeface="YS Text"/>
              </a:rPr>
              <a:t>: </a:t>
            </a:r>
            <a:endParaRPr lang="en-US" sz="2000" b="0" i="0" dirty="0">
              <a:solidFill>
                <a:schemeClr val="tx1"/>
              </a:solidFill>
              <a:effectLst/>
              <a:latin typeface="YS Text"/>
            </a:endParaRPr>
          </a:p>
          <a:p>
            <a:pPr algn="l"/>
            <a:r>
              <a:rPr lang="en-US" sz="2000" dirty="0">
                <a:solidFill>
                  <a:schemeClr val="tx1"/>
                </a:solidFill>
                <a:latin typeface="YS Text"/>
              </a:rPr>
              <a:t>	</a:t>
            </a:r>
            <a:r>
              <a:rPr lang="en-US" sz="1200" b="0" i="0" dirty="0">
                <a:effectLst/>
                <a:latin typeface="Menlo"/>
              </a:rPr>
              <a:t> </a:t>
            </a:r>
            <a:r>
              <a:rPr lang="en-US" sz="2000" b="0" i="0" dirty="0" err="1">
                <a:effectLst/>
                <a:latin typeface="Menlo"/>
              </a:rPr>
              <a:t>rotary_phone.dial_type</a:t>
            </a:r>
            <a:r>
              <a:rPr lang="en-US" sz="2000" b="0" i="0" dirty="0">
                <a:effectLst/>
                <a:latin typeface="Menlo"/>
              </a:rPr>
              <a:t> = </a:t>
            </a:r>
            <a:r>
              <a:rPr lang="en-US" sz="2000" b="0" i="0" dirty="0">
                <a:solidFill>
                  <a:srgbClr val="32A846"/>
                </a:solidFill>
                <a:effectLst/>
                <a:latin typeface="Menlo"/>
              </a:rPr>
              <a:t>'</a:t>
            </a:r>
            <a:r>
              <a:rPr lang="ru-RU" sz="2000" b="0" i="0" dirty="0">
                <a:solidFill>
                  <a:srgbClr val="32A846"/>
                </a:solidFill>
                <a:effectLst/>
                <a:latin typeface="Menlo"/>
              </a:rPr>
              <a:t>кнопочный</a:t>
            </a:r>
            <a:r>
              <a:rPr lang="en-US" sz="2000" b="0" i="0" dirty="0">
                <a:solidFill>
                  <a:srgbClr val="32A846"/>
                </a:solidFill>
                <a:effectLst/>
                <a:latin typeface="Menlo"/>
              </a:rPr>
              <a:t>'</a:t>
            </a:r>
          </a:p>
          <a:p>
            <a:pPr algn="l"/>
            <a:endParaRPr lang="en-US" sz="2000" b="0" i="0" dirty="0">
              <a:solidFill>
                <a:srgbClr val="32A846"/>
              </a:solidFill>
              <a:effectLst/>
              <a:latin typeface="Menlo"/>
            </a:endParaRPr>
          </a:p>
          <a:p>
            <a:pPr algn="l"/>
            <a:r>
              <a:rPr lang="ru-RU" sz="2000" b="0" i="0" dirty="0">
                <a:solidFill>
                  <a:schemeClr val="tx1"/>
                </a:solidFill>
                <a:effectLst/>
                <a:latin typeface="YS Text"/>
              </a:rPr>
              <a:t>Также для этой задачи можно использовать </a:t>
            </a:r>
            <a:r>
              <a:rPr lang="ru-RU" sz="2000" b="0" i="0" dirty="0">
                <a:solidFill>
                  <a:schemeClr val="accent5">
                    <a:lumMod val="60000"/>
                    <a:lumOff val="40000"/>
                  </a:schemeClr>
                </a:solidFill>
                <a:effectLst/>
                <a:latin typeface="YS Text"/>
              </a:rPr>
              <a:t>метод</a:t>
            </a:r>
            <a:r>
              <a:rPr lang="ru-RU" sz="2000" b="0" i="0" dirty="0">
                <a:solidFill>
                  <a:schemeClr val="tx1"/>
                </a:solidFill>
                <a:effectLst/>
                <a:latin typeface="YS Text"/>
              </a:rPr>
              <a:t>.</a:t>
            </a:r>
            <a:endParaRPr lang="en-US" sz="2000" dirty="0">
              <a:solidFill>
                <a:schemeClr val="tx1"/>
              </a:solidFill>
              <a:latin typeface="YS Text"/>
            </a:endParaRPr>
          </a:p>
          <a:p>
            <a:pPr algn="l"/>
            <a:r>
              <a:rPr lang="en-US" sz="2400" dirty="0">
                <a:solidFill>
                  <a:srgbClr val="00B050"/>
                </a:solidFill>
                <a:latin typeface="YS Text"/>
              </a:rPr>
              <a:t>…</a:t>
            </a:r>
            <a:endParaRPr lang="en-US" sz="2400" dirty="0">
              <a:solidFill>
                <a:srgbClr val="00B050"/>
              </a:solidFill>
              <a:latin typeface="Menlo"/>
            </a:endParaRPr>
          </a:p>
          <a:p>
            <a:pPr algn="l"/>
            <a:r>
              <a:rPr lang="en-US" sz="2000" dirty="0">
                <a:solidFill>
                  <a:srgbClr val="32A846"/>
                </a:solidFill>
                <a:latin typeface="Menlo"/>
              </a:rPr>
              <a:t>	</a:t>
            </a:r>
            <a:r>
              <a:rPr lang="en-US" sz="2000" b="0" i="0" dirty="0">
                <a:solidFill>
                  <a:srgbClr val="C678DD"/>
                </a:solidFill>
                <a:effectLst/>
                <a:latin typeface="Menlo"/>
              </a:rPr>
              <a:t> </a:t>
            </a:r>
            <a:r>
              <a:rPr lang="en-US" sz="1800" b="0" i="0" dirty="0">
                <a:solidFill>
                  <a:srgbClr val="C678DD"/>
                </a:solidFill>
                <a:effectLst/>
                <a:latin typeface="Menlo"/>
              </a:rPr>
              <a:t>def</a:t>
            </a:r>
            <a:r>
              <a:rPr lang="en-US" sz="1800" b="0" i="0" dirty="0">
                <a:effectLst/>
                <a:latin typeface="Menlo"/>
              </a:rPr>
              <a:t> </a:t>
            </a:r>
            <a:r>
              <a:rPr lang="en-US" sz="1800" b="0" i="0" dirty="0" err="1">
                <a:effectLst/>
                <a:latin typeface="Menlo"/>
              </a:rPr>
              <a:t>dial_type_upgrade</a:t>
            </a:r>
            <a:r>
              <a:rPr lang="en-US" sz="1800" b="0" i="0" dirty="0">
                <a:effectLst/>
                <a:latin typeface="Menlo"/>
              </a:rPr>
              <a:t>(self, </a:t>
            </a:r>
            <a:r>
              <a:rPr lang="en-US" sz="1800" b="0" i="0" dirty="0" err="1">
                <a:effectLst/>
                <a:latin typeface="Menlo"/>
              </a:rPr>
              <a:t>new_dial_type</a:t>
            </a:r>
            <a:r>
              <a:rPr lang="en-US" sz="1800" b="0" i="0" dirty="0">
                <a:effectLst/>
                <a:latin typeface="Menlo"/>
              </a:rPr>
              <a:t>):</a:t>
            </a:r>
          </a:p>
          <a:p>
            <a:pPr algn="l"/>
            <a:r>
              <a:rPr lang="en-US" sz="1800" dirty="0">
                <a:latin typeface="Menlo"/>
              </a:rPr>
              <a:t>		</a:t>
            </a:r>
            <a:r>
              <a:rPr lang="en-US" sz="1800" b="0" i="0" dirty="0">
                <a:solidFill>
                  <a:schemeClr val="tx1"/>
                </a:solidFill>
                <a:effectLst/>
                <a:latin typeface="Menlo"/>
              </a:rPr>
              <a:t> </a:t>
            </a:r>
            <a:r>
              <a:rPr lang="en-US" sz="1800" b="0" i="1" dirty="0">
                <a:solidFill>
                  <a:schemeClr val="tx1"/>
                </a:solidFill>
                <a:effectLst/>
                <a:latin typeface="Menlo"/>
              </a:rPr>
              <a:t># </a:t>
            </a:r>
            <a:r>
              <a:rPr lang="ru-RU" sz="1800" b="0" i="1" dirty="0">
                <a:solidFill>
                  <a:schemeClr val="tx1"/>
                </a:solidFill>
                <a:effectLst/>
                <a:latin typeface="Menlo"/>
              </a:rPr>
              <a:t>Задать для атрибута </a:t>
            </a:r>
            <a:r>
              <a:rPr lang="en-US" sz="1800" b="0" i="1" dirty="0" err="1">
                <a:solidFill>
                  <a:schemeClr val="tx1"/>
                </a:solidFill>
                <a:effectLst/>
                <a:latin typeface="Menlo"/>
              </a:rPr>
              <a:t>dial_type</a:t>
            </a:r>
            <a:r>
              <a:rPr lang="en-US" sz="1800" b="0" i="1" dirty="0">
                <a:solidFill>
                  <a:schemeClr val="tx1"/>
                </a:solidFill>
                <a:effectLst/>
                <a:latin typeface="Menlo"/>
              </a:rPr>
              <a:t> </a:t>
            </a:r>
            <a:r>
              <a:rPr lang="ru-RU" sz="1800" b="0" i="1" dirty="0">
                <a:solidFill>
                  <a:schemeClr val="tx1"/>
                </a:solidFill>
                <a:effectLst/>
                <a:latin typeface="Menlo"/>
              </a:rPr>
              <a:t>новое значение - </a:t>
            </a:r>
            <a:r>
              <a:rPr lang="en-US" sz="1800" b="0" i="1" dirty="0" err="1">
                <a:solidFill>
                  <a:schemeClr val="tx1"/>
                </a:solidFill>
                <a:effectLst/>
                <a:latin typeface="Menlo"/>
              </a:rPr>
              <a:t>new_dial_type</a:t>
            </a:r>
            <a:r>
              <a:rPr lang="en-US" sz="1800" b="0" i="1" dirty="0">
                <a:solidFill>
                  <a:schemeClr val="tx1"/>
                </a:solidFill>
                <a:effectLst/>
                <a:latin typeface="Menlo"/>
              </a:rPr>
              <a:t>.</a:t>
            </a:r>
            <a:r>
              <a:rPr lang="en-US" sz="1800" b="0" i="0" dirty="0">
                <a:solidFill>
                  <a:schemeClr val="tx1"/>
                </a:solidFill>
                <a:effectLst/>
                <a:latin typeface="Menlo"/>
              </a:rPr>
              <a:t> </a:t>
            </a:r>
          </a:p>
          <a:p>
            <a:pPr algn="l"/>
            <a:r>
              <a:rPr lang="en-US" sz="1800" dirty="0">
                <a:latin typeface="Menlo"/>
              </a:rPr>
              <a:t>		</a:t>
            </a:r>
            <a:r>
              <a:rPr lang="en-US" sz="1800" b="0" i="0" dirty="0" err="1">
                <a:effectLst/>
                <a:latin typeface="Menlo"/>
              </a:rPr>
              <a:t>self.dial_type</a:t>
            </a:r>
            <a:r>
              <a:rPr lang="en-US" sz="1800" b="0" i="0" dirty="0">
                <a:effectLst/>
                <a:latin typeface="Menlo"/>
              </a:rPr>
              <a:t> = </a:t>
            </a:r>
            <a:r>
              <a:rPr lang="en-US" sz="1800" b="0" i="0" dirty="0" err="1">
                <a:effectLst/>
                <a:latin typeface="Menlo"/>
              </a:rPr>
              <a:t>new_dial_type</a:t>
            </a:r>
            <a:endParaRPr lang="en-US" sz="2000" dirty="0">
              <a:solidFill>
                <a:srgbClr val="92D050"/>
              </a:solidFill>
              <a:latin typeface="Menlo"/>
            </a:endParaRPr>
          </a:p>
          <a:p>
            <a:pPr algn="l"/>
            <a:r>
              <a:rPr lang="ru-RU" sz="1800" b="0" i="1" dirty="0">
                <a:solidFill>
                  <a:schemeClr val="tx1"/>
                </a:solidFill>
                <a:effectLst/>
                <a:latin typeface="Menlo"/>
              </a:rPr>
              <a:t># Вызов метода </a:t>
            </a:r>
            <a:r>
              <a:rPr lang="en-US" sz="1800" b="0" i="1" dirty="0" err="1">
                <a:solidFill>
                  <a:schemeClr val="tx1"/>
                </a:solidFill>
                <a:effectLst/>
                <a:latin typeface="Menlo"/>
              </a:rPr>
              <a:t>dial_type_upgrade</a:t>
            </a:r>
            <a:r>
              <a:rPr lang="en-US" sz="1800" b="0" i="1" dirty="0">
                <a:solidFill>
                  <a:schemeClr val="tx1"/>
                </a:solidFill>
                <a:effectLst/>
                <a:latin typeface="Menlo"/>
              </a:rPr>
              <a:t>, </a:t>
            </a:r>
            <a:r>
              <a:rPr lang="ru-RU" sz="1800" b="0" i="1" dirty="0">
                <a:solidFill>
                  <a:schemeClr val="tx1"/>
                </a:solidFill>
                <a:effectLst/>
                <a:latin typeface="Menlo"/>
              </a:rPr>
              <a:t>который призван поменять начальное значение атрибута на </a:t>
            </a:r>
            <a:r>
              <a:rPr lang="en-US" sz="1800" b="0" i="1" dirty="0" err="1">
                <a:solidFill>
                  <a:schemeClr val="tx1"/>
                </a:solidFill>
                <a:effectLst/>
                <a:latin typeface="Menlo"/>
              </a:rPr>
              <a:t>new_dial_type</a:t>
            </a:r>
            <a:r>
              <a:rPr lang="en-US" sz="1800" b="0" i="1" dirty="0">
                <a:solidFill>
                  <a:schemeClr val="tx1"/>
                </a:solidFill>
                <a:effectLst/>
                <a:latin typeface="Menlo"/>
              </a:rPr>
              <a:t>.</a:t>
            </a:r>
            <a:r>
              <a:rPr lang="en-US" sz="1800" b="0" i="0" dirty="0">
                <a:solidFill>
                  <a:schemeClr val="tx1"/>
                </a:solidFill>
                <a:effectLst/>
                <a:latin typeface="Menlo"/>
              </a:rPr>
              <a:t> </a:t>
            </a:r>
          </a:p>
          <a:p>
            <a:pPr algn="l"/>
            <a:r>
              <a:rPr lang="en-US" sz="1800" b="0" i="0" dirty="0" err="1">
                <a:effectLst/>
                <a:latin typeface="Menlo"/>
              </a:rPr>
              <a:t>rotary_phone.dial_type_upgrade</a:t>
            </a:r>
            <a:r>
              <a:rPr lang="en-US" sz="1800" b="0" i="0" dirty="0">
                <a:effectLst/>
                <a:latin typeface="Menlo"/>
              </a:rPr>
              <a:t>(</a:t>
            </a:r>
            <a:r>
              <a:rPr lang="en-US" sz="1800" b="0" i="0" dirty="0">
                <a:solidFill>
                  <a:srgbClr val="32A846"/>
                </a:solidFill>
                <a:effectLst/>
                <a:latin typeface="Menlo"/>
              </a:rPr>
              <a:t>'</a:t>
            </a:r>
            <a:r>
              <a:rPr lang="ru-RU" sz="1800" b="0" i="0" dirty="0">
                <a:solidFill>
                  <a:srgbClr val="32A846"/>
                </a:solidFill>
                <a:effectLst/>
                <a:latin typeface="Menlo"/>
              </a:rPr>
              <a:t>кнопочный</a:t>
            </a:r>
            <a:r>
              <a:rPr lang="en-US" sz="1800" b="0" i="0" dirty="0">
                <a:solidFill>
                  <a:srgbClr val="32A846"/>
                </a:solidFill>
                <a:effectLst/>
                <a:latin typeface="Menlo"/>
              </a:rPr>
              <a:t>'</a:t>
            </a:r>
            <a:r>
              <a:rPr lang="ru-RU" sz="1800" b="0" i="0" dirty="0">
                <a:effectLst/>
                <a:latin typeface="Menlo"/>
              </a:rPr>
              <a:t>)</a:t>
            </a:r>
            <a:endParaRPr lang="en-US" sz="1800" b="0" i="0" dirty="0">
              <a:effectLst/>
              <a:latin typeface="Menlo"/>
            </a:endParaRPr>
          </a:p>
          <a:p>
            <a:pPr algn="l"/>
            <a:endParaRPr lang="en-US" sz="1800" b="0" i="0" dirty="0">
              <a:effectLst/>
              <a:latin typeface="Menlo"/>
            </a:endParaRPr>
          </a:p>
          <a:p>
            <a:pPr algn="l"/>
            <a:r>
              <a:rPr lang="ru-RU" sz="2000" dirty="0">
                <a:solidFill>
                  <a:schemeClr val="tx1"/>
                </a:solidFill>
                <a:latin typeface="YS Text"/>
              </a:rPr>
              <a:t>Итого каждый раз при необходимости обновить тип ввода на телефоне можно вызывать метод </a:t>
            </a:r>
            <a:r>
              <a:rPr lang="ru-RU" sz="2000" dirty="0" err="1">
                <a:solidFill>
                  <a:schemeClr val="accent5">
                    <a:lumMod val="60000"/>
                    <a:lumOff val="40000"/>
                  </a:schemeClr>
                </a:solidFill>
                <a:latin typeface="YS Text"/>
              </a:rPr>
              <a:t>dial_type_upgrade</a:t>
            </a:r>
            <a:r>
              <a:rPr lang="ru-RU" sz="2000" dirty="0">
                <a:solidFill>
                  <a:schemeClr val="accent5">
                    <a:lumMod val="60000"/>
                    <a:lumOff val="40000"/>
                  </a:schemeClr>
                </a:solidFill>
                <a:latin typeface="YS Text"/>
              </a:rPr>
              <a:t> </a:t>
            </a:r>
            <a:r>
              <a:rPr lang="ru-RU" sz="2000" dirty="0">
                <a:solidFill>
                  <a:schemeClr val="tx1"/>
                </a:solidFill>
                <a:latin typeface="YS Text"/>
              </a:rPr>
              <a:t>и передавать ему новое значение. Метод будет менять характеристику именно того объекта, на котором он вызван, благодаря обращению к соответствующей характеристике через указатель </a:t>
            </a:r>
            <a:r>
              <a:rPr lang="ru-RU" sz="2000" dirty="0" err="1">
                <a:solidFill>
                  <a:schemeClr val="accent5">
                    <a:lumMod val="60000"/>
                    <a:lumOff val="40000"/>
                  </a:schemeClr>
                </a:solidFill>
                <a:latin typeface="YS Text"/>
              </a:rPr>
              <a:t>self</a:t>
            </a:r>
            <a:r>
              <a:rPr lang="ru-RU" sz="2000" dirty="0">
                <a:solidFill>
                  <a:schemeClr val="tx1"/>
                </a:solidFill>
                <a:latin typeface="YS Text"/>
              </a:rPr>
              <a:t>.</a:t>
            </a:r>
          </a:p>
        </p:txBody>
      </p:sp>
    </p:spTree>
    <p:extLst>
      <p:ext uri="{BB962C8B-B14F-4D97-AF65-F5344CB8AC3E}">
        <p14:creationId xmlns:p14="http://schemas.microsoft.com/office/powerpoint/2010/main" val="835808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Магический метод </a:t>
            </a:r>
            <a:r>
              <a:rPr lang="ru-RU" sz="6000" b="1" dirty="0">
                <a:solidFill>
                  <a:schemeClr val="accent5">
                    <a:lumMod val="60000"/>
                    <a:lumOff val="40000"/>
                  </a:schemeClr>
                </a:solidFill>
                <a:latin typeface="YS Text"/>
              </a:rPr>
              <a:t>__</a:t>
            </a:r>
            <a:r>
              <a:rPr lang="en-US" sz="6000" b="1" dirty="0">
                <a:solidFill>
                  <a:schemeClr val="accent5">
                    <a:lumMod val="60000"/>
                    <a:lumOff val="40000"/>
                  </a:schemeClr>
                </a:solidFill>
                <a:latin typeface="YS Text"/>
              </a:rPr>
              <a:t>str__</a:t>
            </a:r>
            <a:endParaRPr lang="ru-RU" sz="6000" b="1" dirty="0">
              <a:solidFill>
                <a:schemeClr val="accent5">
                  <a:lumMod val="60000"/>
                  <a:lumOff val="40000"/>
                </a:schemeClr>
              </a:solidFill>
              <a:latin typeface="YS Text"/>
            </a:endParaRP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С самого начала вы работали с разными объектами — создавали их, меняли и выводили на печать, например, вот так:</a:t>
            </a:r>
            <a:endParaRPr lang="en-US" sz="2000" b="0" i="0" dirty="0">
              <a:solidFill>
                <a:schemeClr val="tx1"/>
              </a:solidFill>
              <a:effectLst/>
              <a:latin typeface="YS Text"/>
            </a:endParaRPr>
          </a:p>
          <a:p>
            <a:pPr algn="l"/>
            <a:r>
              <a:rPr lang="en-US" sz="2000" dirty="0">
                <a:solidFill>
                  <a:schemeClr val="tx1"/>
                </a:solidFill>
                <a:latin typeface="YS Text"/>
              </a:rPr>
              <a:t>	</a:t>
            </a:r>
            <a:r>
              <a:rPr lang="ru-RU" sz="2000" dirty="0" err="1">
                <a:solidFill>
                  <a:srgbClr val="00B050"/>
                </a:solidFill>
                <a:latin typeface="YS Text"/>
              </a:rPr>
              <a:t>message</a:t>
            </a:r>
            <a:r>
              <a:rPr lang="ru-RU" sz="2000" dirty="0">
                <a:solidFill>
                  <a:srgbClr val="00B050"/>
                </a:solidFill>
                <a:latin typeface="YS Text"/>
              </a:rPr>
              <a:t> = 'Привет! Я - строка’</a:t>
            </a:r>
          </a:p>
          <a:p>
            <a:pPr algn="l"/>
            <a:r>
              <a:rPr lang="en-US" sz="2000" dirty="0">
                <a:solidFill>
                  <a:srgbClr val="00B050"/>
                </a:solidFill>
                <a:latin typeface="YS Text"/>
              </a:rPr>
              <a:t>	</a:t>
            </a:r>
            <a:r>
              <a:rPr lang="ru-RU" sz="2000" dirty="0" err="1">
                <a:solidFill>
                  <a:srgbClr val="00B050"/>
                </a:solidFill>
                <a:latin typeface="YS Text"/>
              </a:rPr>
              <a:t>print</a:t>
            </a:r>
            <a:r>
              <a:rPr lang="ru-RU" sz="2000" dirty="0">
                <a:solidFill>
                  <a:srgbClr val="00B050"/>
                </a:solidFill>
                <a:latin typeface="YS Text"/>
              </a:rPr>
              <a:t>(</a:t>
            </a:r>
            <a:r>
              <a:rPr lang="ru-RU" sz="2000" dirty="0" err="1">
                <a:solidFill>
                  <a:srgbClr val="00B050"/>
                </a:solidFill>
                <a:latin typeface="YS Text"/>
              </a:rPr>
              <a:t>message</a:t>
            </a:r>
            <a:r>
              <a:rPr lang="ru-RU" sz="2000" dirty="0">
                <a:solidFill>
                  <a:srgbClr val="00B050"/>
                </a:solidFill>
                <a:latin typeface="YS Text"/>
              </a:rPr>
              <a:t>)</a:t>
            </a:r>
            <a:endParaRPr lang="en-US" sz="2000" dirty="0">
              <a:solidFill>
                <a:srgbClr val="00B050"/>
              </a:solidFill>
              <a:latin typeface="YS Text"/>
            </a:endParaRPr>
          </a:p>
          <a:p>
            <a:pPr algn="l"/>
            <a:r>
              <a:rPr lang="ru-RU" sz="2000" dirty="0">
                <a:solidFill>
                  <a:schemeClr val="tx1"/>
                </a:solidFill>
                <a:latin typeface="YS Text"/>
              </a:rPr>
              <a:t>Если попробовать вывести на печать объект класса, то получится не так красиво, как со строкой: Python выведет на экран имя класса и адрес в памяти, где сохранён объект. Так работает </a:t>
            </a:r>
            <a:r>
              <a:rPr lang="ru-RU" sz="2000" dirty="0">
                <a:solidFill>
                  <a:schemeClr val="accent5">
                    <a:lumMod val="60000"/>
                    <a:lumOff val="40000"/>
                  </a:schemeClr>
                </a:solidFill>
                <a:latin typeface="YS Text"/>
              </a:rPr>
              <a:t>метод __</a:t>
            </a:r>
            <a:r>
              <a:rPr lang="ru-RU" sz="2000" dirty="0" err="1">
                <a:solidFill>
                  <a:schemeClr val="accent5">
                    <a:lumMod val="60000"/>
                    <a:lumOff val="40000"/>
                  </a:schemeClr>
                </a:solidFill>
                <a:latin typeface="YS Text"/>
              </a:rPr>
              <a:t>str</a:t>
            </a:r>
            <a:r>
              <a:rPr lang="ru-RU" sz="2000" dirty="0">
                <a:solidFill>
                  <a:schemeClr val="accent5">
                    <a:lumMod val="60000"/>
                    <a:lumOff val="40000"/>
                  </a:schemeClr>
                </a:solidFill>
                <a:latin typeface="YS Text"/>
              </a:rPr>
              <a:t>__</a:t>
            </a:r>
            <a:r>
              <a:rPr lang="ru-RU" sz="2000" dirty="0">
                <a:solidFill>
                  <a:schemeClr val="tx1"/>
                </a:solidFill>
                <a:latin typeface="YS Text"/>
              </a:rPr>
              <a:t>, который по умолчанию есть у всех объектов — встроенных и пользовательских. Этот метод позволяет объектам «рассказывать» о себе в виде строк. </a:t>
            </a:r>
          </a:p>
          <a:p>
            <a:pPr algn="l"/>
            <a:r>
              <a:rPr lang="ru-RU" sz="2000" dirty="0">
                <a:solidFill>
                  <a:schemeClr val="tx1"/>
                </a:solidFill>
                <a:latin typeface="YS Text"/>
              </a:rPr>
              <a:t>Вывод по умолчанию получается не самым понятным. Для своих классов вы можете переопределить этот метод, то есть указать, что конкретно объект должен «рассказать» о себе.</a:t>
            </a:r>
          </a:p>
          <a:p>
            <a:pPr algn="l"/>
            <a:r>
              <a:rPr lang="ru-RU" sz="2000" dirty="0">
                <a:solidFill>
                  <a:schemeClr val="tx1"/>
                </a:solidFill>
                <a:latin typeface="YS Text"/>
              </a:rPr>
              <a:t>Можно задать любую строку, например «Не печатай меня, ведь я — объект!». Но лучше пусть при печати выводится что-то осмысленное, например основные параметры объекта.</a:t>
            </a:r>
            <a:endParaRPr lang="en-US" sz="2000" dirty="0">
              <a:solidFill>
                <a:schemeClr val="tx1"/>
              </a:solidFill>
              <a:latin typeface="YS Text"/>
            </a:endParaRPr>
          </a:p>
          <a:p>
            <a:pPr algn="l"/>
            <a:r>
              <a:rPr lang="en-US" sz="2000" dirty="0">
                <a:solidFill>
                  <a:schemeClr val="tx1"/>
                </a:solidFill>
                <a:latin typeface="YS Text"/>
              </a:rPr>
              <a:t>	</a:t>
            </a:r>
            <a:r>
              <a:rPr lang="en-US" sz="2000" dirty="0">
                <a:solidFill>
                  <a:srgbClr val="00B050"/>
                </a:solidFill>
                <a:latin typeface="YS Text"/>
              </a:rPr>
              <a:t>def __str__(self):</a:t>
            </a:r>
          </a:p>
          <a:p>
            <a:pPr algn="l"/>
            <a:r>
              <a:rPr lang="en-US" sz="2000" dirty="0">
                <a:solidFill>
                  <a:srgbClr val="00B050"/>
                </a:solidFill>
                <a:latin typeface="YS Text"/>
              </a:rPr>
              <a:t>        		return f'</a:t>
            </a:r>
            <a:r>
              <a:rPr lang="ru-RU" sz="2000" dirty="0">
                <a:solidFill>
                  <a:srgbClr val="00B050"/>
                </a:solidFill>
                <a:latin typeface="YS Text"/>
              </a:rPr>
              <a:t>Это {</a:t>
            </a:r>
            <a:r>
              <a:rPr lang="en-US" sz="2000" dirty="0" err="1">
                <a:solidFill>
                  <a:srgbClr val="00B050"/>
                </a:solidFill>
                <a:latin typeface="YS Text"/>
              </a:rPr>
              <a:t>self.line_type</a:t>
            </a:r>
            <a:r>
              <a:rPr lang="en-US" sz="2000" dirty="0">
                <a:solidFill>
                  <a:srgbClr val="00B050"/>
                </a:solidFill>
                <a:latin typeface="YS Text"/>
              </a:rPr>
              <a:t>} </a:t>
            </a:r>
            <a:r>
              <a:rPr lang="ru-RU" sz="2000" dirty="0">
                <a:solidFill>
                  <a:srgbClr val="00B050"/>
                </a:solidFill>
                <a:latin typeface="YS Text"/>
              </a:rPr>
              <a:t>телефон. Набор - {</a:t>
            </a:r>
            <a:r>
              <a:rPr lang="en-US" sz="2000" dirty="0" err="1">
                <a:solidFill>
                  <a:srgbClr val="00B050"/>
                </a:solidFill>
                <a:latin typeface="YS Text"/>
              </a:rPr>
              <a:t>self.dial_type</a:t>
            </a:r>
            <a:r>
              <a:rPr lang="en-US" sz="2000" dirty="0">
                <a:solidFill>
                  <a:srgbClr val="00B050"/>
                </a:solidFill>
                <a:latin typeface="YS Text"/>
              </a:rPr>
              <a:t>}.'</a:t>
            </a:r>
            <a:endParaRPr lang="ru-RU" sz="2000" dirty="0">
              <a:solidFill>
                <a:srgbClr val="00B050"/>
              </a:solidFill>
              <a:latin typeface="YS Text"/>
            </a:endParaRPr>
          </a:p>
        </p:txBody>
      </p:sp>
    </p:spTree>
    <p:extLst>
      <p:ext uri="{BB962C8B-B14F-4D97-AF65-F5344CB8AC3E}">
        <p14:creationId xmlns:p14="http://schemas.microsoft.com/office/powerpoint/2010/main" val="3711777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6B59CE-8986-8BBB-2BBB-341AE47575A4}"/>
              </a:ext>
            </a:extLst>
          </p:cNvPr>
          <p:cNvSpPr>
            <a:spLocks noGrp="1"/>
          </p:cNvSpPr>
          <p:nvPr>
            <p:ph type="title"/>
          </p:nvPr>
        </p:nvSpPr>
        <p:spPr>
          <a:xfrm>
            <a:off x="1095704" y="3029498"/>
            <a:ext cx="10515600" cy="1325563"/>
          </a:xfrm>
        </p:spPr>
        <p:txBody>
          <a:bodyPr>
            <a:normAutofit/>
          </a:bodyPr>
          <a:lstStyle/>
          <a:p>
            <a:pPr algn="ctr"/>
            <a:r>
              <a:rPr lang="ru-RU" sz="6000" b="1" dirty="0">
                <a:solidFill>
                  <a:schemeClr val="tx2">
                    <a:lumMod val="20000"/>
                    <a:lumOff val="80000"/>
                  </a:schemeClr>
                </a:solidFill>
              </a:rPr>
              <a:t>Знакомство с ООП</a:t>
            </a:r>
          </a:p>
        </p:txBody>
      </p:sp>
    </p:spTree>
    <p:extLst>
      <p:ext uri="{BB962C8B-B14F-4D97-AF65-F5344CB8AC3E}">
        <p14:creationId xmlns:p14="http://schemas.microsoft.com/office/powerpoint/2010/main" val="1270022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Наследование</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В предыдущих уроках вы написали класс Phone и на основе него создавали разные </a:t>
            </a:r>
            <a:r>
              <a:rPr lang="ru-RU" sz="2000" b="1" i="0" dirty="0">
                <a:solidFill>
                  <a:schemeClr val="accent5">
                    <a:lumMod val="60000"/>
                    <a:lumOff val="40000"/>
                  </a:schemeClr>
                </a:solidFill>
                <a:effectLst/>
                <a:latin typeface="YS Text"/>
              </a:rPr>
              <a:t>экземпляры</a:t>
            </a:r>
            <a:r>
              <a:rPr lang="ru-RU" sz="2000" b="0" i="0" dirty="0">
                <a:solidFill>
                  <a:schemeClr val="tx1"/>
                </a:solidFill>
                <a:effectLst/>
                <a:latin typeface="YS Text"/>
              </a:rPr>
              <a:t> — это были </a:t>
            </a:r>
            <a:r>
              <a:rPr lang="ru-RU" sz="2000" b="1" i="0" dirty="0">
                <a:solidFill>
                  <a:srgbClr val="FFFF00"/>
                </a:solidFill>
                <a:effectLst/>
                <a:latin typeface="YS Text"/>
              </a:rPr>
              <a:t>проводные</a:t>
            </a:r>
            <a:r>
              <a:rPr lang="ru-RU" sz="2000" b="0" i="0" dirty="0">
                <a:solidFill>
                  <a:schemeClr val="tx1"/>
                </a:solidFill>
                <a:effectLst/>
                <a:latin typeface="YS Text"/>
              </a:rPr>
              <a:t> телефоны</a:t>
            </a:r>
            <a:r>
              <a:rPr lang="ru-RU" sz="2000" dirty="0">
                <a:solidFill>
                  <a:schemeClr val="tx1"/>
                </a:solidFill>
                <a:latin typeface="YS Text"/>
              </a:rPr>
              <a:t>. Но телефоны бывают не только проводными, но и, например, </a:t>
            </a:r>
            <a:r>
              <a:rPr lang="ru-RU" sz="2000" b="1" dirty="0">
                <a:solidFill>
                  <a:srgbClr val="FFFF00"/>
                </a:solidFill>
                <a:latin typeface="YS Text"/>
              </a:rPr>
              <a:t>мобильными</a:t>
            </a:r>
            <a:r>
              <a:rPr lang="ru-RU" sz="2000" dirty="0">
                <a:solidFill>
                  <a:schemeClr val="tx1"/>
                </a:solidFill>
                <a:latin typeface="YS Text"/>
              </a:rPr>
              <a:t>. И проводные телефоны, и мобильные могут принимать и совершать звонки, у каждого есть трубка и динамик, но набор характеристик и функций у мобильного телефона заметно шире, чем у проводного. Там есть календарь, будильник и интернет, или, как сказали бы программисты, новые атрибуты и методы.</a:t>
            </a:r>
          </a:p>
          <a:p>
            <a:pPr algn="l"/>
            <a:r>
              <a:rPr lang="ru-RU" sz="2800" b="1" dirty="0">
                <a:solidFill>
                  <a:schemeClr val="accent5">
                    <a:lumMod val="60000"/>
                    <a:lumOff val="40000"/>
                  </a:schemeClr>
                </a:solidFill>
                <a:latin typeface="YS Text"/>
              </a:rPr>
              <a:t>Реальность </a:t>
            </a:r>
            <a:r>
              <a:rPr lang="en-US" sz="2800" b="1" dirty="0">
                <a:solidFill>
                  <a:schemeClr val="accent5">
                    <a:lumMod val="60000"/>
                    <a:lumOff val="40000"/>
                  </a:schemeClr>
                </a:solidFill>
                <a:latin typeface="YS Text"/>
              </a:rPr>
              <a:t>vs </a:t>
            </a:r>
            <a:r>
              <a:rPr lang="ru-RU" sz="2800" b="1" dirty="0">
                <a:solidFill>
                  <a:schemeClr val="accent5">
                    <a:lumMod val="60000"/>
                    <a:lumOff val="40000"/>
                  </a:schemeClr>
                </a:solidFill>
                <a:latin typeface="YS Text"/>
              </a:rPr>
              <a:t>программирование</a:t>
            </a:r>
          </a:p>
          <a:p>
            <a:pPr algn="l"/>
            <a:r>
              <a:rPr lang="ru-RU" sz="2000" dirty="0">
                <a:solidFill>
                  <a:schemeClr val="tx1"/>
                </a:solidFill>
                <a:latin typeface="YS Text"/>
              </a:rPr>
              <a:t>В реальном мире концепция проводного телефона стала основой для мобильного. Мобильный телефон унаследовал все возможности проводного устройства и вдобавок получил индивидуальные характеристики и функции.  </a:t>
            </a:r>
          </a:p>
          <a:p>
            <a:pPr algn="l"/>
            <a:r>
              <a:rPr lang="ru-RU" sz="2000" dirty="0">
                <a:solidFill>
                  <a:schemeClr val="tx1"/>
                </a:solidFill>
                <a:latin typeface="YS Text"/>
              </a:rPr>
              <a:t>Если перенести всю эту историю в мир программирования, то проводной телефон будет </a:t>
            </a:r>
            <a:r>
              <a:rPr lang="ru-RU" sz="2000" b="1" dirty="0">
                <a:solidFill>
                  <a:schemeClr val="accent5">
                    <a:lumMod val="60000"/>
                    <a:lumOff val="40000"/>
                  </a:schemeClr>
                </a:solidFill>
                <a:latin typeface="YS Text"/>
              </a:rPr>
              <a:t>родительским классом </a:t>
            </a:r>
            <a:r>
              <a:rPr lang="ru-RU" sz="2000" dirty="0">
                <a:solidFill>
                  <a:schemeClr val="tx1"/>
                </a:solidFill>
                <a:latin typeface="YS Text"/>
              </a:rPr>
              <a:t>(</a:t>
            </a:r>
            <a:r>
              <a:rPr lang="ru-RU" sz="2000" dirty="0">
                <a:solidFill>
                  <a:srgbClr val="FFFFFF"/>
                </a:solidFill>
                <a:latin typeface="YS Text"/>
              </a:rPr>
              <a:t>д</a:t>
            </a:r>
            <a:r>
              <a:rPr lang="ru-RU" sz="2000" b="0" i="0" dirty="0">
                <a:solidFill>
                  <a:srgbClr val="FFFFFF"/>
                </a:solidFill>
                <a:effectLst/>
                <a:latin typeface="YS Text"/>
              </a:rPr>
              <a:t>ругие названия родительского класса — «</a:t>
            </a:r>
            <a:r>
              <a:rPr lang="ru-RU" sz="2000" b="1" i="0" dirty="0">
                <a:solidFill>
                  <a:schemeClr val="accent5">
                    <a:lumMod val="60000"/>
                    <a:lumOff val="40000"/>
                  </a:schemeClr>
                </a:solidFill>
                <a:effectLst/>
                <a:latin typeface="YS Text"/>
              </a:rPr>
              <a:t>базовый</a:t>
            </a:r>
            <a:r>
              <a:rPr lang="ru-RU" sz="2000" b="0" i="0" dirty="0">
                <a:solidFill>
                  <a:srgbClr val="FFFFFF"/>
                </a:solidFill>
                <a:effectLst/>
                <a:latin typeface="YS Text"/>
              </a:rPr>
              <a:t>» или «</a:t>
            </a:r>
            <a:r>
              <a:rPr lang="ru-RU" sz="2000" b="1" i="0" dirty="0">
                <a:solidFill>
                  <a:schemeClr val="accent5">
                    <a:lumMod val="60000"/>
                    <a:lumOff val="40000"/>
                  </a:schemeClr>
                </a:solidFill>
                <a:effectLst/>
                <a:latin typeface="YS Text"/>
              </a:rPr>
              <a:t>суперкласс</a:t>
            </a:r>
            <a:r>
              <a:rPr lang="ru-RU" sz="2000" b="0" i="0" dirty="0">
                <a:solidFill>
                  <a:srgbClr val="FFFFFF"/>
                </a:solidFill>
                <a:effectLst/>
                <a:latin typeface="YS Text"/>
              </a:rPr>
              <a:t>»)</a:t>
            </a:r>
            <a:r>
              <a:rPr lang="ru-RU" sz="2000" dirty="0">
                <a:solidFill>
                  <a:schemeClr val="tx1"/>
                </a:solidFill>
                <a:latin typeface="YS Text"/>
              </a:rPr>
              <a:t>, а мобильный — </a:t>
            </a:r>
            <a:r>
              <a:rPr lang="ru-RU" sz="2000" b="1" dirty="0">
                <a:solidFill>
                  <a:schemeClr val="accent5">
                    <a:lumMod val="60000"/>
                    <a:lumOff val="40000"/>
                  </a:schemeClr>
                </a:solidFill>
                <a:latin typeface="YS Text"/>
              </a:rPr>
              <a:t>дочерним классом </a:t>
            </a:r>
            <a:r>
              <a:rPr lang="ru-RU" sz="2000" dirty="0">
                <a:solidFill>
                  <a:schemeClr val="tx1"/>
                </a:solidFill>
                <a:latin typeface="YS Text"/>
              </a:rPr>
              <a:t>(</a:t>
            </a:r>
            <a:r>
              <a:rPr lang="ru-RU" sz="2000" b="0" i="0" dirty="0">
                <a:solidFill>
                  <a:srgbClr val="FFFFFF"/>
                </a:solidFill>
                <a:effectLst/>
                <a:latin typeface="YS Text"/>
              </a:rPr>
              <a:t>Другие названия дочернего класса — «</a:t>
            </a:r>
            <a:r>
              <a:rPr lang="ru-RU" sz="2000" b="1" i="0" dirty="0">
                <a:solidFill>
                  <a:schemeClr val="accent5">
                    <a:lumMod val="60000"/>
                    <a:lumOff val="40000"/>
                  </a:schemeClr>
                </a:solidFill>
                <a:effectLst/>
                <a:latin typeface="YS Text"/>
              </a:rPr>
              <a:t>производный</a:t>
            </a:r>
            <a:r>
              <a:rPr lang="ru-RU" sz="2000" b="0" i="0" dirty="0">
                <a:solidFill>
                  <a:srgbClr val="FFFFFF"/>
                </a:solidFill>
                <a:effectLst/>
                <a:latin typeface="YS Text"/>
              </a:rPr>
              <a:t>» или «</a:t>
            </a:r>
            <a:r>
              <a:rPr lang="ru-RU" sz="2000" b="1" i="0" dirty="0">
                <a:solidFill>
                  <a:schemeClr val="accent5">
                    <a:lumMod val="60000"/>
                    <a:lumOff val="40000"/>
                  </a:schemeClr>
                </a:solidFill>
                <a:effectLst/>
                <a:latin typeface="YS Text"/>
              </a:rPr>
              <a:t>подкласс</a:t>
            </a:r>
            <a:r>
              <a:rPr lang="ru-RU" sz="2000" b="0" i="0" dirty="0">
                <a:solidFill>
                  <a:srgbClr val="FFFFFF"/>
                </a:solidFill>
                <a:effectLst/>
                <a:latin typeface="YS Text"/>
              </a:rPr>
              <a:t>»)</a:t>
            </a:r>
            <a:r>
              <a:rPr lang="ru-RU" sz="2000" dirty="0">
                <a:solidFill>
                  <a:schemeClr val="tx1"/>
                </a:solidFill>
                <a:latin typeface="YS Text"/>
              </a:rPr>
              <a:t>. Дочерние классы наследуют от родительского все атрибуты и методы, а также могут получать индивидуальные характеристики и возможности.</a:t>
            </a:r>
          </a:p>
        </p:txBody>
      </p:sp>
    </p:spTree>
    <p:extLst>
      <p:ext uri="{BB962C8B-B14F-4D97-AF65-F5344CB8AC3E}">
        <p14:creationId xmlns:p14="http://schemas.microsoft.com/office/powerpoint/2010/main" val="3529904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Родительский класс</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lnSpcReduction="10000"/>
          </a:bodyPr>
          <a:lstStyle/>
          <a:p>
            <a:pPr algn="l"/>
            <a:r>
              <a:rPr lang="ru-RU" sz="2000" b="0" i="0" dirty="0">
                <a:solidFill>
                  <a:schemeClr val="tx1"/>
                </a:solidFill>
                <a:effectLst/>
                <a:latin typeface="YS Text"/>
              </a:rPr>
              <a:t>Родительский класс телефона у вас уже есть — Phone. Это обычный класс с инициализатором, атрибутами и методами, с помощью которого можно создавать объекты.</a:t>
            </a: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r>
              <a:rPr lang="ru-RU" sz="2000" dirty="0">
                <a:solidFill>
                  <a:schemeClr val="tx1"/>
                </a:solidFill>
                <a:latin typeface="YS Text"/>
              </a:rPr>
              <a:t>Чтобы создать дочерний класс, нужно унаследовать его от родительского класса. </a:t>
            </a:r>
          </a:p>
          <a:p>
            <a:pPr algn="l"/>
            <a:r>
              <a:rPr lang="ru-RU" sz="2000" dirty="0">
                <a:solidFill>
                  <a:schemeClr val="tx1"/>
                </a:solidFill>
                <a:latin typeface="YS Text"/>
              </a:rPr>
              <a:t>Для этого используется синтаксис наследования:</a:t>
            </a:r>
          </a:p>
          <a:p>
            <a:pPr algn="l"/>
            <a:r>
              <a:rPr lang="ru-RU" sz="2000" dirty="0">
                <a:solidFill>
                  <a:schemeClr val="tx1"/>
                </a:solidFill>
                <a:latin typeface="YS Text"/>
              </a:rPr>
              <a:t>	</a:t>
            </a:r>
            <a:r>
              <a:rPr lang="en-US" sz="1800" b="0" i="0" dirty="0">
                <a:solidFill>
                  <a:srgbClr val="C678DD"/>
                </a:solidFill>
                <a:effectLst/>
                <a:latin typeface="Menlo"/>
              </a:rPr>
              <a:t>class</a:t>
            </a:r>
            <a:r>
              <a:rPr lang="en-US" sz="1800" b="0" i="0" dirty="0">
                <a:effectLst/>
                <a:latin typeface="Menlo"/>
              </a:rPr>
              <a:t> </a:t>
            </a:r>
            <a:r>
              <a:rPr lang="ru-RU" sz="1800" b="0" i="0" dirty="0" err="1">
                <a:effectLst/>
                <a:latin typeface="Menlo"/>
              </a:rPr>
              <a:t>ИмяКлассаНаследника</a:t>
            </a:r>
            <a:r>
              <a:rPr lang="ru-RU" sz="1800" b="0" i="0" dirty="0">
                <a:effectLst/>
                <a:latin typeface="Menlo"/>
              </a:rPr>
              <a:t>(</a:t>
            </a:r>
            <a:r>
              <a:rPr lang="ru-RU" sz="1800" b="0" i="0" dirty="0" err="1">
                <a:effectLst/>
                <a:latin typeface="Menlo"/>
              </a:rPr>
              <a:t>ИмяРодительскогоКласса</a:t>
            </a:r>
            <a:r>
              <a:rPr lang="ru-RU" sz="1800" b="0" i="0" dirty="0">
                <a:effectLst/>
                <a:latin typeface="Menlo"/>
              </a:rPr>
              <a:t>): </a:t>
            </a:r>
          </a:p>
          <a:p>
            <a:pPr algn="l"/>
            <a:r>
              <a:rPr lang="ru-RU" sz="1800" dirty="0">
                <a:solidFill>
                  <a:srgbClr val="C678DD"/>
                </a:solidFill>
                <a:latin typeface="Menlo"/>
              </a:rPr>
              <a:t>		</a:t>
            </a:r>
            <a:r>
              <a:rPr lang="en-US" sz="1800" b="0" i="0" dirty="0">
                <a:solidFill>
                  <a:srgbClr val="C678DD"/>
                </a:solidFill>
                <a:effectLst/>
                <a:latin typeface="Menlo"/>
              </a:rPr>
              <a:t>pass</a:t>
            </a:r>
            <a:r>
              <a:rPr lang="en-US" sz="1800" b="0" i="0" dirty="0">
                <a:effectLst/>
                <a:latin typeface="Menlo"/>
              </a:rPr>
              <a:t> </a:t>
            </a:r>
            <a:endParaRPr lang="ru-RU" sz="1800" b="0" i="0" dirty="0">
              <a:effectLst/>
              <a:latin typeface="Menlo"/>
            </a:endParaRPr>
          </a:p>
          <a:p>
            <a:pPr algn="l"/>
            <a:r>
              <a:rPr lang="ru-RU" sz="2000" dirty="0">
                <a:solidFill>
                  <a:schemeClr val="tx1"/>
                </a:solidFill>
                <a:latin typeface="YS Text"/>
              </a:rPr>
              <a:t>Для родительского класса </a:t>
            </a:r>
            <a:r>
              <a:rPr lang="ru-RU" sz="2000" dirty="0">
                <a:solidFill>
                  <a:schemeClr val="accent5">
                    <a:lumMod val="60000"/>
                    <a:lumOff val="40000"/>
                  </a:schemeClr>
                </a:solidFill>
                <a:latin typeface="YS Text"/>
              </a:rPr>
              <a:t>Phone</a:t>
            </a:r>
            <a:r>
              <a:rPr lang="ru-RU" sz="2000" dirty="0">
                <a:solidFill>
                  <a:schemeClr val="tx1"/>
                </a:solidFill>
                <a:latin typeface="YS Text"/>
              </a:rPr>
              <a:t> дочерним может быть класс </a:t>
            </a:r>
            <a:r>
              <a:rPr lang="ru-RU" sz="2000" dirty="0" err="1">
                <a:solidFill>
                  <a:schemeClr val="accent5">
                    <a:lumMod val="60000"/>
                    <a:lumOff val="40000"/>
                  </a:schemeClr>
                </a:solidFill>
                <a:latin typeface="YS Text"/>
              </a:rPr>
              <a:t>MobilePhone</a:t>
            </a:r>
            <a:r>
              <a:rPr lang="ru-RU" sz="2000" dirty="0">
                <a:solidFill>
                  <a:schemeClr val="tx1"/>
                </a:solidFill>
                <a:latin typeface="YS Text"/>
              </a:rPr>
              <a:t>. Он будет описывать мобильные телефоны. </a:t>
            </a:r>
          </a:p>
          <a:p>
            <a:pPr algn="l"/>
            <a:r>
              <a:rPr lang="ru-RU" sz="2000" dirty="0">
                <a:solidFill>
                  <a:schemeClr val="tx1"/>
                </a:solidFill>
                <a:latin typeface="YS Text"/>
              </a:rPr>
              <a:t>Названия для дочерних классов придумывает сам разработчик. Особых правил именования нет, важно только, чтобы названия классов не повторялись.</a:t>
            </a:r>
          </a:p>
          <a:p>
            <a:pPr algn="l"/>
            <a:r>
              <a:rPr lang="ru-RU" sz="2000" dirty="0">
                <a:solidFill>
                  <a:schemeClr val="tx1"/>
                </a:solidFill>
                <a:latin typeface="YS Text"/>
              </a:rPr>
              <a:t>В Python обычно необходимо </a:t>
            </a:r>
            <a:r>
              <a:rPr lang="ru-RU" sz="2000" dirty="0">
                <a:solidFill>
                  <a:schemeClr val="accent5">
                    <a:lumMod val="60000"/>
                    <a:lumOff val="40000"/>
                  </a:schemeClr>
                </a:solidFill>
                <a:latin typeface="YS Text"/>
              </a:rPr>
              <a:t>сначала объявить родительский класс</a:t>
            </a:r>
            <a:r>
              <a:rPr lang="ru-RU" sz="2000" dirty="0">
                <a:solidFill>
                  <a:schemeClr val="tx1"/>
                </a:solidFill>
                <a:latin typeface="YS Text"/>
              </a:rPr>
              <a:t>, прежде чем вы сможете создать дочерний класс, который от него наследуется. Это связано с тем, что Python интерпретирует код последовательно, сверху вниз. Если вы попытаетесь объявить дочерний класс до того, как родительский класс будет определён, интерпретатор Python выдаст ошибку, так как он не сможет найти определение родительского класса в момент создания дочернего.</a:t>
            </a:r>
          </a:p>
        </p:txBody>
      </p:sp>
      <p:sp>
        <p:nvSpPr>
          <p:cNvPr id="5" name="TextBox 4">
            <a:extLst>
              <a:ext uri="{FF2B5EF4-FFF2-40B4-BE49-F238E27FC236}">
                <a16:creationId xmlns:a16="http://schemas.microsoft.com/office/drawing/2014/main" id="{39F3E07F-406E-ECC8-40A5-03FA73913F76}"/>
              </a:ext>
            </a:extLst>
          </p:cNvPr>
          <p:cNvSpPr txBox="1"/>
          <p:nvPr/>
        </p:nvSpPr>
        <p:spPr>
          <a:xfrm>
            <a:off x="3048000" y="1728217"/>
            <a:ext cx="6096000" cy="830997"/>
          </a:xfrm>
          <a:prstGeom prst="rect">
            <a:avLst/>
          </a:prstGeom>
          <a:noFill/>
        </p:spPr>
        <p:txBody>
          <a:bodyPr wrap="square">
            <a:spAutoFit/>
          </a:bodyPr>
          <a:lstStyle/>
          <a:p>
            <a:pPr algn="ctr"/>
            <a:r>
              <a:rPr lang="ru-RU" sz="4800" dirty="0">
                <a:solidFill>
                  <a:schemeClr val="accent5">
                    <a:lumMod val="60000"/>
                    <a:lumOff val="40000"/>
                  </a:schemeClr>
                </a:solidFill>
              </a:rPr>
              <a:t>Дочерний класс</a:t>
            </a:r>
          </a:p>
        </p:txBody>
      </p:sp>
    </p:spTree>
    <p:extLst>
      <p:ext uri="{BB962C8B-B14F-4D97-AF65-F5344CB8AC3E}">
        <p14:creationId xmlns:p14="http://schemas.microsoft.com/office/powerpoint/2010/main" val="3875659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136634"/>
            <a:ext cx="11650134" cy="6616263"/>
          </a:xfrm>
        </p:spPr>
        <p:txBody>
          <a:bodyPr anchor="t">
            <a:normAutofit fontScale="85000" lnSpcReduction="20000"/>
          </a:bodyPr>
          <a:lstStyle/>
          <a:p>
            <a:pPr algn="l"/>
            <a:r>
              <a:rPr lang="en-US" sz="1600" b="0" i="1" dirty="0">
                <a:solidFill>
                  <a:schemeClr val="tx1"/>
                </a:solidFill>
                <a:effectLst/>
                <a:latin typeface="Menlo"/>
              </a:rPr>
              <a:t># </a:t>
            </a:r>
            <a:r>
              <a:rPr lang="en-US" sz="1600" b="0" i="1" dirty="0" err="1">
                <a:solidFill>
                  <a:schemeClr val="tx1"/>
                </a:solidFill>
                <a:effectLst/>
                <a:latin typeface="Menlo"/>
              </a:rPr>
              <a:t>Правильный</a:t>
            </a:r>
            <a:r>
              <a:rPr lang="en-US" sz="1600" b="0" i="1" dirty="0">
                <a:solidFill>
                  <a:schemeClr val="tx1"/>
                </a:solidFill>
                <a:effectLst/>
                <a:latin typeface="Menlo"/>
              </a:rPr>
              <a:t> </a:t>
            </a:r>
            <a:r>
              <a:rPr lang="en-US" sz="1600" b="0" i="1" dirty="0" err="1">
                <a:solidFill>
                  <a:schemeClr val="tx1"/>
                </a:solidFill>
                <a:effectLst/>
                <a:latin typeface="Menlo"/>
              </a:rPr>
              <a:t>порядок</a:t>
            </a:r>
            <a:r>
              <a:rPr lang="en-US" sz="1600" b="0" i="1" dirty="0">
                <a:solidFill>
                  <a:schemeClr val="tx1"/>
                </a:solidFill>
                <a:effectLst/>
                <a:latin typeface="Menlo"/>
              </a:rPr>
              <a:t>.</a:t>
            </a:r>
            <a:r>
              <a:rPr lang="en-US" sz="1600" b="0" i="0" dirty="0">
                <a:solidFill>
                  <a:schemeClr val="tx1"/>
                </a:solidFill>
                <a:effectLst/>
                <a:latin typeface="Menlo"/>
              </a:rPr>
              <a:t> </a:t>
            </a:r>
            <a:endParaRPr lang="ru-RU" sz="1600" b="0" i="0" dirty="0">
              <a:solidFill>
                <a:schemeClr val="tx1"/>
              </a:solidFill>
              <a:effectLst/>
              <a:latin typeface="Menlo"/>
            </a:endParaRPr>
          </a:p>
          <a:p>
            <a:pPr algn="l"/>
            <a:r>
              <a:rPr lang="en-US" sz="1600" b="0" i="0" dirty="0">
                <a:solidFill>
                  <a:srgbClr val="C678DD"/>
                </a:solidFill>
                <a:effectLst/>
                <a:latin typeface="Menlo"/>
              </a:rPr>
              <a:t>class</a:t>
            </a:r>
            <a:r>
              <a:rPr lang="en-US" sz="1600" b="0" i="0" dirty="0">
                <a:effectLst/>
                <a:latin typeface="Menlo"/>
              </a:rPr>
              <a:t> </a:t>
            </a:r>
            <a:r>
              <a:rPr lang="en-US" sz="1600" b="0" i="0" dirty="0">
                <a:solidFill>
                  <a:srgbClr val="CA8D3D"/>
                </a:solidFill>
                <a:effectLst/>
                <a:latin typeface="Menlo"/>
              </a:rPr>
              <a:t>Parent</a:t>
            </a:r>
            <a:r>
              <a:rPr lang="en-US" sz="1600" b="0" i="0" dirty="0">
                <a:effectLst/>
                <a:latin typeface="Menlo"/>
              </a:rPr>
              <a:t>: </a:t>
            </a:r>
            <a:endParaRPr lang="ru-RU" sz="1600" b="0" i="0" dirty="0">
              <a:effectLst/>
              <a:latin typeface="Menlo"/>
            </a:endParaRPr>
          </a:p>
          <a:p>
            <a:pPr algn="l"/>
            <a:r>
              <a:rPr lang="ru-RU" sz="1600" dirty="0">
                <a:solidFill>
                  <a:srgbClr val="C678DD"/>
                </a:solidFill>
                <a:latin typeface="Menlo"/>
              </a:rPr>
              <a:t>	</a:t>
            </a:r>
            <a:r>
              <a:rPr lang="en-US" sz="1600" b="0" i="0" dirty="0">
                <a:solidFill>
                  <a:srgbClr val="C678DD"/>
                </a:solidFill>
                <a:effectLst/>
                <a:latin typeface="Menlo"/>
              </a:rPr>
              <a:t>pass</a:t>
            </a:r>
            <a:r>
              <a:rPr lang="en-US" sz="1600" b="0" i="0" dirty="0">
                <a:effectLst/>
                <a:latin typeface="Menlo"/>
              </a:rPr>
              <a:t> </a:t>
            </a:r>
            <a:endParaRPr lang="ru-RU" sz="1600" b="0" i="0" dirty="0">
              <a:effectLst/>
              <a:latin typeface="Menlo"/>
            </a:endParaRPr>
          </a:p>
          <a:p>
            <a:pPr algn="l"/>
            <a:endParaRPr lang="ru-RU" sz="1600" dirty="0">
              <a:solidFill>
                <a:srgbClr val="C678DD"/>
              </a:solidFill>
              <a:latin typeface="Menlo"/>
            </a:endParaRPr>
          </a:p>
          <a:p>
            <a:pPr algn="l"/>
            <a:r>
              <a:rPr lang="en-US" sz="1600" b="0" i="0" dirty="0">
                <a:solidFill>
                  <a:srgbClr val="C678DD"/>
                </a:solidFill>
                <a:effectLst/>
                <a:latin typeface="Menlo"/>
              </a:rPr>
              <a:t>class</a:t>
            </a:r>
            <a:r>
              <a:rPr lang="en-US" sz="1600" b="0" i="0" dirty="0">
                <a:effectLst/>
                <a:latin typeface="Menlo"/>
              </a:rPr>
              <a:t> </a:t>
            </a:r>
            <a:r>
              <a:rPr lang="ru-RU" sz="1600" dirty="0">
                <a:latin typeface="Menlo"/>
              </a:rPr>
              <a:t> </a:t>
            </a:r>
            <a:r>
              <a:rPr lang="en-US" sz="1600" b="0" i="0" dirty="0">
                <a:solidFill>
                  <a:srgbClr val="CA8D3D"/>
                </a:solidFill>
                <a:effectLst/>
                <a:latin typeface="Menlo"/>
              </a:rPr>
              <a:t>Child</a:t>
            </a:r>
            <a:r>
              <a:rPr lang="en-US" sz="1600" b="0" i="0" dirty="0">
                <a:effectLst/>
                <a:latin typeface="Menlo"/>
              </a:rPr>
              <a:t>(Parent):</a:t>
            </a:r>
            <a:endParaRPr lang="ru-RU" sz="1600" b="0" i="0" dirty="0">
              <a:effectLst/>
              <a:latin typeface="Menlo"/>
            </a:endParaRPr>
          </a:p>
          <a:p>
            <a:pPr algn="l"/>
            <a:r>
              <a:rPr lang="ru-RU" sz="1600" dirty="0">
                <a:latin typeface="Menlo"/>
              </a:rPr>
              <a:t>	</a:t>
            </a:r>
            <a:r>
              <a:rPr lang="en-US" sz="1600" b="0" i="0" dirty="0">
                <a:effectLst/>
                <a:latin typeface="Menlo"/>
              </a:rPr>
              <a:t> </a:t>
            </a:r>
            <a:r>
              <a:rPr lang="en-US" sz="1600" b="0" i="0" dirty="0">
                <a:solidFill>
                  <a:srgbClr val="C678DD"/>
                </a:solidFill>
                <a:effectLst/>
                <a:latin typeface="Menlo"/>
              </a:rPr>
              <a:t>pass</a:t>
            </a:r>
            <a:r>
              <a:rPr lang="en-US" sz="1600" b="0" i="0" dirty="0">
                <a:effectLst/>
                <a:latin typeface="Menlo"/>
              </a:rPr>
              <a:t> </a:t>
            </a:r>
          </a:p>
          <a:p>
            <a:pPr algn="ctr"/>
            <a:r>
              <a:rPr lang="ru-RU" sz="3300" dirty="0">
                <a:solidFill>
                  <a:schemeClr val="accent5">
                    <a:lumMod val="60000"/>
                    <a:lumOff val="40000"/>
                  </a:schemeClr>
                </a:solidFill>
                <a:latin typeface="YS Text"/>
              </a:rPr>
              <a:t>Дочерние классы нужно объявлять ниже родительского</a:t>
            </a:r>
            <a:r>
              <a:rPr lang="en-US" sz="3300" dirty="0">
                <a:solidFill>
                  <a:schemeClr val="accent5">
                    <a:lumMod val="60000"/>
                    <a:lumOff val="40000"/>
                  </a:schemeClr>
                </a:solidFill>
                <a:latin typeface="YS Text"/>
              </a:rPr>
              <a:t>!</a:t>
            </a:r>
            <a:endParaRPr lang="ru-RU" sz="3300" dirty="0">
              <a:solidFill>
                <a:schemeClr val="accent5">
                  <a:lumMod val="60000"/>
                  <a:lumOff val="40000"/>
                </a:schemeClr>
              </a:solidFill>
              <a:latin typeface="YS Text"/>
            </a:endParaRPr>
          </a:p>
          <a:p>
            <a:pPr algn="l"/>
            <a:r>
              <a:rPr lang="ru-RU" sz="2400" dirty="0">
                <a:solidFill>
                  <a:schemeClr val="tx1"/>
                </a:solidFill>
                <a:latin typeface="YS Text"/>
              </a:rPr>
              <a:t>Наследование позволяет избежать дублирования кода, так как общие элементы можно однажды описать в родительском классе, и они автоматически перейдут ко всем дочерним классам. </a:t>
            </a:r>
            <a:endParaRPr lang="en-US" sz="2400" b="0" i="0" dirty="0">
              <a:effectLst/>
              <a:latin typeface="Menlo"/>
            </a:endParaRPr>
          </a:p>
          <a:p>
            <a:pPr algn="l"/>
            <a:r>
              <a:rPr lang="en-US" sz="1400" b="0" i="0" dirty="0">
                <a:solidFill>
                  <a:srgbClr val="92D050"/>
                </a:solidFill>
                <a:effectLst/>
                <a:latin typeface="Menlo"/>
              </a:rPr>
              <a:t>class Phone:</a:t>
            </a:r>
          </a:p>
          <a:p>
            <a:pPr algn="l"/>
            <a:r>
              <a:rPr lang="en-US" sz="1400" b="0" i="0" dirty="0">
                <a:solidFill>
                  <a:srgbClr val="92D050"/>
                </a:solidFill>
                <a:effectLst/>
                <a:latin typeface="Menlo"/>
              </a:rPr>
              <a:t>    </a:t>
            </a:r>
            <a:r>
              <a:rPr lang="ru-RU" sz="1400" b="0" i="0" dirty="0">
                <a:solidFill>
                  <a:srgbClr val="92D050"/>
                </a:solidFill>
                <a:effectLst/>
                <a:latin typeface="Menlo"/>
              </a:rPr>
              <a:t>     </a:t>
            </a:r>
            <a:r>
              <a:rPr lang="en-US" sz="1400" b="0" i="0" dirty="0" err="1">
                <a:solidFill>
                  <a:srgbClr val="92D050"/>
                </a:solidFill>
                <a:effectLst/>
                <a:latin typeface="Menlo"/>
              </a:rPr>
              <a:t>line_type</a:t>
            </a:r>
            <a:r>
              <a:rPr lang="en-US" sz="1400" b="0" i="0" dirty="0">
                <a:solidFill>
                  <a:srgbClr val="92D050"/>
                </a:solidFill>
                <a:effectLst/>
                <a:latin typeface="Menlo"/>
              </a:rPr>
              <a:t> = '</a:t>
            </a:r>
            <a:r>
              <a:rPr lang="ru-RU" sz="1400" b="0" i="0" dirty="0">
                <a:solidFill>
                  <a:srgbClr val="92D050"/>
                </a:solidFill>
                <a:effectLst/>
                <a:latin typeface="Menlo"/>
              </a:rPr>
              <a:t>проводной’</a:t>
            </a:r>
            <a:endParaRPr lang="en-US" sz="1400" b="0" i="0" dirty="0">
              <a:solidFill>
                <a:srgbClr val="92D050"/>
              </a:solidFill>
              <a:effectLst/>
              <a:latin typeface="Menlo"/>
            </a:endParaRPr>
          </a:p>
          <a:p>
            <a:pPr algn="l"/>
            <a:endParaRPr lang="ru-RU" sz="1400" b="0" i="0" dirty="0">
              <a:solidFill>
                <a:srgbClr val="92D050"/>
              </a:solidFill>
              <a:effectLst/>
              <a:latin typeface="Menlo"/>
            </a:endParaRPr>
          </a:p>
          <a:p>
            <a:pPr algn="l"/>
            <a:r>
              <a:rPr lang="ru-RU" sz="1400" b="0" i="0" dirty="0">
                <a:solidFill>
                  <a:srgbClr val="92D050"/>
                </a:solidFill>
                <a:effectLst/>
                <a:latin typeface="Menlo"/>
              </a:rPr>
              <a:t>         </a:t>
            </a:r>
            <a:r>
              <a:rPr lang="en-US" sz="1400" b="0" i="0" dirty="0">
                <a:solidFill>
                  <a:srgbClr val="92D050"/>
                </a:solidFill>
                <a:effectLst/>
                <a:latin typeface="Menlo"/>
              </a:rPr>
              <a:t>def __</a:t>
            </a:r>
            <a:r>
              <a:rPr lang="en-US" sz="1400" b="0" i="0" dirty="0" err="1">
                <a:solidFill>
                  <a:srgbClr val="92D050"/>
                </a:solidFill>
                <a:effectLst/>
                <a:latin typeface="Menlo"/>
              </a:rPr>
              <a:t>init</a:t>
            </a:r>
            <a:r>
              <a:rPr lang="en-US" sz="1400" b="0" i="0" dirty="0">
                <a:solidFill>
                  <a:srgbClr val="92D050"/>
                </a:solidFill>
                <a:effectLst/>
                <a:latin typeface="Menlo"/>
              </a:rPr>
              <a:t>__(self, </a:t>
            </a:r>
            <a:r>
              <a:rPr lang="en-US" sz="1400" b="0" i="0" dirty="0" err="1">
                <a:solidFill>
                  <a:srgbClr val="92D050"/>
                </a:solidFill>
                <a:effectLst/>
                <a:latin typeface="Menlo"/>
              </a:rPr>
              <a:t>dial_type_value</a:t>
            </a:r>
            <a:r>
              <a:rPr lang="en-US" sz="1400" b="0" i="0" dirty="0">
                <a:solidFill>
                  <a:srgbClr val="92D050"/>
                </a:solidFill>
                <a:effectLst/>
                <a:latin typeface="Menlo"/>
              </a:rPr>
              <a:t>):</a:t>
            </a:r>
          </a:p>
          <a:p>
            <a:pPr algn="l"/>
            <a:r>
              <a:rPr lang="en-US" sz="1400" b="0" i="0" dirty="0">
                <a:solidFill>
                  <a:srgbClr val="92D050"/>
                </a:solidFill>
                <a:effectLst/>
                <a:latin typeface="Menlo"/>
              </a:rPr>
              <a:t>      </a:t>
            </a:r>
            <a:r>
              <a:rPr lang="ru-RU" sz="1400" b="0" i="0" dirty="0">
                <a:solidFill>
                  <a:srgbClr val="92D050"/>
                </a:solidFill>
                <a:effectLst/>
                <a:latin typeface="Menlo"/>
              </a:rPr>
              <a:t>       </a:t>
            </a:r>
            <a:r>
              <a:rPr lang="en-US" sz="1400" b="0" i="0" dirty="0">
                <a:solidFill>
                  <a:srgbClr val="92D050"/>
                </a:solidFill>
                <a:effectLst/>
                <a:latin typeface="Menlo"/>
              </a:rPr>
              <a:t> </a:t>
            </a:r>
            <a:r>
              <a:rPr lang="ru-RU" sz="1400" b="0" i="0" dirty="0">
                <a:solidFill>
                  <a:srgbClr val="92D050"/>
                </a:solidFill>
                <a:effectLst/>
                <a:latin typeface="Menlo"/>
              </a:rPr>
              <a:t> </a:t>
            </a:r>
            <a:r>
              <a:rPr lang="en-US" sz="1400" b="0" i="0" dirty="0">
                <a:solidFill>
                  <a:srgbClr val="92D050"/>
                </a:solidFill>
                <a:effectLst/>
                <a:latin typeface="Menlo"/>
              </a:rPr>
              <a:t> </a:t>
            </a:r>
            <a:r>
              <a:rPr lang="en-US" sz="1400" b="0" i="0" dirty="0" err="1">
                <a:solidFill>
                  <a:srgbClr val="92D050"/>
                </a:solidFill>
                <a:effectLst/>
                <a:latin typeface="Menlo"/>
              </a:rPr>
              <a:t>self.dial_type</a:t>
            </a:r>
            <a:r>
              <a:rPr lang="en-US" sz="1400" b="0" i="0" dirty="0">
                <a:solidFill>
                  <a:srgbClr val="92D050"/>
                </a:solidFill>
                <a:effectLst/>
                <a:latin typeface="Menlo"/>
              </a:rPr>
              <a:t> = </a:t>
            </a:r>
            <a:r>
              <a:rPr lang="en-US" sz="1400" b="0" i="0" dirty="0" err="1">
                <a:solidFill>
                  <a:srgbClr val="92D050"/>
                </a:solidFill>
                <a:effectLst/>
                <a:latin typeface="Menlo"/>
              </a:rPr>
              <a:t>dial_type_value</a:t>
            </a:r>
            <a:endParaRPr lang="en-US" sz="1400" b="0" i="0" dirty="0">
              <a:solidFill>
                <a:srgbClr val="92D050"/>
              </a:solidFill>
              <a:effectLst/>
              <a:latin typeface="Menlo"/>
            </a:endParaRPr>
          </a:p>
          <a:p>
            <a:pPr algn="l"/>
            <a:endParaRPr lang="ru-RU" sz="1400" dirty="0">
              <a:solidFill>
                <a:srgbClr val="92D050"/>
              </a:solidFill>
              <a:latin typeface="Menlo"/>
            </a:endParaRPr>
          </a:p>
          <a:p>
            <a:pPr algn="l"/>
            <a:r>
              <a:rPr lang="ru-RU" sz="1400" dirty="0">
                <a:solidFill>
                  <a:srgbClr val="92D050"/>
                </a:solidFill>
                <a:latin typeface="Menlo"/>
              </a:rPr>
              <a:t>         </a:t>
            </a:r>
            <a:r>
              <a:rPr lang="en-US" sz="1400" b="0" i="0" dirty="0">
                <a:solidFill>
                  <a:srgbClr val="92D050"/>
                </a:solidFill>
                <a:effectLst/>
                <a:latin typeface="Menlo"/>
              </a:rPr>
              <a:t>def ring(self):</a:t>
            </a:r>
          </a:p>
          <a:p>
            <a:pPr algn="l"/>
            <a:r>
              <a:rPr lang="en-US" sz="1400" b="0" i="0" dirty="0">
                <a:solidFill>
                  <a:srgbClr val="92D050"/>
                </a:solidFill>
                <a:effectLst/>
                <a:latin typeface="Menlo"/>
              </a:rPr>
              <a:t>        </a:t>
            </a:r>
            <a:r>
              <a:rPr lang="ru-RU" sz="1400" b="0" i="0" dirty="0">
                <a:solidFill>
                  <a:srgbClr val="92D050"/>
                </a:solidFill>
                <a:effectLst/>
                <a:latin typeface="Menlo"/>
              </a:rPr>
              <a:t>         </a:t>
            </a:r>
            <a:r>
              <a:rPr lang="en-US" sz="1400" b="0" i="0" dirty="0">
                <a:solidFill>
                  <a:srgbClr val="92D050"/>
                </a:solidFill>
                <a:effectLst/>
                <a:latin typeface="Menlo"/>
              </a:rPr>
              <a:t>print('</a:t>
            </a:r>
            <a:r>
              <a:rPr lang="ru-RU" sz="1400" b="0" i="0" dirty="0" err="1">
                <a:solidFill>
                  <a:srgbClr val="92D050"/>
                </a:solidFill>
                <a:effectLst/>
                <a:latin typeface="Menlo"/>
              </a:rPr>
              <a:t>Дзззззыыыыыыыынь</a:t>
            </a:r>
            <a:r>
              <a:rPr lang="ru-RU" sz="1400" b="0" i="0" dirty="0">
                <a:solidFill>
                  <a:srgbClr val="92D050"/>
                </a:solidFill>
                <a:effectLst/>
                <a:latin typeface="Menlo"/>
              </a:rPr>
              <a:t>!')</a:t>
            </a:r>
            <a:endParaRPr lang="en-US" sz="1400" b="0" i="0" dirty="0">
              <a:solidFill>
                <a:srgbClr val="92D050"/>
              </a:solidFill>
              <a:effectLst/>
              <a:latin typeface="Menlo"/>
            </a:endParaRPr>
          </a:p>
          <a:p>
            <a:pPr algn="l"/>
            <a:endParaRPr lang="en-US" sz="1400" b="0" i="0" dirty="0">
              <a:solidFill>
                <a:srgbClr val="92D050"/>
              </a:solidFill>
              <a:effectLst/>
              <a:latin typeface="Menlo"/>
            </a:endParaRPr>
          </a:p>
          <a:p>
            <a:pPr algn="l"/>
            <a:r>
              <a:rPr lang="en-US" sz="1400" b="0" i="0" dirty="0">
                <a:solidFill>
                  <a:srgbClr val="92D050"/>
                </a:solidFill>
                <a:effectLst/>
                <a:latin typeface="Menlo"/>
              </a:rPr>
              <a:t>class </a:t>
            </a:r>
            <a:r>
              <a:rPr lang="en-US" sz="1400" b="0" i="0" dirty="0" err="1">
                <a:solidFill>
                  <a:srgbClr val="92D050"/>
                </a:solidFill>
                <a:effectLst/>
                <a:latin typeface="Menlo"/>
              </a:rPr>
              <a:t>MobilePhone</a:t>
            </a:r>
            <a:r>
              <a:rPr lang="en-US" sz="1400" b="0" i="0" dirty="0">
                <a:solidFill>
                  <a:srgbClr val="92D050"/>
                </a:solidFill>
                <a:effectLst/>
                <a:latin typeface="Menlo"/>
              </a:rPr>
              <a:t>(Phone):</a:t>
            </a:r>
          </a:p>
          <a:p>
            <a:pPr algn="l"/>
            <a:r>
              <a:rPr lang="en-US" sz="1400" b="0" i="0" dirty="0">
                <a:solidFill>
                  <a:srgbClr val="92D050"/>
                </a:solidFill>
                <a:effectLst/>
                <a:latin typeface="Menlo"/>
              </a:rPr>
              <a:t>    </a:t>
            </a:r>
            <a:r>
              <a:rPr lang="ru-RU" sz="1400" b="0" i="0" dirty="0">
                <a:solidFill>
                  <a:srgbClr val="92D050"/>
                </a:solidFill>
                <a:effectLst/>
                <a:latin typeface="Menlo"/>
              </a:rPr>
              <a:t>   </a:t>
            </a:r>
            <a:r>
              <a:rPr lang="en-US" sz="1400" b="0" i="0" dirty="0">
                <a:solidFill>
                  <a:srgbClr val="92D050"/>
                </a:solidFill>
                <a:effectLst/>
                <a:latin typeface="Menlo"/>
              </a:rPr>
              <a:t>pass</a:t>
            </a:r>
          </a:p>
          <a:p>
            <a:pPr algn="l"/>
            <a:endParaRPr lang="en-US" sz="1400" b="0" i="0" dirty="0">
              <a:solidFill>
                <a:srgbClr val="92D050"/>
              </a:solidFill>
              <a:effectLst/>
              <a:latin typeface="Menlo"/>
            </a:endParaRPr>
          </a:p>
          <a:p>
            <a:pPr algn="l"/>
            <a:r>
              <a:rPr lang="en-US" sz="1400" b="0" i="0" dirty="0" err="1">
                <a:solidFill>
                  <a:srgbClr val="92D050"/>
                </a:solidFill>
                <a:effectLst/>
                <a:latin typeface="Menlo"/>
              </a:rPr>
              <a:t>mobile_phone</a:t>
            </a:r>
            <a:r>
              <a:rPr lang="en-US" sz="1400" b="0" i="0" dirty="0">
                <a:solidFill>
                  <a:srgbClr val="92D050"/>
                </a:solidFill>
                <a:effectLst/>
                <a:latin typeface="Menlo"/>
              </a:rPr>
              <a:t> = </a:t>
            </a:r>
            <a:r>
              <a:rPr lang="en-US" sz="1400" b="0" i="0" dirty="0" err="1">
                <a:solidFill>
                  <a:srgbClr val="92D050"/>
                </a:solidFill>
                <a:effectLst/>
                <a:latin typeface="Menlo"/>
              </a:rPr>
              <a:t>MobilePhone</a:t>
            </a:r>
            <a:r>
              <a:rPr lang="en-US" sz="1400" b="0" i="0" dirty="0">
                <a:solidFill>
                  <a:srgbClr val="92D050"/>
                </a:solidFill>
                <a:effectLst/>
                <a:latin typeface="Menlo"/>
              </a:rPr>
              <a:t>('</a:t>
            </a:r>
            <a:r>
              <a:rPr lang="ru-RU" sz="1400" b="0" i="0" dirty="0">
                <a:solidFill>
                  <a:srgbClr val="92D050"/>
                </a:solidFill>
                <a:effectLst/>
                <a:latin typeface="Menlo"/>
              </a:rPr>
              <a:t>сенсорный')</a:t>
            </a:r>
          </a:p>
          <a:p>
            <a:pPr algn="l"/>
            <a:r>
              <a:rPr lang="en-US" sz="1400" b="0" i="0" dirty="0" err="1">
                <a:solidFill>
                  <a:srgbClr val="92D050"/>
                </a:solidFill>
                <a:effectLst/>
                <a:latin typeface="Menlo"/>
              </a:rPr>
              <a:t>mobile_phone.ring</a:t>
            </a:r>
            <a:r>
              <a:rPr lang="en-US" sz="1400" b="0" i="0" dirty="0">
                <a:solidFill>
                  <a:srgbClr val="92D050"/>
                </a:solidFill>
                <a:effectLst/>
                <a:latin typeface="Menlo"/>
              </a:rPr>
              <a:t>()</a:t>
            </a:r>
          </a:p>
          <a:p>
            <a:pPr algn="l"/>
            <a:r>
              <a:rPr lang="en-US" sz="1400" b="0" i="0" dirty="0">
                <a:solidFill>
                  <a:srgbClr val="92D050"/>
                </a:solidFill>
                <a:effectLst/>
                <a:latin typeface="Menlo"/>
              </a:rPr>
              <a:t># </a:t>
            </a:r>
            <a:r>
              <a:rPr lang="ru-RU" sz="1400" b="0" i="0" dirty="0">
                <a:solidFill>
                  <a:srgbClr val="92D050"/>
                </a:solidFill>
                <a:effectLst/>
                <a:latin typeface="Menlo"/>
              </a:rPr>
              <a:t>Выведется:</a:t>
            </a:r>
            <a:r>
              <a:rPr lang="en-US" sz="1400" b="0" i="0" dirty="0">
                <a:solidFill>
                  <a:srgbClr val="92D050"/>
                </a:solidFill>
                <a:effectLst/>
                <a:latin typeface="Menlo"/>
              </a:rPr>
              <a:t> </a:t>
            </a:r>
            <a:r>
              <a:rPr lang="ru-RU" sz="1400" b="0" i="0" dirty="0" err="1">
                <a:solidFill>
                  <a:srgbClr val="92D050"/>
                </a:solidFill>
                <a:effectLst/>
                <a:latin typeface="Menlo"/>
              </a:rPr>
              <a:t>Дзззззыыыыыыыынь</a:t>
            </a:r>
            <a:r>
              <a:rPr lang="ru-RU" sz="1400" b="0" i="0" dirty="0">
                <a:solidFill>
                  <a:srgbClr val="92D050"/>
                </a:solidFill>
                <a:effectLst/>
                <a:latin typeface="Menlo"/>
              </a:rPr>
              <a:t>! </a:t>
            </a:r>
          </a:p>
        </p:txBody>
      </p:sp>
    </p:spTree>
    <p:extLst>
      <p:ext uri="{BB962C8B-B14F-4D97-AF65-F5344CB8AC3E}">
        <p14:creationId xmlns:p14="http://schemas.microsoft.com/office/powerpoint/2010/main" val="610613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Переопределение атрибутов и методов</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Дочерний класс </a:t>
            </a:r>
            <a:r>
              <a:rPr lang="ru-RU" sz="2000" b="0" i="0" dirty="0" err="1">
                <a:solidFill>
                  <a:schemeClr val="tx1"/>
                </a:solidFill>
                <a:effectLst/>
                <a:latin typeface="YS Text"/>
              </a:rPr>
              <a:t>MobilePhone</a:t>
            </a:r>
            <a:r>
              <a:rPr lang="ru-RU" sz="2000" b="0" i="0" dirty="0">
                <a:solidFill>
                  <a:schemeClr val="tx1"/>
                </a:solidFill>
                <a:effectLst/>
                <a:latin typeface="YS Text"/>
              </a:rPr>
              <a:t> унаследовал всё-всё, что есть в родительском классе Phone, в том числе и атрибут </a:t>
            </a:r>
            <a:r>
              <a:rPr lang="ru-RU" sz="2000" b="0" i="0" dirty="0" err="1">
                <a:solidFill>
                  <a:schemeClr val="tx1"/>
                </a:solidFill>
                <a:effectLst/>
                <a:latin typeface="YS Text"/>
              </a:rPr>
              <a:t>line_type</a:t>
            </a:r>
            <a:r>
              <a:rPr lang="ru-RU" sz="2000" b="0" i="0" dirty="0">
                <a:solidFill>
                  <a:schemeClr val="tx1"/>
                </a:solidFill>
                <a:effectLst/>
                <a:latin typeface="YS Text"/>
              </a:rPr>
              <a:t> со значением проводной. Но мобильные телефоны для передачи связи используют не проводные линии, а беспроводные. Это можно отразить в вашем коде, ведь в дочернем классе можно переопределять и расширять атрибуты и методы, унаследованные от родительского класса. Для этого при описании дочернего класса нужно объявить атрибут или метод с таким же именем, как в родительском классе, и описать его по-новому.</a:t>
            </a:r>
            <a:endParaRPr lang="en-US" sz="2000" b="0" i="0" dirty="0">
              <a:solidFill>
                <a:schemeClr val="tx1"/>
              </a:solidFill>
              <a:effectLst/>
              <a:latin typeface="YS Text"/>
            </a:endParaRPr>
          </a:p>
          <a:p>
            <a:pPr algn="l"/>
            <a:r>
              <a:rPr lang="ru-RU" sz="2000" b="0" i="0" dirty="0">
                <a:solidFill>
                  <a:schemeClr val="tx1"/>
                </a:solidFill>
                <a:effectLst/>
                <a:latin typeface="YS Text"/>
              </a:rPr>
              <a:t>Пусть в классе </a:t>
            </a:r>
            <a:r>
              <a:rPr lang="ru-RU" sz="2000" b="0" i="0" dirty="0" err="1">
                <a:solidFill>
                  <a:schemeClr val="tx1"/>
                </a:solidFill>
                <a:effectLst/>
                <a:latin typeface="YS Text"/>
              </a:rPr>
              <a:t>MobilePhone</a:t>
            </a:r>
            <a:r>
              <a:rPr lang="ru-RU" sz="2000" b="0" i="0" dirty="0">
                <a:solidFill>
                  <a:schemeClr val="tx1"/>
                </a:solidFill>
                <a:effectLst/>
                <a:latin typeface="YS Text"/>
              </a:rPr>
              <a:t> значение атрибута </a:t>
            </a:r>
            <a:r>
              <a:rPr lang="ru-RU" sz="2000" b="0" i="0" dirty="0" err="1">
                <a:solidFill>
                  <a:schemeClr val="tx1"/>
                </a:solidFill>
                <a:effectLst/>
                <a:latin typeface="YS Text"/>
              </a:rPr>
              <a:t>line_type</a:t>
            </a:r>
            <a:r>
              <a:rPr lang="ru-RU" sz="2000" b="0" i="0" dirty="0">
                <a:solidFill>
                  <a:schemeClr val="tx1"/>
                </a:solidFill>
                <a:effectLst/>
                <a:latin typeface="YS Text"/>
              </a:rPr>
              <a:t> будет беспроводной. И пусть мобильный телефон звонит иначе: не '</a:t>
            </a:r>
            <a:r>
              <a:rPr lang="ru-RU" sz="2000" b="0" i="0" dirty="0" err="1">
                <a:solidFill>
                  <a:schemeClr val="tx1"/>
                </a:solidFill>
                <a:effectLst/>
                <a:latin typeface="YS Text"/>
              </a:rPr>
              <a:t>Дзззззыыыыыыыынь</a:t>
            </a:r>
            <a:r>
              <a:rPr lang="ru-RU" sz="2000" b="0" i="0" dirty="0">
                <a:solidFill>
                  <a:schemeClr val="tx1"/>
                </a:solidFill>
                <a:effectLst/>
                <a:latin typeface="YS Text"/>
              </a:rPr>
              <a:t>!', а 'Дзынь-Дзынь!'.</a:t>
            </a:r>
            <a:endParaRPr lang="en-US" sz="2000" b="0" i="0" dirty="0">
              <a:solidFill>
                <a:schemeClr val="tx1"/>
              </a:solidFill>
              <a:effectLst/>
              <a:latin typeface="YS Text"/>
            </a:endParaRPr>
          </a:p>
          <a:p>
            <a:pPr algn="l"/>
            <a:r>
              <a:rPr lang="ru-RU" sz="2400" b="1" dirty="0">
                <a:solidFill>
                  <a:schemeClr val="tx1"/>
                </a:solidFill>
                <a:latin typeface="YS Text"/>
              </a:rPr>
              <a:t>Объекты и родительского, и дочернего класса обращаются к одному и тому же атрибуту и методу, но результат получается разный. </a:t>
            </a:r>
          </a:p>
        </p:txBody>
      </p:sp>
    </p:spTree>
    <p:extLst>
      <p:ext uri="{BB962C8B-B14F-4D97-AF65-F5344CB8AC3E}">
        <p14:creationId xmlns:p14="http://schemas.microsoft.com/office/powerpoint/2010/main" val="3298004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Добавление новых атрибутов и методов</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У мобильного телефона по сравнению с проводным намного больше функций. Он может не только «звенеть» и принимать звонки, но также в нём есть как минимум калькулятор, будильник и какая-нибудь игра.</a:t>
            </a:r>
          </a:p>
          <a:p>
            <a:pPr algn="l"/>
            <a:r>
              <a:rPr lang="ru-RU" sz="2000" b="0" i="0" dirty="0">
                <a:solidFill>
                  <a:schemeClr val="tx1"/>
                </a:solidFill>
                <a:effectLst/>
                <a:latin typeface="YS Text"/>
              </a:rPr>
              <a:t>Есть у мобильных телефонов и уникальные характеристики, которых нет у проводных моделей: например, у каждого мобильного телефона есть аккумулятор, а ещё все мобильные устройства используют один из стандартов беспроводной связи (GSM, LTE и так далее).</a:t>
            </a:r>
          </a:p>
          <a:p>
            <a:pPr algn="l"/>
            <a:r>
              <a:rPr lang="ru-RU" sz="2000" b="0" i="0" dirty="0">
                <a:solidFill>
                  <a:schemeClr val="tx1"/>
                </a:solidFill>
                <a:effectLst/>
                <a:latin typeface="YS Text"/>
              </a:rPr>
              <a:t>Всё это можно перенести в код. Для этого в дочернем классе </a:t>
            </a:r>
            <a:r>
              <a:rPr lang="ru-RU" sz="2000" b="0" i="0" dirty="0" err="1">
                <a:solidFill>
                  <a:schemeClr val="tx1"/>
                </a:solidFill>
                <a:effectLst/>
                <a:latin typeface="YS Text"/>
              </a:rPr>
              <a:t>MobilePhone</a:t>
            </a:r>
            <a:r>
              <a:rPr lang="ru-RU" sz="2000" b="0" i="0" dirty="0">
                <a:solidFill>
                  <a:schemeClr val="tx1"/>
                </a:solidFill>
                <a:effectLst/>
                <a:latin typeface="YS Text"/>
              </a:rPr>
              <a:t> нужно объявить новые атрибуты и методы, которых нет в родительском классе Phone, например такие:</a:t>
            </a:r>
          </a:p>
          <a:p>
            <a:pPr marL="342900" indent="-342900" algn="l">
              <a:buFont typeface="Arial" panose="020B0604020202020204" pitchFamily="34" charset="0"/>
              <a:buChar char="•"/>
            </a:pPr>
            <a:r>
              <a:rPr lang="ru-RU" sz="2000" b="0" i="0" dirty="0">
                <a:solidFill>
                  <a:schemeClr val="tx1"/>
                </a:solidFill>
                <a:effectLst/>
                <a:latin typeface="YS Text"/>
              </a:rPr>
              <a:t>Атрибут </a:t>
            </a:r>
            <a:r>
              <a:rPr lang="ru-RU" sz="2000" b="0" i="0" dirty="0" err="1">
                <a:solidFill>
                  <a:schemeClr val="tx1"/>
                </a:solidFill>
                <a:effectLst/>
                <a:latin typeface="YS Text"/>
              </a:rPr>
              <a:t>battery_type</a:t>
            </a:r>
            <a:r>
              <a:rPr lang="ru-RU" sz="2000" b="0" i="0" dirty="0">
                <a:solidFill>
                  <a:schemeClr val="tx1"/>
                </a:solidFill>
                <a:effectLst/>
                <a:latin typeface="YS Text"/>
              </a:rPr>
              <a:t> — тип батареи.</a:t>
            </a:r>
          </a:p>
          <a:p>
            <a:pPr marL="342900" indent="-342900" algn="l">
              <a:buFont typeface="Arial" panose="020B0604020202020204" pitchFamily="34" charset="0"/>
              <a:buChar char="•"/>
            </a:pPr>
            <a:r>
              <a:rPr lang="ru-RU" sz="2000" b="0" i="0" dirty="0">
                <a:solidFill>
                  <a:schemeClr val="tx1"/>
                </a:solidFill>
                <a:effectLst/>
                <a:latin typeface="YS Text"/>
              </a:rPr>
              <a:t>Атрибут </a:t>
            </a:r>
            <a:r>
              <a:rPr lang="ru-RU" sz="2000" b="0" i="0" dirty="0" err="1">
                <a:solidFill>
                  <a:schemeClr val="tx1"/>
                </a:solidFill>
                <a:effectLst/>
                <a:latin typeface="YS Text"/>
              </a:rPr>
              <a:t>network_type</a:t>
            </a:r>
            <a:r>
              <a:rPr lang="ru-RU" sz="2000" b="0" i="0" dirty="0">
                <a:solidFill>
                  <a:schemeClr val="tx1"/>
                </a:solidFill>
                <a:effectLst/>
                <a:latin typeface="YS Text"/>
              </a:rPr>
              <a:t> — стандарт беспроводной связи.</a:t>
            </a:r>
          </a:p>
          <a:p>
            <a:pPr marL="342900" indent="-342900" algn="l">
              <a:buFont typeface="Arial" panose="020B0604020202020204" pitchFamily="34" charset="0"/>
              <a:buChar char="•"/>
            </a:pPr>
            <a:r>
              <a:rPr lang="ru-RU" sz="2000" b="0" i="0" dirty="0">
                <a:solidFill>
                  <a:schemeClr val="tx1"/>
                </a:solidFill>
                <a:effectLst/>
                <a:latin typeface="YS Text"/>
              </a:rPr>
              <a:t>Метод </a:t>
            </a:r>
            <a:r>
              <a:rPr lang="ru-RU" sz="2000" b="0" i="0" dirty="0" err="1">
                <a:solidFill>
                  <a:schemeClr val="tx1"/>
                </a:solidFill>
                <a:effectLst/>
                <a:latin typeface="YS Text"/>
              </a:rPr>
              <a:t>start_game</a:t>
            </a:r>
            <a:r>
              <a:rPr lang="ru-RU" sz="2000" b="0" i="0" dirty="0">
                <a:solidFill>
                  <a:schemeClr val="tx1"/>
                </a:solidFill>
                <a:effectLst/>
                <a:latin typeface="YS Text"/>
              </a:rPr>
              <a:t>() — запуск игры.</a:t>
            </a:r>
            <a:endParaRPr lang="ru-RU" sz="2000" dirty="0">
              <a:solidFill>
                <a:srgbClr val="92D050"/>
              </a:solidFill>
              <a:latin typeface="YS Text"/>
            </a:endParaRPr>
          </a:p>
        </p:txBody>
      </p:sp>
    </p:spTree>
    <p:extLst>
      <p:ext uri="{BB962C8B-B14F-4D97-AF65-F5344CB8AC3E}">
        <p14:creationId xmlns:p14="http://schemas.microsoft.com/office/powerpoint/2010/main" val="217754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52552"/>
            <a:ext cx="11650134" cy="6858000"/>
          </a:xfrm>
        </p:spPr>
        <p:txBody>
          <a:bodyPr anchor="t">
            <a:normAutofit fontScale="77500" lnSpcReduction="20000"/>
          </a:bodyPr>
          <a:lstStyle/>
          <a:p>
            <a:pPr algn="l"/>
            <a:r>
              <a:rPr lang="ru-RU" sz="2900" b="0" i="0" dirty="0">
                <a:solidFill>
                  <a:schemeClr val="tx1"/>
                </a:solidFill>
                <a:effectLst/>
                <a:latin typeface="YS Text"/>
              </a:rPr>
              <a:t>Атрибут </a:t>
            </a:r>
            <a:r>
              <a:rPr lang="ru-RU" sz="2900" b="0" i="0" dirty="0" err="1">
                <a:solidFill>
                  <a:schemeClr val="accent5">
                    <a:lumMod val="60000"/>
                    <a:lumOff val="40000"/>
                  </a:schemeClr>
                </a:solidFill>
                <a:effectLst/>
                <a:latin typeface="YS Text"/>
              </a:rPr>
              <a:t>battery_type</a:t>
            </a:r>
            <a:r>
              <a:rPr lang="ru-RU" sz="2900" b="0" i="0" dirty="0">
                <a:solidFill>
                  <a:schemeClr val="tx1"/>
                </a:solidFill>
                <a:effectLst/>
                <a:latin typeface="YS Text"/>
              </a:rPr>
              <a:t> должен быть атрибутом класса </a:t>
            </a:r>
            <a:r>
              <a:rPr lang="ru-RU" sz="2900" b="0" i="0" dirty="0" err="1">
                <a:solidFill>
                  <a:schemeClr val="tx1"/>
                </a:solidFill>
                <a:effectLst/>
                <a:latin typeface="YS Text"/>
              </a:rPr>
              <a:t>MobilePhone</a:t>
            </a:r>
            <a:r>
              <a:rPr lang="ru-RU" sz="2900" b="0" i="0" dirty="0">
                <a:solidFill>
                  <a:schemeClr val="tx1"/>
                </a:solidFill>
                <a:effectLst/>
                <a:latin typeface="YS Text"/>
              </a:rPr>
              <a:t>. Он общий для всех мобильных телефонов, пусть у него будет значение по умолчанию '</a:t>
            </a:r>
            <a:r>
              <a:rPr lang="ru-RU" sz="2900" b="0" i="0" dirty="0">
                <a:solidFill>
                  <a:schemeClr val="accent5">
                    <a:lumMod val="60000"/>
                    <a:lumOff val="40000"/>
                  </a:schemeClr>
                </a:solidFill>
                <a:effectLst/>
                <a:latin typeface="YS Text"/>
              </a:rPr>
              <a:t>Li-</a:t>
            </a:r>
            <a:r>
              <a:rPr lang="ru-RU" sz="2900" b="0" i="0" dirty="0" err="1">
                <a:solidFill>
                  <a:schemeClr val="accent5">
                    <a:lumMod val="60000"/>
                    <a:lumOff val="40000"/>
                  </a:schemeClr>
                </a:solidFill>
                <a:effectLst/>
                <a:latin typeface="YS Text"/>
              </a:rPr>
              <a:t>ion</a:t>
            </a:r>
            <a:r>
              <a:rPr lang="ru-RU" sz="2900" b="0" i="0" dirty="0">
                <a:solidFill>
                  <a:schemeClr val="tx1"/>
                </a:solidFill>
                <a:effectLst/>
                <a:latin typeface="YS Text"/>
              </a:rPr>
              <a:t>'. Такой атрибут объявляется в теле нового класса как обычная переменная:</a:t>
            </a:r>
            <a:endParaRPr lang="en-US" sz="2900" b="0" i="0" dirty="0">
              <a:solidFill>
                <a:schemeClr val="tx1"/>
              </a:solidFill>
              <a:effectLst/>
              <a:latin typeface="YS Text"/>
            </a:endParaRPr>
          </a:p>
          <a:p>
            <a:pPr algn="l"/>
            <a:r>
              <a:rPr lang="en-US" sz="2000" b="1" dirty="0">
                <a:solidFill>
                  <a:schemeClr val="accent5">
                    <a:lumMod val="60000"/>
                    <a:lumOff val="40000"/>
                  </a:schemeClr>
                </a:solidFill>
                <a:latin typeface="YS Text"/>
              </a:rPr>
              <a:t>class Phone:</a:t>
            </a:r>
          </a:p>
          <a:p>
            <a:pPr algn="l"/>
            <a:r>
              <a:rPr lang="en-US" sz="2000" dirty="0">
                <a:solidFill>
                  <a:srgbClr val="92D050"/>
                </a:solidFill>
                <a:latin typeface="YS Text"/>
              </a:rPr>
              <a:t>    	</a:t>
            </a:r>
            <a:r>
              <a:rPr lang="en-US" sz="2000" dirty="0" err="1">
                <a:solidFill>
                  <a:srgbClr val="92D050"/>
                </a:solidFill>
                <a:latin typeface="YS Text"/>
              </a:rPr>
              <a:t>line_type</a:t>
            </a:r>
            <a:r>
              <a:rPr lang="en-US" sz="2000" dirty="0">
                <a:solidFill>
                  <a:srgbClr val="92D050"/>
                </a:solidFill>
                <a:latin typeface="YS Text"/>
              </a:rPr>
              <a:t> = '</a:t>
            </a:r>
            <a:r>
              <a:rPr lang="ru-RU" sz="2000" dirty="0">
                <a:solidFill>
                  <a:srgbClr val="92D050"/>
                </a:solidFill>
                <a:latin typeface="YS Text"/>
              </a:rPr>
              <a:t>проводной'</a:t>
            </a:r>
          </a:p>
          <a:p>
            <a:pPr algn="l"/>
            <a:endParaRPr lang="ru-RU" sz="2000" dirty="0">
              <a:solidFill>
                <a:srgbClr val="92D050"/>
              </a:solidFill>
              <a:latin typeface="YS Text"/>
            </a:endParaRPr>
          </a:p>
          <a:p>
            <a:pPr algn="l"/>
            <a:r>
              <a:rPr lang="ru-RU" sz="2000" dirty="0">
                <a:solidFill>
                  <a:srgbClr val="92D050"/>
                </a:solidFill>
                <a:latin typeface="YS Text"/>
              </a:rPr>
              <a:t>    </a:t>
            </a:r>
            <a:r>
              <a:rPr lang="en-US" sz="2000" dirty="0">
                <a:solidFill>
                  <a:srgbClr val="92D050"/>
                </a:solidFill>
                <a:latin typeface="YS Text"/>
              </a:rPr>
              <a:t>    def __</a:t>
            </a:r>
            <a:r>
              <a:rPr lang="en-US" sz="2000" dirty="0" err="1">
                <a:solidFill>
                  <a:srgbClr val="92D050"/>
                </a:solidFill>
                <a:latin typeface="YS Text"/>
              </a:rPr>
              <a:t>init</a:t>
            </a:r>
            <a:r>
              <a:rPr lang="en-US" sz="2000" dirty="0">
                <a:solidFill>
                  <a:srgbClr val="92D050"/>
                </a:solidFill>
                <a:latin typeface="YS Text"/>
              </a:rPr>
              <a:t>__(self, </a:t>
            </a:r>
            <a:r>
              <a:rPr lang="en-US" sz="2000" dirty="0" err="1">
                <a:solidFill>
                  <a:srgbClr val="92D050"/>
                </a:solidFill>
                <a:latin typeface="YS Text"/>
              </a:rPr>
              <a:t>dial_type_value</a:t>
            </a:r>
            <a:r>
              <a:rPr lang="en-US" sz="2000" dirty="0">
                <a:solidFill>
                  <a:srgbClr val="92D050"/>
                </a:solidFill>
                <a:latin typeface="YS Text"/>
              </a:rPr>
              <a:t>):</a:t>
            </a:r>
          </a:p>
          <a:p>
            <a:pPr algn="l"/>
            <a:r>
              <a:rPr lang="en-US" sz="2000" dirty="0">
                <a:solidFill>
                  <a:srgbClr val="92D050"/>
                </a:solidFill>
                <a:latin typeface="YS Text"/>
              </a:rPr>
              <a:t>       	 </a:t>
            </a:r>
            <a:r>
              <a:rPr lang="en-US" sz="2000" dirty="0" err="1">
                <a:solidFill>
                  <a:srgbClr val="92D050"/>
                </a:solidFill>
                <a:latin typeface="YS Text"/>
              </a:rPr>
              <a:t>self.dial_type</a:t>
            </a:r>
            <a:r>
              <a:rPr lang="en-US" sz="2000" dirty="0">
                <a:solidFill>
                  <a:srgbClr val="92D050"/>
                </a:solidFill>
                <a:latin typeface="YS Text"/>
              </a:rPr>
              <a:t> = </a:t>
            </a:r>
            <a:r>
              <a:rPr lang="en-US" sz="2000" dirty="0" err="1">
                <a:solidFill>
                  <a:srgbClr val="92D050"/>
                </a:solidFill>
                <a:latin typeface="YS Text"/>
              </a:rPr>
              <a:t>dial_type_value</a:t>
            </a:r>
            <a:endParaRPr lang="en-US" sz="2000" dirty="0">
              <a:solidFill>
                <a:srgbClr val="92D050"/>
              </a:solidFill>
              <a:latin typeface="YS Text"/>
            </a:endParaRPr>
          </a:p>
          <a:p>
            <a:pPr algn="l"/>
            <a:endParaRPr lang="en-US" sz="2000" dirty="0">
              <a:solidFill>
                <a:srgbClr val="92D050"/>
              </a:solidFill>
              <a:latin typeface="YS Text"/>
            </a:endParaRPr>
          </a:p>
          <a:p>
            <a:pPr algn="l"/>
            <a:r>
              <a:rPr lang="en-US" sz="2000" dirty="0">
                <a:solidFill>
                  <a:srgbClr val="92D050"/>
                </a:solidFill>
                <a:latin typeface="YS Text"/>
              </a:rPr>
              <a:t>        def ring(self):</a:t>
            </a:r>
          </a:p>
          <a:p>
            <a:pPr algn="l"/>
            <a:r>
              <a:rPr lang="en-US" sz="2000" dirty="0">
                <a:solidFill>
                  <a:srgbClr val="92D050"/>
                </a:solidFill>
                <a:latin typeface="YS Text"/>
              </a:rPr>
              <a:t>        	print('</a:t>
            </a:r>
            <a:r>
              <a:rPr lang="ru-RU" sz="2000" dirty="0" err="1">
                <a:solidFill>
                  <a:srgbClr val="92D050"/>
                </a:solidFill>
                <a:latin typeface="YS Text"/>
              </a:rPr>
              <a:t>Дзззззыыыыыыыынь</a:t>
            </a:r>
            <a:r>
              <a:rPr lang="ru-RU" sz="2000" dirty="0">
                <a:solidFill>
                  <a:srgbClr val="92D050"/>
                </a:solidFill>
                <a:latin typeface="YS Text"/>
              </a:rPr>
              <a:t>!')</a:t>
            </a:r>
          </a:p>
          <a:p>
            <a:pPr algn="l"/>
            <a:endParaRPr lang="ru-RU" sz="2000" dirty="0">
              <a:solidFill>
                <a:srgbClr val="92D050"/>
              </a:solidFill>
              <a:latin typeface="YS Text"/>
            </a:endParaRPr>
          </a:p>
          <a:p>
            <a:pPr algn="l"/>
            <a:r>
              <a:rPr lang="ru-RU" sz="2000" dirty="0">
                <a:solidFill>
                  <a:srgbClr val="92D050"/>
                </a:solidFill>
                <a:latin typeface="YS Text"/>
              </a:rPr>
              <a:t>    </a:t>
            </a:r>
            <a:r>
              <a:rPr lang="en-US" sz="2000" dirty="0">
                <a:solidFill>
                  <a:srgbClr val="92D050"/>
                </a:solidFill>
                <a:latin typeface="YS Text"/>
              </a:rPr>
              <a:t>    def call(self, </a:t>
            </a:r>
            <a:r>
              <a:rPr lang="en-US" sz="2000" dirty="0" err="1">
                <a:solidFill>
                  <a:srgbClr val="92D050"/>
                </a:solidFill>
                <a:latin typeface="YS Text"/>
              </a:rPr>
              <a:t>phone_number</a:t>
            </a:r>
            <a:r>
              <a:rPr lang="en-US" sz="2000" dirty="0">
                <a:solidFill>
                  <a:srgbClr val="92D050"/>
                </a:solidFill>
                <a:latin typeface="YS Text"/>
              </a:rPr>
              <a:t>):</a:t>
            </a:r>
          </a:p>
          <a:p>
            <a:pPr algn="l"/>
            <a:r>
              <a:rPr lang="en-US" sz="2000" dirty="0">
                <a:solidFill>
                  <a:srgbClr val="92D050"/>
                </a:solidFill>
                <a:latin typeface="YS Text"/>
              </a:rPr>
              <a:t>         	print(f'</a:t>
            </a:r>
            <a:r>
              <a:rPr lang="ru-RU" sz="2000" dirty="0">
                <a:solidFill>
                  <a:srgbClr val="92D050"/>
                </a:solidFill>
                <a:latin typeface="YS Text"/>
              </a:rPr>
              <a:t>Звоню по номеру {</a:t>
            </a:r>
            <a:r>
              <a:rPr lang="en-US" sz="2000" dirty="0" err="1">
                <a:solidFill>
                  <a:srgbClr val="92D050"/>
                </a:solidFill>
                <a:latin typeface="YS Text"/>
              </a:rPr>
              <a:t>phone_number</a:t>
            </a:r>
            <a:r>
              <a:rPr lang="en-US" sz="2000" dirty="0">
                <a:solidFill>
                  <a:srgbClr val="92D050"/>
                </a:solidFill>
                <a:latin typeface="YS Text"/>
              </a:rPr>
              <a:t>}! </a:t>
            </a:r>
            <a:r>
              <a:rPr lang="ru-RU" sz="2000" dirty="0">
                <a:solidFill>
                  <a:srgbClr val="92D050"/>
                </a:solidFill>
                <a:latin typeface="YS Text"/>
              </a:rPr>
              <a:t>Тип связи - {</a:t>
            </a:r>
            <a:r>
              <a:rPr lang="en-US" sz="2000" dirty="0" err="1">
                <a:solidFill>
                  <a:srgbClr val="92D050"/>
                </a:solidFill>
                <a:latin typeface="YS Text"/>
              </a:rPr>
              <a:t>self.line_type</a:t>
            </a:r>
            <a:r>
              <a:rPr lang="en-US" sz="2000" dirty="0">
                <a:solidFill>
                  <a:srgbClr val="92D050"/>
                </a:solidFill>
                <a:latin typeface="YS Text"/>
              </a:rPr>
              <a:t>}.')</a:t>
            </a:r>
          </a:p>
          <a:p>
            <a:pPr algn="l"/>
            <a:endParaRPr lang="en-US" sz="2000" dirty="0">
              <a:solidFill>
                <a:srgbClr val="92D050"/>
              </a:solidFill>
              <a:latin typeface="YS Text"/>
            </a:endParaRPr>
          </a:p>
          <a:p>
            <a:pPr algn="l"/>
            <a:endParaRPr lang="en-US" sz="2000" dirty="0">
              <a:solidFill>
                <a:srgbClr val="92D050"/>
              </a:solidFill>
              <a:latin typeface="YS Text"/>
            </a:endParaRPr>
          </a:p>
          <a:p>
            <a:pPr algn="l"/>
            <a:r>
              <a:rPr lang="en-US" sz="2000" b="1" dirty="0">
                <a:solidFill>
                  <a:schemeClr val="accent5">
                    <a:lumMod val="60000"/>
                    <a:lumOff val="40000"/>
                  </a:schemeClr>
                </a:solidFill>
                <a:latin typeface="YS Text"/>
              </a:rPr>
              <a:t>class </a:t>
            </a:r>
            <a:r>
              <a:rPr lang="en-US" sz="2000" b="1" dirty="0" err="1">
                <a:solidFill>
                  <a:schemeClr val="accent5">
                    <a:lumMod val="60000"/>
                    <a:lumOff val="40000"/>
                  </a:schemeClr>
                </a:solidFill>
                <a:latin typeface="YS Text"/>
              </a:rPr>
              <a:t>MobilePhone</a:t>
            </a:r>
            <a:r>
              <a:rPr lang="en-US" sz="2000" b="1" dirty="0">
                <a:solidFill>
                  <a:schemeClr val="accent5">
                    <a:lumMod val="60000"/>
                    <a:lumOff val="40000"/>
                  </a:schemeClr>
                </a:solidFill>
                <a:latin typeface="YS Text"/>
              </a:rPr>
              <a:t>(Phone):</a:t>
            </a:r>
          </a:p>
          <a:p>
            <a:pPr algn="l"/>
            <a:r>
              <a:rPr lang="en-US" sz="2000" dirty="0">
                <a:solidFill>
                  <a:srgbClr val="92D050"/>
                </a:solidFill>
                <a:latin typeface="YS Text"/>
              </a:rPr>
              <a:t>        </a:t>
            </a:r>
            <a:r>
              <a:rPr lang="en-US" sz="2000" b="1" dirty="0" err="1">
                <a:solidFill>
                  <a:schemeClr val="accent5">
                    <a:lumMod val="60000"/>
                    <a:lumOff val="40000"/>
                  </a:schemeClr>
                </a:solidFill>
                <a:latin typeface="YS Text"/>
              </a:rPr>
              <a:t>line_type</a:t>
            </a:r>
            <a:r>
              <a:rPr lang="en-US" sz="2000" b="1" dirty="0">
                <a:solidFill>
                  <a:schemeClr val="accent5">
                    <a:lumMod val="60000"/>
                    <a:lumOff val="40000"/>
                  </a:schemeClr>
                </a:solidFill>
                <a:latin typeface="YS Text"/>
              </a:rPr>
              <a:t> = '</a:t>
            </a:r>
            <a:r>
              <a:rPr lang="ru-RU" sz="2000" b="1" dirty="0">
                <a:solidFill>
                  <a:schemeClr val="accent5">
                    <a:lumMod val="60000"/>
                    <a:lumOff val="40000"/>
                  </a:schemeClr>
                </a:solidFill>
                <a:latin typeface="YS Text"/>
              </a:rPr>
              <a:t>беспроводной'</a:t>
            </a:r>
          </a:p>
          <a:p>
            <a:pPr algn="l"/>
            <a:r>
              <a:rPr lang="ru-RU" sz="2000" dirty="0">
                <a:solidFill>
                  <a:srgbClr val="92D050"/>
                </a:solidFill>
                <a:latin typeface="YS Text"/>
              </a:rPr>
              <a:t>   </a:t>
            </a:r>
            <a:r>
              <a:rPr lang="en-US" sz="2000" dirty="0">
                <a:solidFill>
                  <a:srgbClr val="92D050"/>
                </a:solidFill>
                <a:latin typeface="YS Text"/>
              </a:rPr>
              <a:t>    </a:t>
            </a:r>
            <a:r>
              <a:rPr lang="ru-RU" sz="2000" dirty="0">
                <a:solidFill>
                  <a:srgbClr val="92D050"/>
                </a:solidFill>
                <a:latin typeface="YS Text"/>
              </a:rPr>
              <a:t> # Никаких сюрпризов - обычная переменная,</a:t>
            </a:r>
            <a:r>
              <a:rPr lang="en-US" sz="2000" dirty="0">
                <a:solidFill>
                  <a:srgbClr val="92D050"/>
                </a:solidFill>
                <a:latin typeface="YS Text"/>
              </a:rPr>
              <a:t> </a:t>
            </a:r>
            <a:r>
              <a:rPr lang="ru-RU" sz="2000" dirty="0">
                <a:solidFill>
                  <a:srgbClr val="92D050"/>
                </a:solidFill>
                <a:latin typeface="YS Text"/>
              </a:rPr>
              <a:t>в которой хранится нужное значение.</a:t>
            </a:r>
          </a:p>
          <a:p>
            <a:pPr algn="l"/>
            <a:r>
              <a:rPr lang="ru-RU" sz="2000" dirty="0">
                <a:solidFill>
                  <a:srgbClr val="92D050"/>
                </a:solidFill>
                <a:latin typeface="YS Text"/>
              </a:rPr>
              <a:t>   </a:t>
            </a:r>
            <a:r>
              <a:rPr lang="en-US" sz="2000" dirty="0">
                <a:solidFill>
                  <a:srgbClr val="92D050"/>
                </a:solidFill>
                <a:latin typeface="YS Text"/>
              </a:rPr>
              <a:t>    </a:t>
            </a:r>
            <a:r>
              <a:rPr lang="ru-RU" sz="2000" dirty="0">
                <a:solidFill>
                  <a:srgbClr val="92D050"/>
                </a:solidFill>
                <a:latin typeface="YS Text"/>
              </a:rPr>
              <a:t> </a:t>
            </a:r>
            <a:r>
              <a:rPr lang="en-US" sz="2000" b="1" dirty="0" err="1">
                <a:solidFill>
                  <a:schemeClr val="accent5">
                    <a:lumMod val="60000"/>
                    <a:lumOff val="40000"/>
                  </a:schemeClr>
                </a:solidFill>
                <a:latin typeface="YS Text"/>
              </a:rPr>
              <a:t>battery_type</a:t>
            </a:r>
            <a:r>
              <a:rPr lang="en-US" sz="2000" b="1" dirty="0">
                <a:solidFill>
                  <a:schemeClr val="accent5">
                    <a:lumMod val="60000"/>
                    <a:lumOff val="40000"/>
                  </a:schemeClr>
                </a:solidFill>
                <a:latin typeface="YS Text"/>
              </a:rPr>
              <a:t> = 'Li-ion'</a:t>
            </a:r>
          </a:p>
          <a:p>
            <a:pPr algn="l"/>
            <a:endParaRPr lang="en-US" sz="2000" dirty="0">
              <a:solidFill>
                <a:srgbClr val="92D050"/>
              </a:solidFill>
              <a:latin typeface="YS Text"/>
            </a:endParaRPr>
          </a:p>
          <a:p>
            <a:pPr algn="l"/>
            <a:r>
              <a:rPr lang="en-US" sz="2000" dirty="0">
                <a:solidFill>
                  <a:srgbClr val="92D050"/>
                </a:solidFill>
                <a:latin typeface="YS Text"/>
              </a:rPr>
              <a:t>        def ring(self):</a:t>
            </a:r>
          </a:p>
          <a:p>
            <a:pPr algn="l"/>
            <a:r>
              <a:rPr lang="en-US" sz="2000" dirty="0">
                <a:solidFill>
                  <a:srgbClr val="92D050"/>
                </a:solidFill>
                <a:latin typeface="YS Text"/>
              </a:rPr>
              <a:t>                	print('</a:t>
            </a:r>
            <a:r>
              <a:rPr lang="ru-RU" sz="2000" dirty="0">
                <a:solidFill>
                  <a:srgbClr val="92D050"/>
                </a:solidFill>
                <a:latin typeface="YS Text"/>
              </a:rPr>
              <a:t>Дзынь-дзынь!')</a:t>
            </a:r>
          </a:p>
        </p:txBody>
      </p:sp>
    </p:spTree>
    <p:extLst>
      <p:ext uri="{BB962C8B-B14F-4D97-AF65-F5344CB8AC3E}">
        <p14:creationId xmlns:p14="http://schemas.microsoft.com/office/powerpoint/2010/main" val="3433637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Атрибут </a:t>
            </a:r>
            <a:r>
              <a:rPr lang="ru-RU" sz="2000" b="0" i="0" dirty="0" err="1">
                <a:solidFill>
                  <a:schemeClr val="accent5">
                    <a:lumMod val="60000"/>
                    <a:lumOff val="40000"/>
                  </a:schemeClr>
                </a:solidFill>
                <a:effectLst/>
                <a:latin typeface="YS Text"/>
              </a:rPr>
              <a:t>network_type</a:t>
            </a:r>
            <a:r>
              <a:rPr lang="ru-RU" sz="2000" b="0" i="0" dirty="0">
                <a:solidFill>
                  <a:schemeClr val="accent5">
                    <a:lumMod val="60000"/>
                    <a:lumOff val="40000"/>
                  </a:schemeClr>
                </a:solidFill>
                <a:effectLst/>
                <a:latin typeface="YS Text"/>
              </a:rPr>
              <a:t> </a:t>
            </a:r>
            <a:r>
              <a:rPr lang="ru-RU" sz="2000" b="0" i="0" dirty="0">
                <a:solidFill>
                  <a:schemeClr val="tx1"/>
                </a:solidFill>
                <a:effectLst/>
                <a:latin typeface="YS Text"/>
              </a:rPr>
              <a:t>должен быть атрибутом экземпляра класса. Следовательно, значение этого атрибута нужно указывать при создании объектов класса </a:t>
            </a:r>
            <a:r>
              <a:rPr lang="ru-RU" sz="2000" b="0" i="0" dirty="0" err="1">
                <a:solidFill>
                  <a:schemeClr val="accent5">
                    <a:lumMod val="60000"/>
                    <a:lumOff val="40000"/>
                  </a:schemeClr>
                </a:solidFill>
                <a:effectLst/>
                <a:latin typeface="YS Text"/>
              </a:rPr>
              <a:t>MobilePhone</a:t>
            </a:r>
            <a:r>
              <a:rPr lang="ru-RU" sz="2000" b="0" i="0" dirty="0">
                <a:solidFill>
                  <a:schemeClr val="tx1"/>
                </a:solidFill>
                <a:effectLst/>
                <a:latin typeface="YS Text"/>
              </a:rPr>
              <a:t>. </a:t>
            </a:r>
          </a:p>
          <a:p>
            <a:pPr algn="l"/>
            <a:r>
              <a:rPr lang="ru-RU" sz="2000" b="0" i="0" dirty="0">
                <a:solidFill>
                  <a:schemeClr val="tx1"/>
                </a:solidFill>
                <a:effectLst/>
                <a:latin typeface="YS Text"/>
              </a:rPr>
              <a:t>Для создания такого атрибута вам понадобится </a:t>
            </a:r>
            <a:r>
              <a:rPr lang="ru-RU" sz="2400" b="1" i="0" dirty="0">
                <a:solidFill>
                  <a:schemeClr val="accent5">
                    <a:lumMod val="60000"/>
                    <a:lumOff val="40000"/>
                  </a:schemeClr>
                </a:solidFill>
                <a:effectLst/>
                <a:latin typeface="YS Text"/>
              </a:rPr>
              <a:t>инициализатор класса</a:t>
            </a:r>
            <a:r>
              <a:rPr lang="ru-RU" sz="2000" b="0" i="0" dirty="0">
                <a:solidFill>
                  <a:schemeClr val="tx1"/>
                </a:solidFill>
                <a:effectLst/>
                <a:latin typeface="YS Text"/>
              </a:rPr>
              <a:t>. В дочернем классе его не нужно описывать с нуля — </a:t>
            </a:r>
            <a:r>
              <a:rPr lang="ru-RU" sz="2000" b="0" i="0" dirty="0">
                <a:solidFill>
                  <a:schemeClr val="accent5">
                    <a:lumMod val="60000"/>
                    <a:lumOff val="40000"/>
                  </a:schemeClr>
                </a:solidFill>
                <a:effectLst/>
                <a:latin typeface="YS Text"/>
              </a:rPr>
              <a:t>можно задействовать </a:t>
            </a:r>
            <a:r>
              <a:rPr lang="ru-RU" sz="2400" b="1" i="0" dirty="0">
                <a:solidFill>
                  <a:schemeClr val="accent5">
                    <a:lumMod val="60000"/>
                    <a:lumOff val="40000"/>
                  </a:schemeClr>
                </a:solidFill>
                <a:effectLst/>
                <a:latin typeface="YS Text"/>
              </a:rPr>
              <a:t>родительский инициализатор</a:t>
            </a:r>
            <a:r>
              <a:rPr lang="ru-RU" sz="2000" b="0" i="0" dirty="0">
                <a:solidFill>
                  <a:schemeClr val="tx1"/>
                </a:solidFill>
                <a:effectLst/>
                <a:latin typeface="YS Text"/>
              </a:rPr>
              <a:t>. Нужно лишь расширить его дополнительным кодом по такому плану:</a:t>
            </a:r>
          </a:p>
          <a:p>
            <a:pPr marL="457200" indent="-457200" algn="l">
              <a:buFont typeface="+mj-lt"/>
              <a:buAutoNum type="arabicPeriod"/>
            </a:pPr>
            <a:r>
              <a:rPr lang="ru-RU" sz="2000" b="0" i="0" dirty="0">
                <a:solidFill>
                  <a:schemeClr val="tx1"/>
                </a:solidFill>
                <a:effectLst/>
                <a:latin typeface="YS Text"/>
              </a:rPr>
              <a:t>Объявить инициализатор класса </a:t>
            </a:r>
            <a:r>
              <a:rPr lang="ru-RU" sz="2000" b="0" i="0" dirty="0" err="1">
                <a:solidFill>
                  <a:schemeClr val="accent5">
                    <a:lumMod val="60000"/>
                    <a:lumOff val="40000"/>
                  </a:schemeClr>
                </a:solidFill>
                <a:effectLst/>
                <a:latin typeface="YS Text"/>
              </a:rPr>
              <a:t>MobilePhone</a:t>
            </a:r>
            <a:r>
              <a:rPr lang="ru-RU" sz="2000" b="0" i="0" dirty="0">
                <a:solidFill>
                  <a:schemeClr val="tx1"/>
                </a:solidFill>
                <a:effectLst/>
                <a:latin typeface="YS Text"/>
              </a:rPr>
              <a:t>.</a:t>
            </a:r>
          </a:p>
          <a:p>
            <a:pPr marL="457200" indent="-457200" algn="l">
              <a:buFont typeface="+mj-lt"/>
              <a:buAutoNum type="arabicPeriod"/>
            </a:pPr>
            <a:r>
              <a:rPr lang="ru-RU" sz="2000" b="0" i="0" dirty="0">
                <a:solidFill>
                  <a:schemeClr val="tx1"/>
                </a:solidFill>
                <a:effectLst/>
                <a:latin typeface="YS Text"/>
              </a:rPr>
              <a:t>Добавить в него новый атрибут </a:t>
            </a:r>
            <a:r>
              <a:rPr lang="ru-RU" sz="2000" b="0" i="0" dirty="0" err="1">
                <a:solidFill>
                  <a:schemeClr val="accent5">
                    <a:lumMod val="60000"/>
                    <a:lumOff val="40000"/>
                  </a:schemeClr>
                </a:solidFill>
                <a:effectLst/>
                <a:latin typeface="YS Text"/>
              </a:rPr>
              <a:t>network_type</a:t>
            </a:r>
            <a:r>
              <a:rPr lang="ru-RU" sz="2000" b="0" i="0" dirty="0">
                <a:solidFill>
                  <a:schemeClr val="tx1"/>
                </a:solidFill>
                <a:effectLst/>
                <a:latin typeface="YS Text"/>
              </a:rPr>
              <a:t>.</a:t>
            </a:r>
          </a:p>
          <a:p>
            <a:pPr marL="457200" indent="-457200" algn="l">
              <a:buFont typeface="+mj-lt"/>
              <a:buAutoNum type="arabicPeriod"/>
            </a:pPr>
            <a:r>
              <a:rPr lang="ru-RU" sz="2000" b="0" i="0" dirty="0">
                <a:solidFill>
                  <a:schemeClr val="tx1"/>
                </a:solidFill>
                <a:effectLst/>
                <a:latin typeface="YS Text"/>
              </a:rPr>
              <a:t>Вызвать родительский инициализатор. Для этого вам понадобится </a:t>
            </a:r>
            <a:r>
              <a:rPr lang="ru-RU" sz="2400" b="1" i="0" dirty="0">
                <a:solidFill>
                  <a:schemeClr val="accent5">
                    <a:lumMod val="60000"/>
                    <a:lumOff val="40000"/>
                  </a:schemeClr>
                </a:solidFill>
                <a:effectLst/>
                <a:latin typeface="YS Text"/>
              </a:rPr>
              <a:t>функция </a:t>
            </a:r>
            <a:r>
              <a:rPr lang="ru-RU" sz="2400" b="1" i="0" dirty="0" err="1">
                <a:solidFill>
                  <a:schemeClr val="accent5">
                    <a:lumMod val="60000"/>
                    <a:lumOff val="40000"/>
                  </a:schemeClr>
                </a:solidFill>
                <a:effectLst/>
                <a:latin typeface="YS Text"/>
              </a:rPr>
              <a:t>super</a:t>
            </a:r>
            <a:r>
              <a:rPr lang="ru-RU" sz="2400" b="1" i="0" dirty="0">
                <a:solidFill>
                  <a:schemeClr val="accent5">
                    <a:lumMod val="60000"/>
                    <a:lumOff val="40000"/>
                  </a:schemeClr>
                </a:solidFill>
                <a:effectLst/>
                <a:latin typeface="YS Text"/>
              </a:rPr>
              <a:t>().</a:t>
            </a:r>
            <a:endParaRPr lang="en-US" sz="2400" b="1" i="0" dirty="0">
              <a:solidFill>
                <a:schemeClr val="accent5">
                  <a:lumMod val="60000"/>
                  <a:lumOff val="40000"/>
                </a:schemeClr>
              </a:solidFill>
              <a:effectLst/>
              <a:latin typeface="YS Text"/>
            </a:endParaRPr>
          </a:p>
          <a:p>
            <a:pPr algn="l"/>
            <a:endParaRPr lang="en-US" sz="2400" b="1" dirty="0">
              <a:solidFill>
                <a:schemeClr val="accent5">
                  <a:lumMod val="60000"/>
                  <a:lumOff val="40000"/>
                </a:schemeClr>
              </a:solidFill>
              <a:latin typeface="YS Text"/>
            </a:endParaRPr>
          </a:p>
          <a:p>
            <a:pPr algn="l"/>
            <a:r>
              <a:rPr lang="ru-RU" sz="2000" b="1" dirty="0">
                <a:solidFill>
                  <a:schemeClr val="tx1"/>
                </a:solidFill>
                <a:latin typeface="YS Text"/>
              </a:rPr>
              <a:t># Инициализатор класса </a:t>
            </a:r>
            <a:r>
              <a:rPr lang="en-US" sz="2000" b="1" dirty="0" err="1">
                <a:solidFill>
                  <a:schemeClr val="tx1"/>
                </a:solidFill>
                <a:latin typeface="YS Text"/>
              </a:rPr>
              <a:t>MobilePhone</a:t>
            </a:r>
            <a:r>
              <a:rPr lang="en-US" sz="2000" b="1" dirty="0">
                <a:solidFill>
                  <a:schemeClr val="tx1"/>
                </a:solidFill>
                <a:latin typeface="YS Text"/>
              </a:rPr>
              <a:t> </a:t>
            </a:r>
            <a:r>
              <a:rPr lang="ru-RU" sz="2000" b="1" dirty="0">
                <a:solidFill>
                  <a:schemeClr val="tx1"/>
                </a:solidFill>
                <a:latin typeface="YS Text"/>
              </a:rPr>
              <a:t>с новым параметром - </a:t>
            </a:r>
            <a:r>
              <a:rPr lang="en-US" sz="2000" b="1" dirty="0" err="1">
                <a:solidFill>
                  <a:schemeClr val="tx1"/>
                </a:solidFill>
                <a:latin typeface="YS Text"/>
              </a:rPr>
              <a:t>network_type</a:t>
            </a:r>
            <a:r>
              <a:rPr lang="en-US" sz="2000" b="1" dirty="0">
                <a:solidFill>
                  <a:schemeClr val="tx1"/>
                </a:solidFill>
                <a:latin typeface="YS Text"/>
              </a:rPr>
              <a:t>.</a:t>
            </a:r>
          </a:p>
          <a:p>
            <a:pPr algn="l"/>
            <a:r>
              <a:rPr lang="en-US" sz="2000" b="1" dirty="0">
                <a:solidFill>
                  <a:srgbClr val="92D050"/>
                </a:solidFill>
                <a:latin typeface="YS Text"/>
              </a:rPr>
              <a:t>def __</a:t>
            </a:r>
            <a:r>
              <a:rPr lang="en-US" sz="2000" b="1" dirty="0" err="1">
                <a:solidFill>
                  <a:srgbClr val="92D050"/>
                </a:solidFill>
                <a:latin typeface="YS Text"/>
              </a:rPr>
              <a:t>init</a:t>
            </a:r>
            <a:r>
              <a:rPr lang="en-US" sz="2000" b="1" dirty="0">
                <a:solidFill>
                  <a:srgbClr val="92D050"/>
                </a:solidFill>
                <a:latin typeface="YS Text"/>
              </a:rPr>
              <a:t>__(self, </a:t>
            </a:r>
            <a:r>
              <a:rPr lang="en-US" sz="2000" b="1" dirty="0" err="1">
                <a:solidFill>
                  <a:srgbClr val="92D050"/>
                </a:solidFill>
                <a:latin typeface="YS Text"/>
              </a:rPr>
              <a:t>dial_type_value</a:t>
            </a:r>
            <a:r>
              <a:rPr lang="en-US" sz="2000" b="1" dirty="0">
                <a:solidFill>
                  <a:srgbClr val="92D050"/>
                </a:solidFill>
                <a:latin typeface="YS Text"/>
              </a:rPr>
              <a:t>, </a:t>
            </a:r>
            <a:r>
              <a:rPr lang="en-US" sz="2000" b="1" dirty="0" err="1">
                <a:solidFill>
                  <a:srgbClr val="92D050"/>
                </a:solidFill>
                <a:latin typeface="YS Text"/>
              </a:rPr>
              <a:t>network_type</a:t>
            </a:r>
            <a:r>
              <a:rPr lang="en-US" sz="2000" b="1" dirty="0">
                <a:solidFill>
                  <a:srgbClr val="92D050"/>
                </a:solidFill>
                <a:latin typeface="YS Text"/>
              </a:rPr>
              <a:t>):</a:t>
            </a:r>
          </a:p>
          <a:p>
            <a:pPr algn="l"/>
            <a:r>
              <a:rPr lang="en-US" sz="2000" b="1" dirty="0">
                <a:solidFill>
                  <a:schemeClr val="tx1"/>
                </a:solidFill>
                <a:latin typeface="YS Text"/>
              </a:rPr>
              <a:t>        # </a:t>
            </a:r>
            <a:r>
              <a:rPr lang="ru-RU" sz="2000" b="1" dirty="0">
                <a:solidFill>
                  <a:schemeClr val="tx1"/>
                </a:solidFill>
                <a:latin typeface="YS Text"/>
              </a:rPr>
              <a:t>Новый атрибут объекта.</a:t>
            </a:r>
          </a:p>
          <a:p>
            <a:pPr algn="l"/>
            <a:r>
              <a:rPr lang="ru-RU" sz="2000" b="1" dirty="0">
                <a:solidFill>
                  <a:schemeClr val="tx1"/>
                </a:solidFill>
                <a:latin typeface="YS Text"/>
              </a:rPr>
              <a:t>        </a:t>
            </a:r>
            <a:r>
              <a:rPr lang="en-US" sz="2000" b="1" dirty="0" err="1">
                <a:solidFill>
                  <a:srgbClr val="92D050"/>
                </a:solidFill>
                <a:latin typeface="YS Text"/>
              </a:rPr>
              <a:t>self.network_type</a:t>
            </a:r>
            <a:r>
              <a:rPr lang="en-US" sz="2000" b="1" dirty="0">
                <a:solidFill>
                  <a:srgbClr val="92D050"/>
                </a:solidFill>
                <a:latin typeface="YS Text"/>
              </a:rPr>
              <a:t> = </a:t>
            </a:r>
            <a:r>
              <a:rPr lang="en-US" sz="2000" b="1" dirty="0" err="1">
                <a:solidFill>
                  <a:srgbClr val="92D050"/>
                </a:solidFill>
                <a:latin typeface="YS Text"/>
              </a:rPr>
              <a:t>network_type</a:t>
            </a:r>
            <a:endParaRPr lang="en-US" sz="2000" b="1" dirty="0">
              <a:solidFill>
                <a:srgbClr val="92D050"/>
              </a:solidFill>
              <a:latin typeface="YS Text"/>
            </a:endParaRPr>
          </a:p>
          <a:p>
            <a:pPr algn="l"/>
            <a:r>
              <a:rPr lang="en-US" sz="2000" b="1" dirty="0">
                <a:solidFill>
                  <a:schemeClr val="tx1"/>
                </a:solidFill>
                <a:latin typeface="YS Text"/>
              </a:rPr>
              <a:t>        # </a:t>
            </a:r>
            <a:r>
              <a:rPr lang="ru-RU" sz="2000" b="1" dirty="0">
                <a:solidFill>
                  <a:schemeClr val="tx1"/>
                </a:solidFill>
                <a:latin typeface="YS Text"/>
              </a:rPr>
              <a:t>Вызов родительского инициализатора.</a:t>
            </a:r>
          </a:p>
          <a:p>
            <a:pPr algn="l"/>
            <a:r>
              <a:rPr lang="ru-RU" sz="2000" b="1" dirty="0">
                <a:solidFill>
                  <a:schemeClr val="tx1"/>
                </a:solidFill>
                <a:latin typeface="YS Text"/>
              </a:rPr>
              <a:t>        </a:t>
            </a:r>
            <a:r>
              <a:rPr lang="en-US" sz="2000" b="1" dirty="0">
                <a:solidFill>
                  <a:srgbClr val="92D050"/>
                </a:solidFill>
                <a:latin typeface="YS Text"/>
              </a:rPr>
              <a:t>super().__</a:t>
            </a:r>
            <a:r>
              <a:rPr lang="en-US" sz="2000" b="1" dirty="0" err="1">
                <a:solidFill>
                  <a:srgbClr val="92D050"/>
                </a:solidFill>
                <a:latin typeface="YS Text"/>
              </a:rPr>
              <a:t>init</a:t>
            </a:r>
            <a:r>
              <a:rPr lang="en-US" sz="2000" b="1" dirty="0">
                <a:solidFill>
                  <a:srgbClr val="92D050"/>
                </a:solidFill>
                <a:latin typeface="YS Text"/>
              </a:rPr>
              <a:t>__(</a:t>
            </a:r>
            <a:r>
              <a:rPr lang="en-US" sz="2000" b="1" dirty="0" err="1">
                <a:solidFill>
                  <a:srgbClr val="92D050"/>
                </a:solidFill>
                <a:latin typeface="YS Text"/>
              </a:rPr>
              <a:t>dial_type_value</a:t>
            </a:r>
            <a:r>
              <a:rPr lang="en-US" sz="2000" b="1" dirty="0">
                <a:solidFill>
                  <a:srgbClr val="92D050"/>
                </a:solidFill>
                <a:latin typeface="YS Text"/>
              </a:rPr>
              <a:t>)</a:t>
            </a:r>
            <a:endParaRPr lang="ru-RU" sz="2000" b="1" dirty="0">
              <a:solidFill>
                <a:srgbClr val="92D050"/>
              </a:solidFill>
              <a:latin typeface="YS Text"/>
            </a:endParaRPr>
          </a:p>
        </p:txBody>
      </p:sp>
    </p:spTree>
    <p:extLst>
      <p:ext uri="{BB962C8B-B14F-4D97-AF65-F5344CB8AC3E}">
        <p14:creationId xmlns:p14="http://schemas.microsoft.com/office/powerpoint/2010/main" val="2792027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marL="342900" indent="-342900" algn="l">
              <a:buFont typeface="Arial" panose="020B0604020202020204" pitchFamily="34" charset="0"/>
              <a:buChar char="•"/>
            </a:pPr>
            <a:r>
              <a:rPr lang="ru-RU" sz="2000" b="0" i="0" dirty="0">
                <a:solidFill>
                  <a:schemeClr val="tx1"/>
                </a:solidFill>
                <a:effectLst/>
                <a:latin typeface="YS Text"/>
              </a:rPr>
              <a:t>У объектов дочерних классов есть доступ к атрибутам и методам родительского класса, а вот объекты родительского класса не могут воспользоваться возможностями дочернего!</a:t>
            </a:r>
          </a:p>
          <a:p>
            <a:pPr marL="342900" indent="-342900" algn="l">
              <a:buFont typeface="Arial" panose="020B0604020202020204" pitchFamily="34" charset="0"/>
              <a:buChar char="•"/>
            </a:pPr>
            <a:endParaRPr lang="ru-RU" sz="2000" dirty="0">
              <a:solidFill>
                <a:schemeClr val="tx1"/>
              </a:solidFill>
              <a:latin typeface="YS Text"/>
            </a:endParaRPr>
          </a:p>
          <a:p>
            <a:pPr marL="342900" indent="-342900" algn="l">
              <a:buFont typeface="Arial" panose="020B0604020202020204" pitchFamily="34" charset="0"/>
              <a:buChar char="•"/>
            </a:pPr>
            <a:r>
              <a:rPr lang="ru-RU" sz="2000" dirty="0">
                <a:solidFill>
                  <a:schemeClr val="tx1"/>
                </a:solidFill>
                <a:latin typeface="YS Text"/>
              </a:rPr>
              <a:t>Для класса Phone не указан родительский класс, но это не значит, что у него нет родителя </a:t>
            </a:r>
            <a:r>
              <a:rPr lang="ru-RU" sz="2000" dirty="0">
                <a:solidFill>
                  <a:schemeClr val="tx1"/>
                </a:solidFill>
                <a:latin typeface="YS Text"/>
                <a:sym typeface="Wingdings" panose="05000000000000000000" pitchFamily="2" charset="2"/>
              </a:rPr>
              <a:t></a:t>
            </a:r>
          </a:p>
          <a:p>
            <a:pPr algn="l"/>
            <a:r>
              <a:rPr lang="ru-RU" sz="2000" dirty="0">
                <a:solidFill>
                  <a:schemeClr val="tx1"/>
                </a:solidFill>
                <a:latin typeface="YS Text"/>
              </a:rPr>
              <a:t>В Python все классы напрямую или через классы-родители — наследники </a:t>
            </a:r>
            <a:r>
              <a:rPr lang="ru-RU" sz="2400" b="1" dirty="0">
                <a:solidFill>
                  <a:schemeClr val="accent5">
                    <a:lumMod val="60000"/>
                    <a:lumOff val="40000"/>
                  </a:schemeClr>
                </a:solidFill>
                <a:latin typeface="YS Text"/>
              </a:rPr>
              <a:t>встроенного базового класса </a:t>
            </a:r>
            <a:r>
              <a:rPr lang="ru-RU" sz="2400" b="1" dirty="0" err="1">
                <a:solidFill>
                  <a:schemeClr val="accent5">
                    <a:lumMod val="60000"/>
                    <a:lumOff val="40000"/>
                  </a:schemeClr>
                </a:solidFill>
                <a:latin typeface="YS Text"/>
              </a:rPr>
              <a:t>object</a:t>
            </a:r>
            <a:r>
              <a:rPr lang="ru-RU" sz="2000" dirty="0">
                <a:solidFill>
                  <a:schemeClr val="tx1"/>
                </a:solidFill>
                <a:latin typeface="YS Text"/>
              </a:rPr>
              <a:t>. Это значит, что все классы в Python могут использовать методы класса </a:t>
            </a:r>
            <a:r>
              <a:rPr lang="ru-RU" sz="2000" dirty="0" err="1">
                <a:solidFill>
                  <a:schemeClr val="tx1"/>
                </a:solidFill>
                <a:latin typeface="YS Text"/>
              </a:rPr>
              <a:t>object</a:t>
            </a:r>
            <a:r>
              <a:rPr lang="ru-RU" sz="2000" dirty="0">
                <a:solidFill>
                  <a:schemeClr val="tx1"/>
                </a:solidFill>
                <a:latin typeface="YS Text"/>
              </a:rPr>
              <a:t>. Например, знакомый вам метод </a:t>
            </a:r>
            <a:r>
              <a:rPr lang="ru-RU" sz="2000" dirty="0">
                <a:solidFill>
                  <a:schemeClr val="accent5">
                    <a:lumMod val="60000"/>
                    <a:lumOff val="40000"/>
                  </a:schemeClr>
                </a:solidFill>
                <a:latin typeface="YS Text"/>
              </a:rPr>
              <a:t>__</a:t>
            </a:r>
            <a:r>
              <a:rPr lang="ru-RU" sz="2000" dirty="0" err="1">
                <a:solidFill>
                  <a:schemeClr val="accent5">
                    <a:lumMod val="60000"/>
                    <a:lumOff val="40000"/>
                  </a:schemeClr>
                </a:solidFill>
                <a:latin typeface="YS Text"/>
              </a:rPr>
              <a:t>str</a:t>
            </a:r>
            <a:r>
              <a:rPr lang="ru-RU" sz="2000" dirty="0">
                <a:solidFill>
                  <a:schemeClr val="accent5">
                    <a:lumMod val="60000"/>
                    <a:lumOff val="40000"/>
                  </a:schemeClr>
                </a:solidFill>
                <a:latin typeface="YS Text"/>
              </a:rPr>
              <a:t>__() </a:t>
            </a:r>
            <a:r>
              <a:rPr lang="ru-RU" sz="2000" dirty="0">
                <a:solidFill>
                  <a:schemeClr val="tx1"/>
                </a:solidFill>
                <a:latin typeface="YS Text"/>
              </a:rPr>
              <a:t>определён именно в </a:t>
            </a:r>
            <a:r>
              <a:rPr lang="ru-RU" sz="2000" dirty="0">
                <a:solidFill>
                  <a:schemeClr val="accent5">
                    <a:lumMod val="60000"/>
                    <a:lumOff val="40000"/>
                  </a:schemeClr>
                </a:solidFill>
                <a:latin typeface="YS Text"/>
              </a:rPr>
              <a:t>классе </a:t>
            </a:r>
            <a:r>
              <a:rPr lang="ru-RU" sz="2000" dirty="0" err="1">
                <a:solidFill>
                  <a:schemeClr val="accent5">
                    <a:lumMod val="60000"/>
                    <a:lumOff val="40000"/>
                  </a:schemeClr>
                </a:solidFill>
                <a:latin typeface="YS Text"/>
              </a:rPr>
              <a:t>object</a:t>
            </a:r>
            <a:r>
              <a:rPr lang="ru-RU" sz="2000" dirty="0">
                <a:solidFill>
                  <a:schemeClr val="tx1"/>
                </a:solidFill>
                <a:latin typeface="YS Text"/>
              </a:rPr>
              <a:t>.</a:t>
            </a:r>
          </a:p>
        </p:txBody>
      </p:sp>
    </p:spTree>
    <p:extLst>
      <p:ext uri="{BB962C8B-B14F-4D97-AF65-F5344CB8AC3E}">
        <p14:creationId xmlns:p14="http://schemas.microsoft.com/office/powerpoint/2010/main" val="31668844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Полиморфизм</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270933" y="833718"/>
            <a:ext cx="11650134" cy="5919179"/>
          </a:xfrm>
        </p:spPr>
        <p:txBody>
          <a:bodyPr anchor="t">
            <a:normAutofit/>
          </a:bodyPr>
          <a:lstStyle/>
          <a:p>
            <a:pPr algn="l"/>
            <a:r>
              <a:rPr lang="ru-RU" sz="2000" dirty="0">
                <a:solidFill>
                  <a:schemeClr val="tx1"/>
                </a:solidFill>
                <a:latin typeface="YS Text"/>
              </a:rPr>
              <a:t>  </a:t>
            </a: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endParaRPr lang="ru-RU" sz="2000" dirty="0">
              <a:solidFill>
                <a:schemeClr val="tx1"/>
              </a:solidFill>
              <a:latin typeface="YS Text"/>
            </a:endParaRPr>
          </a:p>
          <a:p>
            <a:pPr algn="l"/>
            <a:r>
              <a:rPr lang="ru-RU" sz="2000" dirty="0">
                <a:solidFill>
                  <a:schemeClr val="tx1"/>
                </a:solidFill>
                <a:latin typeface="YS Text"/>
              </a:rPr>
              <a:t>Если этот метод вызвать для класса Phone, то выведется '</a:t>
            </a:r>
            <a:r>
              <a:rPr lang="ru-RU" sz="2000" dirty="0" err="1">
                <a:solidFill>
                  <a:schemeClr val="tx1"/>
                </a:solidFill>
                <a:latin typeface="YS Text"/>
              </a:rPr>
              <a:t>Дзззззыыыыыыыынь</a:t>
            </a:r>
            <a:r>
              <a:rPr lang="ru-RU" sz="2000" dirty="0">
                <a:solidFill>
                  <a:schemeClr val="tx1"/>
                </a:solidFill>
                <a:latin typeface="YS Text"/>
              </a:rPr>
              <a:t>!', а если для класса </a:t>
            </a:r>
            <a:r>
              <a:rPr lang="ru-RU" sz="2000" dirty="0" err="1">
                <a:solidFill>
                  <a:schemeClr val="tx1"/>
                </a:solidFill>
                <a:latin typeface="YS Text"/>
              </a:rPr>
              <a:t>MobilePhone</a:t>
            </a:r>
            <a:r>
              <a:rPr lang="ru-RU" sz="2000" dirty="0">
                <a:solidFill>
                  <a:schemeClr val="tx1"/>
                </a:solidFill>
                <a:latin typeface="YS Text"/>
              </a:rPr>
              <a:t> — 'Дзынь-дзынь!’ Называется одинаково, а работает по-разному. Это и есть ещё один бонус использования классов и объектов. И имя ему — </a:t>
            </a:r>
            <a:r>
              <a:rPr lang="ru-RU" sz="2000" b="1" dirty="0">
                <a:solidFill>
                  <a:schemeClr val="accent5">
                    <a:lumMod val="60000"/>
                    <a:lumOff val="40000"/>
                  </a:schemeClr>
                </a:solidFill>
                <a:latin typeface="YS Text"/>
              </a:rPr>
              <a:t>полиморфизм</a:t>
            </a:r>
            <a:r>
              <a:rPr lang="ru-RU" sz="2000" dirty="0">
                <a:solidFill>
                  <a:schemeClr val="tx1"/>
                </a:solidFill>
                <a:latin typeface="YS Text"/>
              </a:rPr>
              <a:t>. В переводе с греческого это слово означает «</a:t>
            </a:r>
            <a:r>
              <a:rPr lang="ru-RU" sz="2000" b="1" dirty="0" err="1">
                <a:solidFill>
                  <a:schemeClr val="accent5">
                    <a:lumMod val="60000"/>
                    <a:lumOff val="40000"/>
                  </a:schemeClr>
                </a:solidFill>
                <a:latin typeface="YS Text"/>
              </a:rPr>
              <a:t>многоформенность</a:t>
            </a:r>
            <a:r>
              <a:rPr lang="ru-RU" sz="2000" dirty="0">
                <a:solidFill>
                  <a:schemeClr val="tx1"/>
                </a:solidFill>
                <a:latin typeface="YS Text"/>
              </a:rPr>
              <a:t>». В нашем контексте это значит как раз таки то, что метод с именем из базового класса может воплощаться по-разному.</a:t>
            </a:r>
          </a:p>
          <a:p>
            <a:pPr algn="l"/>
            <a:endParaRPr lang="ru-RU" sz="2000" dirty="0">
              <a:solidFill>
                <a:schemeClr val="tx1"/>
              </a:solidFill>
              <a:latin typeface="YS Text"/>
            </a:endParaRPr>
          </a:p>
        </p:txBody>
      </p:sp>
      <p:pic>
        <p:nvPicPr>
          <p:cNvPr id="4" name="Рисунок 3">
            <a:extLst>
              <a:ext uri="{FF2B5EF4-FFF2-40B4-BE49-F238E27FC236}">
                <a16:creationId xmlns:a16="http://schemas.microsoft.com/office/drawing/2014/main" id="{39714815-ED7D-4406-2D3E-522DF518AE1E}"/>
              </a:ext>
            </a:extLst>
          </p:cNvPr>
          <p:cNvPicPr>
            <a:picLocks noChangeAspect="1"/>
          </p:cNvPicPr>
          <p:nvPr/>
        </p:nvPicPr>
        <p:blipFill>
          <a:blip r:embed="rId2"/>
          <a:srcRect t="8219" r="1083" b="7158"/>
          <a:stretch/>
        </p:blipFill>
        <p:spPr>
          <a:xfrm>
            <a:off x="2506784" y="833718"/>
            <a:ext cx="7178432" cy="3752194"/>
          </a:xfrm>
          <a:prstGeom prst="rect">
            <a:avLst/>
          </a:prstGeom>
        </p:spPr>
      </p:pic>
    </p:spTree>
    <p:extLst>
      <p:ext uri="{BB962C8B-B14F-4D97-AF65-F5344CB8AC3E}">
        <p14:creationId xmlns:p14="http://schemas.microsoft.com/office/powerpoint/2010/main" val="1588913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Полиморфизм «под капотом»</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lnSpcReduction="10000"/>
          </a:bodyPr>
          <a:lstStyle/>
          <a:p>
            <a:pPr algn="l"/>
            <a:r>
              <a:rPr lang="ru-RU" sz="2000" b="0" i="0" dirty="0">
                <a:solidFill>
                  <a:schemeClr val="tx1"/>
                </a:solidFill>
                <a:effectLst/>
                <a:latin typeface="YS Text"/>
              </a:rPr>
              <a:t>У каждого класса в Python есть свой метод </a:t>
            </a:r>
            <a:r>
              <a:rPr lang="ru-RU" sz="2000" b="0" i="0" dirty="0">
                <a:solidFill>
                  <a:schemeClr val="accent5">
                    <a:lumMod val="60000"/>
                    <a:lumOff val="40000"/>
                  </a:schemeClr>
                </a:solidFill>
                <a:effectLst/>
                <a:latin typeface="YS Text"/>
              </a:rPr>
              <a:t>__</a:t>
            </a:r>
            <a:r>
              <a:rPr lang="ru-RU" sz="2000" b="0" i="0" dirty="0" err="1">
                <a:solidFill>
                  <a:schemeClr val="accent5">
                    <a:lumMod val="60000"/>
                    <a:lumOff val="40000"/>
                  </a:schemeClr>
                </a:solidFill>
                <a:effectLst/>
                <a:latin typeface="YS Text"/>
              </a:rPr>
              <a:t>str</a:t>
            </a:r>
            <a:r>
              <a:rPr lang="ru-RU" sz="2000" b="0" i="0" dirty="0">
                <a:solidFill>
                  <a:schemeClr val="accent5">
                    <a:lumMod val="60000"/>
                    <a:lumOff val="40000"/>
                  </a:schemeClr>
                </a:solidFill>
                <a:effectLst/>
                <a:latin typeface="YS Text"/>
              </a:rPr>
              <a:t>__</a:t>
            </a:r>
            <a:r>
              <a:rPr lang="ru-RU" sz="2000" b="0" i="0" dirty="0">
                <a:solidFill>
                  <a:schemeClr val="tx1"/>
                </a:solidFill>
                <a:effectLst/>
                <a:latin typeface="YS Text"/>
              </a:rPr>
              <a:t>. Для всех классов, встроенных и пользовательских, значение этого метода по умолчанию определено в базовом классе </a:t>
            </a:r>
            <a:r>
              <a:rPr lang="ru-RU" sz="2000" b="0" i="0" dirty="0" err="1">
                <a:solidFill>
                  <a:schemeClr val="tx1"/>
                </a:solidFill>
                <a:effectLst/>
                <a:latin typeface="YS Text"/>
              </a:rPr>
              <a:t>object</a:t>
            </a:r>
            <a:r>
              <a:rPr lang="ru-RU" sz="2000" b="0" i="0" dirty="0">
                <a:solidFill>
                  <a:schemeClr val="tx1"/>
                </a:solidFill>
                <a:effectLst/>
                <a:latin typeface="YS Text"/>
              </a:rPr>
              <a:t>. </a:t>
            </a:r>
          </a:p>
          <a:p>
            <a:pPr algn="l"/>
            <a:r>
              <a:rPr lang="ru-RU" sz="2000" b="0" i="0" dirty="0">
                <a:solidFill>
                  <a:schemeClr val="tx1"/>
                </a:solidFill>
                <a:effectLst/>
                <a:latin typeface="YS Text"/>
              </a:rPr>
              <a:t>Но когда вы вызываете его для встроенных классов, вы получаете разный результат:</a:t>
            </a:r>
          </a:p>
          <a:p>
            <a:pPr algn="l"/>
            <a:r>
              <a:rPr lang="ru-RU" sz="2000" b="0" i="0" dirty="0">
                <a:solidFill>
                  <a:schemeClr val="tx1"/>
                </a:solidFill>
                <a:effectLst/>
                <a:latin typeface="YS Text"/>
              </a:rPr>
              <a:t>Целые числа (</a:t>
            </a:r>
            <a:r>
              <a:rPr lang="ru-RU" sz="2000" b="0" i="0" dirty="0" err="1">
                <a:solidFill>
                  <a:schemeClr val="tx1"/>
                </a:solidFill>
                <a:effectLst/>
                <a:latin typeface="YS Text"/>
              </a:rPr>
              <a:t>int</a:t>
            </a:r>
            <a:r>
              <a:rPr lang="ru-RU" sz="2000" b="0" i="0" dirty="0">
                <a:solidFill>
                  <a:schemeClr val="tx1"/>
                </a:solidFill>
                <a:effectLst/>
                <a:latin typeface="YS Text"/>
              </a:rPr>
              <a:t>):</a:t>
            </a:r>
          </a:p>
          <a:p>
            <a:pPr algn="l"/>
            <a:r>
              <a:rPr lang="ru-RU" sz="2000" dirty="0">
                <a:solidFill>
                  <a:schemeClr val="tx1"/>
                </a:solidFill>
                <a:latin typeface="YS Text"/>
              </a:rPr>
              <a:t>	</a:t>
            </a:r>
            <a:r>
              <a:rPr lang="en-US" sz="2000" dirty="0">
                <a:solidFill>
                  <a:srgbClr val="92D050"/>
                </a:solidFill>
                <a:latin typeface="YS Text"/>
              </a:rPr>
              <a:t>value = 42</a:t>
            </a:r>
          </a:p>
          <a:p>
            <a:pPr algn="l"/>
            <a:r>
              <a:rPr lang="en-US" sz="2000" dirty="0">
                <a:solidFill>
                  <a:srgbClr val="92D050"/>
                </a:solidFill>
                <a:latin typeface="YS Text"/>
              </a:rPr>
              <a:t>  </a:t>
            </a:r>
            <a:r>
              <a:rPr lang="ru-RU" sz="2000" dirty="0">
                <a:solidFill>
                  <a:srgbClr val="92D050"/>
                </a:solidFill>
                <a:latin typeface="YS Text"/>
              </a:rPr>
              <a:t>	</a:t>
            </a:r>
            <a:r>
              <a:rPr lang="en-US" sz="2000" dirty="0">
                <a:solidFill>
                  <a:srgbClr val="92D050"/>
                </a:solidFill>
                <a:latin typeface="YS Text"/>
              </a:rPr>
              <a:t>print(value)</a:t>
            </a:r>
          </a:p>
          <a:p>
            <a:pPr algn="l"/>
            <a:r>
              <a:rPr lang="en-US" sz="2000" dirty="0">
                <a:solidFill>
                  <a:schemeClr val="tx1"/>
                </a:solidFill>
                <a:latin typeface="YS Text"/>
              </a:rPr>
              <a:t>  </a:t>
            </a:r>
            <a:r>
              <a:rPr lang="ru-RU" sz="2000" dirty="0">
                <a:solidFill>
                  <a:schemeClr val="tx1"/>
                </a:solidFill>
                <a:latin typeface="YS Text"/>
              </a:rPr>
              <a:t>	</a:t>
            </a:r>
            <a:r>
              <a:rPr lang="en-US" sz="2000" dirty="0">
                <a:solidFill>
                  <a:schemeClr val="tx1"/>
                </a:solidFill>
                <a:latin typeface="YS Text"/>
              </a:rPr>
              <a:t># </a:t>
            </a:r>
            <a:r>
              <a:rPr lang="en-US" sz="2000" dirty="0" err="1">
                <a:solidFill>
                  <a:schemeClr val="tx1"/>
                </a:solidFill>
                <a:latin typeface="YS Text"/>
              </a:rPr>
              <a:t>Выведется</a:t>
            </a:r>
            <a:r>
              <a:rPr lang="en-US" sz="2000" dirty="0">
                <a:solidFill>
                  <a:schemeClr val="tx1"/>
                </a:solidFill>
                <a:latin typeface="YS Text"/>
              </a:rPr>
              <a:t>: </a:t>
            </a:r>
            <a:r>
              <a:rPr lang="en-US" sz="2000" dirty="0">
                <a:solidFill>
                  <a:srgbClr val="92D050"/>
                </a:solidFill>
                <a:latin typeface="YS Text"/>
              </a:rPr>
              <a:t>42</a:t>
            </a:r>
            <a:endParaRPr lang="ru-RU" sz="2000" dirty="0">
              <a:solidFill>
                <a:srgbClr val="92D050"/>
              </a:solidFill>
              <a:latin typeface="YS Text"/>
            </a:endParaRPr>
          </a:p>
          <a:p>
            <a:pPr algn="l"/>
            <a:r>
              <a:rPr lang="ru-RU" sz="2000" dirty="0">
                <a:solidFill>
                  <a:schemeClr val="tx1"/>
                </a:solidFill>
                <a:latin typeface="YS Text"/>
              </a:rPr>
              <a:t>Строки (</a:t>
            </a:r>
            <a:r>
              <a:rPr lang="en-US" sz="2000" dirty="0">
                <a:solidFill>
                  <a:schemeClr val="tx1"/>
                </a:solidFill>
                <a:latin typeface="YS Text"/>
              </a:rPr>
              <a:t>str):</a:t>
            </a:r>
          </a:p>
          <a:p>
            <a:pPr algn="l"/>
            <a:r>
              <a:rPr lang="ru-RU" sz="2000" dirty="0">
                <a:solidFill>
                  <a:schemeClr val="tx1"/>
                </a:solidFill>
                <a:latin typeface="YS Text"/>
              </a:rPr>
              <a:t>	</a:t>
            </a:r>
            <a:r>
              <a:rPr lang="en-US" sz="2000" dirty="0">
                <a:solidFill>
                  <a:srgbClr val="92D050"/>
                </a:solidFill>
                <a:latin typeface="YS Text"/>
              </a:rPr>
              <a:t>string = 'Hello, World!’</a:t>
            </a:r>
          </a:p>
          <a:p>
            <a:pPr algn="l"/>
            <a:r>
              <a:rPr lang="en-US" sz="2000" dirty="0">
                <a:solidFill>
                  <a:srgbClr val="92D050"/>
                </a:solidFill>
                <a:latin typeface="YS Text"/>
              </a:rPr>
              <a:t>  </a:t>
            </a:r>
            <a:r>
              <a:rPr lang="ru-RU" sz="2000" dirty="0">
                <a:solidFill>
                  <a:srgbClr val="92D050"/>
                </a:solidFill>
                <a:latin typeface="YS Text"/>
              </a:rPr>
              <a:t>	</a:t>
            </a:r>
            <a:r>
              <a:rPr lang="en-US" sz="2000" dirty="0">
                <a:solidFill>
                  <a:srgbClr val="92D050"/>
                </a:solidFill>
                <a:latin typeface="YS Text"/>
              </a:rPr>
              <a:t>print(string)</a:t>
            </a:r>
          </a:p>
          <a:p>
            <a:pPr algn="l"/>
            <a:r>
              <a:rPr lang="en-US" sz="2000" dirty="0">
                <a:solidFill>
                  <a:schemeClr val="tx1"/>
                </a:solidFill>
                <a:latin typeface="YS Text"/>
              </a:rPr>
              <a:t>  </a:t>
            </a:r>
            <a:r>
              <a:rPr lang="ru-RU" sz="2000" dirty="0">
                <a:solidFill>
                  <a:schemeClr val="tx1"/>
                </a:solidFill>
                <a:latin typeface="YS Text"/>
              </a:rPr>
              <a:t>	</a:t>
            </a:r>
            <a:r>
              <a:rPr lang="en-US" sz="2000" dirty="0">
                <a:solidFill>
                  <a:schemeClr val="tx1"/>
                </a:solidFill>
                <a:latin typeface="YS Text"/>
              </a:rPr>
              <a:t># </a:t>
            </a:r>
            <a:r>
              <a:rPr lang="en-US" sz="2000" dirty="0" err="1">
                <a:solidFill>
                  <a:schemeClr val="tx1"/>
                </a:solidFill>
                <a:latin typeface="YS Text"/>
              </a:rPr>
              <a:t>Выведется</a:t>
            </a:r>
            <a:r>
              <a:rPr lang="en-US" sz="2000" dirty="0">
                <a:solidFill>
                  <a:schemeClr val="tx1"/>
                </a:solidFill>
                <a:latin typeface="YS Text"/>
              </a:rPr>
              <a:t>: </a:t>
            </a:r>
            <a:r>
              <a:rPr lang="en-US" sz="2000" dirty="0">
                <a:solidFill>
                  <a:srgbClr val="92D050"/>
                </a:solidFill>
                <a:latin typeface="YS Text"/>
              </a:rPr>
              <a:t>Hello, World!</a:t>
            </a:r>
            <a:endParaRPr lang="ru-RU" sz="2000" dirty="0">
              <a:solidFill>
                <a:srgbClr val="92D050"/>
              </a:solidFill>
              <a:latin typeface="YS Text"/>
            </a:endParaRPr>
          </a:p>
          <a:p>
            <a:pPr algn="l"/>
            <a:r>
              <a:rPr lang="ru-RU" sz="2000" dirty="0">
                <a:solidFill>
                  <a:schemeClr val="tx1"/>
                </a:solidFill>
                <a:latin typeface="YS Text"/>
              </a:rPr>
              <a:t>И т.д.</a:t>
            </a:r>
          </a:p>
          <a:p>
            <a:pPr algn="l"/>
            <a:r>
              <a:rPr lang="ru-RU" sz="2000" dirty="0">
                <a:solidFill>
                  <a:schemeClr val="tx1"/>
                </a:solidFill>
                <a:latin typeface="YS Text"/>
              </a:rPr>
              <a:t>Дело в том, что метод </a:t>
            </a:r>
            <a:r>
              <a:rPr lang="ru-RU" sz="2000" dirty="0">
                <a:solidFill>
                  <a:schemeClr val="accent5">
                    <a:lumMod val="60000"/>
                    <a:lumOff val="40000"/>
                  </a:schemeClr>
                </a:solidFill>
                <a:latin typeface="YS Text"/>
              </a:rPr>
              <a:t>__</a:t>
            </a:r>
            <a:r>
              <a:rPr lang="ru-RU" sz="2000" dirty="0" err="1">
                <a:solidFill>
                  <a:schemeClr val="accent5">
                    <a:lumMod val="60000"/>
                    <a:lumOff val="40000"/>
                  </a:schemeClr>
                </a:solidFill>
                <a:latin typeface="YS Text"/>
              </a:rPr>
              <a:t>str</a:t>
            </a:r>
            <a:r>
              <a:rPr lang="ru-RU" sz="2000" dirty="0">
                <a:solidFill>
                  <a:schemeClr val="accent5">
                    <a:lumMod val="60000"/>
                    <a:lumOff val="40000"/>
                  </a:schemeClr>
                </a:solidFill>
                <a:latin typeface="YS Text"/>
              </a:rPr>
              <a:t>__ </a:t>
            </a:r>
            <a:r>
              <a:rPr lang="ru-RU" sz="2000" dirty="0">
                <a:solidFill>
                  <a:schemeClr val="tx1"/>
                </a:solidFill>
                <a:latin typeface="YS Text"/>
              </a:rPr>
              <a:t>по умолчанию </a:t>
            </a:r>
            <a:r>
              <a:rPr lang="ru-RU" sz="2000" b="1" dirty="0">
                <a:solidFill>
                  <a:schemeClr val="accent5">
                    <a:lumMod val="60000"/>
                    <a:lumOff val="40000"/>
                  </a:schemeClr>
                </a:solidFill>
                <a:latin typeface="YS Text"/>
              </a:rPr>
              <a:t>переопределён</a:t>
            </a:r>
            <a:r>
              <a:rPr lang="ru-RU" sz="2000" dirty="0">
                <a:solidFill>
                  <a:schemeClr val="tx1"/>
                </a:solidFill>
                <a:latin typeface="YS Text"/>
              </a:rPr>
              <a:t> </a:t>
            </a:r>
            <a:r>
              <a:rPr lang="ru-RU" sz="2000" b="1" dirty="0">
                <a:solidFill>
                  <a:schemeClr val="accent5">
                    <a:lumMod val="60000"/>
                    <a:lumOff val="40000"/>
                  </a:schemeClr>
                </a:solidFill>
                <a:latin typeface="YS Text"/>
              </a:rPr>
              <a:t>для встроенных классов</a:t>
            </a:r>
            <a:r>
              <a:rPr lang="ru-RU" sz="2000" dirty="0">
                <a:solidFill>
                  <a:schemeClr val="tx1"/>
                </a:solidFill>
                <a:latin typeface="YS Text"/>
              </a:rPr>
              <a:t>.</a:t>
            </a:r>
          </a:p>
          <a:p>
            <a:pPr algn="l"/>
            <a:r>
              <a:rPr lang="ru-RU" sz="2000" dirty="0">
                <a:solidFill>
                  <a:schemeClr val="tx1"/>
                </a:solidFill>
                <a:latin typeface="YS Text"/>
              </a:rPr>
              <a:t>Его можно переопределить и для пользовательских классов, вы уже делали это в уроках прошлой темы.</a:t>
            </a:r>
          </a:p>
          <a:p>
            <a:pPr algn="l"/>
            <a:r>
              <a:rPr lang="ru-RU" sz="2000" dirty="0">
                <a:solidFill>
                  <a:schemeClr val="tx1"/>
                </a:solidFill>
                <a:latin typeface="YS Text"/>
              </a:rPr>
              <a:t>Если метод __</a:t>
            </a:r>
            <a:r>
              <a:rPr lang="ru-RU" sz="2000" dirty="0" err="1">
                <a:solidFill>
                  <a:schemeClr val="tx1"/>
                </a:solidFill>
                <a:latin typeface="YS Text"/>
              </a:rPr>
              <a:t>str</a:t>
            </a:r>
            <a:r>
              <a:rPr lang="ru-RU" sz="2000" dirty="0">
                <a:solidFill>
                  <a:schemeClr val="tx1"/>
                </a:solidFill>
                <a:latin typeface="YS Text"/>
              </a:rPr>
              <a:t>__ </a:t>
            </a:r>
            <a:r>
              <a:rPr lang="ru-RU" sz="2000" dirty="0">
                <a:solidFill>
                  <a:schemeClr val="accent5">
                    <a:lumMod val="60000"/>
                    <a:lumOff val="40000"/>
                  </a:schemeClr>
                </a:solidFill>
                <a:latin typeface="YS Text"/>
              </a:rPr>
              <a:t>не переопределить </a:t>
            </a:r>
            <a:r>
              <a:rPr lang="ru-RU" sz="2000" dirty="0">
                <a:solidFill>
                  <a:schemeClr val="tx1"/>
                </a:solidFill>
                <a:latin typeface="YS Text"/>
              </a:rPr>
              <a:t>для пользовательского класса, результат его работы будет таким, каким он определён в классе </a:t>
            </a:r>
            <a:r>
              <a:rPr lang="ru-RU" sz="2000" dirty="0" err="1">
                <a:solidFill>
                  <a:schemeClr val="tx1"/>
                </a:solidFill>
                <a:latin typeface="YS Text"/>
              </a:rPr>
              <a:t>object</a:t>
            </a:r>
            <a:r>
              <a:rPr lang="ru-RU" sz="2000" dirty="0">
                <a:solidFill>
                  <a:schemeClr val="tx1"/>
                </a:solidFill>
                <a:latin typeface="YS Text"/>
              </a:rPr>
              <a:t>. Метод один и тот же, но в каждом классе он работает по-разному. Такой вот полиморфизм «под капотом» Python.</a:t>
            </a:r>
            <a:endParaRPr lang="en-US" sz="2000" dirty="0">
              <a:solidFill>
                <a:schemeClr val="tx1"/>
              </a:solidFill>
              <a:latin typeface="YS Text"/>
            </a:endParaRPr>
          </a:p>
        </p:txBody>
      </p:sp>
    </p:spTree>
    <p:extLst>
      <p:ext uri="{BB962C8B-B14F-4D97-AF65-F5344CB8AC3E}">
        <p14:creationId xmlns:p14="http://schemas.microsoft.com/office/powerpoint/2010/main" val="3926012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Философия полиморфизма</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У всех объектов в Python есть метод </a:t>
            </a:r>
            <a:r>
              <a:rPr lang="ru-RU" sz="2000" b="0" i="0" dirty="0">
                <a:solidFill>
                  <a:schemeClr val="accent5">
                    <a:lumMod val="60000"/>
                    <a:lumOff val="40000"/>
                  </a:schemeClr>
                </a:solidFill>
                <a:effectLst/>
                <a:latin typeface="YS Text"/>
              </a:rPr>
              <a:t>__</a:t>
            </a:r>
            <a:r>
              <a:rPr lang="ru-RU" sz="2000" b="0" i="0" dirty="0" err="1">
                <a:solidFill>
                  <a:schemeClr val="accent5">
                    <a:lumMod val="60000"/>
                    <a:lumOff val="40000"/>
                  </a:schemeClr>
                </a:solidFill>
                <a:effectLst/>
                <a:latin typeface="YS Text"/>
              </a:rPr>
              <a:t>str</a:t>
            </a:r>
            <a:r>
              <a:rPr lang="ru-RU" sz="2000" b="0" i="0" dirty="0">
                <a:solidFill>
                  <a:schemeClr val="accent5">
                    <a:lumMod val="60000"/>
                    <a:lumOff val="40000"/>
                  </a:schemeClr>
                </a:solidFill>
                <a:effectLst/>
                <a:latin typeface="YS Text"/>
              </a:rPr>
              <a:t>__</a:t>
            </a:r>
            <a:r>
              <a:rPr lang="ru-RU" sz="2000" b="0" i="0" dirty="0">
                <a:solidFill>
                  <a:schemeClr val="tx1"/>
                </a:solidFill>
                <a:effectLst/>
                <a:latin typeface="YS Text"/>
              </a:rPr>
              <a:t>, а у всех объектов класса </a:t>
            </a:r>
            <a:r>
              <a:rPr lang="ru-RU" sz="2000" b="0" i="0" dirty="0" err="1">
                <a:solidFill>
                  <a:schemeClr val="accent5">
                    <a:lumMod val="60000"/>
                    <a:lumOff val="40000"/>
                  </a:schemeClr>
                </a:solidFill>
                <a:effectLst/>
                <a:latin typeface="YS Text"/>
              </a:rPr>
              <a:t>MobilePhone</a:t>
            </a:r>
            <a:r>
              <a:rPr lang="ru-RU" sz="2000" b="0" i="0" dirty="0">
                <a:solidFill>
                  <a:schemeClr val="tx1"/>
                </a:solidFill>
                <a:effectLst/>
                <a:latin typeface="YS Text"/>
              </a:rPr>
              <a:t> есть методы и атрибуты класса </a:t>
            </a:r>
            <a:r>
              <a:rPr lang="ru-RU" sz="2000" b="0" i="0" dirty="0">
                <a:solidFill>
                  <a:schemeClr val="accent5">
                    <a:lumMod val="60000"/>
                    <a:lumOff val="40000"/>
                  </a:schemeClr>
                </a:solidFill>
                <a:effectLst/>
                <a:latin typeface="YS Text"/>
              </a:rPr>
              <a:t>Phone</a:t>
            </a:r>
            <a:r>
              <a:rPr lang="ru-RU" sz="2000" b="0" i="0" dirty="0">
                <a:solidFill>
                  <a:schemeClr val="tx1"/>
                </a:solidFill>
                <a:effectLst/>
                <a:latin typeface="YS Text"/>
              </a:rPr>
              <a:t>.</a:t>
            </a:r>
          </a:p>
          <a:p>
            <a:pPr algn="l"/>
            <a:r>
              <a:rPr lang="ru-RU" sz="2000" b="0" i="0" dirty="0">
                <a:solidFill>
                  <a:schemeClr val="tx1"/>
                </a:solidFill>
                <a:effectLst/>
                <a:latin typeface="YS Text"/>
              </a:rPr>
              <a:t>Можно создать любое количество экземпляров любых классов, и у каждого из них будут атрибуты и методы родительского класса. Значения атрибутов и возможности методов могут отличаться, но сами атрибуты и методы остаются.</a:t>
            </a:r>
          </a:p>
          <a:p>
            <a:pPr algn="l"/>
            <a:r>
              <a:rPr lang="ru-RU" sz="2000" b="0" i="0" dirty="0">
                <a:solidFill>
                  <a:schemeClr val="tx1"/>
                </a:solidFill>
                <a:effectLst/>
                <a:latin typeface="YS Text"/>
              </a:rPr>
              <a:t>Атрибуты и методы иногда называют </a:t>
            </a:r>
            <a:r>
              <a:rPr lang="ru-RU" sz="2400" b="1" i="0" dirty="0">
                <a:solidFill>
                  <a:schemeClr val="accent5">
                    <a:lumMod val="60000"/>
                    <a:lumOff val="40000"/>
                  </a:schemeClr>
                </a:solidFill>
                <a:effectLst/>
                <a:latin typeface="YS Text"/>
              </a:rPr>
              <a:t>интерфейсом класса</a:t>
            </a:r>
            <a:r>
              <a:rPr lang="ru-RU" sz="2000" b="0" i="0" dirty="0">
                <a:solidFill>
                  <a:schemeClr val="tx1"/>
                </a:solidFill>
                <a:effectLst/>
                <a:latin typeface="YS Text"/>
              </a:rPr>
              <a:t>. Это как «кнопки» и «экраны», которые должны быть у объектов, созданных с использованием класса.</a:t>
            </a:r>
          </a:p>
          <a:p>
            <a:pPr algn="l"/>
            <a:r>
              <a:rPr lang="ru-RU" sz="2000" b="0" i="0" dirty="0">
                <a:solidFill>
                  <a:schemeClr val="tx1"/>
                </a:solidFill>
                <a:effectLst/>
                <a:latin typeface="YS Text"/>
              </a:rPr>
              <a:t>Разработчики обычно говорят, что у всех наследников класса есть </a:t>
            </a:r>
            <a:r>
              <a:rPr lang="ru-RU" sz="2000" b="0" i="0" dirty="0">
                <a:solidFill>
                  <a:schemeClr val="accent5">
                    <a:lumMod val="60000"/>
                    <a:lumOff val="40000"/>
                  </a:schemeClr>
                </a:solidFill>
                <a:effectLst/>
                <a:latin typeface="YS Text"/>
              </a:rPr>
              <a:t>интерфейс базового класса</a:t>
            </a:r>
            <a:r>
              <a:rPr lang="ru-RU" sz="2000" b="0" i="0" dirty="0">
                <a:solidFill>
                  <a:schemeClr val="tx1"/>
                </a:solidFill>
                <a:effectLst/>
                <a:latin typeface="YS Text"/>
              </a:rPr>
              <a:t>, или </a:t>
            </a:r>
            <a:r>
              <a:rPr lang="ru-RU" sz="2000" b="0" i="0" dirty="0">
                <a:solidFill>
                  <a:schemeClr val="accent5">
                    <a:lumMod val="60000"/>
                    <a:lumOff val="40000"/>
                  </a:schemeClr>
                </a:solidFill>
                <a:effectLst/>
                <a:latin typeface="YS Text"/>
              </a:rPr>
              <a:t>общий интерфейс</a:t>
            </a:r>
            <a:r>
              <a:rPr lang="ru-RU" sz="2000" b="0" i="0" dirty="0">
                <a:solidFill>
                  <a:schemeClr val="tx1"/>
                </a:solidFill>
                <a:effectLst/>
                <a:latin typeface="YS Text"/>
              </a:rPr>
              <a:t>, унаследованный или переопределённый.</a:t>
            </a:r>
          </a:p>
          <a:p>
            <a:pPr algn="l"/>
            <a:r>
              <a:rPr lang="ru-RU" sz="2000" dirty="0">
                <a:solidFill>
                  <a:schemeClr val="tx1"/>
                </a:solidFill>
                <a:latin typeface="YS Text"/>
              </a:rPr>
              <a:t>В</a:t>
            </a:r>
            <a:r>
              <a:rPr lang="ru-RU" sz="2000" b="0" i="0" dirty="0">
                <a:solidFill>
                  <a:schemeClr val="tx1"/>
                </a:solidFill>
                <a:effectLst/>
                <a:latin typeface="YS Text"/>
              </a:rPr>
              <a:t>ыводили на печать абсолютно разные объекты, результат выполнения метода __</a:t>
            </a:r>
            <a:r>
              <a:rPr lang="ru-RU" sz="2000" b="0" i="0" dirty="0" err="1">
                <a:solidFill>
                  <a:schemeClr val="tx1"/>
                </a:solidFill>
                <a:effectLst/>
                <a:latin typeface="YS Text"/>
              </a:rPr>
              <a:t>str</a:t>
            </a:r>
            <a:r>
              <a:rPr lang="ru-RU" sz="2000" b="0" i="0" dirty="0">
                <a:solidFill>
                  <a:schemeClr val="tx1"/>
                </a:solidFill>
                <a:effectLst/>
                <a:latin typeface="YS Text"/>
              </a:rPr>
              <a:t>__для каждого из них был свой, однако достигался он всегда одинаково — при помощи этого метода!</a:t>
            </a:r>
          </a:p>
        </p:txBody>
      </p:sp>
    </p:spTree>
    <p:extLst>
      <p:ext uri="{BB962C8B-B14F-4D97-AF65-F5344CB8AC3E}">
        <p14:creationId xmlns:p14="http://schemas.microsoft.com/office/powerpoint/2010/main" val="1034454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840828" y="833718"/>
            <a:ext cx="10399986" cy="5919179"/>
          </a:xfrm>
        </p:spPr>
        <p:txBody>
          <a:bodyPr anchor="t">
            <a:normAutofit/>
          </a:bodyPr>
          <a:lstStyle/>
          <a:p>
            <a:pPr algn="l"/>
            <a:r>
              <a:rPr lang="ru-RU" sz="2400" b="1" i="0" dirty="0">
                <a:solidFill>
                  <a:schemeClr val="accent5">
                    <a:lumMod val="60000"/>
                    <a:lumOff val="40000"/>
                  </a:schemeClr>
                </a:solidFill>
                <a:effectLst/>
                <a:latin typeface="YS Text"/>
              </a:rPr>
              <a:t>У полиморфизма как минимум три явных преимущества:</a:t>
            </a:r>
          </a:p>
          <a:p>
            <a:pPr marL="457200" indent="-457200" algn="l">
              <a:buFont typeface="+mj-lt"/>
              <a:buAutoNum type="arabicPeriod"/>
            </a:pPr>
            <a:r>
              <a:rPr lang="ru-RU" sz="2400" b="0" i="0" dirty="0">
                <a:solidFill>
                  <a:schemeClr val="tx1"/>
                </a:solidFill>
                <a:effectLst/>
                <a:latin typeface="YS Text"/>
              </a:rPr>
              <a:t>Можно использовать один и тот же интерфейс для объектов разных классов, а значит, кода в твоей программе будет меньше.</a:t>
            </a:r>
          </a:p>
          <a:p>
            <a:pPr marL="457200" indent="-457200" algn="l">
              <a:buFont typeface="+mj-lt"/>
              <a:buAutoNum type="arabicPeriod"/>
            </a:pPr>
            <a:r>
              <a:rPr lang="ru-RU" sz="2400" b="0" i="0" dirty="0">
                <a:solidFill>
                  <a:schemeClr val="tx1"/>
                </a:solidFill>
                <a:effectLst/>
                <a:latin typeface="YS Text"/>
              </a:rPr>
              <a:t>При добавлении новых классов, которые подходят под общий интерфейс, не нужно менять тот код, который уже есть. Это про гибкость.</a:t>
            </a:r>
          </a:p>
          <a:p>
            <a:pPr marL="457200" indent="-457200" algn="l">
              <a:buFont typeface="+mj-lt"/>
              <a:buAutoNum type="arabicPeriod"/>
            </a:pPr>
            <a:r>
              <a:rPr lang="ru-RU" sz="2400" b="0" i="0" dirty="0">
                <a:solidFill>
                  <a:schemeClr val="tx1"/>
                </a:solidFill>
                <a:effectLst/>
                <a:latin typeface="YS Text"/>
              </a:rPr>
              <a:t>Приложения, основанные на принципах полиморфизма, легче масштабировать. Это про масштабируемость.</a:t>
            </a:r>
            <a:endParaRPr lang="ru-RU" sz="2400" dirty="0">
              <a:solidFill>
                <a:srgbClr val="92D050"/>
              </a:solidFill>
              <a:latin typeface="YS Text"/>
            </a:endParaRPr>
          </a:p>
        </p:txBody>
      </p:sp>
    </p:spTree>
    <p:extLst>
      <p:ext uri="{BB962C8B-B14F-4D97-AF65-F5344CB8AC3E}">
        <p14:creationId xmlns:p14="http://schemas.microsoft.com/office/powerpoint/2010/main" val="1725007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Инкапсуляция</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fontScale="92500" lnSpcReduction="20000"/>
          </a:bodyPr>
          <a:lstStyle/>
          <a:p>
            <a:pPr algn="l"/>
            <a:r>
              <a:rPr lang="ru-RU" sz="2000" b="0" i="0" dirty="0">
                <a:solidFill>
                  <a:schemeClr val="tx1"/>
                </a:solidFill>
                <a:effectLst/>
                <a:latin typeface="YS Text"/>
              </a:rPr>
              <a:t>Чтобы добавить в список новый элемент, вы используете метод </a:t>
            </a:r>
            <a:r>
              <a:rPr lang="ru-RU" sz="2000" b="0" i="0" dirty="0" err="1">
                <a:solidFill>
                  <a:schemeClr val="tx1"/>
                </a:solidFill>
                <a:effectLst/>
                <a:latin typeface="YS Text"/>
              </a:rPr>
              <a:t>append</a:t>
            </a:r>
            <a:r>
              <a:rPr lang="ru-RU" sz="2000" b="0" i="0" dirty="0">
                <a:solidFill>
                  <a:schemeClr val="tx1"/>
                </a:solidFill>
                <a:effectLst/>
                <a:latin typeface="YS Text"/>
              </a:rPr>
              <a:t>():</a:t>
            </a:r>
            <a:endParaRPr lang="en-US" sz="2000" b="0" i="0" dirty="0">
              <a:solidFill>
                <a:schemeClr val="tx1"/>
              </a:solidFill>
              <a:effectLst/>
              <a:latin typeface="YS Text"/>
            </a:endParaRPr>
          </a:p>
          <a:p>
            <a:pPr algn="l"/>
            <a:r>
              <a:rPr lang="en-US" sz="2000" dirty="0">
                <a:solidFill>
                  <a:schemeClr val="tx1"/>
                </a:solidFill>
                <a:latin typeface="YS Text"/>
              </a:rPr>
              <a:t>	</a:t>
            </a:r>
            <a:r>
              <a:rPr lang="en-US" sz="2000" dirty="0">
                <a:solidFill>
                  <a:srgbClr val="92D050"/>
                </a:solidFill>
                <a:latin typeface="YS Text"/>
              </a:rPr>
              <a:t>values = []</a:t>
            </a:r>
          </a:p>
          <a:p>
            <a:pPr algn="l"/>
            <a:r>
              <a:rPr lang="en-US" sz="2000" dirty="0">
                <a:solidFill>
                  <a:srgbClr val="92D050"/>
                </a:solidFill>
                <a:latin typeface="YS Text"/>
              </a:rPr>
              <a:t>	</a:t>
            </a:r>
            <a:r>
              <a:rPr lang="en-US" sz="2000" dirty="0" err="1">
                <a:solidFill>
                  <a:srgbClr val="92D050"/>
                </a:solidFill>
                <a:latin typeface="YS Text"/>
              </a:rPr>
              <a:t>values.append</a:t>
            </a:r>
            <a:r>
              <a:rPr lang="en-US" sz="2000" dirty="0">
                <a:solidFill>
                  <a:srgbClr val="92D050"/>
                </a:solidFill>
                <a:latin typeface="YS Text"/>
              </a:rPr>
              <a:t>(10)</a:t>
            </a:r>
          </a:p>
          <a:p>
            <a:pPr algn="l"/>
            <a:r>
              <a:rPr lang="en-US" sz="2000" dirty="0">
                <a:solidFill>
                  <a:srgbClr val="92D050"/>
                </a:solidFill>
                <a:latin typeface="YS Text"/>
              </a:rPr>
              <a:t>	print(values)</a:t>
            </a:r>
          </a:p>
          <a:p>
            <a:pPr algn="l"/>
            <a:r>
              <a:rPr lang="en-US" sz="2000" dirty="0">
                <a:solidFill>
                  <a:schemeClr val="tx1"/>
                </a:solidFill>
                <a:latin typeface="YS Text"/>
              </a:rPr>
              <a:t>	# </a:t>
            </a:r>
            <a:r>
              <a:rPr lang="ru-RU" sz="2000" dirty="0">
                <a:solidFill>
                  <a:schemeClr val="tx1"/>
                </a:solidFill>
                <a:latin typeface="YS Text"/>
              </a:rPr>
              <a:t>Выведется:</a:t>
            </a:r>
            <a:r>
              <a:rPr lang="en-US" sz="2000" dirty="0">
                <a:solidFill>
                  <a:schemeClr val="tx1"/>
                </a:solidFill>
                <a:latin typeface="YS Text"/>
              </a:rPr>
              <a:t> </a:t>
            </a:r>
            <a:r>
              <a:rPr lang="ru-RU" sz="2000" dirty="0">
                <a:solidFill>
                  <a:srgbClr val="92D050"/>
                </a:solidFill>
                <a:latin typeface="YS Text"/>
              </a:rPr>
              <a:t>[10]</a:t>
            </a:r>
            <a:endParaRPr lang="en-US" sz="2000" dirty="0">
              <a:solidFill>
                <a:srgbClr val="92D050"/>
              </a:solidFill>
              <a:latin typeface="YS Text"/>
            </a:endParaRPr>
          </a:p>
          <a:p>
            <a:pPr algn="l"/>
            <a:r>
              <a:rPr lang="ru-RU" sz="2000" dirty="0">
                <a:solidFill>
                  <a:schemeClr val="tx1"/>
                </a:solidFill>
                <a:latin typeface="YS Text"/>
              </a:rPr>
              <a:t>Вы </a:t>
            </a:r>
            <a:r>
              <a:rPr lang="ru-RU" sz="2000" dirty="0">
                <a:solidFill>
                  <a:schemeClr val="accent5">
                    <a:lumMod val="60000"/>
                    <a:lumOff val="40000"/>
                  </a:schemeClr>
                </a:solidFill>
                <a:latin typeface="YS Text"/>
              </a:rPr>
              <a:t>не знаете, как этот метод реализован, но всё равно получаете нужный результат</a:t>
            </a:r>
            <a:r>
              <a:rPr lang="ru-RU" sz="2000" dirty="0">
                <a:solidFill>
                  <a:schemeClr val="tx1"/>
                </a:solidFill>
                <a:latin typeface="YS Text"/>
              </a:rPr>
              <a:t>. С методами в пользовательских классах такая же ситуация. </a:t>
            </a:r>
          </a:p>
          <a:p>
            <a:pPr algn="l"/>
            <a:r>
              <a:rPr lang="ru-RU" sz="2000" dirty="0">
                <a:solidFill>
                  <a:schemeClr val="tx1"/>
                </a:solidFill>
                <a:latin typeface="YS Text"/>
              </a:rPr>
              <a:t>У класса </a:t>
            </a:r>
            <a:r>
              <a:rPr lang="ru-RU" sz="2000" dirty="0" err="1">
                <a:solidFill>
                  <a:schemeClr val="tx1"/>
                </a:solidFill>
                <a:latin typeface="YS Text"/>
              </a:rPr>
              <a:t>MobilePhone</a:t>
            </a:r>
            <a:r>
              <a:rPr lang="ru-RU" sz="2000" dirty="0">
                <a:solidFill>
                  <a:schemeClr val="tx1"/>
                </a:solidFill>
                <a:latin typeface="YS Text"/>
              </a:rPr>
              <a:t> есть все методы родительского класса Phone, в том числе и метод </a:t>
            </a:r>
            <a:r>
              <a:rPr lang="ru-RU" sz="2000" dirty="0" err="1">
                <a:solidFill>
                  <a:schemeClr val="tx1"/>
                </a:solidFill>
                <a:latin typeface="YS Text"/>
              </a:rPr>
              <a:t>call</a:t>
            </a:r>
            <a:r>
              <a:rPr lang="ru-RU" sz="2000" dirty="0">
                <a:solidFill>
                  <a:schemeClr val="tx1"/>
                </a:solidFill>
                <a:latin typeface="YS Text"/>
              </a:rPr>
              <a:t>(). Если не заглядывать в код родительского класса, то реализация этого метода скрыта от вас. Но вы можете вызвать метод у соответствующего экземпляра и получить результат.</a:t>
            </a:r>
          </a:p>
          <a:p>
            <a:pPr algn="l"/>
            <a:r>
              <a:rPr lang="en-US" sz="1700" dirty="0">
                <a:solidFill>
                  <a:srgbClr val="92D050"/>
                </a:solidFill>
                <a:latin typeface="YS Text"/>
              </a:rPr>
              <a:t>...</a:t>
            </a:r>
          </a:p>
          <a:p>
            <a:pPr algn="l"/>
            <a:endParaRPr lang="en-US" sz="1700" dirty="0">
              <a:solidFill>
                <a:schemeClr val="tx1"/>
              </a:solidFill>
              <a:latin typeface="YS Text"/>
            </a:endParaRPr>
          </a:p>
          <a:p>
            <a:pPr algn="l"/>
            <a:r>
              <a:rPr lang="en-US" sz="1700" dirty="0" err="1">
                <a:solidFill>
                  <a:srgbClr val="92D050"/>
                </a:solidFill>
                <a:latin typeface="YS Text"/>
              </a:rPr>
              <a:t>mobile_phone</a:t>
            </a:r>
            <a:r>
              <a:rPr lang="en-US" sz="1700" dirty="0">
                <a:solidFill>
                  <a:srgbClr val="92D050"/>
                </a:solidFill>
                <a:latin typeface="YS Text"/>
              </a:rPr>
              <a:t> = </a:t>
            </a:r>
            <a:r>
              <a:rPr lang="en-US" sz="1700" dirty="0" err="1">
                <a:solidFill>
                  <a:srgbClr val="92D050"/>
                </a:solidFill>
                <a:latin typeface="YS Text"/>
              </a:rPr>
              <a:t>MobilePhone</a:t>
            </a:r>
            <a:r>
              <a:rPr lang="en-US" sz="1700" dirty="0">
                <a:solidFill>
                  <a:srgbClr val="92D050"/>
                </a:solidFill>
                <a:latin typeface="YS Text"/>
              </a:rPr>
              <a:t>('</a:t>
            </a:r>
            <a:r>
              <a:rPr lang="ru-RU" sz="1700" dirty="0">
                <a:solidFill>
                  <a:srgbClr val="92D050"/>
                </a:solidFill>
                <a:latin typeface="YS Text"/>
              </a:rPr>
              <a:t>сенсорный', '</a:t>
            </a:r>
            <a:r>
              <a:rPr lang="en-US" sz="1700" dirty="0">
                <a:solidFill>
                  <a:srgbClr val="92D050"/>
                </a:solidFill>
                <a:latin typeface="YS Text"/>
              </a:rPr>
              <a:t>LTE')</a:t>
            </a:r>
          </a:p>
          <a:p>
            <a:pPr algn="l"/>
            <a:endParaRPr lang="en-US" sz="1700" dirty="0">
              <a:solidFill>
                <a:schemeClr val="tx1"/>
              </a:solidFill>
              <a:latin typeface="YS Text"/>
            </a:endParaRPr>
          </a:p>
          <a:p>
            <a:pPr algn="l"/>
            <a:r>
              <a:rPr lang="en-US" sz="1700" dirty="0">
                <a:solidFill>
                  <a:schemeClr val="tx1"/>
                </a:solidFill>
                <a:latin typeface="YS Text"/>
              </a:rPr>
              <a:t># </a:t>
            </a:r>
            <a:r>
              <a:rPr lang="ru-RU" sz="1700" dirty="0">
                <a:solidFill>
                  <a:schemeClr val="tx1"/>
                </a:solidFill>
                <a:latin typeface="YS Text"/>
              </a:rPr>
              <a:t>Вызвать метод </a:t>
            </a:r>
            <a:r>
              <a:rPr lang="en-US" sz="1700" dirty="0">
                <a:solidFill>
                  <a:schemeClr val="tx1"/>
                </a:solidFill>
                <a:latin typeface="YS Text"/>
              </a:rPr>
              <a:t>call().</a:t>
            </a:r>
          </a:p>
          <a:p>
            <a:pPr algn="l"/>
            <a:r>
              <a:rPr lang="en-US" sz="1700" dirty="0" err="1">
                <a:solidFill>
                  <a:srgbClr val="92D050"/>
                </a:solidFill>
                <a:latin typeface="YS Text"/>
              </a:rPr>
              <a:t>mobile_phone.call</a:t>
            </a:r>
            <a:r>
              <a:rPr lang="en-US" sz="1700" dirty="0">
                <a:solidFill>
                  <a:srgbClr val="92D050"/>
                </a:solidFill>
                <a:latin typeface="YS Text"/>
              </a:rPr>
              <a:t>('555-2368')</a:t>
            </a:r>
          </a:p>
          <a:p>
            <a:pPr algn="l"/>
            <a:endParaRPr lang="en-US" sz="1700" dirty="0">
              <a:solidFill>
                <a:schemeClr val="tx1"/>
              </a:solidFill>
              <a:latin typeface="YS Text"/>
            </a:endParaRPr>
          </a:p>
          <a:p>
            <a:pPr algn="l"/>
            <a:r>
              <a:rPr lang="en-US" sz="1700" dirty="0">
                <a:solidFill>
                  <a:schemeClr val="tx1"/>
                </a:solidFill>
                <a:latin typeface="YS Text"/>
              </a:rPr>
              <a:t># </a:t>
            </a:r>
            <a:r>
              <a:rPr lang="ru-RU" sz="1700" dirty="0">
                <a:solidFill>
                  <a:schemeClr val="tx1"/>
                </a:solidFill>
                <a:latin typeface="YS Text"/>
              </a:rPr>
              <a:t>Выведется:</a:t>
            </a:r>
          </a:p>
          <a:p>
            <a:pPr algn="l"/>
            <a:r>
              <a:rPr lang="ru-RU" sz="1700" dirty="0">
                <a:solidFill>
                  <a:schemeClr val="tx1"/>
                </a:solidFill>
                <a:latin typeface="YS Text"/>
              </a:rPr>
              <a:t># </a:t>
            </a:r>
            <a:r>
              <a:rPr lang="ru-RU" sz="1700" dirty="0">
                <a:solidFill>
                  <a:srgbClr val="92D050"/>
                </a:solidFill>
                <a:latin typeface="YS Text"/>
              </a:rPr>
              <a:t>Звоню по номеру 555-2368! Тип связи - беспроводной. </a:t>
            </a:r>
            <a:endParaRPr lang="ru-RU" sz="2000" dirty="0">
              <a:solidFill>
                <a:srgbClr val="92D050"/>
              </a:solidFill>
              <a:latin typeface="YS Text"/>
            </a:endParaRPr>
          </a:p>
        </p:txBody>
      </p:sp>
    </p:spTree>
    <p:extLst>
      <p:ext uri="{BB962C8B-B14F-4D97-AF65-F5344CB8AC3E}">
        <p14:creationId xmlns:p14="http://schemas.microsoft.com/office/powerpoint/2010/main" val="832139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357352"/>
            <a:ext cx="11650134" cy="6395545"/>
          </a:xfrm>
        </p:spPr>
        <p:txBody>
          <a:bodyPr anchor="t">
            <a:normAutofit/>
          </a:bodyPr>
          <a:lstStyle/>
          <a:p>
            <a:pPr algn="l"/>
            <a:r>
              <a:rPr lang="ru-RU" sz="2000" b="0" i="0" dirty="0">
                <a:solidFill>
                  <a:schemeClr val="tx1"/>
                </a:solidFill>
                <a:effectLst/>
                <a:latin typeface="YS Text"/>
              </a:rPr>
              <a:t>Метод </a:t>
            </a:r>
            <a:r>
              <a:rPr lang="ru-RU" sz="2000" b="0" i="0" dirty="0" err="1">
                <a:solidFill>
                  <a:schemeClr val="tx1"/>
                </a:solidFill>
                <a:effectLst/>
                <a:latin typeface="YS Text"/>
              </a:rPr>
              <a:t>ring</a:t>
            </a:r>
            <a:r>
              <a:rPr lang="ru-RU" sz="2000" b="0" i="0" dirty="0">
                <a:solidFill>
                  <a:schemeClr val="tx1"/>
                </a:solidFill>
                <a:effectLst/>
                <a:latin typeface="YS Text"/>
              </a:rPr>
              <a:t>() в классе </a:t>
            </a:r>
            <a:r>
              <a:rPr lang="ru-RU" sz="2000" b="0" i="0" dirty="0" err="1">
                <a:solidFill>
                  <a:schemeClr val="tx1"/>
                </a:solidFill>
                <a:effectLst/>
                <a:latin typeface="YS Text"/>
              </a:rPr>
              <a:t>MobilePhone</a:t>
            </a:r>
            <a:r>
              <a:rPr lang="ru-RU" sz="2000" b="0" i="0" dirty="0">
                <a:solidFill>
                  <a:schemeClr val="tx1"/>
                </a:solidFill>
                <a:effectLst/>
                <a:latin typeface="YS Text"/>
              </a:rPr>
              <a:t> мы также </a:t>
            </a:r>
            <a:r>
              <a:rPr lang="ru-RU" sz="2000" b="0" i="0" dirty="0">
                <a:solidFill>
                  <a:schemeClr val="accent5">
                    <a:lumMod val="60000"/>
                    <a:lumOff val="40000"/>
                  </a:schemeClr>
                </a:solidFill>
                <a:effectLst/>
                <a:latin typeface="YS Text"/>
              </a:rPr>
              <a:t>можем</a:t>
            </a:r>
            <a:r>
              <a:rPr lang="ru-RU" sz="2000" b="0" i="0" dirty="0">
                <a:solidFill>
                  <a:schemeClr val="tx1"/>
                </a:solidFill>
                <a:effectLst/>
                <a:latin typeface="YS Text"/>
              </a:rPr>
              <a:t> полностью </a:t>
            </a:r>
            <a:r>
              <a:rPr lang="ru-RU" sz="2000" b="0" i="0" dirty="0">
                <a:solidFill>
                  <a:schemeClr val="accent5">
                    <a:lumMod val="60000"/>
                    <a:lumOff val="40000"/>
                  </a:schemeClr>
                </a:solidFill>
                <a:effectLst/>
                <a:latin typeface="YS Text"/>
              </a:rPr>
              <a:t>переопределить</a:t>
            </a:r>
            <a:r>
              <a:rPr lang="ru-RU" sz="2000" b="0" i="0" dirty="0">
                <a:solidFill>
                  <a:schemeClr val="tx1"/>
                </a:solidFill>
                <a:effectLst/>
                <a:latin typeface="YS Text"/>
              </a:rPr>
              <a:t> в дочернем классе, и для этого тоже не понадобилось знать детали реализации базового класса.</a:t>
            </a:r>
          </a:p>
          <a:p>
            <a:pPr algn="l"/>
            <a:endParaRPr lang="ru-RU" sz="2000" dirty="0">
              <a:solidFill>
                <a:schemeClr val="tx1"/>
              </a:solidFill>
              <a:latin typeface="YS Text"/>
            </a:endParaRPr>
          </a:p>
          <a:p>
            <a:pPr algn="ctr"/>
            <a:r>
              <a:rPr lang="ru-RU" b="0" i="0" dirty="0">
                <a:solidFill>
                  <a:schemeClr val="accent5">
                    <a:lumMod val="60000"/>
                    <a:lumOff val="40000"/>
                  </a:schemeClr>
                </a:solidFill>
                <a:effectLst/>
                <a:latin typeface="YS Text"/>
              </a:rPr>
              <a:t>Такой механизм, когда детали реализации объекта скрыты, а для взаимодействия с ним предоставлен специальный интерфейс, называется </a:t>
            </a:r>
            <a:r>
              <a:rPr lang="ru-RU" sz="3600" b="1" i="0" dirty="0">
                <a:solidFill>
                  <a:schemeClr val="accent5">
                    <a:lumMod val="60000"/>
                    <a:lumOff val="40000"/>
                  </a:schemeClr>
                </a:solidFill>
                <a:effectLst/>
                <a:latin typeface="YS Text"/>
              </a:rPr>
              <a:t>инкапсуляцией</a:t>
            </a:r>
            <a:r>
              <a:rPr lang="ru-RU" sz="3600" dirty="0">
                <a:solidFill>
                  <a:schemeClr val="accent5">
                    <a:lumMod val="60000"/>
                    <a:lumOff val="40000"/>
                  </a:schemeClr>
                </a:solidFill>
                <a:latin typeface="YS Text"/>
              </a:rPr>
              <a:t>.</a:t>
            </a:r>
          </a:p>
          <a:p>
            <a:pPr algn="l"/>
            <a:r>
              <a:rPr lang="ru-RU" sz="2000" b="0" i="0" dirty="0">
                <a:solidFill>
                  <a:schemeClr val="tx1"/>
                </a:solidFill>
                <a:effectLst/>
                <a:latin typeface="YS Text"/>
              </a:rPr>
              <a:t>В реальном мире, можно сказать, что все сложности работы телефона «инкапсулированы», то есть скрыты внутри, и для пользователя предоставлен простой интерфейс: иконки, динамик и микрофон!</a:t>
            </a:r>
          </a:p>
          <a:p>
            <a:pPr algn="l"/>
            <a:r>
              <a:rPr lang="ru-RU" sz="2000" b="0" i="0" dirty="0">
                <a:solidFill>
                  <a:schemeClr val="tx1"/>
                </a:solidFill>
                <a:effectLst/>
                <a:latin typeface="YS Text"/>
              </a:rPr>
              <a:t>А в программировании все сложности реализации класса «</a:t>
            </a:r>
            <a:r>
              <a:rPr lang="ru-RU" sz="2000" b="0" i="0" dirty="0">
                <a:solidFill>
                  <a:schemeClr val="accent5">
                    <a:lumMod val="60000"/>
                    <a:lumOff val="40000"/>
                  </a:schemeClr>
                </a:solidFill>
                <a:effectLst/>
                <a:latin typeface="YS Text"/>
              </a:rPr>
              <a:t>инкапсулированы</a:t>
            </a:r>
            <a:r>
              <a:rPr lang="ru-RU" sz="2000" b="0" i="0" dirty="0">
                <a:solidFill>
                  <a:schemeClr val="tx1"/>
                </a:solidFill>
                <a:effectLst/>
                <a:latin typeface="YS Text"/>
              </a:rPr>
              <a:t>», то есть скрыты, внутри класса, и для разработчика предоставлен простой интерфейс: </a:t>
            </a:r>
            <a:r>
              <a:rPr lang="ru-RU" sz="2000" b="0" i="0" dirty="0">
                <a:solidFill>
                  <a:schemeClr val="accent5">
                    <a:lumMod val="60000"/>
                    <a:lumOff val="40000"/>
                  </a:schemeClr>
                </a:solidFill>
                <a:effectLst/>
                <a:latin typeface="YS Text"/>
              </a:rPr>
              <a:t>атрибуты и методы</a:t>
            </a:r>
            <a:r>
              <a:rPr lang="ru-RU" sz="2000" b="0" i="0" dirty="0">
                <a:solidFill>
                  <a:schemeClr val="tx1"/>
                </a:solidFill>
                <a:effectLst/>
                <a:latin typeface="YS Text"/>
              </a:rPr>
              <a:t>.</a:t>
            </a:r>
          </a:p>
          <a:p>
            <a:pPr algn="l"/>
            <a:endParaRPr lang="ru-RU" sz="2000" b="0" i="0" dirty="0">
              <a:solidFill>
                <a:schemeClr val="tx1"/>
              </a:solidFill>
              <a:effectLst/>
              <a:latin typeface="YS Text"/>
            </a:endParaRPr>
          </a:p>
          <a:p>
            <a:pPr algn="l"/>
            <a:r>
              <a:rPr lang="ru-RU" sz="2000" b="0" i="0" dirty="0">
                <a:solidFill>
                  <a:schemeClr val="tx1"/>
                </a:solidFill>
                <a:effectLst/>
                <a:latin typeface="YS Text"/>
              </a:rPr>
              <a:t>В Python все атрибуты и методы класса </a:t>
            </a:r>
            <a:r>
              <a:rPr lang="ru-RU" sz="2400" b="1" i="0" dirty="0">
                <a:solidFill>
                  <a:schemeClr val="accent5">
                    <a:lumMod val="60000"/>
                    <a:lumOff val="40000"/>
                  </a:schemeClr>
                </a:solidFill>
                <a:effectLst/>
                <a:latin typeface="YS Text"/>
              </a:rPr>
              <a:t>по умолчанию публичные</a:t>
            </a:r>
            <a:r>
              <a:rPr lang="ru-RU" sz="2400" b="1" i="0" dirty="0">
                <a:solidFill>
                  <a:schemeClr val="tx1"/>
                </a:solidFill>
                <a:effectLst/>
                <a:latin typeface="YS Text"/>
              </a:rPr>
              <a:t>.</a:t>
            </a:r>
            <a:r>
              <a:rPr lang="ru-RU" sz="2000" b="0" i="0" dirty="0">
                <a:solidFill>
                  <a:schemeClr val="tx1"/>
                </a:solidFill>
                <a:effectLst/>
                <a:latin typeface="YS Text"/>
              </a:rPr>
              <a:t> Это значит, что к ним без ограничений можно обращаться как из класса, так и из любой части программы.</a:t>
            </a:r>
          </a:p>
          <a:p>
            <a:pPr algn="l"/>
            <a:r>
              <a:rPr lang="ru-RU" sz="2000" b="0" i="0" dirty="0">
                <a:solidFill>
                  <a:schemeClr val="tx1"/>
                </a:solidFill>
                <a:effectLst/>
                <a:latin typeface="YS Text"/>
              </a:rPr>
              <a:t>Но бывают такие методы и атрибуты, к которым доступ вне класса не нужен или нежелателен. Разработчики могут предупреждать друг друга о подобных методах или атрибутах, делая их </a:t>
            </a:r>
            <a:r>
              <a:rPr lang="ru-RU" sz="2400" b="1" i="0" dirty="0">
                <a:solidFill>
                  <a:schemeClr val="accent5">
                    <a:lumMod val="60000"/>
                    <a:lumOff val="40000"/>
                  </a:schemeClr>
                </a:solidFill>
                <a:effectLst/>
                <a:latin typeface="YS Text"/>
              </a:rPr>
              <a:t>защищёнными или приватными</a:t>
            </a:r>
            <a:r>
              <a:rPr lang="ru-RU" sz="2000" b="0" i="0" dirty="0">
                <a:solidFill>
                  <a:schemeClr val="tx1"/>
                </a:solidFill>
                <a:effectLst/>
                <a:latin typeface="YS Text"/>
              </a:rPr>
              <a:t>.</a:t>
            </a:r>
          </a:p>
          <a:p>
            <a:pPr algn="l"/>
            <a:endParaRPr lang="ru-RU" sz="2000" dirty="0">
              <a:solidFill>
                <a:srgbClr val="92D050"/>
              </a:solidFill>
              <a:latin typeface="YS Text"/>
            </a:endParaRPr>
          </a:p>
        </p:txBody>
      </p:sp>
    </p:spTree>
    <p:extLst>
      <p:ext uri="{BB962C8B-B14F-4D97-AF65-F5344CB8AC3E}">
        <p14:creationId xmlns:p14="http://schemas.microsoft.com/office/powerpoint/2010/main" val="1860974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Защищённые атрибуты и методы</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Если нужно показать, что атрибут или метод должен использоваться только для внутренних нужд класса или его наследников, перед названием атрибута или метода добавляют </a:t>
            </a:r>
            <a:r>
              <a:rPr lang="ru-RU" sz="2000" b="0" i="0" dirty="0">
                <a:solidFill>
                  <a:schemeClr val="accent5">
                    <a:lumMod val="60000"/>
                    <a:lumOff val="40000"/>
                  </a:schemeClr>
                </a:solidFill>
                <a:effectLst/>
                <a:latin typeface="YS Text"/>
              </a:rPr>
              <a:t>одинарное подчёркивание _</a:t>
            </a:r>
            <a:r>
              <a:rPr lang="ru-RU" sz="2000" b="0" i="0" dirty="0">
                <a:solidFill>
                  <a:schemeClr val="tx1"/>
                </a:solidFill>
                <a:effectLst/>
                <a:latin typeface="YS Text"/>
              </a:rPr>
              <a:t>. Такой атрибут или метод будет считаться </a:t>
            </a:r>
            <a:r>
              <a:rPr lang="ru-RU" sz="2400" b="1" i="0" dirty="0">
                <a:solidFill>
                  <a:schemeClr val="accent5">
                    <a:lumMod val="60000"/>
                    <a:lumOff val="40000"/>
                  </a:schemeClr>
                </a:solidFill>
                <a:effectLst/>
                <a:latin typeface="YS Text"/>
              </a:rPr>
              <a:t>защищённым</a:t>
            </a:r>
            <a:r>
              <a:rPr lang="ru-RU" sz="2000" b="0" i="0" dirty="0">
                <a:solidFill>
                  <a:schemeClr val="tx1"/>
                </a:solidFill>
                <a:effectLst/>
                <a:latin typeface="YS Text"/>
              </a:rPr>
              <a:t>.</a:t>
            </a:r>
            <a:endParaRPr lang="en-US" sz="2000" b="0" i="0" dirty="0">
              <a:solidFill>
                <a:schemeClr val="tx1"/>
              </a:solidFill>
              <a:effectLst/>
              <a:latin typeface="YS Text"/>
            </a:endParaRPr>
          </a:p>
          <a:p>
            <a:pPr algn="l"/>
            <a:endParaRPr lang="ru-RU" sz="2000" b="0" i="0" dirty="0">
              <a:solidFill>
                <a:schemeClr val="tx1"/>
              </a:solidFill>
              <a:effectLst/>
              <a:latin typeface="YS Text"/>
            </a:endParaRPr>
          </a:p>
          <a:p>
            <a:pPr algn="l"/>
            <a:r>
              <a:rPr lang="ru-RU" sz="2000" b="0" i="0" dirty="0">
                <a:solidFill>
                  <a:schemeClr val="tx1"/>
                </a:solidFill>
                <a:effectLst/>
                <a:latin typeface="YS Text"/>
              </a:rPr>
              <a:t>Например, у всех телефонов есть серийный номер — и у проводных, и у мобильных. С серийным номером нежелательно выполнять какие-либо операции, например менять его. Важно лишь оставить возможность его просмотреть, что можно сделать через публичный метод.</a:t>
            </a:r>
            <a:endParaRPr lang="en-US" sz="2000" b="0" i="0" dirty="0">
              <a:solidFill>
                <a:schemeClr val="tx1"/>
              </a:solidFill>
              <a:effectLst/>
              <a:latin typeface="YS Text"/>
            </a:endParaRPr>
          </a:p>
          <a:p>
            <a:pPr algn="l"/>
            <a:endParaRPr lang="ru-RU" sz="2000" b="0" i="0" dirty="0">
              <a:solidFill>
                <a:schemeClr val="tx1"/>
              </a:solidFill>
              <a:effectLst/>
              <a:latin typeface="YS Text"/>
            </a:endParaRPr>
          </a:p>
          <a:p>
            <a:pPr algn="l"/>
            <a:r>
              <a:rPr lang="ru-RU" sz="2000" b="0" i="0" dirty="0">
                <a:solidFill>
                  <a:schemeClr val="tx1"/>
                </a:solidFill>
                <a:effectLst/>
                <a:latin typeface="YS Text"/>
              </a:rPr>
              <a:t>Реализация подобной логики в коде будет выглядеть так:</a:t>
            </a:r>
            <a:endParaRPr lang="en-US" sz="2000" b="0" i="0" dirty="0">
              <a:solidFill>
                <a:schemeClr val="tx1"/>
              </a:solidFill>
              <a:effectLst/>
              <a:latin typeface="YS Text"/>
            </a:endParaRPr>
          </a:p>
          <a:p>
            <a:pPr algn="l"/>
            <a:r>
              <a:rPr lang="en-US" sz="2000" dirty="0">
                <a:solidFill>
                  <a:schemeClr val="tx1"/>
                </a:solidFill>
                <a:latin typeface="YS Text"/>
              </a:rPr>
              <a:t>	</a:t>
            </a:r>
            <a:r>
              <a:rPr lang="en-US" sz="2000" dirty="0">
                <a:solidFill>
                  <a:srgbClr val="00B050"/>
                </a:solidFill>
                <a:latin typeface="YS Text"/>
              </a:rPr>
              <a:t>def __</a:t>
            </a:r>
            <a:r>
              <a:rPr lang="en-US" sz="2000" dirty="0" err="1">
                <a:solidFill>
                  <a:srgbClr val="00B050"/>
                </a:solidFill>
                <a:latin typeface="YS Text"/>
              </a:rPr>
              <a:t>init</a:t>
            </a:r>
            <a:r>
              <a:rPr lang="en-US" sz="2000" dirty="0">
                <a:solidFill>
                  <a:srgbClr val="00B050"/>
                </a:solidFill>
                <a:latin typeface="YS Text"/>
              </a:rPr>
              <a:t>__(self, </a:t>
            </a:r>
            <a:r>
              <a:rPr lang="en-US" sz="2000" dirty="0" err="1">
                <a:solidFill>
                  <a:srgbClr val="00B050"/>
                </a:solidFill>
                <a:latin typeface="YS Text"/>
              </a:rPr>
              <a:t>dial_type_value</a:t>
            </a:r>
            <a:r>
              <a:rPr lang="en-US" sz="2000" dirty="0">
                <a:solidFill>
                  <a:srgbClr val="00B050"/>
                </a:solidFill>
                <a:latin typeface="YS Text"/>
              </a:rPr>
              <a:t>):</a:t>
            </a:r>
          </a:p>
          <a:p>
            <a:pPr algn="l"/>
            <a:r>
              <a:rPr lang="en-US" sz="2000" dirty="0">
                <a:solidFill>
                  <a:srgbClr val="00B050"/>
                </a:solidFill>
                <a:latin typeface="YS Text"/>
              </a:rPr>
              <a:t>       		</a:t>
            </a:r>
            <a:r>
              <a:rPr lang="en-US" sz="2000" dirty="0" err="1">
                <a:solidFill>
                  <a:srgbClr val="00B050"/>
                </a:solidFill>
                <a:latin typeface="YS Text"/>
              </a:rPr>
              <a:t>self.dial_type</a:t>
            </a:r>
            <a:r>
              <a:rPr lang="en-US" sz="2000" dirty="0">
                <a:solidFill>
                  <a:srgbClr val="00B050"/>
                </a:solidFill>
                <a:latin typeface="YS Text"/>
              </a:rPr>
              <a:t> = </a:t>
            </a:r>
            <a:r>
              <a:rPr lang="en-US" sz="2000" dirty="0" err="1">
                <a:solidFill>
                  <a:srgbClr val="00B050"/>
                </a:solidFill>
                <a:latin typeface="YS Text"/>
              </a:rPr>
              <a:t>dial_type_value</a:t>
            </a:r>
            <a:endParaRPr lang="en-US" sz="2000" dirty="0">
              <a:solidFill>
                <a:srgbClr val="00B050"/>
              </a:solidFill>
              <a:latin typeface="YS Text"/>
            </a:endParaRPr>
          </a:p>
          <a:p>
            <a:pPr algn="l"/>
            <a:r>
              <a:rPr lang="en-US" sz="2000" dirty="0">
                <a:solidFill>
                  <a:schemeClr val="tx1"/>
                </a:solidFill>
                <a:latin typeface="YS Text"/>
              </a:rPr>
              <a:t>        		# </a:t>
            </a:r>
            <a:r>
              <a:rPr lang="ru-RU" sz="2000" dirty="0">
                <a:solidFill>
                  <a:schemeClr val="tx1"/>
                </a:solidFill>
                <a:latin typeface="YS Text"/>
              </a:rPr>
              <a:t>Вот он - защищённый атрибут. Значением будет</a:t>
            </a:r>
          </a:p>
          <a:p>
            <a:pPr algn="l"/>
            <a:r>
              <a:rPr lang="ru-RU" sz="2000" dirty="0">
                <a:solidFill>
                  <a:schemeClr val="tx1"/>
                </a:solidFill>
                <a:latin typeface="YS Text"/>
              </a:rPr>
              <a:t>        </a:t>
            </a:r>
            <a:r>
              <a:rPr lang="en-US" sz="2000" dirty="0">
                <a:solidFill>
                  <a:schemeClr val="tx1"/>
                </a:solidFill>
                <a:latin typeface="YS Text"/>
              </a:rPr>
              <a:t>		</a:t>
            </a:r>
            <a:r>
              <a:rPr lang="ru-RU" sz="2000" dirty="0">
                <a:solidFill>
                  <a:schemeClr val="tx1"/>
                </a:solidFill>
                <a:latin typeface="YS Text"/>
              </a:rPr>
              <a:t># </a:t>
            </a:r>
            <a:r>
              <a:rPr lang="en-US" sz="2000" dirty="0">
                <a:solidFill>
                  <a:schemeClr val="tx1"/>
                </a:solidFill>
                <a:latin typeface="YS Text"/>
              </a:rPr>
              <a:t>ID </a:t>
            </a:r>
            <a:r>
              <a:rPr lang="ru-RU" sz="2000" dirty="0">
                <a:solidFill>
                  <a:schemeClr val="tx1"/>
                </a:solidFill>
                <a:latin typeface="YS Text"/>
              </a:rPr>
              <a:t>ячейки памяти аргумента </a:t>
            </a:r>
            <a:r>
              <a:rPr lang="en-US" sz="2000" dirty="0" err="1">
                <a:solidFill>
                  <a:schemeClr val="tx1"/>
                </a:solidFill>
                <a:latin typeface="YS Text"/>
              </a:rPr>
              <a:t>dial_type_value</a:t>
            </a:r>
            <a:r>
              <a:rPr lang="en-US" sz="2000" dirty="0">
                <a:solidFill>
                  <a:schemeClr val="tx1"/>
                </a:solidFill>
                <a:latin typeface="YS Text"/>
              </a:rPr>
              <a:t>.</a:t>
            </a:r>
          </a:p>
          <a:p>
            <a:pPr algn="l"/>
            <a:r>
              <a:rPr lang="en-US" sz="2000" dirty="0">
                <a:solidFill>
                  <a:schemeClr val="tx1"/>
                </a:solidFill>
                <a:latin typeface="YS Text"/>
              </a:rPr>
              <a:t>        		</a:t>
            </a:r>
            <a:r>
              <a:rPr lang="en-US" sz="2000" dirty="0">
                <a:solidFill>
                  <a:srgbClr val="00B050"/>
                </a:solidFill>
                <a:latin typeface="YS Text"/>
              </a:rPr>
              <a:t>self._</a:t>
            </a:r>
            <a:r>
              <a:rPr lang="en-US" sz="2000" dirty="0" err="1">
                <a:solidFill>
                  <a:srgbClr val="00B050"/>
                </a:solidFill>
                <a:latin typeface="YS Text"/>
              </a:rPr>
              <a:t>serial_number</a:t>
            </a:r>
            <a:r>
              <a:rPr lang="en-US" sz="2000" dirty="0">
                <a:solidFill>
                  <a:srgbClr val="00B050"/>
                </a:solidFill>
                <a:latin typeface="YS Text"/>
              </a:rPr>
              <a:t> = id(</a:t>
            </a:r>
            <a:r>
              <a:rPr lang="en-US" sz="2000" dirty="0" err="1">
                <a:solidFill>
                  <a:srgbClr val="00B050"/>
                </a:solidFill>
                <a:latin typeface="YS Text"/>
              </a:rPr>
              <a:t>dial_type_value</a:t>
            </a:r>
            <a:r>
              <a:rPr lang="en-US" sz="2000" dirty="0">
                <a:solidFill>
                  <a:srgbClr val="00B050"/>
                </a:solidFill>
                <a:latin typeface="YS Text"/>
              </a:rPr>
              <a:t>)</a:t>
            </a:r>
            <a:endParaRPr lang="ru-RU" sz="2000" dirty="0">
              <a:solidFill>
                <a:srgbClr val="00B050"/>
              </a:solidFill>
              <a:latin typeface="YS Text"/>
            </a:endParaRPr>
          </a:p>
        </p:txBody>
      </p:sp>
    </p:spTree>
    <p:extLst>
      <p:ext uri="{BB962C8B-B14F-4D97-AF65-F5344CB8AC3E}">
        <p14:creationId xmlns:p14="http://schemas.microsoft.com/office/powerpoint/2010/main" val="1294833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189186"/>
            <a:ext cx="11650134" cy="6563711"/>
          </a:xfrm>
        </p:spPr>
        <p:txBody>
          <a:bodyPr anchor="t">
            <a:normAutofit/>
          </a:bodyPr>
          <a:lstStyle/>
          <a:p>
            <a:pPr algn="l"/>
            <a:r>
              <a:rPr lang="ru-RU" sz="2000" dirty="0">
                <a:solidFill>
                  <a:schemeClr val="tx1"/>
                </a:solidFill>
                <a:latin typeface="YS Text"/>
              </a:rPr>
              <a:t>Увидев такой атрибут в коде, разработчик будет понимать, что желательно использовать его только внутри класса или его наследников. Хотя ничто не помешает разработчику обратиться к этому атрибуту не только через метод, но и напрямую из любой части программы:</a:t>
            </a:r>
          </a:p>
          <a:p>
            <a:pPr algn="l"/>
            <a:r>
              <a:rPr lang="ru-RU" sz="1800" dirty="0">
                <a:solidFill>
                  <a:schemeClr val="tx1"/>
                </a:solidFill>
                <a:latin typeface="YS Text"/>
              </a:rPr>
              <a:t>	</a:t>
            </a:r>
            <a:r>
              <a:rPr lang="en-US" sz="1600" dirty="0">
                <a:solidFill>
                  <a:schemeClr val="tx1"/>
                </a:solidFill>
                <a:latin typeface="YS Text"/>
              </a:rPr>
              <a:t>...</a:t>
            </a:r>
          </a:p>
          <a:p>
            <a:pPr algn="l"/>
            <a:endParaRPr lang="en-US" sz="1600" dirty="0">
              <a:solidFill>
                <a:schemeClr val="tx1"/>
              </a:solidFill>
              <a:latin typeface="YS Text"/>
            </a:endParaRPr>
          </a:p>
          <a:p>
            <a:pPr algn="l"/>
            <a:r>
              <a:rPr lang="ru-RU" sz="1600" dirty="0">
                <a:solidFill>
                  <a:schemeClr val="tx1"/>
                </a:solidFill>
                <a:latin typeface="YS Text"/>
              </a:rPr>
              <a:t>	</a:t>
            </a:r>
            <a:r>
              <a:rPr lang="en-US" sz="1600" dirty="0">
                <a:solidFill>
                  <a:srgbClr val="92D050"/>
                </a:solidFill>
                <a:latin typeface="YS Text"/>
              </a:rPr>
              <a:t>mobile_phone_1 = Phone('</a:t>
            </a:r>
            <a:r>
              <a:rPr lang="ru-RU" sz="1600" dirty="0">
                <a:solidFill>
                  <a:srgbClr val="92D050"/>
                </a:solidFill>
                <a:latin typeface="YS Text"/>
              </a:rPr>
              <a:t>дисковый’)</a:t>
            </a:r>
          </a:p>
          <a:p>
            <a:pPr algn="l"/>
            <a:r>
              <a:rPr lang="ru-RU" sz="1600" dirty="0">
                <a:solidFill>
                  <a:srgbClr val="92D050"/>
                </a:solidFill>
                <a:latin typeface="YS Text"/>
              </a:rPr>
              <a:t>	</a:t>
            </a:r>
            <a:r>
              <a:rPr lang="en-US" sz="1600" dirty="0">
                <a:solidFill>
                  <a:srgbClr val="92D050"/>
                </a:solidFill>
                <a:latin typeface="YS Text"/>
              </a:rPr>
              <a:t>mobile_phone_2 = </a:t>
            </a:r>
            <a:r>
              <a:rPr lang="en-US" sz="1600" dirty="0" err="1">
                <a:solidFill>
                  <a:srgbClr val="92D050"/>
                </a:solidFill>
                <a:latin typeface="YS Text"/>
              </a:rPr>
              <a:t>MobilePhone</a:t>
            </a:r>
            <a:r>
              <a:rPr lang="en-US" sz="1600" dirty="0">
                <a:solidFill>
                  <a:srgbClr val="92D050"/>
                </a:solidFill>
                <a:latin typeface="YS Text"/>
              </a:rPr>
              <a:t>('</a:t>
            </a:r>
            <a:r>
              <a:rPr lang="ru-RU" sz="1600" dirty="0">
                <a:solidFill>
                  <a:srgbClr val="92D050"/>
                </a:solidFill>
                <a:latin typeface="YS Text"/>
              </a:rPr>
              <a:t>сенсорный', '</a:t>
            </a:r>
            <a:r>
              <a:rPr lang="en-US" sz="1600" dirty="0">
                <a:solidFill>
                  <a:srgbClr val="92D050"/>
                </a:solidFill>
                <a:latin typeface="YS Text"/>
              </a:rPr>
              <a:t>LTE’)</a:t>
            </a:r>
          </a:p>
          <a:p>
            <a:pPr algn="l"/>
            <a:endParaRPr lang="en-US" sz="1600" dirty="0">
              <a:solidFill>
                <a:schemeClr val="tx1"/>
              </a:solidFill>
              <a:latin typeface="YS Text"/>
            </a:endParaRPr>
          </a:p>
          <a:p>
            <a:pPr algn="l"/>
            <a:r>
              <a:rPr lang="ru-RU" sz="1600" dirty="0">
                <a:solidFill>
                  <a:schemeClr val="tx1"/>
                </a:solidFill>
                <a:latin typeface="YS Text"/>
              </a:rPr>
              <a:t>	</a:t>
            </a:r>
            <a:r>
              <a:rPr lang="en-US" sz="1600" dirty="0">
                <a:solidFill>
                  <a:schemeClr val="tx1"/>
                </a:solidFill>
                <a:latin typeface="YS Text"/>
              </a:rPr>
              <a:t># </a:t>
            </a:r>
            <a:r>
              <a:rPr lang="ru-RU" sz="1600" dirty="0">
                <a:solidFill>
                  <a:schemeClr val="tx1"/>
                </a:solidFill>
                <a:latin typeface="YS Text"/>
              </a:rPr>
              <a:t>Обращение через метод.</a:t>
            </a:r>
          </a:p>
          <a:p>
            <a:pPr algn="l"/>
            <a:r>
              <a:rPr lang="ru-RU" sz="1600" dirty="0">
                <a:solidFill>
                  <a:schemeClr val="tx1"/>
                </a:solidFill>
                <a:latin typeface="YS Text"/>
              </a:rPr>
              <a:t>	</a:t>
            </a:r>
            <a:r>
              <a:rPr lang="en-US" sz="1600" dirty="0">
                <a:solidFill>
                  <a:srgbClr val="92D050"/>
                </a:solidFill>
                <a:latin typeface="YS Text"/>
              </a:rPr>
              <a:t>mobile_phone_2.get_info()</a:t>
            </a:r>
          </a:p>
          <a:p>
            <a:pPr algn="l"/>
            <a:r>
              <a:rPr lang="ru-RU" sz="1600" dirty="0">
                <a:solidFill>
                  <a:schemeClr val="tx1"/>
                </a:solidFill>
                <a:latin typeface="YS Text"/>
              </a:rPr>
              <a:t>	</a:t>
            </a:r>
            <a:r>
              <a:rPr lang="en-US" sz="1600" dirty="0">
                <a:solidFill>
                  <a:schemeClr val="tx1"/>
                </a:solidFill>
                <a:latin typeface="YS Text"/>
              </a:rPr>
              <a:t># </a:t>
            </a:r>
            <a:r>
              <a:rPr lang="ru-RU" sz="1600" dirty="0">
                <a:solidFill>
                  <a:schemeClr val="tx1"/>
                </a:solidFill>
                <a:latin typeface="YS Text"/>
              </a:rPr>
              <a:t>Обращение напрямую.</a:t>
            </a:r>
          </a:p>
          <a:p>
            <a:pPr algn="l"/>
            <a:r>
              <a:rPr lang="ru-RU" sz="1600" dirty="0">
                <a:solidFill>
                  <a:schemeClr val="tx1"/>
                </a:solidFill>
                <a:latin typeface="YS Text"/>
              </a:rPr>
              <a:t>	</a:t>
            </a:r>
            <a:r>
              <a:rPr lang="en-US" sz="1600" dirty="0">
                <a:solidFill>
                  <a:srgbClr val="92D050"/>
                </a:solidFill>
                <a:latin typeface="YS Text"/>
              </a:rPr>
              <a:t>print(mobile_phone_1._serial_number)</a:t>
            </a:r>
          </a:p>
          <a:p>
            <a:pPr algn="l"/>
            <a:r>
              <a:rPr lang="ru-RU" sz="1600" dirty="0">
                <a:solidFill>
                  <a:srgbClr val="92D050"/>
                </a:solidFill>
                <a:latin typeface="YS Text"/>
              </a:rPr>
              <a:t>	</a:t>
            </a:r>
            <a:r>
              <a:rPr lang="en-US" sz="1600" dirty="0">
                <a:solidFill>
                  <a:srgbClr val="92D050"/>
                </a:solidFill>
                <a:latin typeface="YS Text"/>
              </a:rPr>
              <a:t>print(mobile_phone_2._serial_number)</a:t>
            </a:r>
          </a:p>
          <a:p>
            <a:pPr algn="l"/>
            <a:r>
              <a:rPr lang="ru-RU" sz="2000" b="0" i="0" dirty="0">
                <a:solidFill>
                  <a:schemeClr val="tx1"/>
                </a:solidFill>
                <a:effectLst/>
                <a:latin typeface="YS Text"/>
              </a:rPr>
              <a:t>Одинарное подчёркивание перед атрибутом — </a:t>
            </a:r>
            <a:r>
              <a:rPr lang="ru-RU" sz="2000" b="0" i="0" dirty="0">
                <a:solidFill>
                  <a:schemeClr val="accent5">
                    <a:lumMod val="60000"/>
                    <a:lumOff val="40000"/>
                  </a:schemeClr>
                </a:solidFill>
                <a:effectLst/>
                <a:latin typeface="YS Text"/>
              </a:rPr>
              <a:t>это предупреждение для других разработчиков</a:t>
            </a:r>
            <a:r>
              <a:rPr lang="ru-RU" sz="2000" b="0" i="0" dirty="0">
                <a:solidFill>
                  <a:schemeClr val="tx1"/>
                </a:solidFill>
                <a:effectLst/>
                <a:latin typeface="YS Text"/>
              </a:rPr>
              <a:t>: «Обрати внимание, этот атрибут или метод используется только для внутренних нужд класса и его наследников, но если он тебе действительно нужен — к нему доступ есть».</a:t>
            </a:r>
          </a:p>
          <a:p>
            <a:pPr algn="ctr"/>
            <a:r>
              <a:rPr lang="ru-RU" sz="2800" b="0" i="0" dirty="0">
                <a:solidFill>
                  <a:schemeClr val="accent5">
                    <a:lumMod val="60000"/>
                    <a:lumOff val="40000"/>
                  </a:schemeClr>
                </a:solidFill>
                <a:effectLst/>
                <a:latin typeface="YS Text"/>
              </a:rPr>
              <a:t>Если же важно именно </a:t>
            </a:r>
            <a:r>
              <a:rPr lang="ru-RU" sz="2800" b="1" i="0" dirty="0">
                <a:solidFill>
                  <a:schemeClr val="accent5">
                    <a:lumMod val="60000"/>
                    <a:lumOff val="40000"/>
                  </a:schemeClr>
                </a:solidFill>
                <a:effectLst/>
                <a:latin typeface="YS Text"/>
              </a:rPr>
              <a:t>ограничить доступ </a:t>
            </a:r>
            <a:r>
              <a:rPr lang="ru-RU" sz="2800" b="0" i="0" dirty="0">
                <a:solidFill>
                  <a:schemeClr val="accent5">
                    <a:lumMod val="60000"/>
                    <a:lumOff val="40000"/>
                  </a:schemeClr>
                </a:solidFill>
                <a:effectLst/>
                <a:latin typeface="YS Text"/>
              </a:rPr>
              <a:t>к методу или атрибуту, </a:t>
            </a:r>
            <a:endParaRPr lang="en-US" sz="2800" b="0" i="0" dirty="0">
              <a:solidFill>
                <a:schemeClr val="accent5">
                  <a:lumMod val="60000"/>
                  <a:lumOff val="40000"/>
                </a:schemeClr>
              </a:solidFill>
              <a:effectLst/>
              <a:latin typeface="YS Text"/>
            </a:endParaRPr>
          </a:p>
          <a:p>
            <a:pPr algn="ctr"/>
            <a:r>
              <a:rPr lang="ru-RU" sz="2800" b="0" i="0" dirty="0">
                <a:solidFill>
                  <a:schemeClr val="accent5">
                    <a:lumMod val="60000"/>
                    <a:lumOff val="40000"/>
                  </a:schemeClr>
                </a:solidFill>
                <a:effectLst/>
                <a:latin typeface="YS Text"/>
              </a:rPr>
              <a:t>можно сделать его </a:t>
            </a:r>
            <a:r>
              <a:rPr lang="ru-RU" sz="2800" b="1" i="0" dirty="0">
                <a:solidFill>
                  <a:schemeClr val="accent5">
                    <a:lumMod val="60000"/>
                    <a:lumOff val="40000"/>
                  </a:schemeClr>
                </a:solidFill>
                <a:effectLst/>
                <a:latin typeface="YS Text"/>
              </a:rPr>
              <a:t>приватным</a:t>
            </a:r>
            <a:r>
              <a:rPr lang="ru-RU" sz="2800" b="0" i="0" dirty="0">
                <a:solidFill>
                  <a:schemeClr val="accent5">
                    <a:lumMod val="60000"/>
                    <a:lumOff val="40000"/>
                  </a:schemeClr>
                </a:solidFill>
                <a:effectLst/>
                <a:latin typeface="YS Text"/>
              </a:rPr>
              <a:t>.</a:t>
            </a:r>
            <a:endParaRPr lang="ru-RU" sz="2800" dirty="0">
              <a:solidFill>
                <a:schemeClr val="accent5">
                  <a:lumMod val="60000"/>
                  <a:lumOff val="40000"/>
                </a:schemeClr>
              </a:solidFill>
              <a:latin typeface="YS Text"/>
            </a:endParaRPr>
          </a:p>
        </p:txBody>
      </p:sp>
    </p:spTree>
    <p:extLst>
      <p:ext uri="{BB962C8B-B14F-4D97-AF65-F5344CB8AC3E}">
        <p14:creationId xmlns:p14="http://schemas.microsoft.com/office/powerpoint/2010/main" val="33662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Приватные атрибуты и методы</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1650134" cy="5919179"/>
          </a:xfrm>
        </p:spPr>
        <p:txBody>
          <a:bodyPr anchor="t">
            <a:normAutofit/>
          </a:bodyPr>
          <a:lstStyle/>
          <a:p>
            <a:pPr algn="l"/>
            <a:r>
              <a:rPr lang="ru-RU" sz="2000" b="0" i="0" dirty="0">
                <a:solidFill>
                  <a:schemeClr val="tx1"/>
                </a:solidFill>
                <a:effectLst/>
                <a:latin typeface="YS Text"/>
              </a:rPr>
              <a:t>Для Python атрибут или метод, имя которого начинается с </a:t>
            </a:r>
            <a:r>
              <a:rPr lang="ru-RU" sz="2000" b="1" i="0" dirty="0">
                <a:solidFill>
                  <a:schemeClr val="accent5">
                    <a:lumMod val="60000"/>
                    <a:lumOff val="40000"/>
                  </a:schemeClr>
                </a:solidFill>
                <a:effectLst/>
                <a:latin typeface="YS Text"/>
              </a:rPr>
              <a:t>двойного подчёркивания __, </a:t>
            </a:r>
            <a:r>
              <a:rPr lang="ru-RU" sz="2000" b="0" i="0" dirty="0">
                <a:solidFill>
                  <a:schemeClr val="tx1"/>
                </a:solidFill>
                <a:effectLst/>
                <a:latin typeface="YS Text"/>
              </a:rPr>
              <a:t>— приватный. К этому атрибуту можно обратиться внутри класса, а вот вне класса просто так сделать это не получится.</a:t>
            </a:r>
          </a:p>
          <a:p>
            <a:pPr algn="l"/>
            <a:r>
              <a:rPr lang="ru-RU" sz="2000" b="0" i="0" dirty="0">
                <a:solidFill>
                  <a:schemeClr val="tx1"/>
                </a:solidFill>
                <a:effectLst/>
                <a:latin typeface="YS Text"/>
              </a:rPr>
              <a:t>У класса </a:t>
            </a:r>
            <a:r>
              <a:rPr lang="ru-RU" sz="2000" b="0" i="0" dirty="0" err="1">
                <a:solidFill>
                  <a:schemeClr val="tx1"/>
                </a:solidFill>
                <a:effectLst/>
                <a:latin typeface="YS Text"/>
              </a:rPr>
              <a:t>MobilePhone</a:t>
            </a:r>
            <a:r>
              <a:rPr lang="ru-RU" sz="2000" b="0" i="0" dirty="0">
                <a:solidFill>
                  <a:schemeClr val="tx1"/>
                </a:solidFill>
                <a:effectLst/>
                <a:latin typeface="YS Text"/>
              </a:rPr>
              <a:t> есть атрибут </a:t>
            </a:r>
            <a:r>
              <a:rPr lang="ru-RU" sz="2000" b="0" i="0" dirty="0" err="1">
                <a:solidFill>
                  <a:schemeClr val="tx1"/>
                </a:solidFill>
                <a:effectLst/>
                <a:latin typeface="YS Text"/>
              </a:rPr>
              <a:t>network_type</a:t>
            </a:r>
            <a:r>
              <a:rPr lang="ru-RU" sz="2000" b="0" i="0" dirty="0">
                <a:solidFill>
                  <a:schemeClr val="tx1"/>
                </a:solidFill>
                <a:effectLst/>
                <a:latin typeface="YS Text"/>
              </a:rPr>
              <a:t>, в котором хранится стандарт связи. Маловероятно, что стандарт связи в конкретном экземпляре мобильного телефона может быть изменён. Чтобы исключить непреднамеренное изменение атрибута, его можно сделать приватным. </a:t>
            </a:r>
            <a:endParaRPr lang="en-US" sz="2000" b="0" i="0" dirty="0">
              <a:solidFill>
                <a:schemeClr val="tx1"/>
              </a:solidFill>
              <a:effectLst/>
              <a:latin typeface="YS Text"/>
            </a:endParaRPr>
          </a:p>
          <a:p>
            <a:pPr algn="l"/>
            <a:r>
              <a:rPr lang="en-US" sz="1800" b="0" i="0" dirty="0">
                <a:solidFill>
                  <a:srgbClr val="C678DD"/>
                </a:solidFill>
                <a:effectLst/>
                <a:latin typeface="Menlo"/>
              </a:rPr>
              <a:t>class</a:t>
            </a:r>
            <a:r>
              <a:rPr lang="en-US" sz="1800" b="0" i="0" dirty="0">
                <a:effectLst/>
                <a:latin typeface="Menlo"/>
              </a:rPr>
              <a:t> </a:t>
            </a:r>
            <a:r>
              <a:rPr lang="en-US" sz="1800" b="0" i="0" dirty="0" err="1">
                <a:solidFill>
                  <a:srgbClr val="CA8D3D"/>
                </a:solidFill>
                <a:effectLst/>
                <a:latin typeface="Menlo"/>
              </a:rPr>
              <a:t>MobilePhone</a:t>
            </a:r>
            <a:r>
              <a:rPr lang="en-US" sz="1800" b="0" i="0" dirty="0">
                <a:effectLst/>
                <a:latin typeface="Menlo"/>
              </a:rPr>
              <a:t>(Phone): </a:t>
            </a:r>
          </a:p>
          <a:p>
            <a:pPr algn="l"/>
            <a:r>
              <a:rPr lang="en-US" sz="1800" dirty="0">
                <a:latin typeface="Menlo"/>
              </a:rPr>
              <a:t>	</a:t>
            </a:r>
            <a:r>
              <a:rPr lang="en-US" sz="1800" b="0" i="0" dirty="0" err="1">
                <a:effectLst/>
                <a:latin typeface="Menlo"/>
              </a:rPr>
              <a:t>line_type</a:t>
            </a:r>
            <a:r>
              <a:rPr lang="en-US" sz="1800" b="0" i="0" dirty="0">
                <a:effectLst/>
                <a:latin typeface="Menlo"/>
              </a:rPr>
              <a:t> = </a:t>
            </a:r>
            <a:r>
              <a:rPr lang="en-US" sz="1800" b="0" i="0" dirty="0">
                <a:solidFill>
                  <a:srgbClr val="32A846"/>
                </a:solidFill>
                <a:effectLst/>
                <a:latin typeface="Menlo"/>
              </a:rPr>
              <a:t>'</a:t>
            </a:r>
            <a:r>
              <a:rPr lang="ru-RU" sz="1800" b="0" i="0" dirty="0">
                <a:solidFill>
                  <a:srgbClr val="32A846"/>
                </a:solidFill>
                <a:effectLst/>
                <a:latin typeface="Menlo"/>
              </a:rPr>
              <a:t>беспроводной’</a:t>
            </a:r>
            <a:r>
              <a:rPr lang="ru-RU" sz="1800" b="0" i="0" dirty="0">
                <a:effectLst/>
                <a:latin typeface="Menlo"/>
              </a:rPr>
              <a:t> </a:t>
            </a:r>
            <a:endParaRPr lang="en-US" sz="1800" b="0" i="0" dirty="0">
              <a:effectLst/>
              <a:latin typeface="Menlo"/>
            </a:endParaRPr>
          </a:p>
          <a:p>
            <a:pPr algn="l"/>
            <a:r>
              <a:rPr lang="en-US" sz="1800" dirty="0">
                <a:latin typeface="Menlo"/>
              </a:rPr>
              <a:t>	</a:t>
            </a:r>
            <a:r>
              <a:rPr lang="en-US" sz="1800" b="0" i="0" dirty="0" err="1">
                <a:effectLst/>
                <a:latin typeface="Menlo"/>
              </a:rPr>
              <a:t>battery_type</a:t>
            </a:r>
            <a:r>
              <a:rPr lang="en-US" sz="1800" b="0" i="0" dirty="0">
                <a:effectLst/>
                <a:latin typeface="Menlo"/>
              </a:rPr>
              <a:t> = </a:t>
            </a:r>
            <a:r>
              <a:rPr lang="en-US" sz="1800" b="0" i="0" dirty="0">
                <a:solidFill>
                  <a:srgbClr val="32A846"/>
                </a:solidFill>
                <a:effectLst/>
                <a:latin typeface="Menlo"/>
              </a:rPr>
              <a:t>'Li-ion’</a:t>
            </a:r>
          </a:p>
          <a:p>
            <a:pPr algn="l"/>
            <a:endParaRPr lang="en-US" sz="1800" dirty="0">
              <a:solidFill>
                <a:srgbClr val="32A846"/>
              </a:solidFill>
              <a:latin typeface="Menlo"/>
            </a:endParaRPr>
          </a:p>
          <a:p>
            <a:pPr algn="l"/>
            <a:r>
              <a:rPr lang="en-US" sz="1800" b="0" i="0" dirty="0">
                <a:solidFill>
                  <a:srgbClr val="32A846"/>
                </a:solidFill>
                <a:effectLst/>
                <a:latin typeface="Menlo"/>
              </a:rPr>
              <a:t>	</a:t>
            </a:r>
            <a:r>
              <a:rPr lang="en-US" sz="1800" b="0" i="0" dirty="0">
                <a:solidFill>
                  <a:srgbClr val="C678DD"/>
                </a:solidFill>
                <a:effectLst/>
                <a:latin typeface="Menlo"/>
              </a:rPr>
              <a:t>def</a:t>
            </a:r>
            <a:r>
              <a:rPr lang="en-US" sz="1800" b="0" i="0" dirty="0">
                <a:effectLst/>
                <a:latin typeface="Menlo"/>
              </a:rPr>
              <a:t> __</a:t>
            </a:r>
            <a:r>
              <a:rPr lang="en-US" sz="1800" b="0" i="0" dirty="0" err="1">
                <a:effectLst/>
                <a:latin typeface="Menlo"/>
              </a:rPr>
              <a:t>init</a:t>
            </a:r>
            <a:r>
              <a:rPr lang="en-US" sz="1800" b="0" i="0" dirty="0">
                <a:effectLst/>
                <a:latin typeface="Menlo"/>
              </a:rPr>
              <a:t>__(self, </a:t>
            </a:r>
            <a:r>
              <a:rPr lang="en-US" sz="1800" b="0" i="0" dirty="0" err="1">
                <a:effectLst/>
                <a:latin typeface="Menlo"/>
              </a:rPr>
              <a:t>dial_type_value</a:t>
            </a:r>
            <a:r>
              <a:rPr lang="en-US" sz="1800" b="0" i="0" dirty="0">
                <a:effectLst/>
                <a:latin typeface="Menlo"/>
              </a:rPr>
              <a:t>, </a:t>
            </a:r>
            <a:r>
              <a:rPr lang="en-US" sz="1800" b="0" i="0" dirty="0" err="1">
                <a:effectLst/>
                <a:latin typeface="Menlo"/>
              </a:rPr>
              <a:t>network_type</a:t>
            </a:r>
            <a:r>
              <a:rPr lang="en-US" sz="1800" b="0" i="0" dirty="0">
                <a:effectLst/>
                <a:latin typeface="Menlo"/>
              </a:rPr>
              <a:t>): </a:t>
            </a:r>
          </a:p>
          <a:p>
            <a:pPr algn="l"/>
            <a:r>
              <a:rPr lang="en-US" sz="1800" dirty="0">
                <a:solidFill>
                  <a:srgbClr val="5C6370"/>
                </a:solidFill>
                <a:latin typeface="Menlo"/>
              </a:rPr>
              <a:t>		</a:t>
            </a:r>
            <a:r>
              <a:rPr lang="en-US" sz="1800" b="0" i="0" dirty="0">
                <a:effectLst/>
                <a:latin typeface="Menlo"/>
              </a:rPr>
              <a:t>self.__</a:t>
            </a:r>
            <a:r>
              <a:rPr lang="en-US" sz="1800" b="0" i="0" dirty="0" err="1">
                <a:effectLst/>
                <a:latin typeface="Menlo"/>
              </a:rPr>
              <a:t>network_type</a:t>
            </a:r>
            <a:r>
              <a:rPr lang="en-US" sz="1800" b="0" i="0" dirty="0">
                <a:effectLst/>
                <a:latin typeface="Menlo"/>
              </a:rPr>
              <a:t> = </a:t>
            </a:r>
            <a:r>
              <a:rPr lang="en-US" sz="1800" b="0" i="0" dirty="0" err="1">
                <a:effectLst/>
                <a:latin typeface="Menlo"/>
              </a:rPr>
              <a:t>network_type</a:t>
            </a:r>
            <a:r>
              <a:rPr lang="en-US" sz="1800" b="0" i="0" dirty="0">
                <a:effectLst/>
                <a:latin typeface="Menlo"/>
              </a:rPr>
              <a:t>  </a:t>
            </a:r>
            <a:r>
              <a:rPr lang="en-US" sz="1800" b="0" i="1" dirty="0">
                <a:solidFill>
                  <a:schemeClr val="tx1"/>
                </a:solidFill>
                <a:effectLst/>
                <a:latin typeface="Menlo"/>
              </a:rPr>
              <a:t># </a:t>
            </a:r>
            <a:r>
              <a:rPr lang="ru-RU" sz="1800" b="0" i="1" dirty="0">
                <a:solidFill>
                  <a:schemeClr val="tx1"/>
                </a:solidFill>
                <a:effectLst/>
                <a:latin typeface="Menlo"/>
              </a:rPr>
              <a:t>Вот он - приватный атрибут.</a:t>
            </a:r>
            <a:r>
              <a:rPr lang="ru-RU" sz="1800" b="0" i="0" dirty="0">
                <a:solidFill>
                  <a:schemeClr val="tx1"/>
                </a:solidFill>
                <a:effectLst/>
                <a:latin typeface="Menlo"/>
              </a:rPr>
              <a:t> </a:t>
            </a:r>
            <a:endParaRPr lang="en-US" sz="1800" dirty="0">
              <a:solidFill>
                <a:schemeClr val="tx1"/>
              </a:solidFill>
              <a:latin typeface="Menlo"/>
            </a:endParaRPr>
          </a:p>
          <a:p>
            <a:pPr algn="l"/>
            <a:r>
              <a:rPr lang="en-US" sz="1800" b="0" i="0" dirty="0">
                <a:effectLst/>
                <a:latin typeface="Menlo"/>
              </a:rPr>
              <a:t>		super().__</a:t>
            </a:r>
            <a:r>
              <a:rPr lang="en-US" sz="1800" b="0" i="0" dirty="0" err="1">
                <a:effectLst/>
                <a:latin typeface="Menlo"/>
              </a:rPr>
              <a:t>init</a:t>
            </a:r>
            <a:r>
              <a:rPr lang="en-US" sz="1800" b="0" i="0" dirty="0">
                <a:effectLst/>
                <a:latin typeface="Menlo"/>
              </a:rPr>
              <a:t>__(</a:t>
            </a:r>
            <a:r>
              <a:rPr lang="en-US" sz="1800" b="0" i="0" dirty="0" err="1">
                <a:effectLst/>
                <a:latin typeface="Menlo"/>
              </a:rPr>
              <a:t>dial_type_value</a:t>
            </a:r>
            <a:r>
              <a:rPr lang="en-US" sz="1800" b="0" i="0" dirty="0">
                <a:effectLst/>
                <a:latin typeface="Menlo"/>
              </a:rPr>
              <a:t>)</a:t>
            </a:r>
            <a:endParaRPr lang="en-US" sz="1800" dirty="0">
              <a:latin typeface="Menlo"/>
            </a:endParaRPr>
          </a:p>
          <a:p>
            <a:pPr algn="l"/>
            <a:endParaRPr lang="en-US" sz="1200" dirty="0">
              <a:solidFill>
                <a:srgbClr val="92D050"/>
              </a:solidFill>
              <a:latin typeface="Menlo"/>
            </a:endParaRPr>
          </a:p>
          <a:p>
            <a:pPr algn="l"/>
            <a:r>
              <a:rPr lang="ru-RU" sz="2000" dirty="0">
                <a:solidFill>
                  <a:schemeClr val="tx1"/>
                </a:solidFill>
                <a:latin typeface="YS Text"/>
              </a:rPr>
              <a:t>В Python приватные атрибуты и методы наследуются дочерними классами. Однако из-за механизма именования, известного как </a:t>
            </a:r>
            <a:r>
              <a:rPr lang="ru-RU" sz="2400" b="1" dirty="0" err="1">
                <a:solidFill>
                  <a:schemeClr val="accent5">
                    <a:lumMod val="60000"/>
                    <a:lumOff val="40000"/>
                  </a:schemeClr>
                </a:solidFill>
                <a:latin typeface="YS Text"/>
              </a:rPr>
              <a:t>name</a:t>
            </a:r>
            <a:r>
              <a:rPr lang="ru-RU" sz="2400" b="1" dirty="0">
                <a:solidFill>
                  <a:schemeClr val="accent5">
                    <a:lumMod val="60000"/>
                    <a:lumOff val="40000"/>
                  </a:schemeClr>
                </a:solidFill>
                <a:latin typeface="YS Text"/>
              </a:rPr>
              <a:t> </a:t>
            </a:r>
            <a:r>
              <a:rPr lang="ru-RU" sz="2400" b="1" dirty="0" err="1">
                <a:solidFill>
                  <a:schemeClr val="accent5">
                    <a:lumMod val="60000"/>
                    <a:lumOff val="40000"/>
                  </a:schemeClr>
                </a:solidFill>
                <a:latin typeface="YS Text"/>
              </a:rPr>
              <a:t>mangling</a:t>
            </a:r>
            <a:r>
              <a:rPr lang="ru-RU" sz="2400" b="1" dirty="0">
                <a:solidFill>
                  <a:schemeClr val="accent5">
                    <a:lumMod val="60000"/>
                    <a:lumOff val="40000"/>
                  </a:schemeClr>
                </a:solidFill>
                <a:latin typeface="YS Text"/>
              </a:rPr>
              <a:t> </a:t>
            </a:r>
            <a:r>
              <a:rPr lang="ru-RU" sz="2000" dirty="0">
                <a:solidFill>
                  <a:schemeClr val="tx1"/>
                </a:solidFill>
                <a:latin typeface="YS Text"/>
              </a:rPr>
              <a:t>(«искажение имён»), доступ к ним становится менее прямолинейным.</a:t>
            </a:r>
          </a:p>
        </p:txBody>
      </p:sp>
    </p:spTree>
    <p:extLst>
      <p:ext uri="{BB962C8B-B14F-4D97-AF65-F5344CB8AC3E}">
        <p14:creationId xmlns:p14="http://schemas.microsoft.com/office/powerpoint/2010/main" val="1620643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325822"/>
            <a:ext cx="11650134" cy="6427076"/>
          </a:xfrm>
        </p:spPr>
        <p:txBody>
          <a:bodyPr anchor="t">
            <a:normAutofit/>
          </a:bodyPr>
          <a:lstStyle/>
          <a:p>
            <a:pPr algn="l"/>
            <a:r>
              <a:rPr lang="ru-RU" sz="2000" b="0" i="0" dirty="0">
                <a:solidFill>
                  <a:schemeClr val="tx1"/>
                </a:solidFill>
                <a:effectLst/>
                <a:latin typeface="YS Text"/>
              </a:rPr>
              <a:t>Когда вы определяете атрибут или метод, имя которого начинается </a:t>
            </a:r>
            <a:r>
              <a:rPr lang="ru-RU" sz="2400" b="1" i="0" dirty="0">
                <a:solidFill>
                  <a:schemeClr val="accent5">
                    <a:lumMod val="60000"/>
                    <a:lumOff val="40000"/>
                  </a:schemeClr>
                </a:solidFill>
                <a:effectLst/>
                <a:latin typeface="YS Text"/>
              </a:rPr>
              <a:t>с двойного подчёркивания</a:t>
            </a:r>
            <a:r>
              <a:rPr lang="ru-RU" sz="2000" b="0" i="0" dirty="0">
                <a:solidFill>
                  <a:schemeClr val="tx1"/>
                </a:solidFill>
                <a:effectLst/>
                <a:latin typeface="YS Text"/>
              </a:rPr>
              <a:t>, Python автоматически изменяет его имя, добавляя к нему </a:t>
            </a:r>
            <a:r>
              <a:rPr lang="ru-RU" sz="2000" b="1" i="0" dirty="0">
                <a:solidFill>
                  <a:schemeClr val="accent5">
                    <a:lumMod val="60000"/>
                    <a:lumOff val="40000"/>
                  </a:schemeClr>
                </a:solidFill>
                <a:effectLst/>
                <a:latin typeface="YS Text"/>
              </a:rPr>
              <a:t>_</a:t>
            </a:r>
            <a:r>
              <a:rPr lang="ru-RU" sz="2000" b="1" i="0" dirty="0" err="1">
                <a:solidFill>
                  <a:schemeClr val="accent5">
                    <a:lumMod val="60000"/>
                    <a:lumOff val="40000"/>
                  </a:schemeClr>
                </a:solidFill>
                <a:effectLst/>
                <a:latin typeface="YS Text"/>
              </a:rPr>
              <a:t>ИмяКласса</a:t>
            </a:r>
            <a:r>
              <a:rPr lang="ru-RU" sz="2000" b="0" i="0" dirty="0">
                <a:solidFill>
                  <a:schemeClr val="tx1"/>
                </a:solidFill>
                <a:effectLst/>
                <a:latin typeface="YS Text"/>
              </a:rPr>
              <a:t>. Например, если у вас есть </a:t>
            </a:r>
            <a:r>
              <a:rPr lang="ru-RU" sz="2000" b="1" i="0" dirty="0">
                <a:solidFill>
                  <a:schemeClr val="accent5">
                    <a:lumMod val="60000"/>
                    <a:lumOff val="40000"/>
                  </a:schemeClr>
                </a:solidFill>
                <a:effectLst/>
                <a:latin typeface="YS Text"/>
              </a:rPr>
              <a:t>класс A</a:t>
            </a:r>
            <a:r>
              <a:rPr lang="ru-RU" sz="2000" b="0" i="0" dirty="0">
                <a:solidFill>
                  <a:schemeClr val="tx1"/>
                </a:solidFill>
                <a:effectLst/>
                <a:latin typeface="YS Text"/>
              </a:rPr>
              <a:t> с приватным атрибутом </a:t>
            </a:r>
            <a:r>
              <a:rPr lang="ru-RU" sz="2000" b="1" i="0" dirty="0">
                <a:solidFill>
                  <a:schemeClr val="accent5">
                    <a:lumMod val="60000"/>
                    <a:lumOff val="40000"/>
                  </a:schemeClr>
                </a:solidFill>
                <a:effectLst/>
                <a:latin typeface="YS Text"/>
              </a:rPr>
              <a:t>__</a:t>
            </a:r>
            <a:r>
              <a:rPr lang="ru-RU" sz="2000" b="1" i="0" dirty="0" err="1">
                <a:solidFill>
                  <a:schemeClr val="accent5">
                    <a:lumMod val="60000"/>
                    <a:lumOff val="40000"/>
                  </a:schemeClr>
                </a:solidFill>
                <a:effectLst/>
                <a:latin typeface="YS Text"/>
              </a:rPr>
              <a:t>priv_attr</a:t>
            </a:r>
            <a:r>
              <a:rPr lang="ru-RU" sz="2000" b="0" i="0" dirty="0">
                <a:solidFill>
                  <a:schemeClr val="tx1"/>
                </a:solidFill>
                <a:effectLst/>
                <a:latin typeface="YS Text"/>
              </a:rPr>
              <a:t>, Python преобразует его имя в </a:t>
            </a:r>
            <a:r>
              <a:rPr lang="ru-RU" sz="2000" b="1" i="0" dirty="0">
                <a:solidFill>
                  <a:schemeClr val="accent5">
                    <a:lumMod val="60000"/>
                    <a:lumOff val="40000"/>
                  </a:schemeClr>
                </a:solidFill>
                <a:effectLst/>
                <a:latin typeface="YS Text"/>
              </a:rPr>
              <a:t>_A__</a:t>
            </a:r>
            <a:r>
              <a:rPr lang="ru-RU" sz="2000" b="1" i="0" dirty="0" err="1">
                <a:solidFill>
                  <a:schemeClr val="accent5">
                    <a:lumMod val="60000"/>
                    <a:lumOff val="40000"/>
                  </a:schemeClr>
                </a:solidFill>
                <a:effectLst/>
                <a:latin typeface="YS Text"/>
              </a:rPr>
              <a:t>priv_attr</a:t>
            </a:r>
            <a:r>
              <a:rPr lang="ru-RU" sz="2000" b="0" i="0" dirty="0">
                <a:solidFill>
                  <a:schemeClr val="tx1"/>
                </a:solidFill>
                <a:effectLst/>
                <a:latin typeface="YS Text"/>
              </a:rPr>
              <a:t>. Это делается для того, чтобы минимизировать конфликты имён при наследовании.</a:t>
            </a:r>
          </a:p>
          <a:p>
            <a:pPr algn="l"/>
            <a:r>
              <a:rPr lang="ru-RU" sz="2000" b="0" i="0" dirty="0">
                <a:solidFill>
                  <a:schemeClr val="tx1"/>
                </a:solidFill>
                <a:effectLst/>
                <a:latin typeface="YS Text"/>
              </a:rPr>
              <a:t>Из-за этого механизма приватные атрибуты и методы становятся менее доступными вне  класса и из подклассов, но всё же доступ к ним возможен, если вы знаете исходное имя класса и используете изменённое имя атрибута или метода.</a:t>
            </a:r>
          </a:p>
          <a:p>
            <a:pPr algn="l"/>
            <a:r>
              <a:rPr lang="ru-RU" sz="2000" b="0" i="0" dirty="0">
                <a:solidFill>
                  <a:schemeClr val="tx1"/>
                </a:solidFill>
                <a:effectLst/>
                <a:latin typeface="YS Text"/>
              </a:rPr>
              <a:t>Когда разработчик видит атрибут или метод с двойным подчёркиванием в начале имени, он понимает, что это предупреждение формата: «Обрати внимание, этот атрибут или метод трогать не стоит, если только ты на 100% не понимаешь, что без него тебе не обойтись».</a:t>
            </a:r>
            <a:endParaRPr lang="en-US" sz="2000" b="0" i="0" dirty="0">
              <a:solidFill>
                <a:schemeClr val="tx1"/>
              </a:solidFill>
              <a:effectLst/>
              <a:latin typeface="YS Text"/>
            </a:endParaRPr>
          </a:p>
          <a:p>
            <a:pPr algn="l"/>
            <a:endParaRPr lang="en-US" sz="2000" dirty="0">
              <a:solidFill>
                <a:schemeClr val="tx1"/>
              </a:solidFill>
              <a:latin typeface="YS Text"/>
            </a:endParaRPr>
          </a:p>
          <a:p>
            <a:pPr algn="ctr"/>
            <a:r>
              <a:rPr lang="ru-RU" sz="2800" dirty="0">
                <a:solidFill>
                  <a:schemeClr val="accent5">
                    <a:lumMod val="60000"/>
                    <a:lumOff val="40000"/>
                  </a:schemeClr>
                </a:solidFill>
                <a:latin typeface="YS Text"/>
              </a:rPr>
              <a:t>В Python все уровни доступа к атрибутам и методам — это соглашение, а не строгое ограничение. Соглашение можно не соблюдать, однако это считается плохой практикой, так как нарушает принципы инкапсуляции.</a:t>
            </a:r>
          </a:p>
        </p:txBody>
      </p:sp>
    </p:spTree>
    <p:extLst>
      <p:ext uri="{BB962C8B-B14F-4D97-AF65-F5344CB8AC3E}">
        <p14:creationId xmlns:p14="http://schemas.microsoft.com/office/powerpoint/2010/main" val="4037237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Абстракция</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833718"/>
            <a:ext cx="10767629" cy="5919179"/>
          </a:xfrm>
        </p:spPr>
        <p:txBody>
          <a:bodyPr anchor="t">
            <a:normAutofit/>
          </a:bodyPr>
          <a:lstStyle/>
          <a:p>
            <a:pPr algn="l"/>
            <a:r>
              <a:rPr lang="ru-RU" sz="2400" b="0" i="0" dirty="0">
                <a:solidFill>
                  <a:schemeClr val="tx1"/>
                </a:solidFill>
                <a:effectLst/>
                <a:latin typeface="YS Text"/>
              </a:rPr>
              <a:t>Идея, опираясь на которую можно описывать объекты со своими характеристиками и функциями. Абстракция подразумевает использование только тех характеристик объекта, которые с достаточной точностью представляют его в задуманной системе.</a:t>
            </a:r>
            <a:r>
              <a:rPr lang="en-US" sz="2400" b="0" i="0" dirty="0">
                <a:solidFill>
                  <a:schemeClr val="tx1"/>
                </a:solidFill>
                <a:effectLst/>
                <a:latin typeface="YS Text"/>
              </a:rPr>
              <a:t> </a:t>
            </a:r>
          </a:p>
          <a:p>
            <a:pPr algn="l"/>
            <a:r>
              <a:rPr lang="ru-RU" sz="2400" dirty="0">
                <a:solidFill>
                  <a:schemeClr val="tx1"/>
                </a:solidFill>
                <a:latin typeface="YS Text"/>
              </a:rPr>
              <a:t>Один из принципов ООП.</a:t>
            </a:r>
            <a:endParaRPr lang="ru-RU" sz="2400" dirty="0">
              <a:solidFill>
                <a:srgbClr val="92D050"/>
              </a:solidFill>
              <a:latin typeface="YS Text"/>
            </a:endParaRPr>
          </a:p>
        </p:txBody>
      </p:sp>
    </p:spTree>
    <p:extLst>
      <p:ext uri="{BB962C8B-B14F-4D97-AF65-F5344CB8AC3E}">
        <p14:creationId xmlns:p14="http://schemas.microsoft.com/office/powerpoint/2010/main" val="34481077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9AB103-A8AF-65CC-1859-17C964BB07BD}"/>
              </a:ext>
            </a:extLst>
          </p:cNvPr>
          <p:cNvSpPr>
            <a:spLocks noGrp="1"/>
          </p:cNvSpPr>
          <p:nvPr>
            <p:ph type="ctrTitle"/>
          </p:nvPr>
        </p:nvSpPr>
        <p:spPr>
          <a:xfrm>
            <a:off x="1411306" y="52601"/>
            <a:ext cx="9369388" cy="662103"/>
          </a:xfrm>
        </p:spPr>
        <p:txBody>
          <a:bodyPr>
            <a:normAutofit fontScale="90000"/>
          </a:bodyPr>
          <a:lstStyle/>
          <a:p>
            <a:pPr algn="ctr"/>
            <a:r>
              <a:rPr lang="ru-RU" sz="6000" dirty="0">
                <a:solidFill>
                  <a:schemeClr val="accent5">
                    <a:lumMod val="60000"/>
                    <a:lumOff val="40000"/>
                  </a:schemeClr>
                </a:solidFill>
                <a:latin typeface="YS Text"/>
              </a:rPr>
              <a:t>ООП</a:t>
            </a:r>
          </a:p>
        </p:txBody>
      </p:sp>
      <p:sp>
        <p:nvSpPr>
          <p:cNvPr id="3" name="Подзаголовок 2">
            <a:extLst>
              <a:ext uri="{FF2B5EF4-FFF2-40B4-BE49-F238E27FC236}">
                <a16:creationId xmlns:a16="http://schemas.microsoft.com/office/drawing/2014/main" id="{D448342F-D31B-EA78-C7DF-7EF586F17CEA}"/>
              </a:ext>
            </a:extLst>
          </p:cNvPr>
          <p:cNvSpPr>
            <a:spLocks noGrp="1"/>
          </p:cNvSpPr>
          <p:nvPr>
            <p:ph type="subTitle" idx="1"/>
          </p:nvPr>
        </p:nvSpPr>
        <p:spPr>
          <a:xfrm>
            <a:off x="336550" y="599090"/>
            <a:ext cx="11650134" cy="6153807"/>
          </a:xfrm>
        </p:spPr>
        <p:txBody>
          <a:bodyPr anchor="t">
            <a:normAutofit/>
          </a:bodyPr>
          <a:lstStyle/>
          <a:p>
            <a:pPr algn="l"/>
            <a:r>
              <a:rPr lang="ru-RU" sz="2000" dirty="0">
                <a:solidFill>
                  <a:schemeClr val="tx1"/>
                </a:solidFill>
                <a:latin typeface="YS Text"/>
              </a:rPr>
              <a:t>Н</a:t>
            </a:r>
            <a:r>
              <a:rPr lang="ru-RU" sz="2000" b="0" i="0" dirty="0">
                <a:solidFill>
                  <a:schemeClr val="tx1"/>
                </a:solidFill>
                <a:effectLst/>
                <a:latin typeface="YS Text"/>
              </a:rPr>
              <a:t>аучились </a:t>
            </a:r>
            <a:r>
              <a:rPr lang="ru-RU" sz="2400" b="1" i="0" dirty="0">
                <a:solidFill>
                  <a:schemeClr val="accent5">
                    <a:lumMod val="60000"/>
                    <a:lumOff val="40000"/>
                  </a:schemeClr>
                </a:solidFill>
                <a:effectLst/>
                <a:latin typeface="YS Text"/>
              </a:rPr>
              <a:t>создавать объекты</a:t>
            </a:r>
            <a:r>
              <a:rPr lang="ru-RU" sz="2000" b="0" i="0" dirty="0">
                <a:solidFill>
                  <a:schemeClr val="tx1"/>
                </a:solidFill>
                <a:effectLst/>
                <a:latin typeface="YS Text"/>
              </a:rPr>
              <a:t>, одновременно с этим разобрали понятия </a:t>
            </a:r>
            <a:r>
              <a:rPr lang="ru-RU" sz="2400" b="1" i="0" dirty="0">
                <a:solidFill>
                  <a:schemeClr val="accent5">
                    <a:lumMod val="60000"/>
                    <a:lumOff val="40000"/>
                  </a:schemeClr>
                </a:solidFill>
                <a:effectLst/>
                <a:latin typeface="YS Text"/>
              </a:rPr>
              <a:t>наследование</a:t>
            </a:r>
            <a:r>
              <a:rPr lang="ru-RU" sz="2000" b="0" i="0" dirty="0">
                <a:solidFill>
                  <a:schemeClr val="tx1"/>
                </a:solidFill>
                <a:effectLst/>
                <a:latin typeface="YS Text"/>
              </a:rPr>
              <a:t>, </a:t>
            </a:r>
            <a:r>
              <a:rPr lang="ru-RU" sz="2400" b="1" i="0" dirty="0">
                <a:solidFill>
                  <a:schemeClr val="accent5">
                    <a:lumMod val="60000"/>
                    <a:lumOff val="40000"/>
                  </a:schemeClr>
                </a:solidFill>
                <a:effectLst/>
                <a:latin typeface="YS Text"/>
              </a:rPr>
              <a:t>полиморфизм</a:t>
            </a:r>
            <a:r>
              <a:rPr lang="ru-RU" sz="2000" b="0" i="0" dirty="0">
                <a:solidFill>
                  <a:schemeClr val="tx1"/>
                </a:solidFill>
                <a:effectLst/>
                <a:latin typeface="YS Text"/>
              </a:rPr>
              <a:t> и </a:t>
            </a:r>
            <a:r>
              <a:rPr lang="ru-RU" sz="2400" b="1" i="0" dirty="0">
                <a:solidFill>
                  <a:schemeClr val="accent5">
                    <a:lumMod val="60000"/>
                    <a:lumOff val="40000"/>
                  </a:schemeClr>
                </a:solidFill>
                <a:effectLst/>
                <a:latin typeface="YS Text"/>
              </a:rPr>
              <a:t>инкапсуляцию</a:t>
            </a:r>
            <a:r>
              <a:rPr lang="ru-RU" sz="2000" dirty="0">
                <a:solidFill>
                  <a:schemeClr val="tx1"/>
                </a:solidFill>
                <a:latin typeface="YS Text"/>
              </a:rPr>
              <a:t> по сути же познакомились с принципами </a:t>
            </a:r>
            <a:r>
              <a:rPr lang="ru-RU" sz="2400" b="1" dirty="0">
                <a:solidFill>
                  <a:schemeClr val="accent5">
                    <a:lumMod val="60000"/>
                    <a:lumOff val="40000"/>
                  </a:schemeClr>
                </a:solidFill>
                <a:latin typeface="YS Text"/>
              </a:rPr>
              <a:t>объектно-ориентированного программирования</a:t>
            </a:r>
            <a:r>
              <a:rPr lang="ru-RU" sz="2000" dirty="0">
                <a:solidFill>
                  <a:schemeClr val="tx1"/>
                </a:solidFill>
                <a:latin typeface="YS Text"/>
              </a:rPr>
              <a:t>, или, как его часто называют, </a:t>
            </a:r>
            <a:r>
              <a:rPr lang="ru-RU" sz="2400" b="1" dirty="0">
                <a:solidFill>
                  <a:schemeClr val="accent5">
                    <a:lumMod val="60000"/>
                    <a:lumOff val="40000"/>
                  </a:schemeClr>
                </a:solidFill>
                <a:latin typeface="YS Text"/>
              </a:rPr>
              <a:t>ООП</a:t>
            </a:r>
            <a:r>
              <a:rPr lang="ru-RU" sz="2000" dirty="0">
                <a:solidFill>
                  <a:schemeClr val="tx1"/>
                </a:solidFill>
                <a:latin typeface="YS Text"/>
              </a:rPr>
              <a:t>. Абстракция, наследование, полиморфизм и инкапсуляция — это основные концепции объектно-ориентированного программирования.</a:t>
            </a:r>
          </a:p>
          <a:p>
            <a:pPr algn="l"/>
            <a:r>
              <a:rPr lang="ru-RU" sz="2000" dirty="0">
                <a:solidFill>
                  <a:schemeClr val="tx1"/>
                </a:solidFill>
                <a:latin typeface="YS Text"/>
              </a:rPr>
              <a:t>Использование классов в написании кода это еще не ООП, т.к. классы — это инструмент. А вот если писать код </a:t>
            </a:r>
            <a:r>
              <a:rPr lang="ru-RU" sz="2400" b="1" dirty="0">
                <a:solidFill>
                  <a:schemeClr val="accent5">
                    <a:lumMod val="60000"/>
                    <a:lumOff val="40000"/>
                  </a:schemeClr>
                </a:solidFill>
                <a:latin typeface="YS Text"/>
              </a:rPr>
              <a:t>с использованием классов и применением принципов ООП</a:t>
            </a:r>
            <a:r>
              <a:rPr lang="ru-RU" sz="2000" dirty="0">
                <a:solidFill>
                  <a:schemeClr val="tx1"/>
                </a:solidFill>
                <a:latin typeface="YS Text"/>
              </a:rPr>
              <a:t>, то это уже объектно-ориентированное программирование.</a:t>
            </a:r>
            <a:endParaRPr lang="ru-RU" sz="2000" dirty="0">
              <a:solidFill>
                <a:srgbClr val="92D050"/>
              </a:solidFill>
              <a:latin typeface="YS Text"/>
            </a:endParaRPr>
          </a:p>
        </p:txBody>
      </p:sp>
      <p:pic>
        <p:nvPicPr>
          <p:cNvPr id="4" name="Рисунок 3">
            <a:extLst>
              <a:ext uri="{FF2B5EF4-FFF2-40B4-BE49-F238E27FC236}">
                <a16:creationId xmlns:a16="http://schemas.microsoft.com/office/drawing/2014/main" id="{6A4A8398-4E13-A6EE-15D2-6C882A3ECA7F}"/>
              </a:ext>
            </a:extLst>
          </p:cNvPr>
          <p:cNvPicPr>
            <a:picLocks noChangeAspect="1"/>
          </p:cNvPicPr>
          <p:nvPr/>
        </p:nvPicPr>
        <p:blipFill>
          <a:blip r:embed="rId2"/>
          <a:stretch>
            <a:fillRect/>
          </a:stretch>
        </p:blipFill>
        <p:spPr>
          <a:xfrm>
            <a:off x="3159155" y="3284483"/>
            <a:ext cx="5873690" cy="3468414"/>
          </a:xfrm>
          <a:prstGeom prst="rect">
            <a:avLst/>
          </a:prstGeom>
        </p:spPr>
      </p:pic>
    </p:spTree>
    <p:extLst>
      <p:ext uri="{BB962C8B-B14F-4D97-AF65-F5344CB8AC3E}">
        <p14:creationId xmlns:p14="http://schemas.microsoft.com/office/powerpoint/2010/main" val="4107405273"/>
      </p:ext>
    </p:extLst>
  </p:cSld>
  <p:clrMapOvr>
    <a:masterClrMapping/>
  </p:clrMapOvr>
</p:sld>
</file>

<file path=ppt/theme/theme1.xml><?xml version="1.0" encoding="utf-8"?>
<a:theme xmlns:a="http://schemas.openxmlformats.org/drawingml/2006/main" name="Глубина">
  <a:themeElements>
    <a:clrScheme name="Глубина">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Глубина">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убина">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1_Глубина">
  <a:themeElements>
    <a:clrScheme name="Глубина">
      <a:dk1>
        <a:sysClr val="windowText" lastClr="000000"/>
      </a:dk1>
      <a:lt1>
        <a:sysClr val="window" lastClr="FFFFFF"/>
      </a:lt1>
      <a:dk2>
        <a:srgbClr val="4E3B30"/>
      </a:dk2>
      <a:lt2>
        <a:srgbClr val="FFDB82"/>
      </a:lt2>
      <a:accent1>
        <a:srgbClr val="F0A22E"/>
      </a:accent1>
      <a:accent2>
        <a:srgbClr val="E4D9B2"/>
      </a:accent2>
      <a:accent3>
        <a:srgbClr val="AA986C"/>
      </a:accent3>
      <a:accent4>
        <a:srgbClr val="8FB977"/>
      </a:accent4>
      <a:accent5>
        <a:srgbClr val="778F9F"/>
      </a:accent5>
      <a:accent6>
        <a:srgbClr val="8A6087"/>
      </a:accent6>
      <a:hlink>
        <a:srgbClr val="AD1F1F"/>
      </a:hlink>
      <a:folHlink>
        <a:srgbClr val="FFC42F"/>
      </a:folHlink>
    </a:clrScheme>
    <a:fontScheme name="Глубина">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убина">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C473073F-34A4-486A-BBA1-2A70AE921EB6}"/>
    </a:ext>
  </a:extLst>
</a:theme>
</file>

<file path=docProps/app.xml><?xml version="1.0" encoding="utf-8"?>
<Properties xmlns="http://schemas.openxmlformats.org/officeDocument/2006/extended-properties" xmlns:vt="http://schemas.openxmlformats.org/officeDocument/2006/docPropsVTypes">
  <Template>TM04033923[[fn=Глубина]]</Template>
  <TotalTime>5636</TotalTime>
  <Words>6188</Words>
  <Application>Microsoft Office PowerPoint</Application>
  <PresentationFormat>Широкоэкранный</PresentationFormat>
  <Paragraphs>455</Paragraphs>
  <Slides>46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2</vt:i4>
      </vt:variant>
      <vt:variant>
        <vt:lpstr>Заголовки слайдов</vt:lpstr>
      </vt:variant>
      <vt:variant>
        <vt:i4>46</vt:i4>
      </vt:variant>
    </vt:vector>
  </HeadingPairs>
  <TitlesOfParts>
    <vt:vector size="53" baseType="lpstr">
      <vt:lpstr>__Inter_e8ce0c</vt:lpstr>
      <vt:lpstr>Arial</vt:lpstr>
      <vt:lpstr>Corbel</vt:lpstr>
      <vt:lpstr>Menlo</vt:lpstr>
      <vt:lpstr>YS Text</vt:lpstr>
      <vt:lpstr>Глубина</vt:lpstr>
      <vt:lpstr>1_Глубина</vt:lpstr>
      <vt:lpstr>Классы и объекты классов</vt:lpstr>
      <vt:lpstr>Классы и объекты в Python</vt:lpstr>
      <vt:lpstr>Атрибуты</vt:lpstr>
      <vt:lpstr>Методы</vt:lpstr>
      <vt:lpstr>Атрибуты и методы в документации Python</vt:lpstr>
      <vt:lpstr>Специальные, или магические, атрибуты и методы</vt:lpstr>
      <vt:lpstr>Собственные классы и объекты</vt:lpstr>
      <vt:lpstr>Как объявить класс</vt:lpstr>
      <vt:lpstr>Как давать имена классам</vt:lpstr>
      <vt:lpstr>Презентация PowerPoint</vt:lpstr>
      <vt:lpstr>Первый класс</vt:lpstr>
      <vt:lpstr>Атрибуты класса и объекта класса</vt:lpstr>
      <vt:lpstr>Презентация PowerPoint</vt:lpstr>
      <vt:lpstr>Магический метод __init__ и атрибуты объекта</vt:lpstr>
      <vt:lpstr>123</vt:lpstr>
      <vt:lpstr>Презентация PowerPoint</vt:lpstr>
      <vt:lpstr>Презентация PowerPoint</vt:lpstr>
      <vt:lpstr>Презентация PowerPoint</vt:lpstr>
      <vt:lpstr>Замена значений атрибутов</vt:lpstr>
      <vt:lpstr>Презентация PowerPoint</vt:lpstr>
      <vt:lpstr>Методы объекта. Объявление методов</vt:lpstr>
      <vt:lpstr>Вызов методов</vt:lpstr>
      <vt:lpstr>Презентация PowerPoint</vt:lpstr>
      <vt:lpstr>Замена значений атрибутов через метод</vt:lpstr>
      <vt:lpstr>Магический метод __str__</vt:lpstr>
      <vt:lpstr>Знакомство с ООП</vt:lpstr>
      <vt:lpstr>Наследование</vt:lpstr>
      <vt:lpstr>Родительский класс</vt:lpstr>
      <vt:lpstr>Презентация PowerPoint</vt:lpstr>
      <vt:lpstr>Переопределение атрибутов и методов</vt:lpstr>
      <vt:lpstr>Добавление новых атрибутов и методов</vt:lpstr>
      <vt:lpstr>Презентация PowerPoint</vt:lpstr>
      <vt:lpstr>Презентация PowerPoint</vt:lpstr>
      <vt:lpstr>Презентация PowerPoint</vt:lpstr>
      <vt:lpstr>Полиморфизм</vt:lpstr>
      <vt:lpstr>Полиморфизм «под капотом»</vt:lpstr>
      <vt:lpstr>Философия полиморфизма</vt:lpstr>
      <vt:lpstr>Презентация PowerPoint</vt:lpstr>
      <vt:lpstr>Инкапсуляция</vt:lpstr>
      <vt:lpstr>Презентация PowerPoint</vt:lpstr>
      <vt:lpstr>Защищённые атрибуты и методы</vt:lpstr>
      <vt:lpstr>Презентация PowerPoint</vt:lpstr>
      <vt:lpstr>Приватные атрибуты и методы</vt:lpstr>
      <vt:lpstr>Презентация PowerPoint</vt:lpstr>
      <vt:lpstr>Абстракция</vt:lpstr>
      <vt:lpstr>ООП</vt:lpstr>
    </vt:vector>
  </TitlesOfParts>
  <Company>LightKey.Store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Илья Екимов</dc:creator>
  <cp:lastModifiedBy>Илья Екимов</cp:lastModifiedBy>
  <cp:revision>11</cp:revision>
  <dcterms:created xsi:type="dcterms:W3CDTF">2025-09-10T16:55:33Z</dcterms:created>
  <dcterms:modified xsi:type="dcterms:W3CDTF">2026-04-01T14:10:01Z</dcterms:modified>
</cp:coreProperties>
</file>