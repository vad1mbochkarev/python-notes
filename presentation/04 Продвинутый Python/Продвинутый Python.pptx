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60" r:id="rId4"/>
    <p:sldId id="262" r:id="rId5"/>
    <p:sldId id="261" r:id="rId6"/>
    <p:sldId id="263" r:id="rId7"/>
    <p:sldId id="264" r:id="rId8"/>
    <p:sldId id="271" r:id="rId9"/>
    <p:sldId id="265" r:id="rId10"/>
    <p:sldId id="266" r:id="rId11"/>
    <p:sldId id="267" r:id="rId12"/>
    <p:sldId id="268" r:id="rId13"/>
    <p:sldId id="269" r:id="rId14"/>
    <p:sldId id="284" r:id="rId15"/>
    <p:sldId id="272" r:id="rId16"/>
    <p:sldId id="273" r:id="rId17"/>
    <p:sldId id="274" r:id="rId18"/>
    <p:sldId id="275" r:id="rId19"/>
    <p:sldId id="276" r:id="rId20"/>
    <p:sldId id="285" r:id="rId21"/>
    <p:sldId id="277" r:id="rId22"/>
    <p:sldId id="278" r:id="rId23"/>
    <p:sldId id="279" r:id="rId24"/>
    <p:sldId id="280" r:id="rId25"/>
    <p:sldId id="281" r:id="rId26"/>
    <p:sldId id="282" r:id="rId27"/>
    <p:sldId id="283" r:id="rId28"/>
    <p:sldId id="298" r:id="rId29"/>
    <p:sldId id="286" r:id="rId30"/>
    <p:sldId id="287" r:id="rId31"/>
    <p:sldId id="288" r:id="rId32"/>
    <p:sldId id="289" r:id="rId33"/>
    <p:sldId id="290" r:id="rId34"/>
    <p:sldId id="291" r:id="rId35"/>
    <p:sldId id="299" r:id="rId36"/>
    <p:sldId id="292" r:id="rId37"/>
    <p:sldId id="293" r:id="rId38"/>
    <p:sldId id="294" r:id="rId39"/>
    <p:sldId id="300" r:id="rId40"/>
    <p:sldId id="295" r:id="rId41"/>
    <p:sldId id="296" r:id="rId42"/>
    <p:sldId id="297"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5" r:id="rId56"/>
    <p:sldId id="313" r:id="rId57"/>
    <p:sldId id="314" r:id="rId58"/>
    <p:sldId id="316" r:id="rId59"/>
    <p:sldId id="317" r:id="rId60"/>
    <p:sldId id="318" r:id="rId61"/>
    <p:sldId id="319" r:id="rId62"/>
    <p:sldId id="341" r:id="rId63"/>
    <p:sldId id="320" r:id="rId64"/>
    <p:sldId id="321" r:id="rId65"/>
    <p:sldId id="322" r:id="rId66"/>
    <p:sldId id="323" r:id="rId67"/>
    <p:sldId id="342"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51"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DEC7B3DB-A79F-438D-B7C9-830A7F9E864C}" type="datetimeFigureOut">
              <a:rPr lang="ru-RU" smtClean="0"/>
              <a:t>10.04.2026</a:t>
            </a:fld>
            <a:endParaRPr lang="ru-RU"/>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AB0636E-AE36-42AC-B717-7D260F56C819}" type="slidenum">
              <a:rPr lang="ru-RU" smtClean="0"/>
              <a:t>‹#›</a:t>
            </a:fld>
            <a:endParaRPr lang="ru-RU"/>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87336454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EC7B3DB-A79F-438D-B7C9-830A7F9E864C}"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4082821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DEC7B3DB-A79F-438D-B7C9-830A7F9E864C}" type="datetimeFigureOut">
              <a:rPr lang="ru-RU" smtClean="0"/>
              <a:t>10.04.2026</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AB0636E-AE36-42AC-B717-7D260F56C819}"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9871895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DEC7B3DB-A79F-438D-B7C9-830A7F9E864C}" type="datetimeFigureOut">
              <a:rPr lang="ru-RU" smtClean="0"/>
              <a:t>10.04.2026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3987726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DEC7B3DB-A79F-438D-B7C9-830A7F9E864C}" type="datetimeFigureOut">
              <a:rPr lang="ru-RU" smtClean="0"/>
              <a:t>10.04.2026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1758312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DEC7B3DB-A79F-438D-B7C9-830A7F9E864C}" type="datetimeFigureOut">
              <a:rPr lang="ru-RU" smtClean="0"/>
              <a:t>10.04.2026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4107509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7B3DB-A79F-438D-B7C9-830A7F9E864C}" type="datetimeFigureOut">
              <a:rPr lang="ru-RU" smtClean="0"/>
              <a:t>10.04.2026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4257171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EC7B3DB-A79F-438D-B7C9-830A7F9E864C}" type="datetimeFigureOut">
              <a:rPr lang="ru-RU" smtClean="0"/>
              <a:t>10.04.2026</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AB0636E-AE36-42AC-B717-7D260F56C819}"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48669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EC7B3DB-A79F-438D-B7C9-830A7F9E864C}" type="datetimeFigureOut">
              <a:rPr lang="ru-RU" smtClean="0"/>
              <a:t>10.04.2026</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AB0636E-AE36-42AC-B717-7D260F56C819}"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27235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EC7B3DB-A79F-438D-B7C9-830A7F9E864C}"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1316274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EC7B3DB-A79F-438D-B7C9-830A7F9E864C}"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AB0636E-AE36-42AC-B717-7D260F56C819}" type="slidenum">
              <a:rPr lang="ru-RU" smtClean="0"/>
              <a:t>‹#›</a:t>
            </a:fld>
            <a:endParaRPr lang="ru-RU"/>
          </a:p>
        </p:txBody>
      </p:sp>
    </p:spTree>
    <p:extLst>
      <p:ext uri="{BB962C8B-B14F-4D97-AF65-F5344CB8AC3E}">
        <p14:creationId xmlns:p14="http://schemas.microsoft.com/office/powerpoint/2010/main" val="1582945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DEC7B3DB-A79F-438D-B7C9-830A7F9E864C}" type="datetimeFigureOut">
              <a:rPr lang="ru-RU" smtClean="0"/>
              <a:t>10.04.2026</a:t>
            </a:fld>
            <a:endParaRPr lang="ru-RU"/>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ru-RU"/>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AB0636E-AE36-42AC-B717-7D260F56C819}" type="slidenum">
              <a:rPr lang="ru-RU" smtClean="0"/>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410172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ocs.python.org/3.9/library/inspect.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peps.python.org/pep-0257/"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ocs.python.org/3.9/library/exceptions.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ocs.python.org/3.9/library/functions.html#ope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docs.python.org/3.9/tutorial/inputoutput.html#methods-of-file-object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docs.python.org/3/library/contextlib.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C000"/>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6600" b="1" dirty="0">
                <a:solidFill>
                  <a:schemeClr val="tx1">
                    <a:lumMod val="95000"/>
                    <a:lumOff val="5000"/>
                  </a:schemeClr>
                </a:solidFill>
                <a:latin typeface="YS Text"/>
              </a:rPr>
              <a:t>Продвинутый </a:t>
            </a:r>
            <a:r>
              <a:rPr lang="en-US" sz="6600" b="1" dirty="0">
                <a:solidFill>
                  <a:schemeClr val="tx1">
                    <a:lumMod val="95000"/>
                    <a:lumOff val="5000"/>
                  </a:schemeClr>
                </a:solidFill>
                <a:latin typeface="YS Text"/>
              </a:rPr>
              <a:t>Python</a:t>
            </a:r>
            <a:endParaRPr lang="ru-RU" sz="6600" dirty="0">
              <a:solidFill>
                <a:schemeClr val="tx1">
                  <a:lumMod val="95000"/>
                  <a:lumOff val="5000"/>
                </a:schemeClr>
              </a:solidFill>
            </a:endParaRPr>
          </a:p>
        </p:txBody>
      </p:sp>
    </p:spTree>
    <p:extLst>
      <p:ext uri="{BB962C8B-B14F-4D97-AF65-F5344CB8AC3E}">
        <p14:creationId xmlns:p14="http://schemas.microsoft.com/office/powerpoint/2010/main" val="10351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5400" b="1" dirty="0">
                <a:solidFill>
                  <a:schemeClr val="tx1">
                    <a:lumMod val="95000"/>
                    <a:lumOff val="5000"/>
                  </a:schemeClr>
                </a:solidFill>
                <a:latin typeface="YS Text"/>
              </a:rPr>
              <a:t>Пользовательские модули </a:t>
            </a:r>
            <a:endParaRPr lang="ru-RU" sz="5400" dirty="0">
              <a:solidFill>
                <a:schemeClr val="tx1">
                  <a:lumMod val="95000"/>
                  <a:lumOff val="5000"/>
                </a:schemeClr>
              </a:solidFill>
            </a:endParaRPr>
          </a:p>
        </p:txBody>
      </p:sp>
    </p:spTree>
    <p:extLst>
      <p:ext uri="{BB962C8B-B14F-4D97-AF65-F5344CB8AC3E}">
        <p14:creationId xmlns:p14="http://schemas.microsoft.com/office/powerpoint/2010/main" val="3267552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Пользовательские модули и пакеты</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sz="2400" b="1" dirty="0">
                <a:solidFill>
                  <a:schemeClr val="accent6">
                    <a:lumMod val="75000"/>
                  </a:schemeClr>
                </a:solidFill>
                <a:latin typeface="YS Text"/>
              </a:rPr>
              <a:t>Модуль в Python </a:t>
            </a:r>
            <a:r>
              <a:rPr lang="ru-RU" dirty="0">
                <a:latin typeface="YS Text"/>
              </a:rPr>
              <a:t>— это просто </a:t>
            </a:r>
            <a:r>
              <a:rPr lang="ru-RU" b="1" dirty="0">
                <a:latin typeface="YS Text"/>
              </a:rPr>
              <a:t>файл с кодом</a:t>
            </a:r>
            <a:r>
              <a:rPr lang="ru-RU" dirty="0">
                <a:latin typeface="YS Text"/>
              </a:rPr>
              <a:t>. Этот код можно импортировать в другие программы или модули. Модули помогают организовывать и разделять код проектов на логические блоки. </a:t>
            </a:r>
            <a:r>
              <a:rPr lang="ru-RU" b="0" i="0" dirty="0">
                <a:effectLst/>
                <a:latin typeface="YS Text"/>
              </a:rPr>
              <a:t>Модуль — это отдельный файл, который содержит переменные, функции, классы и другие компоненты. </a:t>
            </a:r>
            <a:endParaRPr lang="en-US" dirty="0">
              <a:latin typeface="YS Text"/>
            </a:endParaRPr>
          </a:p>
          <a:p>
            <a:pPr marL="0" indent="0" algn="just">
              <a:buNone/>
            </a:pPr>
            <a:r>
              <a:rPr lang="ru-RU" dirty="0">
                <a:latin typeface="YS Text"/>
              </a:rPr>
              <a:t>Файл с </a:t>
            </a:r>
            <a:r>
              <a:rPr lang="ru-RU" b="1" dirty="0">
                <a:solidFill>
                  <a:schemeClr val="accent6">
                    <a:lumMod val="75000"/>
                  </a:schemeClr>
                </a:solidFill>
                <a:latin typeface="YS Text"/>
              </a:rPr>
              <a:t>основным кодом программы </a:t>
            </a:r>
            <a:r>
              <a:rPr lang="ru-RU" dirty="0">
                <a:latin typeface="YS Text"/>
              </a:rPr>
              <a:t>часто называют </a:t>
            </a:r>
            <a:r>
              <a:rPr lang="ru-RU" b="1" dirty="0">
                <a:solidFill>
                  <a:schemeClr val="accent6">
                    <a:lumMod val="75000"/>
                  </a:schemeClr>
                </a:solidFill>
                <a:latin typeface="YS Text"/>
              </a:rPr>
              <a:t>исполняемым скриптом</a:t>
            </a:r>
            <a:r>
              <a:rPr lang="ru-RU" dirty="0">
                <a:solidFill>
                  <a:schemeClr val="accent6">
                    <a:lumMod val="75000"/>
                  </a:schemeClr>
                </a:solidFill>
                <a:latin typeface="YS Text"/>
              </a:rPr>
              <a:t>. </a:t>
            </a:r>
          </a:p>
          <a:p>
            <a:pPr marL="0" indent="0" algn="just">
              <a:buNone/>
            </a:pPr>
            <a:r>
              <a:rPr lang="ru-RU" dirty="0">
                <a:latin typeface="YS Text"/>
              </a:rPr>
              <a:t>Разработчики обычно группируют код по тематике или назначению и каждую такую тематическую группу хранят в отдельном модуле. А набор модулей объединяют в </a:t>
            </a:r>
            <a:r>
              <a:rPr lang="ru-RU" b="1" dirty="0">
                <a:latin typeface="YS Text"/>
              </a:rPr>
              <a:t>пакет</a:t>
            </a:r>
            <a:r>
              <a:rPr lang="ru-RU" dirty="0">
                <a:latin typeface="YS Text"/>
              </a:rPr>
              <a:t>. </a:t>
            </a:r>
          </a:p>
          <a:p>
            <a:pPr marL="0" indent="0" algn="just">
              <a:buNone/>
            </a:pPr>
            <a:r>
              <a:rPr lang="ru-RU" sz="2400" b="1" i="0" dirty="0">
                <a:solidFill>
                  <a:schemeClr val="accent6">
                    <a:lumMod val="75000"/>
                  </a:schemeClr>
                </a:solidFill>
                <a:effectLst/>
                <a:latin typeface="YS Text"/>
              </a:rPr>
              <a:t>Пакет</a:t>
            </a:r>
            <a:r>
              <a:rPr lang="ru-RU" b="0" i="0" dirty="0">
                <a:effectLst/>
                <a:latin typeface="YS Text"/>
              </a:rPr>
              <a:t> — это </a:t>
            </a:r>
            <a:r>
              <a:rPr lang="ru-RU" b="1" i="0" dirty="0">
                <a:effectLst/>
                <a:latin typeface="YS Text"/>
              </a:rPr>
              <a:t>коллекция модулей, собранная в отдельной папке</a:t>
            </a:r>
            <a:r>
              <a:rPr lang="ru-RU" b="0" i="0" dirty="0">
                <a:effectLst/>
                <a:latin typeface="YS Text"/>
              </a:rPr>
              <a:t>. Основная идея пакета — объединить в одну группу модули, которые выполняют схожие задачи или относятся к определённой области проекта. </a:t>
            </a:r>
          </a:p>
          <a:p>
            <a:pPr marL="0" indent="0" algn="just">
              <a:buNone/>
            </a:pPr>
            <a:r>
              <a:rPr lang="ru-RU" dirty="0">
                <a:latin typeface="YS Text"/>
              </a:rPr>
              <a:t>Чтобы Python понял, что перед ним пакет, а не просто папка, в корень папки нужно положить файл </a:t>
            </a:r>
            <a:r>
              <a:rPr lang="ru-RU" b="1" dirty="0">
                <a:latin typeface="YS Text"/>
              </a:rPr>
              <a:t>__init__.py</a:t>
            </a:r>
            <a:r>
              <a:rPr lang="ru-RU" dirty="0">
                <a:latin typeface="YS Text"/>
              </a:rPr>
              <a:t>. Так вы </a:t>
            </a:r>
            <a:r>
              <a:rPr lang="ru-RU" b="1" dirty="0">
                <a:latin typeface="YS Text"/>
              </a:rPr>
              <a:t>инициализируете пакет</a:t>
            </a:r>
            <a:r>
              <a:rPr lang="ru-RU" dirty="0">
                <a:latin typeface="YS Text"/>
              </a:rPr>
              <a:t>. </a:t>
            </a:r>
          </a:p>
          <a:p>
            <a:pPr marL="0" indent="0" algn="just">
              <a:buNone/>
            </a:pPr>
            <a:r>
              <a:rPr lang="ru-RU" dirty="0">
                <a:latin typeface="YS Text"/>
              </a:rPr>
              <a:t>Файл </a:t>
            </a:r>
            <a:r>
              <a:rPr lang="ru-RU" b="1" dirty="0">
                <a:latin typeface="YS Text"/>
              </a:rPr>
              <a:t>__init__.py </a:t>
            </a:r>
            <a:r>
              <a:rPr lang="ru-RU" dirty="0">
                <a:latin typeface="YS Text"/>
              </a:rPr>
              <a:t>может быть пустым или содержать, например, общие для всех модулей пакета импорты, переменные и константы.</a:t>
            </a:r>
          </a:p>
          <a:p>
            <a:pPr marL="0" indent="0" algn="ctr">
              <a:buNone/>
            </a:pPr>
            <a:r>
              <a:rPr lang="ru-RU" sz="2800" b="1" i="0" dirty="0">
                <a:solidFill>
                  <a:schemeClr val="accent6">
                    <a:lumMod val="75000"/>
                  </a:schemeClr>
                </a:solidFill>
                <a:effectLst/>
                <a:latin typeface="YS Text"/>
              </a:rPr>
              <a:t>Задача программиста — не только писать код, но и думать над тем, как можно организовывать структуру в проектах.</a:t>
            </a:r>
            <a:endParaRPr lang="ru-RU" sz="2800" b="1" dirty="0">
              <a:solidFill>
                <a:schemeClr val="accent6">
                  <a:lumMod val="75000"/>
                </a:schemeClr>
              </a:solidFill>
              <a:latin typeface="YS Text"/>
            </a:endParaRPr>
          </a:p>
        </p:txBody>
      </p:sp>
    </p:spTree>
    <p:extLst>
      <p:ext uri="{BB962C8B-B14F-4D97-AF65-F5344CB8AC3E}">
        <p14:creationId xmlns:p14="http://schemas.microsoft.com/office/powerpoint/2010/main" val="2614338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Первый пользовательский пакет</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В директории проекта </a:t>
            </a:r>
            <a:r>
              <a:rPr lang="ru-RU" b="1" dirty="0">
                <a:latin typeface="YS Text"/>
              </a:rPr>
              <a:t>создайте папку</a:t>
            </a:r>
            <a:r>
              <a:rPr lang="ru-RU" dirty="0">
                <a:latin typeface="YS Text"/>
              </a:rPr>
              <a:t>. В ней будут храниться модули, код из которых можно </a:t>
            </a:r>
            <a:r>
              <a:rPr lang="ru-RU" dirty="0" err="1">
                <a:latin typeface="YS Text"/>
              </a:rPr>
              <a:t>переиспользовать</a:t>
            </a:r>
            <a:r>
              <a:rPr lang="ru-RU" dirty="0">
                <a:latin typeface="YS Text"/>
              </a:rPr>
              <a:t> для чего-то еще.</a:t>
            </a:r>
          </a:p>
          <a:p>
            <a:pPr marL="0" indent="0" algn="just">
              <a:buNone/>
            </a:pPr>
            <a:r>
              <a:rPr lang="ru-RU" dirty="0">
                <a:latin typeface="YS Text"/>
              </a:rPr>
              <a:t>Теперь превратите обычную папку в пакет — внутри каталога создайте </a:t>
            </a:r>
            <a:r>
              <a:rPr lang="ru-RU" b="1" dirty="0">
                <a:latin typeface="YS Text"/>
              </a:rPr>
              <a:t>файл __init__.py</a:t>
            </a:r>
            <a:r>
              <a:rPr lang="ru-RU" dirty="0">
                <a:latin typeface="YS Text"/>
              </a:rPr>
              <a:t>. Также переместите в папку файл с необходимым кодом.</a:t>
            </a:r>
          </a:p>
          <a:p>
            <a:pPr marL="0" indent="0" algn="just">
              <a:buNone/>
            </a:pPr>
            <a:r>
              <a:rPr lang="ru-RU" dirty="0">
                <a:latin typeface="YS Text"/>
              </a:rPr>
              <a:t>Структура вашей программы может быть, например, такой:</a:t>
            </a:r>
          </a:p>
          <a:p>
            <a:pPr marL="0" indent="0" algn="just">
              <a:buNone/>
            </a:pPr>
            <a:r>
              <a:rPr lang="en-US" b="0" i="0" dirty="0" err="1">
                <a:effectLst/>
                <a:latin typeface="Menlo"/>
              </a:rPr>
              <a:t>tic_tac_toe</a:t>
            </a:r>
            <a:r>
              <a:rPr lang="en-US" b="0" i="0" dirty="0">
                <a:effectLst/>
                <a:latin typeface="Menlo"/>
              </a:rPr>
              <a:t>/ </a:t>
            </a:r>
            <a:endParaRPr lang="ru-RU" b="0" i="0" dirty="0">
              <a:effectLst/>
              <a:latin typeface="Menlo"/>
            </a:endParaRPr>
          </a:p>
          <a:p>
            <a:pPr marL="0" indent="0" algn="just">
              <a:buNone/>
            </a:pPr>
            <a:r>
              <a:rPr lang="ru-RU" b="0" i="0" dirty="0">
                <a:effectLst/>
                <a:latin typeface="Menlo"/>
              </a:rPr>
              <a:t> </a:t>
            </a:r>
            <a:r>
              <a:rPr lang="en-US" b="0" i="0" dirty="0">
                <a:effectLst/>
                <a:latin typeface="Menlo"/>
              </a:rPr>
              <a:t>├── </a:t>
            </a:r>
            <a:r>
              <a:rPr lang="en-US" b="0" i="0" dirty="0" err="1">
                <a:effectLst/>
                <a:latin typeface="Menlo"/>
              </a:rPr>
              <a:t>gameparts</a:t>
            </a:r>
            <a:r>
              <a:rPr lang="en-US" b="0" i="0" dirty="0">
                <a:effectLst/>
                <a:latin typeface="Menlo"/>
              </a:rPr>
              <a:t>/ │ </a:t>
            </a:r>
            <a:endParaRPr lang="ru-RU" b="0" i="0" dirty="0">
              <a:effectLst/>
              <a:latin typeface="Menlo"/>
            </a:endParaRPr>
          </a:p>
          <a:p>
            <a:pPr marL="0" indent="0" algn="just">
              <a:buNone/>
            </a:pPr>
            <a:r>
              <a:rPr lang="ru-RU" b="0" i="0" dirty="0">
                <a:effectLst/>
                <a:latin typeface="Menlo"/>
              </a:rPr>
              <a:t>           </a:t>
            </a:r>
            <a:r>
              <a:rPr lang="en-US" b="0" i="0" dirty="0">
                <a:effectLst/>
                <a:latin typeface="Menlo"/>
              </a:rPr>
              <a:t>├── __init__.py │ </a:t>
            </a:r>
            <a:r>
              <a:rPr lang="ru-RU" dirty="0">
                <a:latin typeface="Menlo"/>
              </a:rPr>
              <a:t> </a:t>
            </a:r>
          </a:p>
          <a:p>
            <a:pPr marL="0" indent="0" algn="just">
              <a:buNone/>
            </a:pPr>
            <a:r>
              <a:rPr lang="ru-RU" b="0" i="0" dirty="0">
                <a:effectLst/>
                <a:latin typeface="Menlo"/>
              </a:rPr>
              <a:t>           </a:t>
            </a:r>
            <a:r>
              <a:rPr lang="en-US" b="0" i="0" dirty="0">
                <a:effectLst/>
                <a:latin typeface="Menlo"/>
              </a:rPr>
              <a:t>└── parts.py </a:t>
            </a:r>
            <a:endParaRPr lang="ru-RU" b="0" i="0" dirty="0">
              <a:effectLst/>
              <a:latin typeface="Menlo"/>
            </a:endParaRPr>
          </a:p>
          <a:p>
            <a:pPr marL="0" indent="0" algn="just">
              <a:buNone/>
            </a:pPr>
            <a:r>
              <a:rPr lang="ru-RU" b="0" i="0" dirty="0">
                <a:effectLst/>
                <a:latin typeface="Menlo"/>
              </a:rPr>
              <a:t> </a:t>
            </a:r>
            <a:r>
              <a:rPr lang="en-US" b="0" i="0" dirty="0">
                <a:effectLst/>
                <a:latin typeface="Menlo"/>
              </a:rPr>
              <a:t>├── </a:t>
            </a:r>
            <a:r>
              <a:rPr lang="en-US" b="0" i="0" dirty="0" err="1">
                <a:effectLst/>
                <a:latin typeface="Menlo"/>
              </a:rPr>
              <a:t>venv</a:t>
            </a:r>
            <a:r>
              <a:rPr lang="en-US" b="0" i="0" dirty="0">
                <a:effectLst/>
                <a:latin typeface="Menlo"/>
              </a:rPr>
              <a:t>/ </a:t>
            </a:r>
            <a:endParaRPr lang="ru-RU" b="0" i="0" dirty="0">
              <a:effectLst/>
              <a:latin typeface="Menlo"/>
            </a:endParaRPr>
          </a:p>
          <a:p>
            <a:pPr marL="0" indent="0" algn="just">
              <a:buNone/>
            </a:pPr>
            <a:r>
              <a:rPr lang="ru-RU" b="0" i="0" dirty="0">
                <a:effectLst/>
                <a:latin typeface="Menlo"/>
              </a:rPr>
              <a:t> </a:t>
            </a:r>
            <a:r>
              <a:rPr lang="en-US" b="0" i="0" dirty="0">
                <a:effectLst/>
                <a:latin typeface="Menlo"/>
              </a:rPr>
              <a:t>└── game.py </a:t>
            </a:r>
            <a:endParaRPr lang="ru-RU" b="0" i="0" dirty="0">
              <a:effectLst/>
              <a:latin typeface="Menlo"/>
            </a:endParaRPr>
          </a:p>
          <a:p>
            <a:pPr marL="0" indent="0" algn="just">
              <a:buNone/>
            </a:pPr>
            <a:endParaRPr lang="ru-RU" dirty="0">
              <a:latin typeface="Menlo"/>
            </a:endParaRPr>
          </a:p>
          <a:p>
            <a:pPr marL="0" indent="0" algn="ctr">
              <a:buNone/>
            </a:pPr>
            <a:r>
              <a:rPr lang="ru-RU" sz="2800" b="1" i="0" dirty="0">
                <a:solidFill>
                  <a:schemeClr val="accent6">
                    <a:lumMod val="75000"/>
                  </a:schemeClr>
                </a:solidFill>
                <a:effectLst/>
                <a:latin typeface="YS Text"/>
              </a:rPr>
              <a:t>По умолчанию, чтобы Python смог найти ваш пакет, он должен находиться в той же папке, что и исполняемый скрипт.</a:t>
            </a:r>
          </a:p>
          <a:p>
            <a:pPr marL="0" indent="0" algn="ctr">
              <a:buNone/>
            </a:pPr>
            <a:endParaRPr lang="ru-RU" sz="2800" b="1" dirty="0">
              <a:solidFill>
                <a:schemeClr val="accent6">
                  <a:lumMod val="75000"/>
                </a:schemeClr>
              </a:solidFill>
              <a:latin typeface="YS Text"/>
            </a:endParaRPr>
          </a:p>
          <a:p>
            <a:pPr marL="0" indent="0" algn="just">
              <a:buNone/>
            </a:pPr>
            <a:endParaRPr lang="ru-RU" i="1" dirty="0">
              <a:latin typeface="YS Text"/>
            </a:endParaRPr>
          </a:p>
        </p:txBody>
      </p:sp>
    </p:spTree>
    <p:extLst>
      <p:ext uri="{BB962C8B-B14F-4D97-AF65-F5344CB8AC3E}">
        <p14:creationId xmlns:p14="http://schemas.microsoft.com/office/powerpoint/2010/main" val="102305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Конструкция </a:t>
            </a:r>
            <a:r>
              <a:rPr lang="en-US" sz="4900" b="1" dirty="0">
                <a:solidFill>
                  <a:schemeClr val="accent6">
                    <a:lumMod val="75000"/>
                  </a:schemeClr>
                </a:solidFill>
                <a:effectLst/>
                <a:latin typeface="YS Text"/>
              </a:rPr>
              <a:t>if __name__ == '__main__'</a:t>
            </a:r>
            <a:endParaRPr lang="ru-RU" dirty="0">
              <a:solidFill>
                <a:schemeClr val="accent6">
                  <a:lumMod val="75000"/>
                </a:schemeClr>
              </a:solidFill>
            </a:endParaRPr>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67254"/>
            <a:ext cx="10936304" cy="6038194"/>
          </a:xfrm>
        </p:spPr>
        <p:txBody>
          <a:bodyPr>
            <a:normAutofit fontScale="92500" lnSpcReduction="10000"/>
          </a:bodyPr>
          <a:lstStyle/>
          <a:p>
            <a:pPr marL="0" indent="0" algn="just">
              <a:buNone/>
            </a:pPr>
            <a:r>
              <a:rPr lang="ru-RU" dirty="0">
                <a:latin typeface="YS Text"/>
              </a:rPr>
              <a:t>Конструкцию </a:t>
            </a:r>
            <a:r>
              <a:rPr lang="ru-RU" b="1" dirty="0" err="1">
                <a:latin typeface="YS Text"/>
              </a:rPr>
              <a:t>if</a:t>
            </a:r>
            <a:r>
              <a:rPr lang="ru-RU" b="1" dirty="0">
                <a:latin typeface="YS Text"/>
              </a:rPr>
              <a:t> __</a:t>
            </a:r>
            <a:r>
              <a:rPr lang="ru-RU" b="1" dirty="0" err="1">
                <a:latin typeface="YS Text"/>
              </a:rPr>
              <a:t>name</a:t>
            </a:r>
            <a:r>
              <a:rPr lang="ru-RU" b="1" dirty="0">
                <a:latin typeface="YS Text"/>
              </a:rPr>
              <a:t>__ == '__</a:t>
            </a:r>
            <a:r>
              <a:rPr lang="ru-RU" b="1" dirty="0" err="1">
                <a:latin typeface="YS Text"/>
              </a:rPr>
              <a:t>main</a:t>
            </a:r>
            <a:r>
              <a:rPr lang="ru-RU" b="1" dirty="0">
                <a:latin typeface="YS Text"/>
              </a:rPr>
              <a:t>__' </a:t>
            </a:r>
            <a:r>
              <a:rPr lang="ru-RU" dirty="0">
                <a:latin typeface="YS Text"/>
              </a:rPr>
              <a:t>обычно добавляют в исполняемый скрипт. Это условный оператор, который читается как «если скрипт запущен напрямую, выполни этот код». Код, который находится в теле этого условного оператора, должен исполняться только в том случае, если файл запущен напрямую как программа. </a:t>
            </a:r>
          </a:p>
          <a:p>
            <a:pPr marL="0" indent="0" algn="just">
              <a:buNone/>
            </a:pPr>
            <a:r>
              <a:rPr lang="ru-RU" dirty="0">
                <a:latin typeface="YS Text"/>
              </a:rPr>
              <a:t>Код, описанный до условного оператора, можно импортировать и использовать в других файлах проекта. Работает это так:</a:t>
            </a:r>
          </a:p>
          <a:p>
            <a:pPr algn="just"/>
            <a:r>
              <a:rPr lang="ru-RU" dirty="0">
                <a:latin typeface="YS Text"/>
              </a:rPr>
              <a:t>когда интерпретатор Python выполняет программу, он устанавливает переменной </a:t>
            </a:r>
            <a:r>
              <a:rPr lang="ru-RU" b="1" dirty="0">
                <a:latin typeface="YS Text"/>
              </a:rPr>
              <a:t>__</a:t>
            </a:r>
            <a:r>
              <a:rPr lang="ru-RU" b="1" dirty="0" err="1">
                <a:latin typeface="YS Text"/>
              </a:rPr>
              <a:t>name</a:t>
            </a:r>
            <a:r>
              <a:rPr lang="ru-RU" b="1" dirty="0">
                <a:latin typeface="YS Text"/>
              </a:rPr>
              <a:t>__ </a:t>
            </a:r>
            <a:r>
              <a:rPr lang="ru-RU" dirty="0">
                <a:latin typeface="YS Text"/>
              </a:rPr>
              <a:t>значение </a:t>
            </a:r>
            <a:r>
              <a:rPr lang="ru-RU" b="1" dirty="0">
                <a:latin typeface="YS Text"/>
              </a:rPr>
              <a:t>'__</a:t>
            </a:r>
            <a:r>
              <a:rPr lang="ru-RU" b="1" dirty="0" err="1">
                <a:latin typeface="YS Text"/>
              </a:rPr>
              <a:t>main</a:t>
            </a:r>
            <a:r>
              <a:rPr lang="ru-RU" b="1" dirty="0">
                <a:latin typeface="YS Text"/>
              </a:rPr>
              <a:t>__', </a:t>
            </a:r>
            <a:r>
              <a:rPr lang="ru-RU" dirty="0">
                <a:latin typeface="YS Text"/>
              </a:rPr>
              <a:t>если программа запускается напрямую;</a:t>
            </a:r>
          </a:p>
          <a:p>
            <a:pPr algn="just"/>
            <a:r>
              <a:rPr lang="ru-RU" dirty="0">
                <a:latin typeface="YS Text"/>
              </a:rPr>
              <a:t>если же программа используется как модуль и импортируется в другую программу, то </a:t>
            </a:r>
            <a:r>
              <a:rPr lang="ru-RU" b="1" dirty="0">
                <a:latin typeface="YS Text"/>
              </a:rPr>
              <a:t>__</a:t>
            </a:r>
            <a:r>
              <a:rPr lang="ru-RU" b="1" dirty="0" err="1">
                <a:latin typeface="YS Text"/>
              </a:rPr>
              <a:t>name</a:t>
            </a:r>
            <a:r>
              <a:rPr lang="ru-RU" b="1" dirty="0">
                <a:latin typeface="YS Text"/>
              </a:rPr>
              <a:t>__ </a:t>
            </a:r>
            <a:r>
              <a:rPr lang="ru-RU" dirty="0">
                <a:latin typeface="YS Text"/>
              </a:rPr>
              <a:t>принимает </a:t>
            </a:r>
            <a:r>
              <a:rPr lang="ru-RU" b="1" dirty="0">
                <a:latin typeface="YS Text"/>
              </a:rPr>
              <a:t>имя модуля</a:t>
            </a:r>
            <a:r>
              <a:rPr lang="ru-RU" dirty="0">
                <a:latin typeface="YS Text"/>
              </a:rPr>
              <a:t>, то есть имя файла без расширения .</a:t>
            </a:r>
            <a:r>
              <a:rPr lang="ru-RU" dirty="0" err="1">
                <a:latin typeface="YS Text"/>
              </a:rPr>
              <a:t>py</a:t>
            </a:r>
            <a:endParaRPr lang="ru-RU" dirty="0">
              <a:latin typeface="YS Text"/>
            </a:endParaRPr>
          </a:p>
          <a:p>
            <a:pPr marL="0" indent="0" algn="just">
              <a:buNone/>
            </a:pPr>
            <a:r>
              <a:rPr lang="ru-RU" dirty="0">
                <a:latin typeface="YS Text"/>
              </a:rPr>
              <a:t>Синтаксис использования конструкции таков: после условия </a:t>
            </a:r>
            <a:r>
              <a:rPr lang="ru-RU" b="1" dirty="0" err="1">
                <a:latin typeface="YS Text"/>
              </a:rPr>
              <a:t>if</a:t>
            </a:r>
            <a:r>
              <a:rPr lang="ru-RU" b="1" dirty="0">
                <a:latin typeface="YS Text"/>
              </a:rPr>
              <a:t> __</a:t>
            </a:r>
            <a:r>
              <a:rPr lang="ru-RU" b="1" dirty="0" err="1">
                <a:latin typeface="YS Text"/>
              </a:rPr>
              <a:t>name</a:t>
            </a:r>
            <a:r>
              <a:rPr lang="ru-RU" b="1" dirty="0">
                <a:latin typeface="YS Text"/>
              </a:rPr>
              <a:t>__ == '__</a:t>
            </a:r>
            <a:r>
              <a:rPr lang="ru-RU" b="1" dirty="0" err="1">
                <a:latin typeface="YS Text"/>
              </a:rPr>
              <a:t>main</a:t>
            </a:r>
            <a:r>
              <a:rPr lang="ru-RU" b="1" dirty="0">
                <a:latin typeface="YS Text"/>
              </a:rPr>
              <a:t>__' </a:t>
            </a:r>
            <a:r>
              <a:rPr lang="ru-RU" dirty="0">
                <a:latin typeface="YS Text"/>
              </a:rPr>
              <a:t>ставится </a:t>
            </a:r>
            <a:r>
              <a:rPr lang="ru-RU" b="1" dirty="0">
                <a:latin typeface="YS Text"/>
              </a:rPr>
              <a:t>двоеточие</a:t>
            </a:r>
            <a:r>
              <a:rPr lang="ru-RU" dirty="0">
                <a:latin typeface="YS Text"/>
              </a:rPr>
              <a:t>, код в блоке отбивается </a:t>
            </a:r>
            <a:r>
              <a:rPr lang="ru-RU" b="1" dirty="0">
                <a:latin typeface="YS Text"/>
              </a:rPr>
              <a:t>четырьмя пробелами</a:t>
            </a:r>
            <a:r>
              <a:rPr lang="ru-RU" dirty="0">
                <a:latin typeface="YS Text"/>
              </a:rPr>
              <a:t>. Всё как в обычном ветвлении. </a:t>
            </a:r>
          </a:p>
          <a:p>
            <a:pPr marL="0" indent="0" algn="just">
              <a:buNone/>
            </a:pPr>
            <a:r>
              <a:rPr lang="ru-RU" b="0" i="0" dirty="0" err="1">
                <a:solidFill>
                  <a:srgbClr val="C678DD"/>
                </a:solidFill>
                <a:effectLst/>
                <a:latin typeface="Menlo"/>
              </a:rPr>
              <a:t>def</a:t>
            </a:r>
            <a:r>
              <a:rPr lang="ru-RU" b="0" i="0" dirty="0">
                <a:effectLst/>
                <a:latin typeface="Menlo"/>
              </a:rPr>
              <a:t> </a:t>
            </a:r>
            <a:r>
              <a:rPr lang="ru-RU" b="0" i="0" dirty="0" err="1">
                <a:effectLst/>
                <a:latin typeface="Menlo"/>
              </a:rPr>
              <a:t>some_function</a:t>
            </a:r>
            <a:r>
              <a:rPr lang="ru-RU" b="0" i="0" dirty="0">
                <a:effectLst/>
                <a:latin typeface="Menlo"/>
              </a:rPr>
              <a:t>(): </a:t>
            </a:r>
          </a:p>
          <a:p>
            <a:pPr marL="0" indent="0" algn="just">
              <a:buNone/>
            </a:pPr>
            <a:r>
              <a:rPr lang="ru-RU" dirty="0">
                <a:solidFill>
                  <a:srgbClr val="CA8D3D"/>
                </a:solidFill>
                <a:latin typeface="Menlo"/>
              </a:rPr>
              <a:t>	</a:t>
            </a:r>
            <a:r>
              <a:rPr lang="ru-RU" b="0" i="0" dirty="0" err="1">
                <a:solidFill>
                  <a:srgbClr val="CA8D3D"/>
                </a:solidFill>
                <a:effectLst/>
                <a:latin typeface="Menlo"/>
              </a:rPr>
              <a:t>print</a:t>
            </a:r>
            <a:r>
              <a:rPr lang="ru-RU" b="0" i="0" dirty="0">
                <a:effectLst/>
                <a:latin typeface="Menlo"/>
              </a:rPr>
              <a:t>(</a:t>
            </a:r>
            <a:r>
              <a:rPr lang="ru-RU" b="0" i="0" dirty="0">
                <a:solidFill>
                  <a:srgbClr val="32A846"/>
                </a:solidFill>
                <a:effectLst/>
                <a:latin typeface="Menlo"/>
              </a:rPr>
              <a:t>'Эту функцию можно импортировать и использовать в других файлах.’</a:t>
            </a:r>
            <a:r>
              <a:rPr lang="ru-RU" b="0" i="0" dirty="0">
                <a:effectLst/>
                <a:latin typeface="Menlo"/>
              </a:rPr>
              <a:t>) </a:t>
            </a:r>
          </a:p>
          <a:p>
            <a:pPr marL="0" indent="0" algn="just">
              <a:buNone/>
            </a:pPr>
            <a:r>
              <a:rPr lang="ru-RU" b="0" i="0" dirty="0" err="1">
                <a:solidFill>
                  <a:srgbClr val="C678DD"/>
                </a:solidFill>
                <a:effectLst/>
                <a:latin typeface="Menlo"/>
              </a:rPr>
              <a:t>if</a:t>
            </a:r>
            <a:r>
              <a:rPr lang="ru-RU" b="0" i="0" dirty="0">
                <a:effectLst/>
                <a:latin typeface="Menlo"/>
              </a:rPr>
              <a:t> __</a:t>
            </a:r>
            <a:r>
              <a:rPr lang="ru-RU" b="0" i="0" dirty="0" err="1">
                <a:effectLst/>
                <a:latin typeface="Menlo"/>
              </a:rPr>
              <a:t>name</a:t>
            </a:r>
            <a:r>
              <a:rPr lang="ru-RU" b="0" i="0" dirty="0">
                <a:effectLst/>
                <a:latin typeface="Menlo"/>
              </a:rPr>
              <a:t>__ == </a:t>
            </a:r>
            <a:r>
              <a:rPr lang="ru-RU" b="0" i="0" dirty="0">
                <a:solidFill>
                  <a:srgbClr val="32A846"/>
                </a:solidFill>
                <a:effectLst/>
                <a:latin typeface="Menlo"/>
              </a:rPr>
              <a:t>'__</a:t>
            </a:r>
            <a:r>
              <a:rPr lang="ru-RU" b="0" i="0" dirty="0" err="1">
                <a:solidFill>
                  <a:srgbClr val="32A846"/>
                </a:solidFill>
                <a:effectLst/>
                <a:latin typeface="Menlo"/>
              </a:rPr>
              <a:t>main</a:t>
            </a:r>
            <a:r>
              <a:rPr lang="ru-RU" b="0" i="0" dirty="0">
                <a:solidFill>
                  <a:srgbClr val="32A846"/>
                </a:solidFill>
                <a:effectLst/>
                <a:latin typeface="Menlo"/>
              </a:rPr>
              <a:t>__’</a:t>
            </a:r>
            <a:r>
              <a:rPr lang="ru-RU" b="0" i="0" dirty="0">
                <a:effectLst/>
                <a:latin typeface="Menlo"/>
              </a:rPr>
              <a:t>: </a:t>
            </a:r>
          </a:p>
          <a:p>
            <a:pPr marL="0" indent="0" algn="just">
              <a:buNone/>
            </a:pPr>
            <a:r>
              <a:rPr lang="ru-RU" b="0" i="0" dirty="0">
                <a:solidFill>
                  <a:srgbClr val="CA8D3D"/>
                </a:solidFill>
                <a:effectLst/>
                <a:latin typeface="Menlo"/>
              </a:rPr>
              <a:t>	</a:t>
            </a:r>
            <a:r>
              <a:rPr lang="ru-RU" b="0" i="0" dirty="0" err="1">
                <a:solidFill>
                  <a:srgbClr val="CA8D3D"/>
                </a:solidFill>
                <a:effectLst/>
                <a:latin typeface="Menlo"/>
              </a:rPr>
              <a:t>print</a:t>
            </a:r>
            <a:r>
              <a:rPr lang="ru-RU" b="0" i="0" dirty="0">
                <a:effectLst/>
                <a:latin typeface="Menlo"/>
              </a:rPr>
              <a:t>(</a:t>
            </a:r>
            <a:r>
              <a:rPr lang="ru-RU" b="0" i="0" dirty="0">
                <a:solidFill>
                  <a:srgbClr val="32A846"/>
                </a:solidFill>
                <a:effectLst/>
                <a:latin typeface="Menlo"/>
              </a:rPr>
              <a:t>'Этот код выполняется только тогда, когда запускается файл с ним.’</a:t>
            </a:r>
            <a:r>
              <a:rPr lang="ru-RU" b="0" i="0" dirty="0">
                <a:effectLst/>
                <a:latin typeface="Menlo"/>
              </a:rPr>
              <a:t>) </a:t>
            </a:r>
          </a:p>
          <a:p>
            <a:pPr marL="0" indent="0" algn="just">
              <a:buNone/>
            </a:pPr>
            <a:r>
              <a:rPr lang="ru-RU" dirty="0">
                <a:solidFill>
                  <a:srgbClr val="CA8D3D"/>
                </a:solidFill>
                <a:latin typeface="Menlo"/>
              </a:rPr>
              <a:t>	</a:t>
            </a:r>
            <a:r>
              <a:rPr lang="ru-RU" b="0" i="0" dirty="0" err="1">
                <a:solidFill>
                  <a:srgbClr val="CA8D3D"/>
                </a:solidFill>
                <a:effectLst/>
                <a:latin typeface="Menlo"/>
              </a:rPr>
              <a:t>print</a:t>
            </a:r>
            <a:r>
              <a:rPr lang="ru-RU" b="0" i="0" dirty="0">
                <a:effectLst/>
                <a:latin typeface="Menlo"/>
              </a:rPr>
              <a:t>(</a:t>
            </a:r>
            <a:r>
              <a:rPr lang="ru-RU" b="0" i="0" dirty="0">
                <a:solidFill>
                  <a:srgbClr val="32A846"/>
                </a:solidFill>
                <a:effectLst/>
                <a:latin typeface="Menlo"/>
              </a:rPr>
              <a:t>'Если файл будет импортирован, то этот код не выполнится.’</a:t>
            </a:r>
            <a:r>
              <a:rPr lang="ru-RU" b="0" i="0" dirty="0">
                <a:effectLst/>
                <a:latin typeface="Menlo"/>
              </a:rPr>
              <a:t>) </a:t>
            </a:r>
          </a:p>
          <a:p>
            <a:pPr marL="0" indent="0" algn="just">
              <a:buNone/>
            </a:pPr>
            <a:r>
              <a:rPr lang="ru-RU" b="0" i="0" dirty="0">
                <a:effectLst/>
                <a:latin typeface="Menlo"/>
              </a:rPr>
              <a:t>	</a:t>
            </a:r>
            <a:r>
              <a:rPr lang="ru-RU" b="0" i="0" dirty="0" err="1">
                <a:effectLst/>
                <a:latin typeface="Menlo"/>
              </a:rPr>
              <a:t>some_function</a:t>
            </a:r>
            <a:r>
              <a:rPr lang="ru-RU" b="0" i="0" dirty="0">
                <a:effectLst/>
                <a:latin typeface="Menlo"/>
              </a:rPr>
              <a:t>() </a:t>
            </a:r>
            <a:endParaRPr lang="ru-RU" dirty="0">
              <a:latin typeface="YS Text"/>
            </a:endParaRPr>
          </a:p>
        </p:txBody>
      </p:sp>
    </p:spTree>
    <p:extLst>
      <p:ext uri="{BB962C8B-B14F-4D97-AF65-F5344CB8AC3E}">
        <p14:creationId xmlns:p14="http://schemas.microsoft.com/office/powerpoint/2010/main" val="2193488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89186"/>
            <a:ext cx="10936304" cy="6479628"/>
          </a:xfrm>
        </p:spPr>
        <p:txBody>
          <a:bodyPr/>
          <a:lstStyle/>
          <a:p>
            <a:pPr marL="0" indent="0" algn="just">
              <a:buNone/>
            </a:pPr>
            <a:r>
              <a:rPr lang="ru-RU" dirty="0">
                <a:latin typeface="YS Text"/>
              </a:rPr>
              <a:t>Использование конструкции </a:t>
            </a:r>
            <a:r>
              <a:rPr lang="ru-RU" b="1" dirty="0" err="1">
                <a:latin typeface="YS Text"/>
              </a:rPr>
              <a:t>if</a:t>
            </a:r>
            <a:r>
              <a:rPr lang="ru-RU" b="1" dirty="0">
                <a:latin typeface="YS Text"/>
              </a:rPr>
              <a:t> __</a:t>
            </a:r>
            <a:r>
              <a:rPr lang="ru-RU" b="1" dirty="0" err="1">
                <a:latin typeface="YS Text"/>
              </a:rPr>
              <a:t>name</a:t>
            </a:r>
            <a:r>
              <a:rPr lang="ru-RU" b="1" dirty="0">
                <a:latin typeface="YS Text"/>
              </a:rPr>
              <a:t>__ == '__</a:t>
            </a:r>
            <a:r>
              <a:rPr lang="ru-RU" b="1" dirty="0" err="1">
                <a:latin typeface="YS Text"/>
              </a:rPr>
              <a:t>main</a:t>
            </a:r>
            <a:r>
              <a:rPr lang="ru-RU" b="1" dirty="0">
                <a:latin typeface="YS Text"/>
              </a:rPr>
              <a:t>__' </a:t>
            </a:r>
            <a:r>
              <a:rPr lang="ru-RU" dirty="0">
                <a:latin typeface="YS Text"/>
              </a:rPr>
              <a:t>полезно, когда, например, у вас есть некоторый код, который нужен только при запуске программы напрямую, а не при её использовании как модуля в другом месте.</a:t>
            </a:r>
          </a:p>
          <a:p>
            <a:pPr marL="0" indent="0" algn="ctr">
              <a:buNone/>
            </a:pPr>
            <a:r>
              <a:rPr lang="ru-RU" sz="2800" b="1" dirty="0">
                <a:solidFill>
                  <a:schemeClr val="accent6">
                    <a:lumMod val="75000"/>
                  </a:schemeClr>
                </a:solidFill>
                <a:latin typeface="YS Text"/>
              </a:rPr>
              <a:t>Использование </a:t>
            </a:r>
            <a:r>
              <a:rPr lang="ru-RU" sz="2800" b="1" dirty="0" err="1">
                <a:solidFill>
                  <a:schemeClr val="accent6">
                    <a:lumMod val="50000"/>
                  </a:schemeClr>
                </a:solidFill>
                <a:latin typeface="YS Text"/>
              </a:rPr>
              <a:t>if</a:t>
            </a:r>
            <a:r>
              <a:rPr lang="ru-RU" sz="2800" b="1" dirty="0">
                <a:solidFill>
                  <a:schemeClr val="accent6">
                    <a:lumMod val="50000"/>
                  </a:schemeClr>
                </a:solidFill>
                <a:latin typeface="YS Text"/>
              </a:rPr>
              <a:t> __</a:t>
            </a:r>
            <a:r>
              <a:rPr lang="ru-RU" sz="2800" b="1" dirty="0" err="1">
                <a:solidFill>
                  <a:schemeClr val="accent6">
                    <a:lumMod val="50000"/>
                  </a:schemeClr>
                </a:solidFill>
                <a:latin typeface="YS Text"/>
              </a:rPr>
              <a:t>name</a:t>
            </a:r>
            <a:r>
              <a:rPr lang="ru-RU" sz="2800" b="1" dirty="0">
                <a:solidFill>
                  <a:schemeClr val="accent6">
                    <a:lumMod val="50000"/>
                  </a:schemeClr>
                </a:solidFill>
                <a:latin typeface="YS Text"/>
              </a:rPr>
              <a:t>__ == '__</a:t>
            </a:r>
            <a:r>
              <a:rPr lang="ru-RU" sz="2800" b="1" dirty="0" err="1">
                <a:solidFill>
                  <a:schemeClr val="accent6">
                    <a:lumMod val="50000"/>
                  </a:schemeClr>
                </a:solidFill>
                <a:latin typeface="YS Text"/>
              </a:rPr>
              <a:t>main</a:t>
            </a:r>
            <a:r>
              <a:rPr lang="ru-RU" sz="2800" b="1" dirty="0">
                <a:solidFill>
                  <a:schemeClr val="accent6">
                    <a:lumMod val="50000"/>
                  </a:schemeClr>
                </a:solidFill>
                <a:latin typeface="YS Text"/>
              </a:rPr>
              <a:t>__' </a:t>
            </a:r>
            <a:r>
              <a:rPr lang="ru-RU" sz="2800" b="1" dirty="0">
                <a:solidFill>
                  <a:schemeClr val="accent6">
                    <a:lumMod val="75000"/>
                  </a:schemeClr>
                </a:solidFill>
                <a:latin typeface="YS Text"/>
              </a:rPr>
              <a:t>— стандартный подход в Python-сообществе, широко принятый и рекомендуемый в документации и на учебных ресурсах.</a:t>
            </a:r>
          </a:p>
          <a:p>
            <a:pPr marL="0" indent="0" algn="just">
              <a:buNone/>
            </a:pPr>
            <a:r>
              <a:rPr lang="ru-RU" dirty="0">
                <a:latin typeface="YS Text"/>
              </a:rPr>
              <a:t>Подобную структуру кода можно сделать ещё лучше. Обычно разработчики выносят код, который должен выполняться при запуске исполняемого скрипта, в отдельную функцию, а потом обращаются к этой функции в блоке </a:t>
            </a:r>
            <a:r>
              <a:rPr lang="ru-RU" b="1" dirty="0" err="1">
                <a:latin typeface="YS Text"/>
              </a:rPr>
              <a:t>if</a:t>
            </a:r>
            <a:r>
              <a:rPr lang="ru-RU" b="1" dirty="0">
                <a:latin typeface="YS Text"/>
              </a:rPr>
              <a:t> __</a:t>
            </a:r>
            <a:r>
              <a:rPr lang="ru-RU" b="1" dirty="0" err="1">
                <a:latin typeface="YS Text"/>
              </a:rPr>
              <a:t>name</a:t>
            </a:r>
            <a:r>
              <a:rPr lang="ru-RU" b="1" dirty="0">
                <a:latin typeface="YS Text"/>
              </a:rPr>
              <a:t>__ == '__</a:t>
            </a:r>
            <a:r>
              <a:rPr lang="ru-RU" b="1" dirty="0" err="1">
                <a:latin typeface="YS Text"/>
              </a:rPr>
              <a:t>main</a:t>
            </a:r>
            <a:r>
              <a:rPr lang="ru-RU" b="1" dirty="0">
                <a:latin typeface="YS Text"/>
              </a:rPr>
              <a:t>__'. </a:t>
            </a:r>
            <a:r>
              <a:rPr lang="ru-RU" dirty="0">
                <a:latin typeface="YS Text"/>
              </a:rPr>
              <a:t>Чаще всего такую функцию называют </a:t>
            </a:r>
            <a:r>
              <a:rPr lang="ru-RU" b="1" dirty="0" err="1">
                <a:solidFill>
                  <a:schemeClr val="accent6">
                    <a:lumMod val="75000"/>
                  </a:schemeClr>
                </a:solidFill>
                <a:latin typeface="YS Text"/>
              </a:rPr>
              <a:t>main</a:t>
            </a:r>
            <a:r>
              <a:rPr lang="ru-RU" b="1" dirty="0">
                <a:solidFill>
                  <a:schemeClr val="accent6">
                    <a:lumMod val="75000"/>
                  </a:schemeClr>
                </a:solidFill>
                <a:latin typeface="YS Text"/>
              </a:rPr>
              <a:t>().</a:t>
            </a:r>
          </a:p>
        </p:txBody>
      </p:sp>
    </p:spTree>
    <p:extLst>
      <p:ext uri="{BB962C8B-B14F-4D97-AF65-F5344CB8AC3E}">
        <p14:creationId xmlns:p14="http://schemas.microsoft.com/office/powerpoint/2010/main" val="168464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b="1" dirty="0">
                <a:effectLst/>
                <a:latin typeface="YS Text"/>
              </a:rPr>
              <a:t>Итог: пользовательские модули</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algn="just"/>
            <a:r>
              <a:rPr lang="ru-RU" b="1" dirty="0">
                <a:latin typeface="YS Text"/>
              </a:rPr>
              <a:t>Собственные модули </a:t>
            </a:r>
            <a:r>
              <a:rPr lang="ru-RU" dirty="0">
                <a:latin typeface="YS Text"/>
              </a:rPr>
              <a:t>— это модули, которые пишет сам разработчик для своих проектов. Другое название таких модулей — пользовательские.</a:t>
            </a:r>
          </a:p>
          <a:p>
            <a:pPr algn="just"/>
            <a:r>
              <a:rPr lang="ru-RU" dirty="0">
                <a:latin typeface="YS Text"/>
              </a:rPr>
              <a:t>Модули помогают организовывать код и разделять его на логические блоки.</a:t>
            </a:r>
          </a:p>
          <a:p>
            <a:pPr algn="just"/>
            <a:r>
              <a:rPr lang="ru-RU" b="1" dirty="0">
                <a:latin typeface="YS Text"/>
              </a:rPr>
              <a:t>Пакет</a:t>
            </a:r>
            <a:r>
              <a:rPr lang="ru-RU" dirty="0">
                <a:latin typeface="YS Text"/>
              </a:rPr>
              <a:t> — это коллекция модулей, иначе говоря — отдельная папка с модулями. Основная идея пакета — объединить тематически связанные модули в одну группу.</a:t>
            </a:r>
          </a:p>
          <a:p>
            <a:pPr algn="just"/>
            <a:r>
              <a:rPr lang="ru-RU" dirty="0">
                <a:latin typeface="YS Text"/>
              </a:rPr>
              <a:t>В корневом каталоге пакета должен быть </a:t>
            </a:r>
            <a:r>
              <a:rPr lang="ru-RU" b="1" dirty="0">
                <a:latin typeface="YS Text"/>
              </a:rPr>
              <a:t>файл __init__.py</a:t>
            </a:r>
            <a:r>
              <a:rPr lang="ru-RU" dirty="0">
                <a:latin typeface="YS Text"/>
              </a:rPr>
              <a:t>. Он «говорит» Python, что перед ним не просто папка, а пакет, и отвечает за инициализацию этого пакета.</a:t>
            </a:r>
          </a:p>
          <a:p>
            <a:pPr algn="just"/>
            <a:r>
              <a:rPr lang="ru-RU" dirty="0">
                <a:latin typeface="YS Text"/>
              </a:rPr>
              <a:t>Все файлы вашей программы — </a:t>
            </a:r>
            <a:r>
              <a:rPr lang="ru-RU" b="1" dirty="0">
                <a:latin typeface="YS Text"/>
              </a:rPr>
              <a:t>модули</a:t>
            </a:r>
            <a:r>
              <a:rPr lang="ru-RU" dirty="0">
                <a:latin typeface="YS Text"/>
              </a:rPr>
              <a:t>.</a:t>
            </a:r>
          </a:p>
          <a:p>
            <a:pPr algn="just"/>
            <a:r>
              <a:rPr lang="ru-RU" dirty="0">
                <a:latin typeface="YS Text"/>
              </a:rPr>
              <a:t>В конструкции </a:t>
            </a:r>
            <a:r>
              <a:rPr lang="ru-RU" b="1" dirty="0" err="1">
                <a:latin typeface="YS Text"/>
              </a:rPr>
              <a:t>if</a:t>
            </a:r>
            <a:r>
              <a:rPr lang="ru-RU" b="1" dirty="0">
                <a:latin typeface="YS Text"/>
              </a:rPr>
              <a:t> __</a:t>
            </a:r>
            <a:r>
              <a:rPr lang="ru-RU" b="1" dirty="0" err="1">
                <a:latin typeface="YS Text"/>
              </a:rPr>
              <a:t>name</a:t>
            </a:r>
            <a:r>
              <a:rPr lang="ru-RU" b="1" dirty="0">
                <a:latin typeface="YS Text"/>
              </a:rPr>
              <a:t>__ == '__</a:t>
            </a:r>
            <a:r>
              <a:rPr lang="ru-RU" b="1" dirty="0" err="1">
                <a:latin typeface="YS Text"/>
              </a:rPr>
              <a:t>main</a:t>
            </a:r>
            <a:r>
              <a:rPr lang="ru-RU" b="1" dirty="0">
                <a:latin typeface="YS Text"/>
              </a:rPr>
              <a:t>__' </a:t>
            </a:r>
            <a:r>
              <a:rPr lang="ru-RU" dirty="0">
                <a:latin typeface="YS Text"/>
              </a:rPr>
              <a:t>пишут код, который должен исполняться только в том случае, если файл запущен напрямую как программа. Условие </a:t>
            </a:r>
            <a:r>
              <a:rPr lang="ru-RU" dirty="0" err="1">
                <a:latin typeface="YS Text"/>
              </a:rPr>
              <a:t>if</a:t>
            </a:r>
            <a:r>
              <a:rPr lang="ru-RU" dirty="0">
                <a:latin typeface="YS Text"/>
              </a:rPr>
              <a:t> __</a:t>
            </a:r>
            <a:r>
              <a:rPr lang="ru-RU" dirty="0" err="1">
                <a:latin typeface="YS Text"/>
              </a:rPr>
              <a:t>name</a:t>
            </a:r>
            <a:r>
              <a:rPr lang="ru-RU" dirty="0">
                <a:latin typeface="YS Text"/>
              </a:rPr>
              <a:t>__ == '__</a:t>
            </a:r>
            <a:r>
              <a:rPr lang="ru-RU" dirty="0" err="1">
                <a:latin typeface="YS Text"/>
              </a:rPr>
              <a:t>main</a:t>
            </a:r>
            <a:r>
              <a:rPr lang="ru-RU" dirty="0">
                <a:latin typeface="YS Text"/>
              </a:rPr>
              <a:t>__' читается как «если скрипт запущен напрямую, выполни этот код».</a:t>
            </a:r>
            <a:endParaRPr lang="ru-RU" i="1" dirty="0">
              <a:latin typeface="YS Text"/>
            </a:endParaRPr>
          </a:p>
        </p:txBody>
      </p:sp>
    </p:spTree>
    <p:extLst>
      <p:ext uri="{BB962C8B-B14F-4D97-AF65-F5344CB8AC3E}">
        <p14:creationId xmlns:p14="http://schemas.microsoft.com/office/powerpoint/2010/main" val="1281569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5400" b="1" dirty="0">
                <a:solidFill>
                  <a:schemeClr val="tx1">
                    <a:lumMod val="95000"/>
                    <a:lumOff val="5000"/>
                  </a:schemeClr>
                </a:solidFill>
                <a:latin typeface="YS Text"/>
              </a:rPr>
              <a:t>Интроспекция</a:t>
            </a:r>
            <a:endParaRPr lang="ru-RU" sz="5400" dirty="0">
              <a:solidFill>
                <a:schemeClr val="tx1">
                  <a:lumMod val="95000"/>
                  <a:lumOff val="5000"/>
                </a:schemeClr>
              </a:solidFill>
            </a:endParaRPr>
          </a:p>
        </p:txBody>
      </p:sp>
    </p:spTree>
    <p:extLst>
      <p:ext uri="{BB962C8B-B14F-4D97-AF65-F5344CB8AC3E}">
        <p14:creationId xmlns:p14="http://schemas.microsoft.com/office/powerpoint/2010/main" val="905347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Коротко об интроспекции</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b="1" dirty="0">
                <a:latin typeface="YS Text"/>
              </a:rPr>
              <a:t>Интроспекция. </a:t>
            </a:r>
            <a:r>
              <a:rPr lang="ru-RU" dirty="0">
                <a:latin typeface="YS Text"/>
              </a:rPr>
              <a:t>Это такая возможность, которая позволяет программам осматривать объекты во время выполнения. То есть можно узнать об объекте всё, не зная его структуры.</a:t>
            </a:r>
          </a:p>
          <a:p>
            <a:pPr marL="0" indent="0" algn="just">
              <a:buNone/>
            </a:pPr>
            <a:r>
              <a:rPr lang="ru-RU" dirty="0">
                <a:latin typeface="YS Text"/>
              </a:rPr>
              <a:t>В Python есть несколько встроенных инструментов для интроспекции. С некоторыми из них уже работали: с помощью функции </a:t>
            </a:r>
            <a:r>
              <a:rPr lang="ru-RU" b="1" dirty="0" err="1">
                <a:latin typeface="YS Text"/>
              </a:rPr>
              <a:t>type</a:t>
            </a:r>
            <a:r>
              <a:rPr lang="ru-RU" b="1" dirty="0">
                <a:latin typeface="YS Text"/>
              </a:rPr>
              <a:t>()</a:t>
            </a:r>
            <a:r>
              <a:rPr lang="ru-RU" dirty="0">
                <a:latin typeface="YS Text"/>
              </a:rPr>
              <a:t> узнавали тип объекта, а с помощью атрибута </a:t>
            </a:r>
            <a:r>
              <a:rPr lang="ru-RU" b="1" dirty="0">
                <a:latin typeface="YS Text"/>
              </a:rPr>
              <a:t>__</a:t>
            </a:r>
            <a:r>
              <a:rPr lang="ru-RU" b="1" dirty="0" err="1">
                <a:latin typeface="YS Text"/>
              </a:rPr>
              <a:t>class</a:t>
            </a:r>
            <a:r>
              <a:rPr lang="ru-RU" b="1" dirty="0">
                <a:latin typeface="YS Text"/>
              </a:rPr>
              <a:t>__ </a:t>
            </a:r>
            <a:r>
              <a:rPr lang="ru-RU" dirty="0">
                <a:latin typeface="YS Text"/>
              </a:rPr>
              <a:t>уточняли, к какому классу принадлежит объект.</a:t>
            </a:r>
          </a:p>
          <a:p>
            <a:pPr marL="0" indent="0" algn="just">
              <a:buNone/>
            </a:pPr>
            <a:r>
              <a:rPr lang="ru-RU" b="1" dirty="0">
                <a:latin typeface="YS Text"/>
              </a:rPr>
              <a:t>Интроспекция в программировании </a:t>
            </a:r>
            <a:r>
              <a:rPr lang="ru-RU" dirty="0">
                <a:latin typeface="YS Text"/>
              </a:rPr>
              <a:t>— способность программы во время выполнения исследовать типы и свойства объектов, которые содержатся в программе. Это особенно полезно в языках с динамической типизацией, таких как Python, где о типах объектов ничего не известно до момента выполнения программы.</a:t>
            </a:r>
          </a:p>
          <a:p>
            <a:pPr marL="0" indent="0" algn="just">
              <a:buNone/>
            </a:pPr>
            <a:r>
              <a:rPr lang="ru-RU" dirty="0">
                <a:latin typeface="YS Text"/>
              </a:rPr>
              <a:t>В Python интроспекция реализована по-разному, например:</a:t>
            </a:r>
          </a:p>
          <a:p>
            <a:pPr algn="just"/>
            <a:r>
              <a:rPr lang="ru-RU" dirty="0">
                <a:latin typeface="YS Text"/>
              </a:rPr>
              <a:t>с помощью встроенных функций вроде </a:t>
            </a:r>
            <a:r>
              <a:rPr lang="ru-RU" b="1" dirty="0" err="1">
                <a:latin typeface="YS Text"/>
              </a:rPr>
              <a:t>type</a:t>
            </a:r>
            <a:r>
              <a:rPr lang="ru-RU" b="1" dirty="0">
                <a:latin typeface="YS Text"/>
              </a:rPr>
              <a:t>(), </a:t>
            </a:r>
            <a:r>
              <a:rPr lang="ru-RU" b="1" dirty="0" err="1">
                <a:latin typeface="YS Text"/>
              </a:rPr>
              <a:t>dir</a:t>
            </a:r>
            <a:r>
              <a:rPr lang="ru-RU" b="1" dirty="0">
                <a:latin typeface="YS Text"/>
              </a:rPr>
              <a:t>() </a:t>
            </a:r>
            <a:r>
              <a:rPr lang="ru-RU" dirty="0">
                <a:latin typeface="YS Text"/>
              </a:rPr>
              <a:t>и других;</a:t>
            </a:r>
          </a:p>
          <a:p>
            <a:pPr algn="just"/>
            <a:r>
              <a:rPr lang="ru-RU" dirty="0">
                <a:latin typeface="YS Text"/>
              </a:rPr>
              <a:t>через встроенные атрибуты объекта, например </a:t>
            </a:r>
            <a:r>
              <a:rPr lang="ru-RU" b="1" dirty="0">
                <a:latin typeface="YS Text"/>
              </a:rPr>
              <a:t>__</a:t>
            </a:r>
            <a:r>
              <a:rPr lang="ru-RU" b="1" dirty="0" err="1">
                <a:latin typeface="YS Text"/>
              </a:rPr>
              <a:t>class</a:t>
            </a:r>
            <a:r>
              <a:rPr lang="ru-RU" b="1" dirty="0">
                <a:latin typeface="YS Text"/>
              </a:rPr>
              <a:t>__ </a:t>
            </a:r>
            <a:r>
              <a:rPr lang="ru-RU" dirty="0">
                <a:latin typeface="YS Text"/>
              </a:rPr>
              <a:t>или </a:t>
            </a:r>
            <a:r>
              <a:rPr lang="ru-RU" b="1" dirty="0">
                <a:latin typeface="YS Text"/>
              </a:rPr>
              <a:t>__</a:t>
            </a:r>
            <a:r>
              <a:rPr lang="ru-RU" b="1" dirty="0" err="1">
                <a:latin typeface="YS Text"/>
              </a:rPr>
              <a:t>dict</a:t>
            </a:r>
            <a:r>
              <a:rPr lang="ru-RU" b="1" dirty="0">
                <a:latin typeface="YS Text"/>
              </a:rPr>
              <a:t>__</a:t>
            </a:r>
            <a:r>
              <a:rPr lang="ru-RU" dirty="0">
                <a:latin typeface="YS Text"/>
              </a:rPr>
              <a:t>;</a:t>
            </a:r>
          </a:p>
          <a:p>
            <a:pPr algn="just"/>
            <a:r>
              <a:rPr lang="ru-RU" dirty="0">
                <a:latin typeface="YS Text"/>
              </a:rPr>
              <a:t>через возможности дополнительных модулей, например </a:t>
            </a:r>
            <a:r>
              <a:rPr lang="ru-RU" b="1" dirty="0" err="1">
                <a:latin typeface="YS Text"/>
              </a:rPr>
              <a:t>inspect</a:t>
            </a:r>
            <a:r>
              <a:rPr lang="ru-RU" dirty="0">
                <a:latin typeface="YS Text"/>
              </a:rPr>
              <a:t>.</a:t>
            </a:r>
          </a:p>
          <a:p>
            <a:pPr marL="0" indent="0" algn="just">
              <a:buNone/>
            </a:pPr>
            <a:r>
              <a:rPr lang="ru-RU" dirty="0">
                <a:latin typeface="YS Text"/>
              </a:rPr>
              <a:t>В Python удобно пользоваться интроспекцией, ведь принцип «всё в программе — это объекты» предполагает, что любой объект хранит все данные о себе.</a:t>
            </a:r>
          </a:p>
        </p:txBody>
      </p:sp>
    </p:spTree>
    <p:extLst>
      <p:ext uri="{BB962C8B-B14F-4D97-AF65-F5344CB8AC3E}">
        <p14:creationId xmlns:p14="http://schemas.microsoft.com/office/powerpoint/2010/main" val="2943509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Как узнать тип объекта</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Уже знакомая вам </a:t>
            </a:r>
            <a:r>
              <a:rPr lang="ru-RU" sz="2400" b="1" dirty="0">
                <a:solidFill>
                  <a:schemeClr val="accent6">
                    <a:lumMod val="50000"/>
                  </a:schemeClr>
                </a:solidFill>
                <a:latin typeface="YS Text"/>
              </a:rPr>
              <a:t>функция </a:t>
            </a:r>
            <a:r>
              <a:rPr lang="ru-RU" sz="2400" b="1" dirty="0" err="1">
                <a:solidFill>
                  <a:schemeClr val="accent6">
                    <a:lumMod val="50000"/>
                  </a:schemeClr>
                </a:solidFill>
                <a:latin typeface="YS Text"/>
              </a:rPr>
              <a:t>type</a:t>
            </a:r>
            <a:r>
              <a:rPr lang="ru-RU" sz="2400" b="1" dirty="0">
                <a:solidFill>
                  <a:schemeClr val="accent6">
                    <a:lumMod val="50000"/>
                  </a:schemeClr>
                </a:solidFill>
                <a:latin typeface="YS Text"/>
              </a:rPr>
              <a:t>() </a:t>
            </a:r>
            <a:r>
              <a:rPr lang="ru-RU" dirty="0">
                <a:latin typeface="YS Text"/>
              </a:rPr>
              <a:t>возвращает тип объекта, переданного в качестве аргумента. </a:t>
            </a:r>
          </a:p>
          <a:p>
            <a:pPr marL="0" indent="0" algn="just">
              <a:buNone/>
            </a:pPr>
            <a:r>
              <a:rPr lang="ru-RU" dirty="0">
                <a:latin typeface="YS Text"/>
              </a:rPr>
              <a:t>Например, можно узнать тип объекта </a:t>
            </a:r>
            <a:r>
              <a:rPr lang="ru-RU" dirty="0" err="1">
                <a:latin typeface="YS Text"/>
              </a:rPr>
              <a:t>game</a:t>
            </a:r>
            <a:r>
              <a:rPr lang="ru-RU" dirty="0">
                <a:latin typeface="YS Text"/>
              </a:rPr>
              <a:t>:</a:t>
            </a:r>
          </a:p>
          <a:p>
            <a:pPr marL="0" indent="0" algn="just">
              <a:buNone/>
            </a:pPr>
            <a:r>
              <a:rPr lang="ru-RU" sz="1600" b="0" i="0" dirty="0">
                <a:solidFill>
                  <a:srgbClr val="C678DD"/>
                </a:solidFill>
                <a:effectLst/>
                <a:latin typeface="Menlo"/>
              </a:rPr>
              <a:t>	</a:t>
            </a:r>
            <a:r>
              <a:rPr lang="en-US" sz="1600" b="0" i="0" dirty="0">
                <a:solidFill>
                  <a:srgbClr val="C678DD"/>
                </a:solidFill>
                <a:effectLst/>
                <a:latin typeface="Menlo"/>
              </a:rPr>
              <a:t>from</a:t>
            </a:r>
            <a:r>
              <a:rPr lang="en-US" sz="1600" b="0" i="0" dirty="0">
                <a:effectLst/>
                <a:latin typeface="Menlo"/>
              </a:rPr>
              <a:t> </a:t>
            </a:r>
            <a:r>
              <a:rPr lang="en-US" sz="1600" b="0" i="0" dirty="0" err="1">
                <a:effectLst/>
                <a:latin typeface="Menlo"/>
              </a:rPr>
              <a:t>gameparts</a:t>
            </a:r>
            <a:r>
              <a:rPr lang="en-US" sz="1600" b="0" i="0" dirty="0">
                <a:effectLst/>
                <a:latin typeface="Menlo"/>
              </a:rPr>
              <a:t> </a:t>
            </a:r>
            <a:r>
              <a:rPr lang="en-US" sz="1600" b="0" i="0" dirty="0">
                <a:solidFill>
                  <a:srgbClr val="C678DD"/>
                </a:solidFill>
                <a:effectLst/>
                <a:latin typeface="Menlo"/>
              </a:rPr>
              <a:t>import</a:t>
            </a:r>
            <a:r>
              <a:rPr lang="en-US" sz="1600" b="0" i="0" dirty="0">
                <a:effectLst/>
                <a:latin typeface="Menlo"/>
              </a:rPr>
              <a:t> Board </a:t>
            </a:r>
            <a:endParaRPr lang="ru-RU" sz="1600" b="0" i="0" dirty="0">
              <a:effectLst/>
              <a:latin typeface="Menlo"/>
            </a:endParaRPr>
          </a:p>
          <a:p>
            <a:pPr marL="0" indent="0" algn="just">
              <a:buNone/>
            </a:pPr>
            <a:endParaRPr lang="ru-RU" sz="1600" dirty="0">
              <a:latin typeface="Menlo"/>
            </a:endParaRPr>
          </a:p>
          <a:p>
            <a:pPr marL="0" indent="0" algn="just">
              <a:buNone/>
            </a:pPr>
            <a:r>
              <a:rPr lang="ru-RU" sz="1600" b="0" i="0" dirty="0">
                <a:effectLst/>
                <a:latin typeface="Menlo"/>
              </a:rPr>
              <a:t>	</a:t>
            </a:r>
            <a:r>
              <a:rPr lang="en-US" sz="1600" b="0" i="0" dirty="0">
                <a:effectLst/>
                <a:latin typeface="Menlo"/>
              </a:rPr>
              <a:t>game = Board() </a:t>
            </a:r>
            <a:endParaRPr lang="ru-RU" sz="1600" b="0" i="0" dirty="0">
              <a:effectLst/>
              <a:latin typeface="Menlo"/>
            </a:endParaRPr>
          </a:p>
          <a:p>
            <a:pPr marL="0" indent="0" algn="just">
              <a:buNone/>
            </a:pPr>
            <a:r>
              <a:rPr lang="ru-RU" sz="1600" b="0" i="0" dirty="0">
                <a:solidFill>
                  <a:srgbClr val="CA8D3D"/>
                </a:solidFill>
                <a:effectLst/>
                <a:latin typeface="Menlo"/>
              </a:rPr>
              <a:t>	</a:t>
            </a:r>
            <a:r>
              <a:rPr lang="en-US" sz="1600" b="0" i="0" dirty="0">
                <a:solidFill>
                  <a:srgbClr val="CA8D3D"/>
                </a:solidFill>
                <a:effectLst/>
                <a:latin typeface="Menlo"/>
              </a:rPr>
              <a:t>print</a:t>
            </a:r>
            <a:r>
              <a:rPr lang="en-US" sz="1600" b="0" i="0" dirty="0">
                <a:effectLst/>
                <a:latin typeface="Menlo"/>
              </a:rPr>
              <a:t>(</a:t>
            </a:r>
            <a:r>
              <a:rPr lang="en-US" sz="1600" b="0" i="0" dirty="0">
                <a:solidFill>
                  <a:srgbClr val="C678DD"/>
                </a:solidFill>
                <a:effectLst/>
                <a:latin typeface="Menlo"/>
              </a:rPr>
              <a:t>type</a:t>
            </a:r>
            <a:r>
              <a:rPr lang="en-US" sz="1600" b="0" i="0" dirty="0">
                <a:effectLst/>
                <a:latin typeface="Menlo"/>
              </a:rPr>
              <a:t>(game)) </a:t>
            </a:r>
            <a:endParaRPr lang="ru-RU" sz="1600" b="0" i="0" dirty="0">
              <a:effectLst/>
              <a:latin typeface="Menlo"/>
            </a:endParaRPr>
          </a:p>
          <a:p>
            <a:pPr marL="0" indent="0" algn="just">
              <a:buNone/>
            </a:pPr>
            <a:r>
              <a:rPr lang="ru-RU" sz="1600" b="0" i="1" dirty="0">
                <a:solidFill>
                  <a:srgbClr val="5C6370"/>
                </a:solidFill>
                <a:effectLst/>
                <a:latin typeface="Menlo"/>
              </a:rPr>
              <a:t>	</a:t>
            </a:r>
            <a:r>
              <a:rPr lang="en-US" sz="1600" b="0" i="1" dirty="0">
                <a:solidFill>
                  <a:srgbClr val="5C6370"/>
                </a:solidFill>
                <a:effectLst/>
                <a:latin typeface="Menlo"/>
              </a:rPr>
              <a:t># </a:t>
            </a:r>
            <a:r>
              <a:rPr lang="ru-RU" sz="1600" b="0" i="1" dirty="0">
                <a:solidFill>
                  <a:srgbClr val="5C6370"/>
                </a:solidFill>
                <a:effectLst/>
                <a:latin typeface="Menlo"/>
              </a:rPr>
              <a:t>Выведется:</a:t>
            </a:r>
            <a:r>
              <a:rPr lang="ru-RU" sz="1600" b="0" i="0" dirty="0">
                <a:effectLst/>
                <a:latin typeface="Menlo"/>
              </a:rPr>
              <a:t> </a:t>
            </a:r>
            <a:r>
              <a:rPr lang="ru-RU" sz="1600" b="0" i="1" dirty="0">
                <a:solidFill>
                  <a:srgbClr val="5C6370"/>
                </a:solidFill>
                <a:effectLst/>
                <a:latin typeface="Menlo"/>
              </a:rPr>
              <a:t># &lt;</a:t>
            </a:r>
            <a:r>
              <a:rPr lang="en-US" sz="1600" b="0" i="1" dirty="0">
                <a:solidFill>
                  <a:srgbClr val="5C6370"/>
                </a:solidFill>
                <a:effectLst/>
                <a:latin typeface="Menlo"/>
              </a:rPr>
              <a:t>class '</a:t>
            </a:r>
            <a:r>
              <a:rPr lang="en-US" sz="1600" b="0" i="1" dirty="0" err="1">
                <a:solidFill>
                  <a:srgbClr val="5C6370"/>
                </a:solidFill>
                <a:effectLst/>
                <a:latin typeface="Menlo"/>
              </a:rPr>
              <a:t>gameparts.parts.Board</a:t>
            </a:r>
            <a:r>
              <a:rPr lang="en-US" sz="1600" b="0" i="1" dirty="0">
                <a:solidFill>
                  <a:srgbClr val="5C6370"/>
                </a:solidFill>
                <a:effectLst/>
                <a:latin typeface="Menlo"/>
              </a:rPr>
              <a:t>’&gt;</a:t>
            </a:r>
            <a:r>
              <a:rPr lang="en-US" sz="1600" b="0" i="0" dirty="0">
                <a:effectLst/>
                <a:latin typeface="Menlo"/>
              </a:rPr>
              <a:t> </a:t>
            </a:r>
            <a:endParaRPr lang="ru-RU" sz="1600" b="0" i="0" dirty="0">
              <a:effectLst/>
              <a:latin typeface="Menlo"/>
            </a:endParaRPr>
          </a:p>
          <a:p>
            <a:pPr marL="0" indent="0" algn="just">
              <a:buNone/>
            </a:pPr>
            <a:r>
              <a:rPr lang="ru-RU" dirty="0">
                <a:latin typeface="YS Text"/>
              </a:rPr>
              <a:t>Функция определила, что это объект класса Board, который описан в модуле </a:t>
            </a:r>
            <a:r>
              <a:rPr lang="ru-RU" dirty="0" err="1">
                <a:latin typeface="YS Text"/>
              </a:rPr>
              <a:t>parts</a:t>
            </a:r>
            <a:r>
              <a:rPr lang="ru-RU" dirty="0">
                <a:latin typeface="YS Text"/>
              </a:rPr>
              <a:t> пакета </a:t>
            </a:r>
            <a:r>
              <a:rPr lang="ru-RU" dirty="0" err="1">
                <a:latin typeface="YS Text"/>
              </a:rPr>
              <a:t>gameparts</a:t>
            </a:r>
            <a:r>
              <a:rPr lang="ru-RU" dirty="0">
                <a:latin typeface="YS Text"/>
              </a:rPr>
              <a:t>.</a:t>
            </a:r>
          </a:p>
          <a:p>
            <a:pPr marL="0" indent="0" algn="just">
              <a:buNone/>
            </a:pPr>
            <a:r>
              <a:rPr lang="ru-RU" dirty="0">
                <a:latin typeface="YS Text"/>
              </a:rPr>
              <a:t>Можно сравнить значение, которое возвращает функция </a:t>
            </a:r>
            <a:r>
              <a:rPr lang="ru-RU" dirty="0" err="1">
                <a:latin typeface="YS Text"/>
              </a:rPr>
              <a:t>type</a:t>
            </a:r>
            <a:r>
              <a:rPr lang="ru-RU" dirty="0">
                <a:latin typeface="YS Text"/>
              </a:rPr>
              <a:t>(), с заданным типом и проверить, принадлежит ли объект этому типу (с помощью операторов </a:t>
            </a:r>
            <a:r>
              <a:rPr lang="ru-RU" sz="2400" b="1" dirty="0">
                <a:latin typeface="YS Text"/>
              </a:rPr>
              <a:t>==</a:t>
            </a:r>
            <a:r>
              <a:rPr lang="ru-RU" dirty="0">
                <a:latin typeface="YS Text"/>
              </a:rPr>
              <a:t> и </a:t>
            </a:r>
            <a:r>
              <a:rPr lang="en-US" sz="2400" b="1" dirty="0">
                <a:latin typeface="YS Text"/>
              </a:rPr>
              <a:t>is</a:t>
            </a:r>
            <a:r>
              <a:rPr lang="ru-RU" b="1" dirty="0">
                <a:latin typeface="YS Text"/>
              </a:rPr>
              <a:t>)</a:t>
            </a:r>
            <a:r>
              <a:rPr lang="ru-RU" dirty="0">
                <a:latin typeface="YS Text"/>
              </a:rPr>
              <a:t>.</a:t>
            </a:r>
          </a:p>
          <a:p>
            <a:pPr marL="0" indent="0" algn="just">
              <a:buNone/>
            </a:pPr>
            <a:r>
              <a:rPr lang="ru-RU" dirty="0">
                <a:latin typeface="YS Text"/>
              </a:rPr>
              <a:t>Определить, принадлежит ли экземпляр к определённому классу, можно и через </a:t>
            </a:r>
            <a:r>
              <a:rPr lang="ru-RU" sz="2400" b="1" dirty="0">
                <a:solidFill>
                  <a:schemeClr val="accent6">
                    <a:lumMod val="50000"/>
                  </a:schemeClr>
                </a:solidFill>
                <a:latin typeface="YS Text"/>
              </a:rPr>
              <a:t>функцию </a:t>
            </a:r>
            <a:r>
              <a:rPr lang="ru-RU" sz="2400" b="1" dirty="0" err="1">
                <a:solidFill>
                  <a:schemeClr val="accent6">
                    <a:lumMod val="50000"/>
                  </a:schemeClr>
                </a:solidFill>
                <a:latin typeface="YS Text"/>
              </a:rPr>
              <a:t>isinstance</a:t>
            </a:r>
            <a:r>
              <a:rPr lang="ru-RU" sz="2400" b="1" dirty="0">
                <a:solidFill>
                  <a:schemeClr val="accent6">
                    <a:lumMod val="50000"/>
                  </a:schemeClr>
                </a:solidFill>
                <a:latin typeface="YS Text"/>
              </a:rPr>
              <a:t>(). </a:t>
            </a:r>
            <a:r>
              <a:rPr lang="ru-RU" dirty="0">
                <a:solidFill>
                  <a:schemeClr val="tx1"/>
                </a:solidFill>
                <a:latin typeface="YS Text"/>
              </a:rPr>
              <a:t>Применение </a:t>
            </a:r>
            <a:r>
              <a:rPr lang="ru-RU" b="1" dirty="0" err="1">
                <a:solidFill>
                  <a:schemeClr val="tx1"/>
                </a:solidFill>
                <a:latin typeface="YS Text"/>
              </a:rPr>
              <a:t>isinstance</a:t>
            </a:r>
            <a:r>
              <a:rPr lang="ru-RU" b="1" dirty="0">
                <a:solidFill>
                  <a:schemeClr val="tx1"/>
                </a:solidFill>
                <a:latin typeface="YS Text"/>
              </a:rPr>
              <a:t>() </a:t>
            </a:r>
            <a:r>
              <a:rPr lang="ru-RU" dirty="0">
                <a:solidFill>
                  <a:schemeClr val="tx1"/>
                </a:solidFill>
                <a:latin typeface="YS Text"/>
              </a:rPr>
              <a:t>считается лучшей практикой.</a:t>
            </a:r>
            <a:endParaRPr lang="ru-RU" sz="1800" dirty="0">
              <a:solidFill>
                <a:schemeClr val="tx1"/>
              </a:solidFill>
              <a:latin typeface="YS Text"/>
            </a:endParaRPr>
          </a:p>
          <a:p>
            <a:pPr marL="0" indent="0" algn="just">
              <a:buNone/>
            </a:pPr>
            <a:r>
              <a:rPr lang="ru-RU" dirty="0">
                <a:latin typeface="YS Text"/>
              </a:rPr>
              <a:t>	…</a:t>
            </a:r>
          </a:p>
          <a:p>
            <a:pPr marL="0" indent="0" algn="just">
              <a:buNone/>
            </a:pPr>
            <a:r>
              <a:rPr lang="ru-RU" b="0" i="0" dirty="0">
                <a:solidFill>
                  <a:srgbClr val="CA8D3D"/>
                </a:solidFill>
                <a:effectLst/>
                <a:latin typeface="Menlo"/>
              </a:rPr>
              <a:t>	</a:t>
            </a:r>
            <a:r>
              <a:rPr lang="en-US" b="0" i="0" dirty="0">
                <a:solidFill>
                  <a:srgbClr val="CA8D3D"/>
                </a:solidFill>
                <a:effectLst/>
                <a:latin typeface="Menlo"/>
              </a:rPr>
              <a:t>print</a:t>
            </a:r>
            <a:r>
              <a:rPr lang="en-US" b="0" i="0" dirty="0">
                <a:effectLst/>
                <a:latin typeface="Menlo"/>
              </a:rPr>
              <a:t>(</a:t>
            </a:r>
            <a:r>
              <a:rPr lang="en-US" b="0" i="0" dirty="0" err="1">
                <a:effectLst/>
                <a:latin typeface="Menlo"/>
              </a:rPr>
              <a:t>isinstance</a:t>
            </a:r>
            <a:r>
              <a:rPr lang="en-US" b="0" i="0" dirty="0">
                <a:effectLst/>
                <a:latin typeface="Menlo"/>
              </a:rPr>
              <a:t>(game, Board))</a:t>
            </a:r>
            <a:endParaRPr lang="ru-RU" dirty="0">
              <a:latin typeface="YS Text"/>
            </a:endParaRPr>
          </a:p>
        </p:txBody>
      </p:sp>
    </p:spTree>
    <p:extLst>
      <p:ext uri="{BB962C8B-B14F-4D97-AF65-F5344CB8AC3E}">
        <p14:creationId xmlns:p14="http://schemas.microsoft.com/office/powerpoint/2010/main" val="3083857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Функция </a:t>
            </a:r>
            <a:r>
              <a:rPr lang="en-US" sz="4900" b="1" dirty="0" err="1">
                <a:effectLst/>
                <a:latin typeface="YS Text"/>
              </a:rPr>
              <a:t>dir</a:t>
            </a:r>
            <a:r>
              <a:rPr lang="en-US" sz="4900" b="1" dirty="0">
                <a:effectLst/>
                <a:latin typeface="YS Text"/>
              </a:rPr>
              <a:t>()</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sz="2400" b="1" dirty="0">
                <a:solidFill>
                  <a:schemeClr val="accent6">
                    <a:lumMod val="75000"/>
                  </a:schemeClr>
                </a:solidFill>
                <a:latin typeface="YS Text"/>
              </a:rPr>
              <a:t>Функция </a:t>
            </a:r>
            <a:r>
              <a:rPr lang="ru-RU" sz="2400" b="1" dirty="0" err="1">
                <a:solidFill>
                  <a:schemeClr val="accent6">
                    <a:lumMod val="75000"/>
                  </a:schemeClr>
                </a:solidFill>
                <a:latin typeface="YS Text"/>
              </a:rPr>
              <a:t>dir</a:t>
            </a:r>
            <a:r>
              <a:rPr lang="ru-RU" sz="2400" b="1" dirty="0">
                <a:solidFill>
                  <a:schemeClr val="accent6">
                    <a:lumMod val="75000"/>
                  </a:schemeClr>
                </a:solidFill>
                <a:latin typeface="YS Text"/>
              </a:rPr>
              <a:t>() </a:t>
            </a:r>
            <a:r>
              <a:rPr lang="ru-RU" dirty="0">
                <a:latin typeface="YS Text"/>
              </a:rPr>
              <a:t>возвращает список атрибутов и методов, доступных для объекта:</a:t>
            </a:r>
          </a:p>
          <a:p>
            <a:pPr marL="0" indent="0" algn="just">
              <a:buNone/>
            </a:pPr>
            <a:r>
              <a:rPr lang="ru-RU" b="0" i="0" dirty="0">
                <a:solidFill>
                  <a:srgbClr val="C678DD"/>
                </a:solidFill>
                <a:effectLst/>
                <a:latin typeface="Menlo"/>
              </a:rPr>
              <a:t>	</a:t>
            </a:r>
            <a:r>
              <a:rPr lang="en-US" sz="1600" b="0" i="0" dirty="0">
                <a:solidFill>
                  <a:srgbClr val="C678DD"/>
                </a:solidFill>
                <a:effectLst/>
                <a:latin typeface="Menlo"/>
              </a:rPr>
              <a:t>from</a:t>
            </a:r>
            <a:r>
              <a:rPr lang="en-US" sz="1600" b="0" i="0" dirty="0">
                <a:effectLst/>
                <a:latin typeface="Menlo"/>
              </a:rPr>
              <a:t> </a:t>
            </a:r>
            <a:r>
              <a:rPr lang="en-US" sz="1600" b="0" i="0" dirty="0" err="1">
                <a:effectLst/>
                <a:latin typeface="Menlo"/>
              </a:rPr>
              <a:t>gameparts</a:t>
            </a:r>
            <a:r>
              <a:rPr lang="en-US" sz="1600" b="0" i="0" dirty="0">
                <a:effectLst/>
                <a:latin typeface="Menlo"/>
              </a:rPr>
              <a:t> </a:t>
            </a:r>
            <a:r>
              <a:rPr lang="en-US" sz="1600" b="0" i="0" dirty="0">
                <a:solidFill>
                  <a:srgbClr val="C678DD"/>
                </a:solidFill>
                <a:effectLst/>
                <a:latin typeface="Menlo"/>
              </a:rPr>
              <a:t>import</a:t>
            </a:r>
            <a:r>
              <a:rPr lang="en-US" sz="1600" b="0" i="0" dirty="0">
                <a:effectLst/>
                <a:latin typeface="Menlo"/>
              </a:rPr>
              <a:t> Board </a:t>
            </a:r>
            <a:endParaRPr lang="ru-RU" sz="1600" b="0" i="0" dirty="0">
              <a:effectLst/>
              <a:latin typeface="Menlo"/>
            </a:endParaRPr>
          </a:p>
          <a:p>
            <a:pPr marL="0" indent="0" algn="just">
              <a:buNone/>
            </a:pPr>
            <a:endParaRPr lang="ru-RU" sz="1600" b="0" i="0" dirty="0">
              <a:effectLst/>
              <a:latin typeface="Menlo"/>
            </a:endParaRPr>
          </a:p>
          <a:p>
            <a:pPr marL="0" indent="0" algn="just">
              <a:buNone/>
            </a:pPr>
            <a:r>
              <a:rPr lang="ru-RU" sz="1600" b="0" i="0" dirty="0">
                <a:effectLst/>
                <a:latin typeface="Menlo"/>
              </a:rPr>
              <a:t>	</a:t>
            </a:r>
            <a:r>
              <a:rPr lang="en-US" sz="1600" b="0" i="0" dirty="0">
                <a:effectLst/>
                <a:latin typeface="Menlo"/>
              </a:rPr>
              <a:t>game = Board() </a:t>
            </a:r>
            <a:endParaRPr lang="ru-RU" sz="1600" b="0" i="0" dirty="0">
              <a:effectLst/>
              <a:latin typeface="Menlo"/>
            </a:endParaRPr>
          </a:p>
          <a:p>
            <a:pPr marL="0" indent="0" algn="just">
              <a:buNone/>
            </a:pPr>
            <a:r>
              <a:rPr lang="ru-RU" sz="1600" b="0" i="0" dirty="0">
                <a:solidFill>
                  <a:srgbClr val="CA8D3D"/>
                </a:solidFill>
                <a:effectLst/>
                <a:latin typeface="Menlo"/>
              </a:rPr>
              <a:t>	</a:t>
            </a:r>
            <a:r>
              <a:rPr lang="en-US" sz="1600" b="0" i="0" dirty="0">
                <a:solidFill>
                  <a:srgbClr val="CA8D3D"/>
                </a:solidFill>
                <a:effectLst/>
                <a:latin typeface="Menlo"/>
              </a:rPr>
              <a:t>print</a:t>
            </a:r>
            <a:r>
              <a:rPr lang="en-US" sz="1600" b="0" i="0" dirty="0">
                <a:effectLst/>
                <a:latin typeface="Menlo"/>
              </a:rPr>
              <a:t>(</a:t>
            </a:r>
            <a:r>
              <a:rPr lang="en-US" sz="1600" b="0" i="0" dirty="0" err="1">
                <a:effectLst/>
                <a:latin typeface="Menlo"/>
              </a:rPr>
              <a:t>dir</a:t>
            </a:r>
            <a:r>
              <a:rPr lang="en-US" sz="1600" b="0" i="0" dirty="0">
                <a:effectLst/>
                <a:latin typeface="Menlo"/>
              </a:rPr>
              <a:t>(game)) </a:t>
            </a:r>
            <a:endParaRPr lang="ru-RU" sz="1600" b="0" i="0" dirty="0">
              <a:effectLst/>
              <a:latin typeface="Menlo"/>
            </a:endParaRPr>
          </a:p>
          <a:p>
            <a:pPr marL="0" indent="0" algn="just">
              <a:buNone/>
            </a:pPr>
            <a:r>
              <a:rPr lang="ru-RU" sz="1400" b="0" i="1" dirty="0">
                <a:solidFill>
                  <a:srgbClr val="5C6370"/>
                </a:solidFill>
                <a:effectLst/>
                <a:latin typeface="Menlo"/>
              </a:rPr>
              <a:t>	</a:t>
            </a:r>
            <a:r>
              <a:rPr lang="en-US" sz="1400" b="0" i="1" dirty="0">
                <a:solidFill>
                  <a:srgbClr val="5C6370"/>
                </a:solidFill>
                <a:effectLst/>
                <a:latin typeface="Menlo"/>
              </a:rPr>
              <a:t># </a:t>
            </a:r>
            <a:r>
              <a:rPr lang="ru-RU" sz="1400" b="0" i="1" dirty="0">
                <a:solidFill>
                  <a:srgbClr val="5C6370"/>
                </a:solidFill>
                <a:effectLst/>
                <a:latin typeface="Menlo"/>
              </a:rPr>
              <a:t>Выведется:</a:t>
            </a:r>
            <a:r>
              <a:rPr lang="ru-RU" sz="1400" b="0" i="0" dirty="0">
                <a:effectLst/>
                <a:latin typeface="Menlo"/>
              </a:rPr>
              <a:t> </a:t>
            </a:r>
            <a:r>
              <a:rPr lang="ru-RU" sz="1400" b="0" i="1" dirty="0">
                <a:solidFill>
                  <a:srgbClr val="5C6370"/>
                </a:solidFill>
                <a:effectLst/>
                <a:latin typeface="Menlo"/>
              </a:rPr>
              <a:t>['__</a:t>
            </a:r>
            <a:r>
              <a:rPr lang="en-US" sz="1400" b="0" i="1" dirty="0">
                <a:solidFill>
                  <a:srgbClr val="5C6370"/>
                </a:solidFill>
                <a:effectLst/>
                <a:latin typeface="Menlo"/>
              </a:rPr>
              <a:t>class__', '__</a:t>
            </a:r>
            <a:r>
              <a:rPr lang="en-US" sz="1400" b="0" i="1" dirty="0" err="1">
                <a:solidFill>
                  <a:srgbClr val="5C6370"/>
                </a:solidFill>
                <a:effectLst/>
                <a:latin typeface="Menlo"/>
              </a:rPr>
              <a:t>delattr</a:t>
            </a:r>
            <a:r>
              <a:rPr lang="en-US" sz="1400" b="0" i="1" dirty="0">
                <a:solidFill>
                  <a:srgbClr val="5C6370"/>
                </a:solidFill>
                <a:effectLst/>
                <a:latin typeface="Menlo"/>
              </a:rPr>
              <a:t>__', '__</a:t>
            </a:r>
            <a:r>
              <a:rPr lang="en-US" sz="1400" b="0" i="1" dirty="0" err="1">
                <a:solidFill>
                  <a:srgbClr val="5C6370"/>
                </a:solidFill>
                <a:effectLst/>
                <a:latin typeface="Menlo"/>
              </a:rPr>
              <a:t>dict</a:t>
            </a:r>
            <a:r>
              <a:rPr lang="en-US" sz="1400" b="0" i="1" dirty="0">
                <a:solidFill>
                  <a:srgbClr val="5C6370"/>
                </a:solidFill>
                <a:effectLst/>
                <a:latin typeface="Menlo"/>
              </a:rPr>
              <a:t>__', '__</a:t>
            </a:r>
            <a:r>
              <a:rPr lang="en-US" sz="1400" b="0" i="1" dirty="0" err="1">
                <a:solidFill>
                  <a:srgbClr val="5C6370"/>
                </a:solidFill>
                <a:effectLst/>
                <a:latin typeface="Menlo"/>
              </a:rPr>
              <a:t>dir</a:t>
            </a:r>
            <a:r>
              <a:rPr lang="en-US" sz="1400" b="0" i="1" dirty="0">
                <a:solidFill>
                  <a:srgbClr val="5C6370"/>
                </a:solidFill>
                <a:effectLst/>
                <a:latin typeface="Menlo"/>
              </a:rPr>
              <a:t>__', '__doc__', '__eq__', '__format__', '__</a:t>
            </a:r>
            <a:r>
              <a:rPr lang="en-US" sz="1400" b="0" i="1" dirty="0" err="1">
                <a:solidFill>
                  <a:srgbClr val="5C6370"/>
                </a:solidFill>
                <a:effectLst/>
                <a:latin typeface="Menlo"/>
              </a:rPr>
              <a:t>ge</a:t>
            </a:r>
            <a:r>
              <a:rPr lang="en-US" sz="1400" b="0" i="1" dirty="0">
                <a:solidFill>
                  <a:srgbClr val="5C6370"/>
                </a:solidFill>
                <a:effectLst/>
                <a:latin typeface="Menlo"/>
              </a:rPr>
              <a:t>__', '__</a:t>
            </a:r>
            <a:r>
              <a:rPr lang="en-US" sz="1400" b="0" i="1" dirty="0" err="1">
                <a:solidFill>
                  <a:srgbClr val="5C6370"/>
                </a:solidFill>
                <a:effectLst/>
                <a:latin typeface="Menlo"/>
              </a:rPr>
              <a:t>getattribute</a:t>
            </a:r>
            <a:r>
              <a:rPr lang="en-US" sz="1400" b="0" i="1" dirty="0">
                <a:solidFill>
                  <a:srgbClr val="5C6370"/>
                </a:solidFill>
                <a:effectLst/>
                <a:latin typeface="Menlo"/>
              </a:rPr>
              <a:t>__', '__</a:t>
            </a:r>
            <a:r>
              <a:rPr lang="en-US" sz="1400" b="0" i="1" dirty="0" err="1">
                <a:solidFill>
                  <a:srgbClr val="5C6370"/>
                </a:solidFill>
                <a:effectLst/>
                <a:latin typeface="Menlo"/>
              </a:rPr>
              <a:t>gt</a:t>
            </a:r>
            <a:r>
              <a:rPr lang="en-US" sz="1400" b="0" i="1" dirty="0">
                <a:solidFill>
                  <a:srgbClr val="5C6370"/>
                </a:solidFill>
                <a:effectLst/>
                <a:latin typeface="Menlo"/>
              </a:rPr>
              <a:t>__', '__hash__', '__</a:t>
            </a:r>
            <a:r>
              <a:rPr lang="en-US" sz="1400" b="0" i="1" dirty="0" err="1">
                <a:solidFill>
                  <a:srgbClr val="5C6370"/>
                </a:solidFill>
                <a:effectLst/>
                <a:latin typeface="Menlo"/>
              </a:rPr>
              <a:t>init</a:t>
            </a:r>
            <a:r>
              <a:rPr lang="en-US" sz="1400" b="0" i="1" dirty="0">
                <a:solidFill>
                  <a:srgbClr val="5C6370"/>
                </a:solidFill>
                <a:effectLst/>
                <a:latin typeface="Menlo"/>
              </a:rPr>
              <a:t>__', '__</a:t>
            </a:r>
            <a:r>
              <a:rPr lang="en-US" sz="1400" b="0" i="1" dirty="0" err="1">
                <a:solidFill>
                  <a:srgbClr val="5C6370"/>
                </a:solidFill>
                <a:effectLst/>
                <a:latin typeface="Menlo"/>
              </a:rPr>
              <a:t>init_subclass</a:t>
            </a:r>
            <a:r>
              <a:rPr lang="en-US" sz="1400" b="0" i="1" dirty="0">
                <a:solidFill>
                  <a:srgbClr val="5C6370"/>
                </a:solidFill>
                <a:effectLst/>
                <a:latin typeface="Menlo"/>
              </a:rPr>
              <a:t>__', '__le__', '__</a:t>
            </a:r>
            <a:r>
              <a:rPr lang="en-US" sz="1400" b="0" i="1" dirty="0" err="1">
                <a:solidFill>
                  <a:srgbClr val="5C6370"/>
                </a:solidFill>
                <a:effectLst/>
                <a:latin typeface="Menlo"/>
              </a:rPr>
              <a:t>lt</a:t>
            </a:r>
            <a:r>
              <a:rPr lang="en-US" sz="1400" b="0" i="1" dirty="0">
                <a:solidFill>
                  <a:srgbClr val="5C6370"/>
                </a:solidFill>
                <a:effectLst/>
                <a:latin typeface="Menlo"/>
              </a:rPr>
              <a:t>__', '__module__', '__ne__', '__new__', '__reduce__', '__</a:t>
            </a:r>
            <a:r>
              <a:rPr lang="en-US" sz="1400" b="0" i="1" dirty="0" err="1">
                <a:solidFill>
                  <a:srgbClr val="5C6370"/>
                </a:solidFill>
                <a:effectLst/>
                <a:latin typeface="Menlo"/>
              </a:rPr>
              <a:t>reduce_ex</a:t>
            </a:r>
            <a:r>
              <a:rPr lang="en-US" sz="1400" b="0" i="1" dirty="0">
                <a:solidFill>
                  <a:srgbClr val="5C6370"/>
                </a:solidFill>
                <a:effectLst/>
                <a:latin typeface="Menlo"/>
              </a:rPr>
              <a:t>__', '__</a:t>
            </a:r>
            <a:r>
              <a:rPr lang="en-US" sz="1400" b="0" i="1" dirty="0" err="1">
                <a:solidFill>
                  <a:srgbClr val="5C6370"/>
                </a:solidFill>
                <a:effectLst/>
                <a:latin typeface="Menlo"/>
              </a:rPr>
              <a:t>repr</a:t>
            </a:r>
            <a:r>
              <a:rPr lang="en-US" sz="1400" b="0" i="1" dirty="0">
                <a:solidFill>
                  <a:srgbClr val="5C6370"/>
                </a:solidFill>
                <a:effectLst/>
                <a:latin typeface="Menlo"/>
              </a:rPr>
              <a:t>__', '__</a:t>
            </a:r>
            <a:r>
              <a:rPr lang="en-US" sz="1400" b="0" i="1" dirty="0" err="1">
                <a:solidFill>
                  <a:srgbClr val="5C6370"/>
                </a:solidFill>
                <a:effectLst/>
                <a:latin typeface="Menlo"/>
              </a:rPr>
              <a:t>setattr</a:t>
            </a:r>
            <a:r>
              <a:rPr lang="en-US" sz="1400" b="0" i="1" dirty="0">
                <a:solidFill>
                  <a:srgbClr val="5C6370"/>
                </a:solidFill>
                <a:effectLst/>
                <a:latin typeface="Menlo"/>
              </a:rPr>
              <a:t>__', '__</a:t>
            </a:r>
            <a:r>
              <a:rPr lang="en-US" sz="1400" b="0" i="1" dirty="0" err="1">
                <a:solidFill>
                  <a:srgbClr val="5C6370"/>
                </a:solidFill>
                <a:effectLst/>
                <a:latin typeface="Menlo"/>
              </a:rPr>
              <a:t>sizeof</a:t>
            </a:r>
            <a:r>
              <a:rPr lang="en-US" sz="1400" b="0" i="1" dirty="0">
                <a:solidFill>
                  <a:srgbClr val="5C6370"/>
                </a:solidFill>
                <a:effectLst/>
                <a:latin typeface="Menlo"/>
              </a:rPr>
              <a:t>__', '__str__', '__</a:t>
            </a:r>
            <a:r>
              <a:rPr lang="en-US" sz="1400" b="0" i="1" dirty="0" err="1">
                <a:solidFill>
                  <a:srgbClr val="5C6370"/>
                </a:solidFill>
                <a:effectLst/>
                <a:latin typeface="Menlo"/>
              </a:rPr>
              <a:t>subclasshook</a:t>
            </a:r>
            <a:r>
              <a:rPr lang="en-US" sz="1400" b="0" i="1" dirty="0">
                <a:solidFill>
                  <a:srgbClr val="5C6370"/>
                </a:solidFill>
                <a:effectLst/>
                <a:latin typeface="Menlo"/>
              </a:rPr>
              <a:t>__', '__</a:t>
            </a:r>
            <a:r>
              <a:rPr lang="en-US" sz="1400" b="0" i="1" dirty="0" err="1">
                <a:solidFill>
                  <a:srgbClr val="5C6370"/>
                </a:solidFill>
                <a:effectLst/>
                <a:latin typeface="Menlo"/>
              </a:rPr>
              <a:t>weakref</a:t>
            </a:r>
            <a:r>
              <a:rPr lang="en-US" sz="1400" b="0" i="1" dirty="0">
                <a:solidFill>
                  <a:srgbClr val="5C6370"/>
                </a:solidFill>
                <a:effectLst/>
                <a:latin typeface="Menlo"/>
              </a:rPr>
              <a:t>__', 'board', 'display', '</a:t>
            </a:r>
            <a:r>
              <a:rPr lang="en-US" sz="1400" b="0" i="1" dirty="0" err="1">
                <a:solidFill>
                  <a:srgbClr val="5C6370"/>
                </a:solidFill>
                <a:effectLst/>
                <a:latin typeface="Menlo"/>
              </a:rPr>
              <a:t>make_move</a:t>
            </a:r>
            <a:r>
              <a:rPr lang="en-US" sz="1400" b="0" i="1" dirty="0">
                <a:solidFill>
                  <a:srgbClr val="5C6370"/>
                </a:solidFill>
                <a:effectLst/>
                <a:latin typeface="Menlo"/>
              </a:rPr>
              <a:t>’]</a:t>
            </a:r>
            <a:r>
              <a:rPr lang="en-US" sz="1400" b="0" i="0" dirty="0">
                <a:effectLst/>
                <a:latin typeface="Menlo"/>
              </a:rPr>
              <a:t> </a:t>
            </a:r>
            <a:endParaRPr lang="ru-RU" sz="1400" b="0" i="0" dirty="0">
              <a:effectLst/>
              <a:latin typeface="Menlo"/>
            </a:endParaRPr>
          </a:p>
          <a:p>
            <a:pPr marL="0" indent="0" algn="just">
              <a:buNone/>
            </a:pPr>
            <a:r>
              <a:rPr lang="ru-RU" dirty="0">
                <a:latin typeface="YS Text"/>
              </a:rPr>
              <a:t>Значение, которое возвращает </a:t>
            </a:r>
            <a:r>
              <a:rPr lang="ru-RU" b="1" dirty="0">
                <a:latin typeface="YS Text"/>
              </a:rPr>
              <a:t>функция </a:t>
            </a:r>
            <a:r>
              <a:rPr lang="ru-RU" b="1" dirty="0" err="1">
                <a:latin typeface="YS Text"/>
              </a:rPr>
              <a:t>dir</a:t>
            </a:r>
            <a:r>
              <a:rPr lang="ru-RU" b="1" dirty="0">
                <a:latin typeface="YS Text"/>
              </a:rPr>
              <a:t>()</a:t>
            </a:r>
            <a:r>
              <a:rPr lang="ru-RU" dirty="0">
                <a:latin typeface="YS Text"/>
              </a:rPr>
              <a:t>, — это отсортированный в алфавитном порядке список, в котором есть всё:</a:t>
            </a:r>
          </a:p>
          <a:p>
            <a:pPr algn="just"/>
            <a:r>
              <a:rPr lang="ru-RU" dirty="0">
                <a:latin typeface="YS Text"/>
              </a:rPr>
              <a:t>атрибуты и методы,</a:t>
            </a:r>
          </a:p>
          <a:p>
            <a:pPr algn="just"/>
            <a:r>
              <a:rPr lang="ru-RU" dirty="0">
                <a:latin typeface="YS Text"/>
              </a:rPr>
              <a:t>собственное и унаследованное,</a:t>
            </a:r>
          </a:p>
          <a:p>
            <a:pPr algn="just"/>
            <a:r>
              <a:rPr lang="ru-RU" dirty="0">
                <a:latin typeface="YS Text"/>
              </a:rPr>
              <a:t>«магическое» и не очень.</a:t>
            </a:r>
          </a:p>
          <a:p>
            <a:pPr marL="0" indent="0" algn="just">
              <a:buNone/>
            </a:pPr>
            <a:r>
              <a:rPr lang="ru-RU" dirty="0">
                <a:latin typeface="YS Text"/>
              </a:rPr>
              <a:t>Этим списком можно воспользоваться для того, чтобы узнать, есть ли у объекта нужный атрибут или метод. Для этого обычно используется </a:t>
            </a:r>
            <a:r>
              <a:rPr lang="ru-RU" sz="2400" b="1" dirty="0">
                <a:latin typeface="YS Text"/>
              </a:rPr>
              <a:t>оператор </a:t>
            </a:r>
            <a:r>
              <a:rPr lang="ru-RU" sz="2400" b="1" dirty="0" err="1">
                <a:latin typeface="YS Text"/>
              </a:rPr>
              <a:t>in</a:t>
            </a:r>
            <a:r>
              <a:rPr lang="ru-RU" dirty="0">
                <a:latin typeface="YS Text"/>
              </a:rPr>
              <a:t>. Ещё такую проверку можно выполнить при помощи </a:t>
            </a:r>
            <a:r>
              <a:rPr lang="ru-RU" sz="2400" b="1" dirty="0">
                <a:latin typeface="YS Text"/>
              </a:rPr>
              <a:t>функции </a:t>
            </a:r>
            <a:r>
              <a:rPr lang="ru-RU" sz="2400" b="1" dirty="0" err="1">
                <a:latin typeface="YS Text"/>
              </a:rPr>
              <a:t>hasattr</a:t>
            </a:r>
            <a:r>
              <a:rPr lang="ru-RU" sz="2400" b="1" dirty="0">
                <a:latin typeface="YS Text"/>
              </a:rPr>
              <a:t>()</a:t>
            </a:r>
            <a:endParaRPr lang="ru-RU" b="1" dirty="0">
              <a:latin typeface="YS Text"/>
            </a:endParaRPr>
          </a:p>
        </p:txBody>
      </p:sp>
    </p:spTree>
    <p:extLst>
      <p:ext uri="{BB962C8B-B14F-4D97-AF65-F5344CB8AC3E}">
        <p14:creationId xmlns:p14="http://schemas.microsoft.com/office/powerpoint/2010/main" val="2989520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Словарь __</a:t>
            </a:r>
            <a:r>
              <a:rPr lang="en-US" sz="4900" b="1" dirty="0" err="1">
                <a:effectLst/>
                <a:latin typeface="YS Text"/>
              </a:rPr>
              <a:t>dict</a:t>
            </a:r>
            <a:r>
              <a:rPr lang="en-US" sz="4900" b="1" dirty="0">
                <a:effectLst/>
                <a:latin typeface="YS Text"/>
              </a:rPr>
              <a:t>__</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924910"/>
            <a:ext cx="10936304" cy="5743904"/>
          </a:xfrm>
        </p:spPr>
        <p:txBody>
          <a:bodyPr/>
          <a:lstStyle/>
          <a:p>
            <a:pPr marL="0" indent="0" algn="just">
              <a:buNone/>
            </a:pPr>
            <a:r>
              <a:rPr lang="ru-RU" b="1" dirty="0">
                <a:latin typeface="YS Text"/>
              </a:rPr>
              <a:t>Функция </a:t>
            </a:r>
            <a:r>
              <a:rPr lang="ru-RU" b="1" dirty="0" err="1">
                <a:latin typeface="YS Text"/>
              </a:rPr>
              <a:t>dir</a:t>
            </a:r>
            <a:r>
              <a:rPr lang="ru-RU" b="1" dirty="0">
                <a:latin typeface="YS Text"/>
              </a:rPr>
              <a:t>() </a:t>
            </a:r>
            <a:r>
              <a:rPr lang="ru-RU" dirty="0">
                <a:latin typeface="YS Text"/>
              </a:rPr>
              <a:t>возвращает все атрибуты и методы, доступные для объекта: как унаследованные от родительских классов, так и добавленные к конкретному экземпляру. </a:t>
            </a:r>
          </a:p>
          <a:p>
            <a:pPr marL="0" indent="0" algn="just">
              <a:buNone/>
            </a:pPr>
            <a:r>
              <a:rPr lang="ru-RU" dirty="0">
                <a:latin typeface="YS Text"/>
              </a:rPr>
              <a:t>А вот через </a:t>
            </a:r>
            <a:r>
              <a:rPr lang="ru-RU" b="1" dirty="0">
                <a:latin typeface="YS Text"/>
              </a:rPr>
              <a:t>словарь __</a:t>
            </a:r>
            <a:r>
              <a:rPr lang="ru-RU" b="1" dirty="0" err="1">
                <a:latin typeface="YS Text"/>
              </a:rPr>
              <a:t>dict</a:t>
            </a:r>
            <a:r>
              <a:rPr lang="ru-RU" b="1" dirty="0">
                <a:latin typeface="YS Text"/>
              </a:rPr>
              <a:t>__</a:t>
            </a:r>
            <a:r>
              <a:rPr lang="ru-RU" dirty="0">
                <a:latin typeface="YS Text"/>
              </a:rPr>
              <a:t>, доступный атрибуту __</a:t>
            </a:r>
            <a:r>
              <a:rPr lang="ru-RU" dirty="0" err="1">
                <a:latin typeface="YS Text"/>
              </a:rPr>
              <a:t>class</a:t>
            </a:r>
            <a:r>
              <a:rPr lang="ru-RU" dirty="0">
                <a:latin typeface="YS Text"/>
              </a:rPr>
              <a:t>__, можно получить атрибуты и методы, определённые только при создании объекта</a:t>
            </a:r>
          </a:p>
          <a:p>
            <a:pPr marL="0" indent="0" algn="just">
              <a:buNone/>
            </a:pPr>
            <a:r>
              <a:rPr lang="ru-RU" i="1" dirty="0">
                <a:latin typeface="YS Text"/>
              </a:rPr>
              <a:t>	</a:t>
            </a:r>
            <a:r>
              <a:rPr lang="en-US" sz="1800" b="0" i="0" dirty="0">
                <a:solidFill>
                  <a:srgbClr val="C678DD"/>
                </a:solidFill>
                <a:effectLst/>
                <a:latin typeface="Menlo"/>
              </a:rPr>
              <a:t>from</a:t>
            </a:r>
            <a:r>
              <a:rPr lang="en-US" sz="1800" b="0" i="0" dirty="0">
                <a:effectLst/>
                <a:latin typeface="Menlo"/>
              </a:rPr>
              <a:t> </a:t>
            </a:r>
            <a:r>
              <a:rPr lang="en-US" sz="1800" b="0" i="0" dirty="0" err="1">
                <a:effectLst/>
                <a:latin typeface="Menlo"/>
              </a:rPr>
              <a:t>gameparts</a:t>
            </a:r>
            <a:r>
              <a:rPr lang="en-US" sz="1800" b="0" i="0" dirty="0">
                <a:effectLst/>
                <a:latin typeface="Menlo"/>
              </a:rPr>
              <a:t> </a:t>
            </a:r>
            <a:r>
              <a:rPr lang="en-US" sz="1800" b="0" i="0" dirty="0">
                <a:solidFill>
                  <a:srgbClr val="C678DD"/>
                </a:solidFill>
                <a:effectLst/>
                <a:latin typeface="Menlo"/>
              </a:rPr>
              <a:t>import</a:t>
            </a:r>
            <a:r>
              <a:rPr lang="en-US" sz="1800" b="0" i="0" dirty="0">
                <a:effectLst/>
                <a:latin typeface="Menlo"/>
              </a:rPr>
              <a:t> Board </a:t>
            </a:r>
            <a:endParaRPr lang="ru-RU" sz="1800" b="0" i="0" dirty="0">
              <a:effectLst/>
              <a:latin typeface="Menlo"/>
            </a:endParaRPr>
          </a:p>
          <a:p>
            <a:pPr marL="0" indent="0" algn="just">
              <a:buNone/>
            </a:pPr>
            <a:endParaRPr lang="ru-RU" sz="1800" dirty="0">
              <a:latin typeface="Menlo"/>
            </a:endParaRPr>
          </a:p>
          <a:p>
            <a:pPr marL="0" indent="0" algn="just">
              <a:buNone/>
            </a:pPr>
            <a:r>
              <a:rPr lang="ru-RU" sz="1800" b="0" i="0" dirty="0">
                <a:effectLst/>
                <a:latin typeface="Menlo"/>
              </a:rPr>
              <a:t>	</a:t>
            </a:r>
            <a:r>
              <a:rPr lang="en-US" sz="1800" b="0" i="0" dirty="0">
                <a:effectLst/>
                <a:latin typeface="Menlo"/>
              </a:rPr>
              <a:t>game = Board()</a:t>
            </a:r>
            <a:endParaRPr lang="ru-RU" sz="1800" b="0" i="0" dirty="0">
              <a:effectLst/>
              <a:latin typeface="Menlo"/>
            </a:endParaRPr>
          </a:p>
          <a:p>
            <a:pPr marL="0" indent="0" algn="just">
              <a:buNone/>
            </a:pPr>
            <a:r>
              <a:rPr lang="ru-RU" sz="1800" dirty="0">
                <a:solidFill>
                  <a:srgbClr val="CA8D3D"/>
                </a:solidFill>
                <a:latin typeface="Menlo"/>
              </a:rPr>
              <a:t>	</a:t>
            </a:r>
            <a:r>
              <a:rPr lang="en-US" sz="1800" b="0" i="0" dirty="0">
                <a:solidFill>
                  <a:srgbClr val="CA8D3D"/>
                </a:solidFill>
                <a:effectLst/>
                <a:latin typeface="Menlo"/>
              </a:rPr>
              <a:t>print</a:t>
            </a:r>
            <a:r>
              <a:rPr lang="en-US" sz="1800" b="0" i="0" dirty="0">
                <a:effectLst/>
                <a:latin typeface="Menlo"/>
              </a:rPr>
              <a:t>(game.__class__.__</a:t>
            </a:r>
            <a:r>
              <a:rPr lang="en-US" sz="1800" b="0" i="0" dirty="0" err="1">
                <a:effectLst/>
                <a:latin typeface="Menlo"/>
              </a:rPr>
              <a:t>dict</a:t>
            </a:r>
            <a:r>
              <a:rPr lang="en-US" sz="1800" b="0" i="0" dirty="0">
                <a:effectLst/>
                <a:latin typeface="Menlo"/>
              </a:rPr>
              <a:t>__)</a:t>
            </a:r>
            <a:endParaRPr lang="ru-RU" sz="1800" b="0" i="0" dirty="0">
              <a:effectLst/>
              <a:latin typeface="Menlo"/>
            </a:endParaRPr>
          </a:p>
          <a:p>
            <a:pPr marL="0" indent="0" algn="just">
              <a:buNone/>
            </a:pPr>
            <a:r>
              <a:rPr lang="ru-RU" sz="1800" dirty="0">
                <a:solidFill>
                  <a:srgbClr val="5C6370"/>
                </a:solidFill>
                <a:latin typeface="Menlo"/>
              </a:rPr>
              <a:t>	</a:t>
            </a:r>
            <a:r>
              <a:rPr lang="en-US" sz="1600" b="0" i="1" dirty="0">
                <a:solidFill>
                  <a:srgbClr val="5C6370"/>
                </a:solidFill>
                <a:effectLst/>
                <a:latin typeface="Menlo"/>
              </a:rPr>
              <a:t># </a:t>
            </a:r>
            <a:r>
              <a:rPr lang="ru-RU" sz="1600" b="0" i="1" dirty="0">
                <a:solidFill>
                  <a:srgbClr val="5C6370"/>
                </a:solidFill>
                <a:effectLst/>
                <a:latin typeface="Menlo"/>
              </a:rPr>
              <a:t>Выведется:</a:t>
            </a:r>
            <a:r>
              <a:rPr lang="ru-RU" sz="1600" dirty="0">
                <a:solidFill>
                  <a:srgbClr val="5C6370"/>
                </a:solidFill>
                <a:latin typeface="Menlo"/>
              </a:rPr>
              <a:t> </a:t>
            </a:r>
            <a:r>
              <a:rPr lang="ru-RU" sz="1600" b="0" i="1" dirty="0">
                <a:solidFill>
                  <a:srgbClr val="5C6370"/>
                </a:solidFill>
                <a:effectLst/>
                <a:latin typeface="Menlo"/>
              </a:rPr>
              <a:t>{'__</a:t>
            </a:r>
            <a:r>
              <a:rPr lang="en-US" sz="1600" b="0" i="1" dirty="0">
                <a:solidFill>
                  <a:srgbClr val="5C6370"/>
                </a:solidFill>
                <a:effectLst/>
                <a:latin typeface="Menlo"/>
              </a:rPr>
              <a:t>module__': '</a:t>
            </a:r>
            <a:r>
              <a:rPr lang="en-US" sz="1600" b="0" i="1" dirty="0" err="1">
                <a:solidFill>
                  <a:srgbClr val="5C6370"/>
                </a:solidFill>
                <a:effectLst/>
                <a:latin typeface="Menlo"/>
              </a:rPr>
              <a:t>gameparts.parts</a:t>
            </a:r>
            <a:r>
              <a:rPr lang="en-US" sz="1600" b="0" i="1" dirty="0">
                <a:solidFill>
                  <a:srgbClr val="5C6370"/>
                </a:solidFill>
                <a:effectLst/>
                <a:latin typeface="Menlo"/>
              </a:rPr>
              <a:t>', '__</a:t>
            </a:r>
            <a:r>
              <a:rPr lang="en-US" sz="1600" b="0" i="1" dirty="0" err="1">
                <a:solidFill>
                  <a:srgbClr val="5C6370"/>
                </a:solidFill>
                <a:effectLst/>
                <a:latin typeface="Menlo"/>
              </a:rPr>
              <a:t>init</a:t>
            </a:r>
            <a:r>
              <a:rPr lang="en-US" sz="1600" b="0" i="1" dirty="0">
                <a:solidFill>
                  <a:srgbClr val="5C6370"/>
                </a:solidFill>
                <a:effectLst/>
                <a:latin typeface="Menlo"/>
              </a:rPr>
              <a:t>__': &lt;function Board.__</a:t>
            </a:r>
            <a:r>
              <a:rPr lang="en-US" sz="1600" b="0" i="1" dirty="0" err="1">
                <a:solidFill>
                  <a:srgbClr val="5C6370"/>
                </a:solidFill>
                <a:effectLst/>
                <a:latin typeface="Menlo"/>
              </a:rPr>
              <a:t>init</a:t>
            </a:r>
            <a:r>
              <a:rPr lang="en-US" sz="1600" b="0" i="1" dirty="0">
                <a:solidFill>
                  <a:srgbClr val="5C6370"/>
                </a:solidFill>
                <a:effectLst/>
                <a:latin typeface="Menlo"/>
              </a:rPr>
              <a:t>__ at 0x104f95f70&gt;, '</a:t>
            </a:r>
            <a:r>
              <a:rPr lang="en-US" sz="1600" b="0" i="1" dirty="0" err="1">
                <a:solidFill>
                  <a:srgbClr val="5C6370"/>
                </a:solidFill>
                <a:effectLst/>
                <a:latin typeface="Menlo"/>
              </a:rPr>
              <a:t>make_move</a:t>
            </a:r>
            <a:r>
              <a:rPr lang="en-US" sz="1600" b="0" i="1" dirty="0">
                <a:solidFill>
                  <a:srgbClr val="5C6370"/>
                </a:solidFill>
                <a:effectLst/>
                <a:latin typeface="Menlo"/>
              </a:rPr>
              <a:t>': &lt;function </a:t>
            </a:r>
            <a:r>
              <a:rPr lang="en-US" sz="1600" b="0" i="1" dirty="0" err="1">
                <a:solidFill>
                  <a:srgbClr val="5C6370"/>
                </a:solidFill>
                <a:effectLst/>
                <a:latin typeface="Menlo"/>
              </a:rPr>
              <a:t>Board.make_move</a:t>
            </a:r>
            <a:r>
              <a:rPr lang="en-US" sz="1600" b="0" i="1" dirty="0">
                <a:solidFill>
                  <a:srgbClr val="5C6370"/>
                </a:solidFill>
                <a:effectLst/>
                <a:latin typeface="Menlo"/>
              </a:rPr>
              <a:t> at 0x104fa3040&gt;, 'display': &lt;function </a:t>
            </a:r>
            <a:r>
              <a:rPr lang="en-US" sz="1600" b="0" i="1" dirty="0" err="1">
                <a:solidFill>
                  <a:srgbClr val="5C6370"/>
                </a:solidFill>
                <a:effectLst/>
                <a:latin typeface="Menlo"/>
              </a:rPr>
              <a:t>Board.display</a:t>
            </a:r>
            <a:r>
              <a:rPr lang="en-US" sz="1600" b="0" i="1" dirty="0">
                <a:solidFill>
                  <a:srgbClr val="5C6370"/>
                </a:solidFill>
                <a:effectLst/>
                <a:latin typeface="Menlo"/>
              </a:rPr>
              <a:t> at 0x104fa30d0&gt;, '__</a:t>
            </a:r>
            <a:r>
              <a:rPr lang="en-US" sz="1600" b="0" i="1" dirty="0" err="1">
                <a:solidFill>
                  <a:srgbClr val="5C6370"/>
                </a:solidFill>
                <a:effectLst/>
                <a:latin typeface="Menlo"/>
              </a:rPr>
              <a:t>dict</a:t>
            </a:r>
            <a:r>
              <a:rPr lang="en-US" sz="1600" b="0" i="1" dirty="0">
                <a:solidFill>
                  <a:srgbClr val="5C6370"/>
                </a:solidFill>
                <a:effectLst/>
                <a:latin typeface="Menlo"/>
              </a:rPr>
              <a:t>__': &lt;attribute '__</a:t>
            </a:r>
            <a:r>
              <a:rPr lang="en-US" sz="1600" b="0" i="1" dirty="0" err="1">
                <a:solidFill>
                  <a:srgbClr val="5C6370"/>
                </a:solidFill>
                <a:effectLst/>
                <a:latin typeface="Menlo"/>
              </a:rPr>
              <a:t>dict</a:t>
            </a:r>
            <a:r>
              <a:rPr lang="en-US" sz="1600" b="0" i="1" dirty="0">
                <a:solidFill>
                  <a:srgbClr val="5C6370"/>
                </a:solidFill>
                <a:effectLst/>
                <a:latin typeface="Menlo"/>
              </a:rPr>
              <a:t>__' of 'Board' objects&gt;, '__</a:t>
            </a:r>
            <a:r>
              <a:rPr lang="en-US" sz="1600" b="0" i="1" dirty="0" err="1">
                <a:solidFill>
                  <a:srgbClr val="5C6370"/>
                </a:solidFill>
                <a:effectLst/>
                <a:latin typeface="Menlo"/>
              </a:rPr>
              <a:t>weakref</a:t>
            </a:r>
            <a:r>
              <a:rPr lang="en-US" sz="1600" b="0" i="1" dirty="0">
                <a:solidFill>
                  <a:srgbClr val="5C6370"/>
                </a:solidFill>
                <a:effectLst/>
                <a:latin typeface="Menlo"/>
              </a:rPr>
              <a:t>__': &lt;attribute '__</a:t>
            </a:r>
            <a:r>
              <a:rPr lang="en-US" sz="1600" b="0" i="1" dirty="0" err="1">
                <a:solidFill>
                  <a:srgbClr val="5C6370"/>
                </a:solidFill>
                <a:effectLst/>
                <a:latin typeface="Menlo"/>
              </a:rPr>
              <a:t>weakref</a:t>
            </a:r>
            <a:r>
              <a:rPr lang="en-US" sz="1600" b="0" i="1" dirty="0">
                <a:solidFill>
                  <a:srgbClr val="5C6370"/>
                </a:solidFill>
                <a:effectLst/>
                <a:latin typeface="Menlo"/>
              </a:rPr>
              <a:t>__' of 'Board' objects&gt;, '__doc__': None}</a:t>
            </a:r>
            <a:r>
              <a:rPr lang="en-US" sz="1600" b="0" i="0" dirty="0">
                <a:effectLst/>
                <a:latin typeface="Menlo"/>
              </a:rPr>
              <a:t> </a:t>
            </a:r>
            <a:endParaRPr lang="ru-RU" sz="1600" b="0" i="0" dirty="0">
              <a:effectLst/>
              <a:latin typeface="Menlo"/>
            </a:endParaRPr>
          </a:p>
          <a:p>
            <a:pPr marL="0" indent="0" algn="just">
              <a:buNone/>
            </a:pPr>
            <a:endParaRPr lang="ru-RU" i="1" dirty="0">
              <a:latin typeface="YS Text"/>
            </a:endParaRPr>
          </a:p>
        </p:txBody>
      </p:sp>
    </p:spTree>
    <p:extLst>
      <p:ext uri="{BB962C8B-B14F-4D97-AF65-F5344CB8AC3E}">
        <p14:creationId xmlns:p14="http://schemas.microsoft.com/office/powerpoint/2010/main" val="3654225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1114098" y="82917"/>
            <a:ext cx="10936304" cy="500408"/>
          </a:xfrm>
        </p:spPr>
        <p:txBody>
          <a:bodyPr>
            <a:noAutofit/>
          </a:bodyPr>
          <a:lstStyle/>
          <a:p>
            <a:pPr algn="ctr"/>
            <a:r>
              <a:rPr lang="ru-RU" sz="3600" b="1" dirty="0">
                <a:effectLst/>
                <a:latin typeface="YS Text"/>
              </a:rPr>
              <a:t>Функция </a:t>
            </a:r>
            <a:r>
              <a:rPr lang="en-US" sz="3600" b="1" dirty="0" err="1">
                <a:solidFill>
                  <a:schemeClr val="accent6">
                    <a:lumMod val="75000"/>
                  </a:schemeClr>
                </a:solidFill>
                <a:effectLst/>
                <a:latin typeface="YS Text"/>
              </a:rPr>
              <a:t>inspect</a:t>
            </a:r>
            <a:r>
              <a:rPr lang="en-US" sz="3600" b="1" dirty="0" err="1">
                <a:effectLst/>
                <a:latin typeface="YS Text"/>
              </a:rPr>
              <a:t>.getsource</a:t>
            </a:r>
            <a:r>
              <a:rPr lang="en-US" sz="3600" b="1" dirty="0">
                <a:effectLst/>
                <a:latin typeface="YS Text"/>
              </a:rPr>
              <a:t>(object)</a:t>
            </a:r>
            <a:endParaRPr lang="ru-RU" sz="3200"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14856"/>
            <a:ext cx="10936304" cy="6053958"/>
          </a:xfrm>
        </p:spPr>
        <p:txBody>
          <a:bodyPr>
            <a:normAutofit fontScale="92500" lnSpcReduction="10000"/>
          </a:bodyPr>
          <a:lstStyle/>
          <a:p>
            <a:pPr marL="0" indent="0" algn="just">
              <a:buNone/>
            </a:pPr>
            <a:r>
              <a:rPr lang="ru-RU" b="1" dirty="0">
                <a:latin typeface="YS Text"/>
              </a:rPr>
              <a:t>Функция </a:t>
            </a:r>
            <a:r>
              <a:rPr lang="ru-RU" b="1" dirty="0" err="1">
                <a:solidFill>
                  <a:schemeClr val="accent6">
                    <a:lumMod val="75000"/>
                  </a:schemeClr>
                </a:solidFill>
                <a:latin typeface="YS Text"/>
              </a:rPr>
              <a:t>getsource</a:t>
            </a:r>
            <a:r>
              <a:rPr lang="ru-RU" b="1" dirty="0">
                <a:solidFill>
                  <a:schemeClr val="accent6">
                    <a:lumMod val="75000"/>
                  </a:schemeClr>
                </a:solidFill>
                <a:latin typeface="YS Text"/>
              </a:rPr>
              <a:t>() </a:t>
            </a:r>
            <a:r>
              <a:rPr lang="ru-RU" b="1" dirty="0">
                <a:latin typeface="YS Text"/>
              </a:rPr>
              <a:t>модуля</a:t>
            </a:r>
            <a:r>
              <a:rPr lang="ru-RU" dirty="0">
                <a:latin typeface="YS Text"/>
              </a:rPr>
              <a:t> </a:t>
            </a:r>
            <a:r>
              <a:rPr lang="ru-RU" b="1" dirty="0" err="1">
                <a:solidFill>
                  <a:schemeClr val="accent6">
                    <a:lumMod val="75000"/>
                  </a:schemeClr>
                </a:solidFill>
                <a:latin typeface="YS Text"/>
              </a:rPr>
              <a:t>inspect</a:t>
            </a:r>
            <a:r>
              <a:rPr lang="ru-RU" dirty="0">
                <a:latin typeface="YS Text"/>
              </a:rPr>
              <a:t> позволяет получить код объекта, например, функции или метода.</a:t>
            </a:r>
          </a:p>
          <a:p>
            <a:pPr marL="0" indent="0" algn="just">
              <a:buNone/>
            </a:pPr>
            <a:r>
              <a:rPr lang="ru-RU" dirty="0">
                <a:latin typeface="YS Text"/>
              </a:rPr>
              <a:t>Вот так можно получить код класса Board:</a:t>
            </a:r>
          </a:p>
          <a:p>
            <a:pPr marL="0" indent="0" algn="just">
              <a:buNone/>
            </a:pPr>
            <a:r>
              <a:rPr lang="ru-RU" i="1" dirty="0">
                <a:latin typeface="YS Text"/>
              </a:rPr>
              <a:t>	</a:t>
            </a:r>
            <a:r>
              <a:rPr lang="ru-RU" sz="1600" b="0" i="1" dirty="0">
                <a:solidFill>
                  <a:srgbClr val="5C6370"/>
                </a:solidFill>
                <a:effectLst/>
                <a:latin typeface="Menlo"/>
              </a:rPr>
              <a:t># Функция </a:t>
            </a:r>
            <a:r>
              <a:rPr lang="en-US" sz="1600" b="0" i="1" dirty="0" err="1">
                <a:solidFill>
                  <a:srgbClr val="5C6370"/>
                </a:solidFill>
                <a:effectLst/>
                <a:latin typeface="Menlo"/>
              </a:rPr>
              <a:t>getsource</a:t>
            </a:r>
            <a:r>
              <a:rPr lang="en-US" sz="1600" b="0" i="1" dirty="0">
                <a:solidFill>
                  <a:srgbClr val="5C6370"/>
                </a:solidFill>
                <a:effectLst/>
                <a:latin typeface="Menlo"/>
              </a:rPr>
              <a:t>() </a:t>
            </a:r>
            <a:r>
              <a:rPr lang="ru-RU" sz="1600" b="0" i="1" dirty="0">
                <a:solidFill>
                  <a:srgbClr val="5C6370"/>
                </a:solidFill>
                <a:effectLst/>
                <a:latin typeface="Menlo"/>
              </a:rPr>
              <a:t>в работе.</a:t>
            </a:r>
            <a:r>
              <a:rPr lang="ru-RU" sz="1600" b="0" i="0" dirty="0">
                <a:effectLst/>
                <a:latin typeface="Menlo"/>
              </a:rPr>
              <a:t> </a:t>
            </a:r>
          </a:p>
          <a:p>
            <a:pPr marL="0" indent="0" algn="just">
              <a:buNone/>
            </a:pPr>
            <a:r>
              <a:rPr lang="ru-RU" sz="1600" dirty="0">
                <a:solidFill>
                  <a:srgbClr val="CA8D3D"/>
                </a:solidFill>
                <a:latin typeface="Menlo"/>
              </a:rPr>
              <a:t>	</a:t>
            </a:r>
            <a:r>
              <a:rPr lang="en-US" sz="1600" b="0" i="0" dirty="0">
                <a:solidFill>
                  <a:srgbClr val="CA8D3D"/>
                </a:solidFill>
                <a:effectLst/>
                <a:latin typeface="Menlo"/>
              </a:rPr>
              <a:t>print</a:t>
            </a:r>
            <a:r>
              <a:rPr lang="en-US" sz="1600" b="0" i="0" dirty="0">
                <a:effectLst/>
                <a:latin typeface="Menlo"/>
              </a:rPr>
              <a:t>(</a:t>
            </a:r>
            <a:r>
              <a:rPr lang="en-US" sz="1600" b="0" i="0" dirty="0" err="1">
                <a:effectLst/>
                <a:latin typeface="Menlo"/>
              </a:rPr>
              <a:t>getsource</a:t>
            </a:r>
            <a:r>
              <a:rPr lang="en-US" sz="1600" b="0" i="0" dirty="0">
                <a:effectLst/>
                <a:latin typeface="Menlo"/>
              </a:rPr>
              <a:t>(Board))</a:t>
            </a:r>
            <a:endParaRPr lang="ru-RU" sz="1600" b="0" i="0" dirty="0">
              <a:effectLst/>
              <a:latin typeface="Menlo"/>
            </a:endParaRPr>
          </a:p>
          <a:p>
            <a:pPr marL="0" indent="0" algn="just">
              <a:buNone/>
            </a:pPr>
            <a:endParaRPr lang="ru-RU" sz="1600" dirty="0">
              <a:latin typeface="Menlo"/>
            </a:endParaRPr>
          </a:p>
          <a:p>
            <a:pPr marL="0" indent="0" algn="just">
              <a:buNone/>
            </a:pPr>
            <a:r>
              <a:rPr lang="ru-RU" b="1" i="0" dirty="0">
                <a:effectLst/>
                <a:latin typeface="Menlo"/>
              </a:rPr>
              <a:t>Функция </a:t>
            </a:r>
            <a:r>
              <a:rPr lang="ru-RU" b="1" i="0" dirty="0" err="1">
                <a:solidFill>
                  <a:schemeClr val="accent6">
                    <a:lumMod val="75000"/>
                  </a:schemeClr>
                </a:solidFill>
                <a:effectLst/>
                <a:latin typeface="Menlo"/>
              </a:rPr>
              <a:t>isfunction</a:t>
            </a:r>
            <a:r>
              <a:rPr lang="ru-RU" b="1" i="0" dirty="0">
                <a:solidFill>
                  <a:schemeClr val="accent6">
                    <a:lumMod val="75000"/>
                  </a:schemeClr>
                </a:solidFill>
                <a:effectLst/>
                <a:latin typeface="Menlo"/>
              </a:rPr>
              <a:t>() </a:t>
            </a:r>
            <a:r>
              <a:rPr lang="ru-RU" b="0" i="0" dirty="0">
                <a:effectLst/>
                <a:latin typeface="Menlo"/>
              </a:rPr>
              <a:t>позволяет проверить, является ли переданный объект обычной функцией.</a:t>
            </a:r>
          </a:p>
          <a:p>
            <a:pPr marL="0" indent="0" algn="just">
              <a:buNone/>
            </a:pPr>
            <a:r>
              <a:rPr lang="ru-RU" dirty="0">
                <a:latin typeface="Menlo"/>
              </a:rPr>
              <a:t>	</a:t>
            </a:r>
            <a:r>
              <a:rPr lang="en-US" sz="1700" b="0" i="1" dirty="0">
                <a:solidFill>
                  <a:srgbClr val="5C6370"/>
                </a:solidFill>
                <a:effectLst/>
                <a:latin typeface="Menlo"/>
              </a:rPr>
              <a:t># display() - </a:t>
            </a:r>
            <a:r>
              <a:rPr lang="ru-RU" sz="1700" b="0" i="1" dirty="0">
                <a:solidFill>
                  <a:srgbClr val="5C6370"/>
                </a:solidFill>
                <a:effectLst/>
                <a:latin typeface="Menlo"/>
              </a:rPr>
              <a:t>это функция?</a:t>
            </a:r>
            <a:endParaRPr lang="ru-RU" sz="1700" dirty="0">
              <a:solidFill>
                <a:srgbClr val="5C6370"/>
              </a:solidFill>
              <a:latin typeface="Menlo"/>
            </a:endParaRPr>
          </a:p>
          <a:p>
            <a:pPr marL="0" indent="0" algn="just">
              <a:buNone/>
            </a:pPr>
            <a:r>
              <a:rPr lang="ru-RU" sz="1700" b="0" i="0" dirty="0">
                <a:solidFill>
                  <a:srgbClr val="5C6370"/>
                </a:solidFill>
                <a:effectLst/>
                <a:latin typeface="Menlo"/>
              </a:rPr>
              <a:t>	</a:t>
            </a:r>
            <a:r>
              <a:rPr lang="en-US" sz="1700" b="0" i="0" dirty="0">
                <a:solidFill>
                  <a:srgbClr val="CA8D3D"/>
                </a:solidFill>
                <a:effectLst/>
                <a:latin typeface="Menlo"/>
              </a:rPr>
              <a:t>print</a:t>
            </a:r>
            <a:r>
              <a:rPr lang="en-US" sz="1700" b="0" i="0" dirty="0">
                <a:effectLst/>
                <a:latin typeface="Menlo"/>
              </a:rPr>
              <a:t>(</a:t>
            </a:r>
            <a:r>
              <a:rPr lang="en-US" sz="1700" b="0" i="0" dirty="0" err="1">
                <a:effectLst/>
                <a:latin typeface="Menlo"/>
              </a:rPr>
              <a:t>isfunction</a:t>
            </a:r>
            <a:r>
              <a:rPr lang="en-US" sz="1700" b="0" i="0" dirty="0">
                <a:effectLst/>
                <a:latin typeface="Menlo"/>
              </a:rPr>
              <a:t>(</a:t>
            </a:r>
            <a:r>
              <a:rPr lang="en-US" sz="1700" b="0" i="0" dirty="0" err="1">
                <a:effectLst/>
                <a:latin typeface="Menlo"/>
              </a:rPr>
              <a:t>game.display</a:t>
            </a:r>
            <a:r>
              <a:rPr lang="en-US" sz="1700" b="0" i="0" dirty="0">
                <a:effectLst/>
                <a:latin typeface="Menlo"/>
              </a:rPr>
              <a:t>)) </a:t>
            </a:r>
            <a:r>
              <a:rPr lang="en-US" sz="1700" b="0" i="1" dirty="0">
                <a:solidFill>
                  <a:srgbClr val="5C6370"/>
                </a:solidFill>
                <a:effectLst/>
                <a:latin typeface="Menlo"/>
              </a:rPr>
              <a:t># </a:t>
            </a:r>
            <a:r>
              <a:rPr lang="ru-RU" sz="1700" b="0" i="1" dirty="0">
                <a:solidFill>
                  <a:srgbClr val="5C6370"/>
                </a:solidFill>
                <a:effectLst/>
                <a:latin typeface="Menlo"/>
              </a:rPr>
              <a:t>Выведется:</a:t>
            </a:r>
            <a:r>
              <a:rPr lang="ru-RU" sz="1700" b="0" i="0" dirty="0">
                <a:effectLst/>
                <a:latin typeface="Menlo"/>
              </a:rPr>
              <a:t> </a:t>
            </a:r>
            <a:r>
              <a:rPr lang="ru-RU" sz="1700" b="0" i="1" dirty="0">
                <a:solidFill>
                  <a:srgbClr val="5C6370"/>
                </a:solidFill>
                <a:effectLst/>
                <a:latin typeface="Menlo"/>
              </a:rPr>
              <a:t> </a:t>
            </a:r>
            <a:r>
              <a:rPr lang="en-US" sz="1700" b="0" i="1" dirty="0">
                <a:solidFill>
                  <a:srgbClr val="5C6370"/>
                </a:solidFill>
                <a:effectLst/>
                <a:latin typeface="Menlo"/>
              </a:rPr>
              <a:t>False</a:t>
            </a:r>
            <a:r>
              <a:rPr lang="en-US" sz="1700" b="0" i="0" dirty="0">
                <a:effectLst/>
                <a:latin typeface="Menlo"/>
              </a:rPr>
              <a:t> </a:t>
            </a:r>
            <a:endParaRPr lang="ru-RU" sz="1700" b="0" i="0" dirty="0">
              <a:effectLst/>
              <a:latin typeface="Menlo"/>
            </a:endParaRPr>
          </a:p>
          <a:p>
            <a:pPr marL="0" indent="0" algn="just">
              <a:buNone/>
            </a:pPr>
            <a:endParaRPr lang="ru-RU" i="1" dirty="0">
              <a:latin typeface="YS Text"/>
            </a:endParaRPr>
          </a:p>
          <a:p>
            <a:pPr marL="0" indent="0" algn="just">
              <a:buNone/>
            </a:pPr>
            <a:r>
              <a:rPr lang="ru-RU" b="1" dirty="0">
                <a:latin typeface="YS Text"/>
              </a:rPr>
              <a:t>Функцией </a:t>
            </a:r>
            <a:r>
              <a:rPr lang="ru-RU" b="1" dirty="0" err="1">
                <a:solidFill>
                  <a:schemeClr val="accent6">
                    <a:lumMod val="75000"/>
                  </a:schemeClr>
                </a:solidFill>
                <a:latin typeface="YS Text"/>
              </a:rPr>
              <a:t>ismethod</a:t>
            </a:r>
            <a:r>
              <a:rPr lang="ru-RU" b="1" dirty="0">
                <a:solidFill>
                  <a:schemeClr val="accent6">
                    <a:lumMod val="75000"/>
                  </a:schemeClr>
                </a:solidFill>
                <a:latin typeface="YS Text"/>
              </a:rPr>
              <a:t>() </a:t>
            </a:r>
            <a:r>
              <a:rPr lang="ru-RU" dirty="0">
                <a:latin typeface="YS Text"/>
              </a:rPr>
              <a:t>можно проверить, является ли переданный объект методом класса.</a:t>
            </a:r>
          </a:p>
          <a:p>
            <a:pPr marL="0" indent="0" algn="just">
              <a:buNone/>
            </a:pPr>
            <a:r>
              <a:rPr lang="ru-RU" dirty="0">
                <a:latin typeface="YS Text"/>
              </a:rPr>
              <a:t>	</a:t>
            </a:r>
            <a:r>
              <a:rPr lang="en-US" sz="1700" b="0" i="1" dirty="0">
                <a:solidFill>
                  <a:srgbClr val="5C6370"/>
                </a:solidFill>
                <a:effectLst/>
                <a:latin typeface="Menlo"/>
              </a:rPr>
              <a:t># display() - </a:t>
            </a:r>
            <a:r>
              <a:rPr lang="ru-RU" sz="1700" b="0" i="1" dirty="0">
                <a:solidFill>
                  <a:srgbClr val="5C6370"/>
                </a:solidFill>
                <a:effectLst/>
                <a:latin typeface="Menlo"/>
              </a:rPr>
              <a:t>это метод?</a:t>
            </a:r>
            <a:r>
              <a:rPr lang="ru-RU" sz="1700" b="0" i="0" dirty="0">
                <a:effectLst/>
                <a:latin typeface="Menlo"/>
              </a:rPr>
              <a:t> </a:t>
            </a:r>
          </a:p>
          <a:p>
            <a:pPr marL="0" indent="0" algn="just">
              <a:buNone/>
            </a:pPr>
            <a:r>
              <a:rPr lang="ru-RU" sz="1700" dirty="0">
                <a:solidFill>
                  <a:srgbClr val="CA8D3D"/>
                </a:solidFill>
                <a:latin typeface="Menlo"/>
              </a:rPr>
              <a:t>	</a:t>
            </a:r>
            <a:r>
              <a:rPr lang="en-US" sz="1700" b="0" i="0" dirty="0">
                <a:solidFill>
                  <a:srgbClr val="CA8D3D"/>
                </a:solidFill>
                <a:effectLst/>
                <a:latin typeface="Menlo"/>
              </a:rPr>
              <a:t>print</a:t>
            </a:r>
            <a:r>
              <a:rPr lang="en-US" sz="1700" b="0" i="0" dirty="0">
                <a:effectLst/>
                <a:latin typeface="Menlo"/>
              </a:rPr>
              <a:t>(</a:t>
            </a:r>
            <a:r>
              <a:rPr lang="en-US" sz="1700" b="0" i="0" dirty="0" err="1">
                <a:effectLst/>
                <a:latin typeface="Menlo"/>
              </a:rPr>
              <a:t>ismethod</a:t>
            </a:r>
            <a:r>
              <a:rPr lang="en-US" sz="1700" b="0" i="0" dirty="0">
                <a:effectLst/>
                <a:latin typeface="Menlo"/>
              </a:rPr>
              <a:t>(</a:t>
            </a:r>
            <a:r>
              <a:rPr lang="en-US" sz="1700" b="0" i="0" dirty="0" err="1">
                <a:effectLst/>
                <a:latin typeface="Menlo"/>
              </a:rPr>
              <a:t>game.display</a:t>
            </a:r>
            <a:r>
              <a:rPr lang="en-US" sz="1700" b="0" i="0" dirty="0">
                <a:effectLst/>
                <a:latin typeface="Menlo"/>
              </a:rPr>
              <a:t>)) </a:t>
            </a:r>
            <a:r>
              <a:rPr lang="en-US" sz="1700" b="0" i="1" dirty="0">
                <a:solidFill>
                  <a:srgbClr val="5C6370"/>
                </a:solidFill>
                <a:effectLst/>
                <a:latin typeface="Menlo"/>
              </a:rPr>
              <a:t># </a:t>
            </a:r>
            <a:r>
              <a:rPr lang="ru-RU" sz="1700" b="0" i="1" dirty="0">
                <a:solidFill>
                  <a:srgbClr val="5C6370"/>
                </a:solidFill>
                <a:effectLst/>
                <a:latin typeface="Menlo"/>
              </a:rPr>
              <a:t>Вывод: </a:t>
            </a:r>
            <a:r>
              <a:rPr lang="en-US" sz="1700" b="0" i="1" dirty="0">
                <a:solidFill>
                  <a:srgbClr val="5C6370"/>
                </a:solidFill>
                <a:effectLst/>
                <a:latin typeface="Menlo"/>
              </a:rPr>
              <a:t>True</a:t>
            </a:r>
            <a:r>
              <a:rPr lang="en-US" sz="1700" b="0" i="0" dirty="0">
                <a:effectLst/>
                <a:latin typeface="Menlo"/>
              </a:rPr>
              <a:t> </a:t>
            </a:r>
            <a:endParaRPr lang="ru-RU" sz="1700" b="0" i="0" dirty="0">
              <a:effectLst/>
              <a:latin typeface="Menlo"/>
            </a:endParaRPr>
          </a:p>
          <a:p>
            <a:pPr marL="0" indent="0" algn="just">
              <a:buNone/>
            </a:pPr>
            <a:r>
              <a:rPr lang="ru-RU" sz="2600" b="1" dirty="0">
                <a:latin typeface="YS Text"/>
              </a:rPr>
              <a:t>Каждая функция, каждый модуль — часть интроспекции. В маленьких программах её польза, действительно, не так очевидна — ведь кода мало, и всё под рукой. Однако, когда речь заходит о больших проектах, которые состоят из десятков файлов и тысяч строк, выгода очевидна. </a:t>
            </a:r>
            <a:r>
              <a:rPr lang="ru-RU" sz="2400" b="0" i="0" dirty="0">
                <a:solidFill>
                  <a:srgbClr val="0070C0"/>
                </a:solidFill>
                <a:effectLst/>
                <a:latin typeface="YS Text"/>
                <a:hlinkClick r:id="rId2">
                  <a:extLst>
                    <a:ext uri="{A12FA001-AC4F-418D-AE19-62706E023703}">
                      <ahyp:hlinkClr xmlns:ahyp="http://schemas.microsoft.com/office/drawing/2018/hyperlinkcolor" val="tx"/>
                    </a:ext>
                  </a:extLst>
                </a:hlinkClick>
              </a:rPr>
              <a:t>Документация модуля </a:t>
            </a:r>
            <a:r>
              <a:rPr lang="en-US" sz="2400" b="0" i="0" dirty="0">
                <a:solidFill>
                  <a:srgbClr val="0070C0"/>
                </a:solidFill>
                <a:effectLst/>
                <a:latin typeface="YS Text"/>
                <a:hlinkClick r:id="rId2">
                  <a:extLst>
                    <a:ext uri="{A12FA001-AC4F-418D-AE19-62706E023703}">
                      <ahyp:hlinkClr xmlns:ahyp="http://schemas.microsoft.com/office/drawing/2018/hyperlinkcolor" val="tx"/>
                    </a:ext>
                  </a:extLst>
                </a:hlinkClick>
              </a:rPr>
              <a:t>inspect</a:t>
            </a:r>
            <a:r>
              <a:rPr lang="ru-RU" sz="2400" b="0" i="0" dirty="0">
                <a:effectLst/>
                <a:latin typeface="YS Text"/>
              </a:rPr>
              <a:t>.</a:t>
            </a:r>
            <a:endParaRPr lang="ru-RU" sz="2600" b="1" dirty="0">
              <a:latin typeface="YS Text"/>
            </a:endParaRPr>
          </a:p>
        </p:txBody>
      </p:sp>
      <p:sp>
        <p:nvSpPr>
          <p:cNvPr id="3" name="Заголовок 1">
            <a:extLst>
              <a:ext uri="{FF2B5EF4-FFF2-40B4-BE49-F238E27FC236}">
                <a16:creationId xmlns:a16="http://schemas.microsoft.com/office/drawing/2014/main" id="{CAC03C9C-3FDB-F19C-F5DE-C779E0AC8733}"/>
              </a:ext>
            </a:extLst>
          </p:cNvPr>
          <p:cNvSpPr txBox="1">
            <a:spLocks/>
          </p:cNvSpPr>
          <p:nvPr/>
        </p:nvSpPr>
        <p:spPr>
          <a:xfrm>
            <a:off x="1153512" y="1996603"/>
            <a:ext cx="10936304" cy="626532"/>
          </a:xfrm>
          <a:prstGeom prst="rect">
            <a:avLst/>
          </a:prstGeom>
        </p:spPr>
        <p:txBody>
          <a:bodyPr vert="horz" lIns="91440" tIns="45720" rIns="91440" bIns="45720" rtlCol="0" anchor="t">
            <a:normAutofit fontScale="97500"/>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ru-RU" sz="3600" b="1" dirty="0">
                <a:latin typeface="YS Text"/>
              </a:rPr>
              <a:t>Функция </a:t>
            </a:r>
            <a:r>
              <a:rPr lang="en-US" sz="3600" b="1" dirty="0" err="1">
                <a:solidFill>
                  <a:schemeClr val="accent6">
                    <a:lumMod val="75000"/>
                  </a:schemeClr>
                </a:solidFill>
                <a:latin typeface="YS Text"/>
              </a:rPr>
              <a:t>inspect</a:t>
            </a:r>
            <a:r>
              <a:rPr lang="en-US" sz="3600" b="1" dirty="0" err="1">
                <a:latin typeface="YS Text"/>
              </a:rPr>
              <a:t>.isfunction</a:t>
            </a:r>
            <a:r>
              <a:rPr lang="en-US" sz="3600" b="1" dirty="0">
                <a:latin typeface="YS Text"/>
              </a:rPr>
              <a:t>(object)</a:t>
            </a:r>
            <a:r>
              <a:rPr lang="ru-RU" sz="3600" b="1" dirty="0">
                <a:latin typeface="YS Text"/>
              </a:rPr>
              <a:t> </a:t>
            </a:r>
            <a:endParaRPr lang="ru-RU" sz="3200" dirty="0"/>
          </a:p>
        </p:txBody>
      </p:sp>
      <p:sp>
        <p:nvSpPr>
          <p:cNvPr id="4" name="Заголовок 1">
            <a:extLst>
              <a:ext uri="{FF2B5EF4-FFF2-40B4-BE49-F238E27FC236}">
                <a16:creationId xmlns:a16="http://schemas.microsoft.com/office/drawing/2014/main" id="{E0FDE4B2-CB28-1B88-9F9F-7F9A16246ADB}"/>
              </a:ext>
            </a:extLst>
          </p:cNvPr>
          <p:cNvSpPr txBox="1">
            <a:spLocks/>
          </p:cNvSpPr>
          <p:nvPr/>
        </p:nvSpPr>
        <p:spPr>
          <a:xfrm>
            <a:off x="1190299" y="3525456"/>
            <a:ext cx="10936304" cy="626532"/>
          </a:xfrm>
          <a:prstGeom prst="rect">
            <a:avLst/>
          </a:prstGeom>
        </p:spPr>
        <p:txBody>
          <a:bodyPr vert="horz" lIns="91440" tIns="45720" rIns="91440" bIns="45720" rtlCol="0" anchor="t">
            <a:normAutofit fontScale="97500"/>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ru-RU" sz="3600" b="1" dirty="0">
                <a:latin typeface="YS Text"/>
              </a:rPr>
              <a:t>Функция </a:t>
            </a:r>
            <a:r>
              <a:rPr lang="en-US" sz="3600" b="1" dirty="0" err="1">
                <a:solidFill>
                  <a:schemeClr val="accent6">
                    <a:lumMod val="75000"/>
                  </a:schemeClr>
                </a:solidFill>
                <a:latin typeface="YS Text"/>
              </a:rPr>
              <a:t>inspect.</a:t>
            </a:r>
            <a:r>
              <a:rPr lang="en-US" sz="3600" b="1" dirty="0" err="1">
                <a:solidFill>
                  <a:schemeClr val="tx1"/>
                </a:solidFill>
                <a:latin typeface="YS Text"/>
              </a:rPr>
              <a:t>ismethod</a:t>
            </a:r>
            <a:r>
              <a:rPr lang="en-US" sz="3600" b="1" dirty="0">
                <a:solidFill>
                  <a:schemeClr val="tx1"/>
                </a:solidFill>
                <a:latin typeface="YS Text"/>
              </a:rPr>
              <a:t>(object)</a:t>
            </a:r>
            <a:endParaRPr lang="ru-RU" sz="3200" dirty="0">
              <a:solidFill>
                <a:schemeClr val="tx1"/>
              </a:solidFill>
            </a:endParaRPr>
          </a:p>
        </p:txBody>
      </p:sp>
    </p:spTree>
    <p:extLst>
      <p:ext uri="{BB962C8B-B14F-4D97-AF65-F5344CB8AC3E}">
        <p14:creationId xmlns:p14="http://schemas.microsoft.com/office/powerpoint/2010/main" val="2974350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5400" b="1" dirty="0">
                <a:solidFill>
                  <a:schemeClr val="tx1">
                    <a:lumMod val="95000"/>
                    <a:lumOff val="5000"/>
                  </a:schemeClr>
                </a:solidFill>
                <a:latin typeface="YS Text"/>
              </a:rPr>
              <a:t>Документирование кода</a:t>
            </a:r>
            <a:endParaRPr lang="ru-RU" sz="5400" dirty="0">
              <a:solidFill>
                <a:schemeClr val="tx1">
                  <a:lumMod val="95000"/>
                  <a:lumOff val="5000"/>
                </a:schemeClr>
              </a:solidFill>
            </a:endParaRPr>
          </a:p>
        </p:txBody>
      </p:sp>
    </p:spTree>
    <p:extLst>
      <p:ext uri="{BB962C8B-B14F-4D97-AF65-F5344CB8AC3E}">
        <p14:creationId xmlns:p14="http://schemas.microsoft.com/office/powerpoint/2010/main" val="501511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err="1">
                <a:latin typeface="YS Text"/>
              </a:rPr>
              <a:t>Д</a:t>
            </a:r>
            <a:r>
              <a:rPr lang="ru-RU" sz="4900" b="1" dirty="0" err="1">
                <a:effectLst/>
                <a:latin typeface="YS Text"/>
              </a:rPr>
              <a:t>окстринги</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203434"/>
            <a:ext cx="10936304" cy="5465380"/>
          </a:xfrm>
        </p:spPr>
        <p:txBody>
          <a:bodyPr/>
          <a:lstStyle/>
          <a:p>
            <a:pPr marL="0" indent="0" algn="just">
              <a:buNone/>
            </a:pPr>
            <a:r>
              <a:rPr lang="ru-RU" sz="2400" dirty="0">
                <a:latin typeface="YS Text"/>
              </a:rPr>
              <a:t>В реальной работе программисты используют </a:t>
            </a:r>
            <a:r>
              <a:rPr lang="ru-RU" sz="2400" b="1" dirty="0">
                <a:latin typeface="YS Text"/>
              </a:rPr>
              <a:t>комментарии</a:t>
            </a:r>
            <a:r>
              <a:rPr lang="ru-RU" sz="2400" dirty="0">
                <a:latin typeface="YS Text"/>
              </a:rPr>
              <a:t>, когда нужно:</a:t>
            </a:r>
          </a:p>
          <a:p>
            <a:pPr algn="just"/>
            <a:r>
              <a:rPr lang="ru-RU" dirty="0">
                <a:latin typeface="YS Text"/>
              </a:rPr>
              <a:t>сделать акцент на определённом участке кода;</a:t>
            </a:r>
          </a:p>
          <a:p>
            <a:pPr algn="just"/>
            <a:r>
              <a:rPr lang="ru-RU" dirty="0">
                <a:latin typeface="YS Text"/>
              </a:rPr>
              <a:t>пояснить специфичное решение;</a:t>
            </a:r>
          </a:p>
          <a:p>
            <a:pPr algn="just"/>
            <a:r>
              <a:rPr lang="ru-RU" dirty="0">
                <a:latin typeface="YS Text"/>
              </a:rPr>
              <a:t>указать на код, который следует доработать;</a:t>
            </a:r>
          </a:p>
          <a:p>
            <a:pPr algn="just"/>
            <a:r>
              <a:rPr lang="ru-RU" dirty="0">
                <a:latin typeface="YS Text"/>
              </a:rPr>
              <a:t>уточнить часть кода, которую планируется дописать позже.</a:t>
            </a:r>
          </a:p>
          <a:p>
            <a:pPr marL="0" indent="0" algn="just">
              <a:buNone/>
            </a:pPr>
            <a:r>
              <a:rPr lang="ru-RU" sz="2400" dirty="0">
                <a:latin typeface="YS Text"/>
              </a:rPr>
              <a:t>Также в коде важно объяснять назначение функций, классов, методов, модулей и пакетов. Для этой задачи используются </a:t>
            </a:r>
            <a:r>
              <a:rPr lang="ru-RU" sz="2400" b="1" dirty="0" err="1">
                <a:latin typeface="YS Text"/>
              </a:rPr>
              <a:t>докстринги</a:t>
            </a:r>
            <a:r>
              <a:rPr lang="ru-RU" sz="2400" dirty="0">
                <a:latin typeface="YS Text"/>
              </a:rPr>
              <a:t> (англ. </a:t>
            </a:r>
            <a:r>
              <a:rPr lang="ru-RU" sz="2400" b="1" dirty="0" err="1">
                <a:latin typeface="YS Text"/>
              </a:rPr>
              <a:t>docstring</a:t>
            </a:r>
            <a:r>
              <a:rPr lang="ru-RU" sz="2400" dirty="0">
                <a:latin typeface="YS Text"/>
              </a:rPr>
              <a:t>). Это строки документации, встроенные прямо в исходный код программы. Они позволяют разработчикам понять, что делает тот или иной код, не исследуя его. </a:t>
            </a:r>
          </a:p>
        </p:txBody>
      </p:sp>
    </p:spTree>
    <p:extLst>
      <p:ext uri="{BB962C8B-B14F-4D97-AF65-F5344CB8AC3E}">
        <p14:creationId xmlns:p14="http://schemas.microsoft.com/office/powerpoint/2010/main" val="2423599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Что и как можно документировать</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5"/>
            <a:ext cx="10936304" cy="6174827"/>
          </a:xfrm>
        </p:spPr>
        <p:txBody>
          <a:bodyPr>
            <a:normAutofit fontScale="77500" lnSpcReduction="20000"/>
          </a:bodyPr>
          <a:lstStyle/>
          <a:p>
            <a:pPr marL="0" indent="0" algn="just">
              <a:buNone/>
            </a:pPr>
            <a:r>
              <a:rPr lang="ru-RU" dirty="0">
                <a:latin typeface="YS Text"/>
              </a:rPr>
              <a:t>Строки документации принято писать </a:t>
            </a:r>
            <a:r>
              <a:rPr lang="ru-RU" b="1" dirty="0">
                <a:latin typeface="YS Text"/>
              </a:rPr>
              <a:t>для функций</a:t>
            </a:r>
            <a:r>
              <a:rPr lang="ru-RU" dirty="0">
                <a:latin typeface="YS Text"/>
              </a:rPr>
              <a:t>, </a:t>
            </a:r>
            <a:r>
              <a:rPr lang="ru-RU" b="1" dirty="0">
                <a:latin typeface="YS Text"/>
              </a:rPr>
              <a:t>методов</a:t>
            </a:r>
            <a:r>
              <a:rPr lang="ru-RU" dirty="0">
                <a:latin typeface="YS Text"/>
              </a:rPr>
              <a:t>, </a:t>
            </a:r>
            <a:r>
              <a:rPr lang="ru-RU" b="1" dirty="0">
                <a:latin typeface="YS Text"/>
              </a:rPr>
              <a:t>классов</a:t>
            </a:r>
            <a:r>
              <a:rPr lang="ru-RU" dirty="0">
                <a:latin typeface="YS Text"/>
              </a:rPr>
              <a:t> и даже </a:t>
            </a:r>
            <a:r>
              <a:rPr lang="ru-RU" b="1" dirty="0">
                <a:latin typeface="YS Text"/>
              </a:rPr>
              <a:t>модулей</a:t>
            </a:r>
            <a:r>
              <a:rPr lang="ru-RU" dirty="0">
                <a:latin typeface="YS Text"/>
              </a:rPr>
              <a:t>. Вот как может выглядеть документированный код:</a:t>
            </a:r>
          </a:p>
          <a:p>
            <a:pPr marL="0" indent="0" algn="just">
              <a:buNone/>
            </a:pPr>
            <a:r>
              <a:rPr lang="ru-RU" i="1" dirty="0">
                <a:solidFill>
                  <a:srgbClr val="00B050"/>
                </a:solidFill>
                <a:latin typeface="YS Text"/>
              </a:rPr>
              <a:t>"""Документация модуля. Описывает работу классов и функций.</a:t>
            </a:r>
          </a:p>
          <a:p>
            <a:pPr marL="0" indent="0" algn="just">
              <a:buNone/>
            </a:pPr>
            <a:r>
              <a:rPr lang="ru-RU" i="1" dirty="0">
                <a:solidFill>
                  <a:srgbClr val="00B050"/>
                </a:solidFill>
                <a:latin typeface="YS Text"/>
              </a:rPr>
              <a:t>Размещается в верхней части файла (начиная с первой строки).</a:t>
            </a:r>
          </a:p>
          <a:p>
            <a:pPr marL="0" indent="0" algn="just">
              <a:buNone/>
            </a:pPr>
            <a:r>
              <a:rPr lang="ru-RU" i="1" dirty="0">
                <a:solidFill>
                  <a:srgbClr val="00B050"/>
                </a:solidFill>
                <a:latin typeface="YS Text"/>
              </a:rPr>
              <a:t>"""</a:t>
            </a:r>
          </a:p>
          <a:p>
            <a:pPr marL="0" indent="0" algn="just">
              <a:buNone/>
            </a:pPr>
            <a:r>
              <a:rPr lang="ru-RU" i="1" dirty="0" err="1">
                <a:solidFill>
                  <a:srgbClr val="C00000"/>
                </a:solidFill>
                <a:latin typeface="YS Text"/>
              </a:rPr>
              <a:t>def</a:t>
            </a:r>
            <a:r>
              <a:rPr lang="ru-RU" i="1" dirty="0">
                <a:solidFill>
                  <a:srgbClr val="C00000"/>
                </a:solidFill>
                <a:latin typeface="YS Text"/>
              </a:rPr>
              <a:t> </a:t>
            </a:r>
            <a:r>
              <a:rPr lang="ru-RU" i="1" dirty="0" err="1">
                <a:solidFill>
                  <a:srgbClr val="C00000"/>
                </a:solidFill>
                <a:latin typeface="YS Text"/>
              </a:rPr>
              <a:t>tricky_func</a:t>
            </a:r>
            <a:r>
              <a:rPr lang="ru-RU" i="1" dirty="0">
                <a:solidFill>
                  <a:srgbClr val="C00000"/>
                </a:solidFill>
                <a:latin typeface="YS Text"/>
              </a:rPr>
              <a:t>(</a:t>
            </a:r>
            <a:r>
              <a:rPr lang="ru-RU" i="1" dirty="0" err="1">
                <a:solidFill>
                  <a:srgbClr val="C00000"/>
                </a:solidFill>
                <a:latin typeface="YS Text"/>
              </a:rPr>
              <a:t>self</a:t>
            </a:r>
            <a:r>
              <a:rPr lang="ru-RU" i="1" dirty="0">
                <a:solidFill>
                  <a:srgbClr val="C00000"/>
                </a:solidFill>
                <a:latin typeface="YS Text"/>
              </a:rPr>
              <a:t>):</a:t>
            </a:r>
          </a:p>
          <a:p>
            <a:pPr marL="0" indent="0" algn="just">
              <a:buNone/>
            </a:pPr>
            <a:r>
              <a:rPr lang="ru-RU" i="1" dirty="0">
                <a:solidFill>
                  <a:srgbClr val="00B050"/>
                </a:solidFill>
                <a:latin typeface="YS Text"/>
              </a:rPr>
              <a:t>    """Описывает работу функции </a:t>
            </a:r>
            <a:r>
              <a:rPr lang="ru-RU" i="1" dirty="0" err="1">
                <a:solidFill>
                  <a:srgbClr val="00B050"/>
                </a:solidFill>
                <a:latin typeface="YS Text"/>
              </a:rPr>
              <a:t>tricky_func</a:t>
            </a:r>
            <a:r>
              <a:rPr lang="ru-RU" i="1" dirty="0">
                <a:solidFill>
                  <a:srgbClr val="00B050"/>
                </a:solidFill>
                <a:latin typeface="YS Text"/>
              </a:rPr>
              <a:t>.""“</a:t>
            </a:r>
          </a:p>
          <a:p>
            <a:pPr marL="0" indent="0" algn="just">
              <a:buNone/>
            </a:pPr>
            <a:r>
              <a:rPr lang="ru-RU" i="1" dirty="0">
                <a:latin typeface="YS Text"/>
              </a:rPr>
              <a:t>    </a:t>
            </a:r>
            <a:r>
              <a:rPr lang="ru-RU" i="1" dirty="0">
                <a:solidFill>
                  <a:srgbClr val="C00000"/>
                </a:solidFill>
                <a:latin typeface="YS Text"/>
              </a:rPr>
              <a:t>...</a:t>
            </a:r>
          </a:p>
          <a:p>
            <a:pPr marL="0" indent="0" algn="just">
              <a:buNone/>
            </a:pPr>
            <a:endParaRPr lang="ru-RU" i="1" dirty="0">
              <a:latin typeface="YS Text"/>
            </a:endParaRPr>
          </a:p>
          <a:p>
            <a:pPr marL="0" indent="0" algn="just">
              <a:buNone/>
            </a:pPr>
            <a:r>
              <a:rPr lang="ru-RU" i="1" dirty="0" err="1">
                <a:solidFill>
                  <a:srgbClr val="C00000"/>
                </a:solidFill>
                <a:latin typeface="YS Text"/>
              </a:rPr>
              <a:t>class</a:t>
            </a:r>
            <a:r>
              <a:rPr lang="ru-RU" i="1" dirty="0">
                <a:solidFill>
                  <a:srgbClr val="C00000"/>
                </a:solidFill>
                <a:latin typeface="YS Text"/>
              </a:rPr>
              <a:t> Test:</a:t>
            </a:r>
          </a:p>
          <a:p>
            <a:pPr marL="0" indent="0" algn="just">
              <a:buNone/>
            </a:pPr>
            <a:r>
              <a:rPr lang="ru-RU" i="1" dirty="0">
                <a:latin typeface="YS Text"/>
              </a:rPr>
              <a:t>    </a:t>
            </a:r>
            <a:r>
              <a:rPr lang="ru-RU" i="1" dirty="0">
                <a:solidFill>
                  <a:srgbClr val="00B050"/>
                </a:solidFill>
                <a:latin typeface="YS Text"/>
              </a:rPr>
              <a:t>"""Класс Test используется для демонстрации </a:t>
            </a:r>
            <a:r>
              <a:rPr lang="ru-RU" i="1" dirty="0" err="1">
                <a:solidFill>
                  <a:srgbClr val="00B050"/>
                </a:solidFill>
                <a:latin typeface="YS Text"/>
              </a:rPr>
              <a:t>docstring</a:t>
            </a:r>
            <a:r>
              <a:rPr lang="ru-RU" i="1" dirty="0">
                <a:solidFill>
                  <a:srgbClr val="00B050"/>
                </a:solidFill>
                <a:latin typeface="YS Text"/>
              </a:rPr>
              <a:t>.</a:t>
            </a:r>
          </a:p>
          <a:p>
            <a:pPr marL="0" indent="0" algn="just">
              <a:buNone/>
            </a:pPr>
            <a:r>
              <a:rPr lang="ru-RU" i="1" dirty="0">
                <a:solidFill>
                  <a:srgbClr val="00B050"/>
                </a:solidFill>
                <a:latin typeface="YS Text"/>
              </a:rPr>
              <a:t>    После </a:t>
            </a:r>
            <a:r>
              <a:rPr lang="ru-RU" i="1" dirty="0" err="1">
                <a:solidFill>
                  <a:srgbClr val="00B050"/>
                </a:solidFill>
                <a:latin typeface="YS Text"/>
              </a:rPr>
              <a:t>docstring</a:t>
            </a:r>
            <a:r>
              <a:rPr lang="ru-RU" i="1" dirty="0">
                <a:solidFill>
                  <a:srgbClr val="00B050"/>
                </a:solidFill>
                <a:latin typeface="YS Text"/>
              </a:rPr>
              <a:t> в классе нужна пустая строка.</a:t>
            </a:r>
          </a:p>
          <a:p>
            <a:pPr marL="0" indent="0" algn="just">
              <a:buNone/>
            </a:pPr>
            <a:r>
              <a:rPr lang="ru-RU" i="1" dirty="0">
                <a:solidFill>
                  <a:srgbClr val="00B050"/>
                </a:solidFill>
                <a:latin typeface="YS Text"/>
              </a:rPr>
              <a:t>    """</a:t>
            </a:r>
          </a:p>
          <a:p>
            <a:pPr marL="0" indent="0" algn="just">
              <a:buNone/>
            </a:pPr>
            <a:endParaRPr lang="ru-RU" i="1" dirty="0">
              <a:latin typeface="YS Text"/>
            </a:endParaRPr>
          </a:p>
          <a:p>
            <a:pPr marL="0" indent="0" algn="just">
              <a:buNone/>
            </a:pPr>
            <a:r>
              <a:rPr lang="ru-RU" i="1" dirty="0">
                <a:latin typeface="YS Text"/>
              </a:rPr>
              <a:t>    </a:t>
            </a:r>
            <a:r>
              <a:rPr lang="ru-RU" i="1" dirty="0" err="1">
                <a:solidFill>
                  <a:srgbClr val="C00000"/>
                </a:solidFill>
                <a:latin typeface="YS Text"/>
              </a:rPr>
              <a:t>def</a:t>
            </a:r>
            <a:r>
              <a:rPr lang="ru-RU" i="1" dirty="0">
                <a:solidFill>
                  <a:srgbClr val="C00000"/>
                </a:solidFill>
                <a:latin typeface="YS Text"/>
              </a:rPr>
              <a:t> </a:t>
            </a:r>
            <a:r>
              <a:rPr lang="ru-RU" i="1" dirty="0" err="1">
                <a:solidFill>
                  <a:srgbClr val="C00000"/>
                </a:solidFill>
                <a:latin typeface="YS Text"/>
              </a:rPr>
              <a:t>first</a:t>
            </a:r>
            <a:r>
              <a:rPr lang="ru-RU" i="1" dirty="0">
                <a:solidFill>
                  <a:srgbClr val="C00000"/>
                </a:solidFill>
                <a:latin typeface="YS Text"/>
              </a:rPr>
              <a:t>(</a:t>
            </a:r>
            <a:r>
              <a:rPr lang="ru-RU" i="1" dirty="0" err="1">
                <a:solidFill>
                  <a:srgbClr val="C00000"/>
                </a:solidFill>
                <a:latin typeface="YS Text"/>
              </a:rPr>
              <a:t>self</a:t>
            </a:r>
            <a:r>
              <a:rPr lang="ru-RU" i="1" dirty="0">
                <a:solidFill>
                  <a:srgbClr val="C00000"/>
                </a:solidFill>
                <a:latin typeface="YS Text"/>
              </a:rPr>
              <a:t>):</a:t>
            </a:r>
          </a:p>
          <a:p>
            <a:pPr marL="0" indent="0" algn="just">
              <a:buNone/>
            </a:pPr>
            <a:r>
              <a:rPr lang="ru-RU" i="1" dirty="0">
                <a:latin typeface="YS Text"/>
              </a:rPr>
              <a:t>        </a:t>
            </a:r>
            <a:r>
              <a:rPr lang="ru-RU" i="1" dirty="0">
                <a:solidFill>
                  <a:srgbClr val="00B050"/>
                </a:solidFill>
                <a:latin typeface="YS Text"/>
              </a:rPr>
              <a:t>"""Этот </a:t>
            </a:r>
            <a:r>
              <a:rPr lang="ru-RU" i="1" dirty="0" err="1">
                <a:solidFill>
                  <a:srgbClr val="00B050"/>
                </a:solidFill>
                <a:latin typeface="YS Text"/>
              </a:rPr>
              <a:t>docstring</a:t>
            </a:r>
            <a:r>
              <a:rPr lang="ru-RU" i="1" dirty="0">
                <a:solidFill>
                  <a:srgbClr val="00B050"/>
                </a:solidFill>
                <a:latin typeface="YS Text"/>
              </a:rPr>
              <a:t> описывает метод </a:t>
            </a:r>
            <a:r>
              <a:rPr lang="ru-RU" i="1" dirty="0" err="1">
                <a:solidFill>
                  <a:srgbClr val="00B050"/>
                </a:solidFill>
                <a:latin typeface="YS Text"/>
              </a:rPr>
              <a:t>first</a:t>
            </a:r>
            <a:r>
              <a:rPr lang="ru-RU" i="1" dirty="0">
                <a:solidFill>
                  <a:srgbClr val="00B050"/>
                </a:solidFill>
                <a:latin typeface="YS Text"/>
              </a:rPr>
              <a:t>().</a:t>
            </a:r>
          </a:p>
          <a:p>
            <a:pPr marL="0" indent="0" algn="just">
              <a:buNone/>
            </a:pPr>
            <a:r>
              <a:rPr lang="ru-RU" i="1" dirty="0">
                <a:solidFill>
                  <a:srgbClr val="00B050"/>
                </a:solidFill>
                <a:latin typeface="YS Text"/>
              </a:rPr>
              <a:t>        И демонстрирует перенос строки документации.</a:t>
            </a:r>
          </a:p>
          <a:p>
            <a:pPr marL="0" indent="0" algn="just">
              <a:buNone/>
            </a:pPr>
            <a:r>
              <a:rPr lang="ru-RU" i="1" dirty="0">
                <a:solidFill>
                  <a:srgbClr val="00B050"/>
                </a:solidFill>
                <a:latin typeface="YS Text"/>
              </a:rPr>
              <a:t>        """</a:t>
            </a:r>
          </a:p>
          <a:p>
            <a:pPr marL="0" indent="0" algn="just">
              <a:buNone/>
            </a:pPr>
            <a:r>
              <a:rPr lang="ru-RU" i="1" dirty="0">
                <a:latin typeface="YS Text"/>
              </a:rPr>
              <a:t>        </a:t>
            </a:r>
            <a:r>
              <a:rPr lang="ru-RU" i="1" dirty="0">
                <a:solidFill>
                  <a:srgbClr val="C00000"/>
                </a:solidFill>
                <a:latin typeface="YS Text"/>
              </a:rPr>
              <a:t>...</a:t>
            </a:r>
          </a:p>
        </p:txBody>
      </p:sp>
    </p:spTree>
    <p:extLst>
      <p:ext uri="{BB962C8B-B14F-4D97-AF65-F5344CB8AC3E}">
        <p14:creationId xmlns:p14="http://schemas.microsoft.com/office/powerpoint/2010/main" val="355072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0"/>
            <a:ext cx="10936304" cy="736890"/>
          </a:xfrm>
        </p:spPr>
        <p:txBody>
          <a:bodyPr>
            <a:normAutofit fontScale="90000"/>
          </a:bodyPr>
          <a:lstStyle/>
          <a:p>
            <a:pPr algn="ctr"/>
            <a:r>
              <a:rPr lang="ru-RU" b="1" dirty="0">
                <a:effectLst/>
                <a:latin typeface="YS Text"/>
              </a:rPr>
              <a:t>Основные правила оформления </a:t>
            </a:r>
            <a:r>
              <a:rPr lang="ru-RU" b="1" dirty="0" err="1">
                <a:effectLst/>
                <a:latin typeface="YS Text"/>
              </a:rPr>
              <a:t>докстрингов</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04345"/>
            <a:ext cx="10936304" cy="6195849"/>
          </a:xfrm>
        </p:spPr>
        <p:txBody>
          <a:bodyPr>
            <a:normAutofit fontScale="77500" lnSpcReduction="20000"/>
          </a:bodyPr>
          <a:lstStyle/>
          <a:p>
            <a:pPr marL="0" indent="0" algn="just">
              <a:buNone/>
            </a:pPr>
            <a:r>
              <a:rPr lang="ru-RU" dirty="0">
                <a:latin typeface="YS Text"/>
              </a:rPr>
              <a:t>Строки документации пишутся по определённым правилам. Соблюдение этих правил упростит чтение вашей документации и дополнительно создаст вам хорошую репутацию в команде. Правила оформления </a:t>
            </a:r>
            <a:r>
              <a:rPr lang="ru-RU" dirty="0" err="1">
                <a:latin typeface="YS Text"/>
              </a:rPr>
              <a:t>докстрингов</a:t>
            </a:r>
            <a:r>
              <a:rPr lang="ru-RU" dirty="0">
                <a:latin typeface="YS Text"/>
              </a:rPr>
              <a:t> описаны в соглашении </a:t>
            </a:r>
            <a:r>
              <a:rPr lang="ru-RU" b="1" dirty="0">
                <a:solidFill>
                  <a:srgbClr val="C00000"/>
                </a:solidFill>
                <a:latin typeface="YS Text"/>
              </a:rPr>
              <a:t>PEP 257</a:t>
            </a:r>
            <a:r>
              <a:rPr lang="ru-RU" dirty="0">
                <a:latin typeface="YS Text"/>
              </a:rPr>
              <a:t>.</a:t>
            </a:r>
          </a:p>
          <a:p>
            <a:pPr marL="0" indent="0" algn="just">
              <a:buNone/>
            </a:pPr>
            <a:r>
              <a:rPr lang="ru-RU" dirty="0">
                <a:latin typeface="YS Text"/>
              </a:rPr>
              <a:t>Согласно соглашению PEP 257, требования к оформлению </a:t>
            </a:r>
            <a:r>
              <a:rPr lang="ru-RU" dirty="0" err="1">
                <a:latin typeface="YS Text"/>
              </a:rPr>
              <a:t>докстрингов</a:t>
            </a:r>
            <a:r>
              <a:rPr lang="ru-RU" dirty="0">
                <a:latin typeface="YS Text"/>
              </a:rPr>
              <a:t> следующие:</a:t>
            </a:r>
          </a:p>
          <a:p>
            <a:pPr algn="just"/>
            <a:r>
              <a:rPr lang="ru-RU" dirty="0">
                <a:latin typeface="YS Text"/>
              </a:rPr>
              <a:t>После открывающих кавычек вида """ не должно быть пробела.</a:t>
            </a:r>
          </a:p>
          <a:p>
            <a:pPr algn="just"/>
            <a:r>
              <a:rPr lang="ru-RU" dirty="0" err="1">
                <a:latin typeface="YS Text"/>
              </a:rPr>
              <a:t>Докстринг</a:t>
            </a:r>
            <a:r>
              <a:rPr lang="ru-RU" dirty="0">
                <a:latin typeface="YS Text"/>
              </a:rPr>
              <a:t> начинается с заглавной буквы и заканчивается точкой.</a:t>
            </a:r>
          </a:p>
          <a:p>
            <a:pPr algn="just"/>
            <a:r>
              <a:rPr lang="ru-RU" b="0" i="0" dirty="0">
                <a:effectLst/>
                <a:latin typeface="YS Text"/>
              </a:rPr>
              <a:t>Если </a:t>
            </a:r>
            <a:r>
              <a:rPr lang="ru-RU" b="0" i="0" dirty="0" err="1">
                <a:effectLst/>
                <a:latin typeface="YS Text"/>
              </a:rPr>
              <a:t>докстринг</a:t>
            </a:r>
            <a:r>
              <a:rPr lang="ru-RU" b="0" i="0" dirty="0">
                <a:effectLst/>
                <a:latin typeface="YS Text"/>
              </a:rPr>
              <a:t> не умещается в одну строку, можно разбить его на несколько строк. Отступы на новой строке должны выровнять текст по кавычкам:</a:t>
            </a:r>
          </a:p>
          <a:p>
            <a:pPr marL="0" indent="0" algn="just">
              <a:buNone/>
            </a:pPr>
            <a:r>
              <a:rPr lang="ru-RU" dirty="0">
                <a:latin typeface="YS Text"/>
              </a:rPr>
              <a:t> </a:t>
            </a:r>
            <a:r>
              <a:rPr lang="ru-RU" b="1" dirty="0" err="1">
                <a:solidFill>
                  <a:schemeClr val="bg1">
                    <a:lumMod val="50000"/>
                  </a:schemeClr>
                </a:solidFill>
                <a:latin typeface="YS Text"/>
              </a:rPr>
              <a:t>def</a:t>
            </a:r>
            <a:r>
              <a:rPr lang="ru-RU" b="1" dirty="0">
                <a:solidFill>
                  <a:schemeClr val="bg1">
                    <a:lumMod val="50000"/>
                  </a:schemeClr>
                </a:solidFill>
                <a:latin typeface="YS Text"/>
              </a:rPr>
              <a:t> </a:t>
            </a:r>
            <a:r>
              <a:rPr lang="ru-RU" b="1" dirty="0" err="1">
                <a:solidFill>
                  <a:schemeClr val="bg1">
                    <a:lumMod val="50000"/>
                  </a:schemeClr>
                </a:solidFill>
                <a:latin typeface="YS Text"/>
              </a:rPr>
              <a:t>tricky_func</a:t>
            </a:r>
            <a:r>
              <a:rPr lang="ru-RU" b="1" dirty="0">
                <a:solidFill>
                  <a:schemeClr val="bg1">
                    <a:lumMod val="50000"/>
                  </a:schemeClr>
                </a:solidFill>
                <a:latin typeface="YS Text"/>
              </a:rPr>
              <a:t>():</a:t>
            </a:r>
          </a:p>
          <a:p>
            <a:pPr marL="0" indent="0" algn="just">
              <a:buNone/>
            </a:pPr>
            <a:r>
              <a:rPr lang="ru-RU" dirty="0">
                <a:solidFill>
                  <a:srgbClr val="00B050"/>
                </a:solidFill>
                <a:latin typeface="YS Text"/>
              </a:rPr>
              <a:t>      """Можно перенести</a:t>
            </a:r>
            <a:endParaRPr lang="en-US" dirty="0">
              <a:solidFill>
                <a:srgbClr val="00B050"/>
              </a:solidFill>
              <a:latin typeface="YS Text"/>
            </a:endParaRPr>
          </a:p>
          <a:p>
            <a:pPr marL="0" indent="0" algn="just">
              <a:buNone/>
            </a:pPr>
            <a:r>
              <a:rPr lang="en-US" dirty="0">
                <a:solidFill>
                  <a:srgbClr val="00B050"/>
                </a:solidFill>
                <a:latin typeface="YS Text"/>
              </a:rPr>
              <a:t>      </a:t>
            </a:r>
            <a:r>
              <a:rPr lang="ru-RU" dirty="0">
                <a:solidFill>
                  <a:srgbClr val="00B050"/>
                </a:solidFill>
                <a:latin typeface="YS Text"/>
              </a:rPr>
              <a:t>так.</a:t>
            </a:r>
          </a:p>
          <a:p>
            <a:pPr marL="0" indent="0" algn="just">
              <a:buNone/>
            </a:pPr>
            <a:r>
              <a:rPr lang="ru-RU" dirty="0">
                <a:solidFill>
                  <a:srgbClr val="00B050"/>
                </a:solidFill>
                <a:latin typeface="YS Text"/>
              </a:rPr>
              <a:t>     </a:t>
            </a:r>
            <a:r>
              <a:rPr lang="en-US" dirty="0">
                <a:solidFill>
                  <a:srgbClr val="00B050"/>
                </a:solidFill>
                <a:latin typeface="YS Text"/>
              </a:rPr>
              <a:t> </a:t>
            </a:r>
            <a:r>
              <a:rPr lang="ru-RU" dirty="0">
                <a:solidFill>
                  <a:srgbClr val="00B050"/>
                </a:solidFill>
                <a:latin typeface="YS Text"/>
              </a:rPr>
              <a:t>"""</a:t>
            </a:r>
          </a:p>
          <a:p>
            <a:pPr marL="0" indent="0" algn="just">
              <a:buNone/>
            </a:pPr>
            <a:r>
              <a:rPr lang="ru-RU" dirty="0">
                <a:latin typeface="YS Text"/>
              </a:rPr>
              <a:t>      </a:t>
            </a:r>
            <a:r>
              <a:rPr lang="ru-RU" b="1" dirty="0">
                <a:solidFill>
                  <a:schemeClr val="bg1">
                    <a:lumMod val="50000"/>
                  </a:schemeClr>
                </a:solidFill>
                <a:latin typeface="YS Text"/>
              </a:rPr>
              <a:t>...</a:t>
            </a:r>
          </a:p>
          <a:p>
            <a:pPr marL="0" indent="0" algn="just">
              <a:buNone/>
            </a:pPr>
            <a:r>
              <a:rPr lang="ru-RU" dirty="0">
                <a:latin typeface="YS Text"/>
              </a:rPr>
              <a:t>  </a:t>
            </a:r>
          </a:p>
          <a:p>
            <a:pPr marL="0" indent="0" algn="just">
              <a:buNone/>
            </a:pPr>
            <a:r>
              <a:rPr lang="ru-RU" dirty="0">
                <a:latin typeface="YS Text"/>
              </a:rPr>
              <a:t>  </a:t>
            </a:r>
            <a:r>
              <a:rPr lang="ru-RU" b="1" dirty="0" err="1">
                <a:solidFill>
                  <a:schemeClr val="bg1">
                    <a:lumMod val="50000"/>
                  </a:schemeClr>
                </a:solidFill>
                <a:latin typeface="YS Text"/>
              </a:rPr>
              <a:t>def</a:t>
            </a:r>
            <a:r>
              <a:rPr lang="ru-RU" b="1" dirty="0">
                <a:solidFill>
                  <a:schemeClr val="bg1">
                    <a:lumMod val="50000"/>
                  </a:schemeClr>
                </a:solidFill>
                <a:latin typeface="YS Text"/>
              </a:rPr>
              <a:t> </a:t>
            </a:r>
            <a:r>
              <a:rPr lang="ru-RU" b="1" dirty="0" err="1">
                <a:solidFill>
                  <a:schemeClr val="bg1">
                    <a:lumMod val="50000"/>
                  </a:schemeClr>
                </a:solidFill>
                <a:latin typeface="YS Text"/>
              </a:rPr>
              <a:t>muddy_func</a:t>
            </a:r>
            <a:r>
              <a:rPr lang="ru-RU" b="1" dirty="0">
                <a:solidFill>
                  <a:schemeClr val="bg1">
                    <a:lumMod val="50000"/>
                  </a:schemeClr>
                </a:solidFill>
                <a:latin typeface="YS Text"/>
              </a:rPr>
              <a:t>():</a:t>
            </a:r>
          </a:p>
          <a:p>
            <a:pPr marL="0" indent="0" algn="just">
              <a:buNone/>
            </a:pPr>
            <a:r>
              <a:rPr lang="ru-RU" dirty="0">
                <a:solidFill>
                  <a:srgbClr val="00B050"/>
                </a:solidFill>
                <a:latin typeface="YS Text"/>
              </a:rPr>
              <a:t>      """</a:t>
            </a:r>
          </a:p>
          <a:p>
            <a:pPr marL="0" indent="0" algn="just">
              <a:buNone/>
            </a:pPr>
            <a:r>
              <a:rPr lang="ru-RU" dirty="0">
                <a:solidFill>
                  <a:srgbClr val="00B050"/>
                </a:solidFill>
                <a:latin typeface="YS Text"/>
              </a:rPr>
              <a:t>      А можно -</a:t>
            </a:r>
          </a:p>
          <a:p>
            <a:pPr marL="0" indent="0" algn="just">
              <a:buNone/>
            </a:pPr>
            <a:r>
              <a:rPr lang="ru-RU" dirty="0">
                <a:solidFill>
                  <a:srgbClr val="00B050"/>
                </a:solidFill>
                <a:latin typeface="YS Text"/>
              </a:rPr>
              <a:t>      так.</a:t>
            </a:r>
          </a:p>
          <a:p>
            <a:pPr marL="0" indent="0" algn="just">
              <a:buNone/>
            </a:pPr>
            <a:r>
              <a:rPr lang="ru-RU" dirty="0">
                <a:solidFill>
                  <a:srgbClr val="00B050"/>
                </a:solidFill>
                <a:latin typeface="YS Text"/>
              </a:rPr>
              <a:t>      """</a:t>
            </a:r>
          </a:p>
          <a:p>
            <a:pPr marL="0" indent="0" algn="just">
              <a:buNone/>
            </a:pPr>
            <a:r>
              <a:rPr lang="ru-RU" dirty="0">
                <a:latin typeface="YS Text"/>
              </a:rPr>
              <a:t>      </a:t>
            </a:r>
            <a:r>
              <a:rPr lang="ru-RU" b="1" dirty="0">
                <a:solidFill>
                  <a:schemeClr val="bg1">
                    <a:lumMod val="50000"/>
                  </a:schemeClr>
                </a:solidFill>
                <a:latin typeface="YS Text"/>
              </a:rPr>
              <a:t>...</a:t>
            </a:r>
          </a:p>
          <a:p>
            <a:pPr marL="0" indent="0" algn="just">
              <a:buNone/>
            </a:pPr>
            <a:endParaRPr lang="ru-RU" dirty="0">
              <a:latin typeface="YS Text"/>
            </a:endParaRPr>
          </a:p>
        </p:txBody>
      </p:sp>
    </p:spTree>
    <p:extLst>
      <p:ext uri="{BB962C8B-B14F-4D97-AF65-F5344CB8AC3E}">
        <p14:creationId xmlns:p14="http://schemas.microsoft.com/office/powerpoint/2010/main" val="313005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algn="just"/>
            <a:r>
              <a:rPr lang="ru-RU" dirty="0">
                <a:latin typeface="YS Text"/>
              </a:rPr>
              <a:t>Если документируется класс, после строки документации оставляется пустая строка. В остальных случаях код должен начинаться сразу после </a:t>
            </a:r>
            <a:r>
              <a:rPr lang="ru-RU" dirty="0" err="1">
                <a:latin typeface="YS Text"/>
              </a:rPr>
              <a:t>докстринга</a:t>
            </a:r>
            <a:r>
              <a:rPr lang="ru-RU" dirty="0">
                <a:latin typeface="YS Text"/>
              </a:rPr>
              <a:t>.</a:t>
            </a:r>
          </a:p>
          <a:p>
            <a:pPr algn="just"/>
            <a:r>
              <a:rPr lang="ru-RU" dirty="0">
                <a:latin typeface="YS Text"/>
              </a:rPr>
              <a:t>Пакеты документируются в файле __init__.py. </a:t>
            </a:r>
            <a:r>
              <a:rPr lang="ru-RU" dirty="0" err="1">
                <a:latin typeface="YS Text"/>
              </a:rPr>
              <a:t>Докстринг</a:t>
            </a:r>
            <a:r>
              <a:rPr lang="ru-RU" dirty="0">
                <a:latin typeface="YS Text"/>
              </a:rPr>
              <a:t> должен находиться в самом начале файла. В </a:t>
            </a:r>
            <a:r>
              <a:rPr lang="ru-RU" dirty="0" err="1">
                <a:latin typeface="YS Text"/>
              </a:rPr>
              <a:t>докстринге</a:t>
            </a:r>
            <a:r>
              <a:rPr lang="ru-RU" dirty="0">
                <a:latin typeface="YS Text"/>
              </a:rPr>
              <a:t> пакета обычно указывают:</a:t>
            </a:r>
          </a:p>
          <a:p>
            <a:pPr marL="0" indent="0" algn="just">
              <a:buNone/>
            </a:pPr>
            <a:r>
              <a:rPr lang="ru-RU" dirty="0">
                <a:latin typeface="YS Text"/>
              </a:rPr>
              <a:t>	- описание пакета;</a:t>
            </a:r>
          </a:p>
          <a:p>
            <a:pPr marL="0" indent="0" algn="just">
              <a:buNone/>
            </a:pPr>
            <a:r>
              <a:rPr lang="ru-RU" dirty="0">
                <a:latin typeface="YS Text"/>
              </a:rPr>
              <a:t>	- список модулей и пакетов, которые экспортирует описываемый модуль;</a:t>
            </a:r>
          </a:p>
          <a:p>
            <a:pPr marL="0" indent="0" algn="just">
              <a:buNone/>
            </a:pPr>
            <a:r>
              <a:rPr lang="ru-RU" dirty="0">
                <a:latin typeface="YS Text"/>
              </a:rPr>
              <a:t>	- имя автора кода;</a:t>
            </a:r>
          </a:p>
          <a:p>
            <a:pPr marL="0" indent="0" algn="just">
              <a:buNone/>
            </a:pPr>
            <a:r>
              <a:rPr lang="ru-RU" dirty="0">
                <a:latin typeface="YS Text"/>
              </a:rPr>
              <a:t>	 -контактные данные.</a:t>
            </a:r>
            <a:endParaRPr lang="ru-RU" i="1" dirty="0">
              <a:latin typeface="YS Text"/>
            </a:endParaRPr>
          </a:p>
        </p:txBody>
      </p:sp>
    </p:spTree>
    <p:extLst>
      <p:ext uri="{BB962C8B-B14F-4D97-AF65-F5344CB8AC3E}">
        <p14:creationId xmlns:p14="http://schemas.microsoft.com/office/powerpoint/2010/main" val="2499223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Главное преимущество </a:t>
            </a:r>
            <a:r>
              <a:rPr lang="ru-RU" sz="4900" b="1" dirty="0" err="1">
                <a:effectLst/>
                <a:latin typeface="YS Text"/>
              </a:rPr>
              <a:t>докстрингов</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normAutofit fontScale="92500"/>
          </a:bodyPr>
          <a:lstStyle/>
          <a:p>
            <a:pPr marL="0" indent="0" algn="just">
              <a:buNone/>
            </a:pPr>
            <a:r>
              <a:rPr lang="ru-RU" dirty="0">
                <a:latin typeface="YS Text"/>
              </a:rPr>
              <a:t>К </a:t>
            </a:r>
            <a:r>
              <a:rPr lang="ru-RU" dirty="0" err="1">
                <a:latin typeface="YS Text"/>
              </a:rPr>
              <a:t>докстрингам</a:t>
            </a:r>
            <a:r>
              <a:rPr lang="ru-RU" dirty="0">
                <a:latin typeface="YS Text"/>
              </a:rPr>
              <a:t> можно обращаться </a:t>
            </a:r>
            <a:r>
              <a:rPr lang="ru-RU" dirty="0" err="1">
                <a:latin typeface="YS Text"/>
              </a:rPr>
              <a:t>программно</a:t>
            </a:r>
            <a:r>
              <a:rPr lang="ru-RU" dirty="0">
                <a:latin typeface="YS Text"/>
              </a:rPr>
              <a:t>. Например, вы можете отобразить в терминале </a:t>
            </a:r>
            <a:r>
              <a:rPr lang="ru-RU" dirty="0" err="1">
                <a:latin typeface="YS Text"/>
              </a:rPr>
              <a:t>докстринг</a:t>
            </a:r>
            <a:r>
              <a:rPr lang="ru-RU" dirty="0">
                <a:latin typeface="YS Text"/>
              </a:rPr>
              <a:t> импортируемой функции, не открывая файл, в котором эта функция определена.</a:t>
            </a:r>
          </a:p>
          <a:p>
            <a:pPr marL="0" indent="0" algn="just">
              <a:buNone/>
            </a:pPr>
            <a:r>
              <a:rPr lang="ru-RU" dirty="0">
                <a:latin typeface="YS Text"/>
              </a:rPr>
              <a:t>Для того чтобы получить </a:t>
            </a:r>
            <a:r>
              <a:rPr lang="ru-RU" dirty="0" err="1">
                <a:latin typeface="YS Text"/>
              </a:rPr>
              <a:t>докстринг</a:t>
            </a:r>
            <a:r>
              <a:rPr lang="ru-RU" dirty="0">
                <a:latin typeface="YS Text"/>
              </a:rPr>
              <a:t> какого-либо объекта, используется </a:t>
            </a:r>
            <a:r>
              <a:rPr lang="ru-RU" sz="2400" b="1" dirty="0">
                <a:solidFill>
                  <a:schemeClr val="accent6">
                    <a:lumMod val="50000"/>
                  </a:schemeClr>
                </a:solidFill>
                <a:latin typeface="YS Text"/>
              </a:rPr>
              <a:t>атрибут __</a:t>
            </a:r>
            <a:r>
              <a:rPr lang="ru-RU" sz="2400" b="1" dirty="0" err="1">
                <a:solidFill>
                  <a:schemeClr val="accent6">
                    <a:lumMod val="50000"/>
                  </a:schemeClr>
                </a:solidFill>
                <a:latin typeface="YS Text"/>
              </a:rPr>
              <a:t>doc</a:t>
            </a:r>
            <a:r>
              <a:rPr lang="ru-RU" sz="2400" b="1" dirty="0">
                <a:solidFill>
                  <a:schemeClr val="accent6">
                    <a:lumMod val="50000"/>
                  </a:schemeClr>
                </a:solidFill>
                <a:latin typeface="YS Text"/>
              </a:rPr>
              <a:t>__</a:t>
            </a:r>
            <a:r>
              <a:rPr lang="ru-RU" dirty="0">
                <a:latin typeface="YS Text"/>
              </a:rPr>
              <a:t>. Python автоматически создаёт этот атрибут для всех объектов.</a:t>
            </a:r>
          </a:p>
          <a:p>
            <a:pPr marL="0" indent="0" algn="just">
              <a:buNone/>
            </a:pPr>
            <a:r>
              <a:rPr lang="ru-RU" i="1" dirty="0">
                <a:latin typeface="YS Text"/>
              </a:rPr>
              <a:t>	</a:t>
            </a:r>
            <a:r>
              <a:rPr lang="en-US" sz="1800" b="0" i="0" dirty="0">
                <a:solidFill>
                  <a:srgbClr val="C678DD"/>
                </a:solidFill>
                <a:effectLst/>
                <a:latin typeface="Menlo"/>
              </a:rPr>
              <a:t>import</a:t>
            </a:r>
            <a:r>
              <a:rPr lang="en-US" sz="1800" b="0" i="0" dirty="0">
                <a:effectLst/>
                <a:latin typeface="Menlo"/>
              </a:rPr>
              <a:t> math </a:t>
            </a:r>
            <a:endParaRPr lang="ru-RU" sz="1800" b="0" i="0" dirty="0">
              <a:effectLst/>
              <a:latin typeface="Menlo"/>
            </a:endParaRPr>
          </a:p>
          <a:p>
            <a:pPr marL="0" indent="0" algn="just">
              <a:buNone/>
            </a:pPr>
            <a:endParaRPr lang="ru-RU" sz="1800" dirty="0">
              <a:solidFill>
                <a:srgbClr val="5C6370"/>
              </a:solidFill>
              <a:latin typeface="Menlo"/>
            </a:endParaRPr>
          </a:p>
          <a:p>
            <a:pPr marL="0" indent="0" algn="just">
              <a:buNone/>
            </a:pPr>
            <a:r>
              <a:rPr lang="ru-RU" sz="1800" b="0" i="1" dirty="0">
                <a:solidFill>
                  <a:srgbClr val="5C6370"/>
                </a:solidFill>
                <a:effectLst/>
                <a:latin typeface="Menlo"/>
              </a:rPr>
              <a:t>	</a:t>
            </a:r>
            <a:r>
              <a:rPr lang="en-US" sz="1800" b="0" i="1" dirty="0">
                <a:solidFill>
                  <a:srgbClr val="5C6370"/>
                </a:solidFill>
                <a:effectLst/>
                <a:latin typeface="Menlo"/>
              </a:rPr>
              <a:t># </a:t>
            </a:r>
            <a:r>
              <a:rPr lang="ru-RU" sz="1800" b="0" i="1" dirty="0">
                <a:solidFill>
                  <a:srgbClr val="5C6370"/>
                </a:solidFill>
                <a:effectLst/>
                <a:latin typeface="Menlo"/>
              </a:rPr>
              <a:t>Что хорошего есть в библиотеке </a:t>
            </a:r>
            <a:r>
              <a:rPr lang="en-US" sz="1800" b="0" i="1" dirty="0">
                <a:solidFill>
                  <a:srgbClr val="5C6370"/>
                </a:solidFill>
                <a:effectLst/>
                <a:latin typeface="Menlo"/>
              </a:rPr>
              <a:t>math?</a:t>
            </a:r>
            <a:endParaRPr lang="ru-RU" sz="1800" dirty="0">
              <a:solidFill>
                <a:srgbClr val="5C6370"/>
              </a:solidFill>
              <a:latin typeface="Menlo"/>
            </a:endParaRPr>
          </a:p>
          <a:p>
            <a:pPr marL="0" indent="0" algn="just">
              <a:buNone/>
            </a:pPr>
            <a:r>
              <a:rPr lang="ru-RU" sz="1800" b="0" i="0" dirty="0">
                <a:solidFill>
                  <a:srgbClr val="5C6370"/>
                </a:solidFill>
                <a:effectLst/>
                <a:latin typeface="Menlo"/>
              </a:rPr>
              <a:t>	</a:t>
            </a:r>
            <a:r>
              <a:rPr lang="en-US" sz="1800" b="0" i="0" dirty="0">
                <a:solidFill>
                  <a:srgbClr val="CA8D3D"/>
                </a:solidFill>
                <a:effectLst/>
                <a:latin typeface="Menlo"/>
              </a:rPr>
              <a:t>print</a:t>
            </a:r>
            <a:r>
              <a:rPr lang="en-US" sz="1800" b="0" i="0" dirty="0">
                <a:effectLst/>
                <a:latin typeface="Menlo"/>
              </a:rPr>
              <a:t>(</a:t>
            </a:r>
            <a:r>
              <a:rPr lang="en-US" sz="1800" b="0" i="0" dirty="0" err="1">
                <a:effectLst/>
                <a:latin typeface="Menlo"/>
              </a:rPr>
              <a:t>math.__doc</a:t>
            </a:r>
            <a:r>
              <a:rPr lang="en-US" sz="1800" b="0" i="0" dirty="0">
                <a:effectLst/>
                <a:latin typeface="Menlo"/>
              </a:rPr>
              <a:t>__) </a:t>
            </a:r>
            <a:endParaRPr lang="ru-RU" sz="1800" b="0" i="0" dirty="0">
              <a:effectLst/>
              <a:latin typeface="Menlo"/>
            </a:endParaRPr>
          </a:p>
          <a:p>
            <a:pPr marL="0" indent="0" algn="just">
              <a:buNone/>
            </a:pPr>
            <a:r>
              <a:rPr lang="ru-RU" dirty="0">
                <a:latin typeface="YS Text"/>
              </a:rPr>
              <a:t>В терминал должен вывестись </a:t>
            </a:r>
            <a:r>
              <a:rPr lang="ru-RU" dirty="0" err="1">
                <a:latin typeface="YS Text"/>
              </a:rPr>
              <a:t>докстринг</a:t>
            </a:r>
            <a:r>
              <a:rPr lang="ru-RU" dirty="0">
                <a:latin typeface="YS Text"/>
              </a:rPr>
              <a:t> библиотеки </a:t>
            </a:r>
            <a:r>
              <a:rPr lang="ru-RU" b="1" dirty="0" err="1">
                <a:latin typeface="YS Text"/>
              </a:rPr>
              <a:t>math</a:t>
            </a:r>
            <a:r>
              <a:rPr lang="ru-RU" dirty="0">
                <a:latin typeface="YS Text"/>
              </a:rPr>
              <a:t>:</a:t>
            </a:r>
          </a:p>
          <a:p>
            <a:pPr marL="0" indent="0" algn="just">
              <a:buNone/>
            </a:pPr>
            <a:r>
              <a:rPr lang="ru-RU" dirty="0">
                <a:latin typeface="YS Text"/>
              </a:rPr>
              <a:t>	</a:t>
            </a:r>
            <a:r>
              <a:rPr lang="en-US" b="0" i="0" dirty="0">
                <a:effectLst/>
                <a:latin typeface="Menlo"/>
              </a:rPr>
              <a:t>This module provides access to the mathematical </a:t>
            </a:r>
            <a:r>
              <a:rPr lang="en-US" b="0" i="0" dirty="0">
                <a:solidFill>
                  <a:srgbClr val="CA8D3D"/>
                </a:solidFill>
                <a:effectLst/>
                <a:latin typeface="Menlo"/>
              </a:rPr>
              <a:t>functions</a:t>
            </a:r>
            <a:r>
              <a:rPr lang="en-US" b="0" i="0" dirty="0">
                <a:effectLst/>
                <a:latin typeface="Menlo"/>
              </a:rPr>
              <a:t> defined by the C standard. </a:t>
            </a:r>
            <a:endParaRPr lang="ru-RU" b="0" i="0" dirty="0">
              <a:effectLst/>
              <a:latin typeface="YS Text"/>
            </a:endParaRPr>
          </a:p>
          <a:p>
            <a:pPr marL="0" indent="0" algn="just">
              <a:buNone/>
            </a:pPr>
            <a:endParaRPr lang="ru-RU" dirty="0">
              <a:latin typeface="YS Text"/>
            </a:endParaRPr>
          </a:p>
          <a:p>
            <a:pPr marL="0" indent="0" algn="just">
              <a:buNone/>
            </a:pPr>
            <a:r>
              <a:rPr lang="ru-RU" sz="2400" b="1" dirty="0">
                <a:solidFill>
                  <a:schemeClr val="accent6">
                    <a:lumMod val="50000"/>
                  </a:schemeClr>
                </a:solidFill>
                <a:latin typeface="YS Text"/>
              </a:rPr>
              <a:t>Программа будет работать и без </a:t>
            </a:r>
            <a:r>
              <a:rPr lang="ru-RU" sz="2400" b="1" dirty="0" err="1">
                <a:solidFill>
                  <a:schemeClr val="accent6">
                    <a:lumMod val="50000"/>
                  </a:schemeClr>
                </a:solidFill>
                <a:latin typeface="YS Text"/>
              </a:rPr>
              <a:t>докстингов</a:t>
            </a:r>
            <a:r>
              <a:rPr lang="ru-RU" sz="2400" b="1" dirty="0">
                <a:solidFill>
                  <a:schemeClr val="accent6">
                    <a:lumMod val="50000"/>
                  </a:schemeClr>
                </a:solidFill>
                <a:latin typeface="YS Text"/>
              </a:rPr>
              <a:t>. Однако </a:t>
            </a:r>
            <a:r>
              <a:rPr lang="ru-RU" sz="2400" b="1" dirty="0" err="1">
                <a:solidFill>
                  <a:schemeClr val="accent6">
                    <a:lumMod val="50000"/>
                  </a:schemeClr>
                </a:solidFill>
                <a:latin typeface="YS Text"/>
              </a:rPr>
              <a:t>докстринги</a:t>
            </a:r>
            <a:r>
              <a:rPr lang="ru-RU" sz="2400" b="1" dirty="0">
                <a:solidFill>
                  <a:schemeClr val="accent6">
                    <a:lumMod val="50000"/>
                  </a:schemeClr>
                </a:solidFill>
                <a:latin typeface="YS Text"/>
              </a:rPr>
              <a:t> применяют во всех крупных проектах. </a:t>
            </a:r>
            <a:r>
              <a:rPr lang="ru-RU" sz="2400" b="1" i="0" dirty="0" err="1">
                <a:solidFill>
                  <a:schemeClr val="accent6">
                    <a:lumMod val="50000"/>
                  </a:schemeClr>
                </a:solidFill>
                <a:effectLst/>
                <a:latin typeface="YS Text"/>
              </a:rPr>
              <a:t>Докстринг</a:t>
            </a:r>
            <a:r>
              <a:rPr lang="ru-RU" sz="2400" b="1" i="0" dirty="0">
                <a:solidFill>
                  <a:schemeClr val="accent6">
                    <a:lumMod val="50000"/>
                  </a:schemeClr>
                </a:solidFill>
                <a:effectLst/>
                <a:latin typeface="YS Text"/>
              </a:rPr>
              <a:t> — это и признак уважения, и реальная помощь коллегам, работающим с кодом. Это признак хорошего тона и профессионализма.</a:t>
            </a:r>
            <a:r>
              <a:rPr lang="en-US" sz="2400" b="1" i="0" dirty="0">
                <a:solidFill>
                  <a:schemeClr val="accent6">
                    <a:lumMod val="50000"/>
                  </a:schemeClr>
                </a:solidFill>
                <a:effectLst/>
                <a:latin typeface="YS Text"/>
              </a:rPr>
              <a:t> </a:t>
            </a:r>
          </a:p>
          <a:p>
            <a:pPr marL="0" indent="0" algn="just">
              <a:buNone/>
            </a:pPr>
            <a:r>
              <a:rPr lang="en-US" sz="2400" b="0" i="0" dirty="0">
                <a:solidFill>
                  <a:srgbClr val="0070C0"/>
                </a:solidFill>
                <a:effectLst/>
                <a:latin typeface="YS Text"/>
                <a:hlinkClick r:id="rId2">
                  <a:extLst>
                    <a:ext uri="{A12FA001-AC4F-418D-AE19-62706E023703}">
                      <ahyp:hlinkClr xmlns:ahyp="http://schemas.microsoft.com/office/drawing/2018/hyperlinkcolor" val="tx"/>
                    </a:ext>
                  </a:extLst>
                </a:hlinkClick>
              </a:rPr>
              <a:t>PEP 257 — Docstring Conventions</a:t>
            </a:r>
            <a:endParaRPr lang="ru-RU" sz="2400" b="1" dirty="0">
              <a:solidFill>
                <a:srgbClr val="0070C0"/>
              </a:solidFill>
              <a:latin typeface="YS Text"/>
            </a:endParaRPr>
          </a:p>
        </p:txBody>
      </p:sp>
    </p:spTree>
    <p:extLst>
      <p:ext uri="{BB962C8B-B14F-4D97-AF65-F5344CB8AC3E}">
        <p14:creationId xmlns:p14="http://schemas.microsoft.com/office/powerpoint/2010/main" val="2478495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5400" b="1" dirty="0">
                <a:solidFill>
                  <a:schemeClr val="tx1">
                    <a:lumMod val="95000"/>
                    <a:lumOff val="5000"/>
                  </a:schemeClr>
                </a:solidFill>
                <a:latin typeface="YS Text"/>
              </a:rPr>
              <a:t>Исключения</a:t>
            </a:r>
            <a:endParaRPr lang="ru-RU" sz="5400" dirty="0">
              <a:solidFill>
                <a:schemeClr val="tx1">
                  <a:lumMod val="95000"/>
                  <a:lumOff val="5000"/>
                </a:schemeClr>
              </a:solidFill>
            </a:endParaRPr>
          </a:p>
        </p:txBody>
      </p:sp>
    </p:spTree>
    <p:extLst>
      <p:ext uri="{BB962C8B-B14F-4D97-AF65-F5344CB8AC3E}">
        <p14:creationId xmlns:p14="http://schemas.microsoft.com/office/powerpoint/2010/main" val="65999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Что такое исключения в Python</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Исключения в Python — это события, которые возникают во время выполнения программы и сигнализируют о том, что что-то пошло не так, как ожидалось. Эти события случаются по разным причинам:</a:t>
            </a:r>
          </a:p>
          <a:p>
            <a:pPr algn="just"/>
            <a:r>
              <a:rPr lang="ru-RU" dirty="0">
                <a:latin typeface="YS Text"/>
              </a:rPr>
              <a:t>ошибка в коде,</a:t>
            </a:r>
          </a:p>
          <a:p>
            <a:pPr algn="just"/>
            <a:r>
              <a:rPr lang="ru-RU" dirty="0">
                <a:latin typeface="YS Text"/>
              </a:rPr>
              <a:t>неправильные входные данные,</a:t>
            </a:r>
          </a:p>
          <a:p>
            <a:pPr algn="just"/>
            <a:r>
              <a:rPr lang="ru-RU" dirty="0">
                <a:latin typeface="YS Text"/>
              </a:rPr>
              <a:t>нехватка памяти,</a:t>
            </a:r>
            <a:r>
              <a:rPr lang="en-US" dirty="0">
                <a:latin typeface="YS Text"/>
              </a:rPr>
              <a:t> </a:t>
            </a:r>
          </a:p>
          <a:p>
            <a:pPr marL="0" indent="0" algn="just">
              <a:buNone/>
            </a:pPr>
            <a:r>
              <a:rPr lang="ru-RU" dirty="0">
                <a:latin typeface="YS Text"/>
              </a:rPr>
              <a:t>и так далее.</a:t>
            </a:r>
            <a:endParaRPr lang="en-US" dirty="0">
              <a:latin typeface="YS Text"/>
            </a:endParaRPr>
          </a:p>
          <a:p>
            <a:pPr marL="0" indent="0" algn="just">
              <a:buNone/>
            </a:pPr>
            <a:endParaRPr lang="en-US" dirty="0">
              <a:latin typeface="YS Text"/>
            </a:endParaRPr>
          </a:p>
          <a:p>
            <a:pPr marL="0" indent="0" algn="just">
              <a:buNone/>
            </a:pPr>
            <a:r>
              <a:rPr lang="ru-RU" sz="2400" b="1" dirty="0">
                <a:solidFill>
                  <a:schemeClr val="accent6">
                    <a:lumMod val="50000"/>
                  </a:schemeClr>
                </a:solidFill>
                <a:latin typeface="YS Text"/>
              </a:rPr>
              <a:t>Исключение — это не ошибка. Но исключение может быть результатом ошибки.</a:t>
            </a:r>
            <a:endParaRPr lang="en-US" sz="2400" b="1" dirty="0">
              <a:solidFill>
                <a:schemeClr val="accent6">
                  <a:lumMod val="50000"/>
                </a:schemeClr>
              </a:solidFill>
              <a:latin typeface="YS Text"/>
            </a:endParaRPr>
          </a:p>
          <a:p>
            <a:pPr marL="0" indent="0" algn="just">
              <a:buNone/>
            </a:pPr>
            <a:r>
              <a:rPr lang="ru-RU" sz="2400" b="1" dirty="0">
                <a:latin typeface="YS Text"/>
              </a:rPr>
              <a:t>Ошибка</a:t>
            </a:r>
            <a:r>
              <a:rPr lang="ru-RU" dirty="0">
                <a:latin typeface="YS Text"/>
              </a:rPr>
              <a:t> обычно относится к более широкой категории проблем. Она указывает на некорректное состояние программы, которое может привести к её аварийному завершению. </a:t>
            </a:r>
          </a:p>
          <a:p>
            <a:pPr marL="0" indent="0" algn="just">
              <a:buNone/>
            </a:pPr>
            <a:r>
              <a:rPr lang="ru-RU" sz="2400" b="1" dirty="0">
                <a:latin typeface="YS Text"/>
              </a:rPr>
              <a:t>Исключение</a:t>
            </a:r>
            <a:r>
              <a:rPr lang="ru-RU" dirty="0">
                <a:latin typeface="YS Text"/>
              </a:rPr>
              <a:t> — это специальный механизм, который позволяет обрабатывать ошибки и управлять ими. Так работа кода становится более предсказуемой и контролируемой. </a:t>
            </a:r>
          </a:p>
        </p:txBody>
      </p:sp>
    </p:spTree>
    <p:extLst>
      <p:ext uri="{BB962C8B-B14F-4D97-AF65-F5344CB8AC3E}">
        <p14:creationId xmlns:p14="http://schemas.microsoft.com/office/powerpoint/2010/main" val="289458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Встроенные в </a:t>
            </a:r>
            <a:r>
              <a:rPr lang="en-US" sz="4900" b="1" dirty="0">
                <a:effectLst/>
                <a:latin typeface="YS Text"/>
              </a:rPr>
              <a:t>Python </a:t>
            </a:r>
            <a:r>
              <a:rPr lang="ru-RU" sz="4900" b="1" dirty="0">
                <a:effectLst/>
                <a:latin typeface="YS Text"/>
              </a:rPr>
              <a:t>исключения</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В Python встроено множество исключений, которые предупреждают о разных типах ошибок или ситуациях, возникающих во время выполнения программы.</a:t>
            </a:r>
          </a:p>
          <a:p>
            <a:pPr marL="0" indent="0" algn="just">
              <a:buNone/>
            </a:pPr>
            <a:r>
              <a:rPr lang="ru-RU" dirty="0">
                <a:latin typeface="YS Text"/>
              </a:rPr>
              <a:t>Вот некоторые исключения, с которыми вы можете столкнуться:</a:t>
            </a:r>
          </a:p>
          <a:p>
            <a:pPr algn="just"/>
            <a:r>
              <a:rPr lang="ru-RU" b="1" dirty="0" err="1">
                <a:latin typeface="YS Text"/>
              </a:rPr>
              <a:t>ZeroDivisionError</a:t>
            </a:r>
            <a:r>
              <a:rPr lang="ru-RU" b="1" dirty="0">
                <a:latin typeface="YS Text"/>
              </a:rPr>
              <a:t> </a:t>
            </a:r>
            <a:r>
              <a:rPr lang="ru-RU" dirty="0">
                <a:latin typeface="YS Text"/>
              </a:rPr>
              <a:t>— деление на ноль.</a:t>
            </a:r>
          </a:p>
          <a:p>
            <a:pPr algn="just"/>
            <a:r>
              <a:rPr lang="ru-RU" b="1" dirty="0" err="1">
                <a:latin typeface="YS Text"/>
              </a:rPr>
              <a:t>ImportError</a:t>
            </a:r>
            <a:r>
              <a:rPr lang="ru-RU" dirty="0">
                <a:latin typeface="YS Text"/>
              </a:rPr>
              <a:t> — проблемы с импортом модулей и пакетов.</a:t>
            </a:r>
          </a:p>
          <a:p>
            <a:pPr algn="just"/>
            <a:r>
              <a:rPr lang="ru-RU" b="1" dirty="0" err="1">
                <a:latin typeface="YS Text"/>
              </a:rPr>
              <a:t>IndexError</a:t>
            </a:r>
            <a:r>
              <a:rPr lang="ru-RU" dirty="0">
                <a:latin typeface="YS Text"/>
              </a:rPr>
              <a:t> — индекс последовательности находится вне допустимого диапазона.</a:t>
            </a:r>
          </a:p>
          <a:p>
            <a:pPr algn="just"/>
            <a:r>
              <a:rPr lang="ru-RU" b="1" dirty="0" err="1">
                <a:latin typeface="YS Text"/>
              </a:rPr>
              <a:t>KeyError</a:t>
            </a:r>
            <a:r>
              <a:rPr lang="ru-RU" b="1" dirty="0">
                <a:latin typeface="YS Text"/>
              </a:rPr>
              <a:t> </a:t>
            </a:r>
            <a:r>
              <a:rPr lang="ru-RU" dirty="0">
                <a:latin typeface="YS Text"/>
              </a:rPr>
              <a:t>— ключ словаря не найден в наборе существующих ключей.</a:t>
            </a:r>
          </a:p>
          <a:p>
            <a:pPr algn="just"/>
            <a:r>
              <a:rPr lang="ru-RU" b="1" dirty="0" err="1">
                <a:latin typeface="YS Text"/>
              </a:rPr>
              <a:t>SyntaxError</a:t>
            </a:r>
            <a:r>
              <a:rPr lang="ru-RU" dirty="0">
                <a:latin typeface="YS Text"/>
              </a:rPr>
              <a:t> — синтаксическая ошибка.</a:t>
            </a:r>
          </a:p>
          <a:p>
            <a:pPr algn="just"/>
            <a:r>
              <a:rPr lang="ru-RU" b="1" dirty="0" err="1">
                <a:latin typeface="YS Text"/>
              </a:rPr>
              <a:t>TypeError</a:t>
            </a:r>
            <a:r>
              <a:rPr lang="ru-RU" dirty="0">
                <a:latin typeface="YS Text"/>
              </a:rPr>
              <a:t> — операция применяется к объекту несоответствующего типа.</a:t>
            </a:r>
          </a:p>
          <a:p>
            <a:pPr algn="just"/>
            <a:r>
              <a:rPr lang="ru-RU" b="1" dirty="0" err="1">
                <a:latin typeface="YS Text"/>
              </a:rPr>
              <a:t>ValueError</a:t>
            </a:r>
            <a:r>
              <a:rPr lang="ru-RU" dirty="0">
                <a:latin typeface="YS Text"/>
              </a:rPr>
              <a:t> — функция получила аргумент правильного типа, но с недопустимым значением.</a:t>
            </a:r>
            <a:endParaRPr lang="en-US" dirty="0">
              <a:latin typeface="YS Text"/>
            </a:endParaRPr>
          </a:p>
          <a:p>
            <a:pPr algn="just"/>
            <a:endParaRPr lang="en-US" i="1" dirty="0">
              <a:latin typeface="YS Text"/>
            </a:endParaRPr>
          </a:p>
          <a:p>
            <a:pPr marL="0" indent="0" algn="just">
              <a:buNone/>
            </a:pPr>
            <a:r>
              <a:rPr lang="ru-RU" dirty="0">
                <a:latin typeface="YS Text"/>
              </a:rPr>
              <a:t>Программисты могут не только использовать стандартные исключения, но и создавать собственные. Для этого нужно создать новый класс, унаследованный от встроенного класса </a:t>
            </a:r>
            <a:r>
              <a:rPr lang="ru-RU" sz="2400" b="1" dirty="0" err="1">
                <a:solidFill>
                  <a:schemeClr val="accent6">
                    <a:lumMod val="50000"/>
                  </a:schemeClr>
                </a:solidFill>
                <a:latin typeface="YS Text"/>
              </a:rPr>
              <a:t>Exception</a:t>
            </a:r>
            <a:r>
              <a:rPr lang="ru-RU" dirty="0">
                <a:latin typeface="YS Text"/>
              </a:rPr>
              <a:t>.</a:t>
            </a:r>
          </a:p>
        </p:txBody>
      </p:sp>
    </p:spTree>
    <p:extLst>
      <p:ext uri="{BB962C8B-B14F-4D97-AF65-F5344CB8AC3E}">
        <p14:creationId xmlns:p14="http://schemas.microsoft.com/office/powerpoint/2010/main" val="2884144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a:effectLst/>
                <a:latin typeface="YS Text"/>
              </a:rPr>
              <a:t>Как описать собственное исключение</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Чтобы описать собственное исключение, нужно:</a:t>
            </a:r>
          </a:p>
          <a:p>
            <a:pPr marL="457200" indent="-457200" algn="just">
              <a:buFont typeface="+mj-lt"/>
              <a:buAutoNum type="arabicPeriod"/>
            </a:pPr>
            <a:r>
              <a:rPr lang="ru-RU" dirty="0">
                <a:latin typeface="YS Text"/>
              </a:rPr>
              <a:t>Создать новый класс, который наследуется от встроенного класса </a:t>
            </a:r>
            <a:r>
              <a:rPr lang="ru-RU" dirty="0" err="1">
                <a:latin typeface="YS Text"/>
              </a:rPr>
              <a:t>Exception</a:t>
            </a:r>
            <a:r>
              <a:rPr lang="ru-RU" dirty="0">
                <a:latin typeface="YS Text"/>
              </a:rPr>
              <a:t> или его подклассов. </a:t>
            </a:r>
            <a:r>
              <a:rPr lang="ru-RU" b="1" dirty="0">
                <a:latin typeface="YS Text"/>
              </a:rPr>
              <a:t>Подклассы</a:t>
            </a:r>
            <a:r>
              <a:rPr lang="ru-RU" dirty="0">
                <a:latin typeface="YS Text"/>
              </a:rPr>
              <a:t> — это конкретные исключения, например </a:t>
            </a:r>
            <a:r>
              <a:rPr lang="ru-RU" dirty="0" err="1">
                <a:latin typeface="YS Text"/>
              </a:rPr>
              <a:t>SyntaxError</a:t>
            </a:r>
            <a:r>
              <a:rPr lang="ru-RU" dirty="0">
                <a:latin typeface="YS Text"/>
              </a:rPr>
              <a:t>, </a:t>
            </a:r>
            <a:r>
              <a:rPr lang="ru-RU" dirty="0" err="1">
                <a:latin typeface="YS Text"/>
              </a:rPr>
              <a:t>TypeError</a:t>
            </a:r>
            <a:r>
              <a:rPr lang="ru-RU" dirty="0">
                <a:latin typeface="YS Text"/>
              </a:rPr>
              <a:t>, </a:t>
            </a:r>
            <a:r>
              <a:rPr lang="ru-RU" dirty="0" err="1">
                <a:latin typeface="YS Text"/>
              </a:rPr>
              <a:t>IndexError</a:t>
            </a:r>
            <a:r>
              <a:rPr lang="ru-RU" dirty="0">
                <a:latin typeface="YS Text"/>
              </a:rPr>
              <a:t>. Имя класса придумывает разработчик, но оно </a:t>
            </a:r>
            <a:r>
              <a:rPr lang="ru-RU" b="1" dirty="0">
                <a:latin typeface="YS Text"/>
              </a:rPr>
              <a:t>должно заканчиваться</a:t>
            </a:r>
            <a:r>
              <a:rPr lang="ru-RU" dirty="0">
                <a:latin typeface="YS Text"/>
              </a:rPr>
              <a:t> словом </a:t>
            </a:r>
            <a:r>
              <a:rPr lang="ru-RU" dirty="0" err="1">
                <a:latin typeface="YS Text"/>
              </a:rPr>
              <a:t>Error</a:t>
            </a:r>
            <a:r>
              <a:rPr lang="ru-RU" dirty="0">
                <a:latin typeface="YS Text"/>
              </a:rPr>
              <a:t>.</a:t>
            </a:r>
          </a:p>
          <a:p>
            <a:pPr marL="457200" indent="-457200" algn="just">
              <a:buFont typeface="+mj-lt"/>
              <a:buAutoNum type="arabicPeriod"/>
            </a:pPr>
            <a:r>
              <a:rPr lang="ru-RU" dirty="0">
                <a:latin typeface="YS Text"/>
              </a:rPr>
              <a:t>Переопределить метод </a:t>
            </a:r>
            <a:r>
              <a:rPr lang="ru-RU" b="1" dirty="0">
                <a:latin typeface="YS Text"/>
              </a:rPr>
              <a:t>__</a:t>
            </a:r>
            <a:r>
              <a:rPr lang="ru-RU" b="1" dirty="0" err="1">
                <a:latin typeface="YS Text"/>
              </a:rPr>
              <a:t>str</a:t>
            </a:r>
            <a:r>
              <a:rPr lang="ru-RU" b="1" dirty="0">
                <a:latin typeface="YS Text"/>
              </a:rPr>
              <a:t>__()</a:t>
            </a:r>
            <a:r>
              <a:rPr lang="ru-RU" dirty="0">
                <a:latin typeface="YS Text"/>
              </a:rPr>
              <a:t>. В нём можно понятным языком описать, что учитывает конкретное исключение.</a:t>
            </a:r>
          </a:p>
          <a:p>
            <a:pPr marL="457200" indent="-457200" algn="just">
              <a:buFont typeface="+mj-lt"/>
              <a:buAutoNum type="arabicPeriod"/>
            </a:pPr>
            <a:r>
              <a:rPr lang="ru-RU" dirty="0">
                <a:latin typeface="YS Text"/>
              </a:rPr>
              <a:t>Чтобы воспользоваться исключением, его необходимо «выбросить» в нужный момент. Для этого используется </a:t>
            </a:r>
            <a:r>
              <a:rPr lang="ru-RU" b="1" dirty="0">
                <a:latin typeface="YS Text"/>
              </a:rPr>
              <a:t>ключевое слово </a:t>
            </a:r>
            <a:r>
              <a:rPr lang="ru-RU" b="1" dirty="0" err="1">
                <a:latin typeface="YS Text"/>
              </a:rPr>
              <a:t>raise</a:t>
            </a:r>
            <a:r>
              <a:rPr lang="ru-RU" dirty="0">
                <a:latin typeface="YS Text"/>
              </a:rPr>
              <a:t>, за которым следует класс исключения, встроенного или пользовательского.</a:t>
            </a:r>
            <a:endParaRPr lang="en-US" dirty="0">
              <a:latin typeface="YS Text"/>
            </a:endParaRPr>
          </a:p>
          <a:p>
            <a:pPr marL="0" indent="0" algn="just">
              <a:buNone/>
            </a:pPr>
            <a:endParaRPr lang="ru-RU" dirty="0">
              <a:latin typeface="YS Text"/>
            </a:endParaRPr>
          </a:p>
        </p:txBody>
      </p:sp>
    </p:spTree>
    <p:extLst>
      <p:ext uri="{BB962C8B-B14F-4D97-AF65-F5344CB8AC3E}">
        <p14:creationId xmlns:p14="http://schemas.microsoft.com/office/powerpoint/2010/main" val="1033095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«Укрощение» исключений в </a:t>
            </a:r>
            <a:r>
              <a:rPr lang="en-US" sz="4900" b="1" dirty="0">
                <a:effectLst/>
                <a:latin typeface="YS Text"/>
              </a:rPr>
              <a:t>Python</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Обычно программисты стараются заранее предусмотреть возникновение нештатных ситуаций при работе кода. Например, прежде чем делить значение на какое-то число, можно предварительно проверить, что это число не равно 0. </a:t>
            </a:r>
          </a:p>
          <a:p>
            <a:pPr marL="0" indent="0" algn="just">
              <a:buNone/>
            </a:pPr>
            <a:r>
              <a:rPr lang="ru-RU" dirty="0">
                <a:latin typeface="YS Text"/>
              </a:rPr>
              <a:t>Но есть и другой способ. Чтобы программа не останавливалась при возникновении исключений, код, который потенциально может вызвать исключение, заключают в специальную конструкцию. Обработка исключений в этом случае происходит с использованием нескольких ключевых слов: </a:t>
            </a:r>
            <a:r>
              <a:rPr lang="ru-RU" sz="2400" b="1" dirty="0" err="1">
                <a:solidFill>
                  <a:schemeClr val="accent6">
                    <a:lumMod val="50000"/>
                  </a:schemeClr>
                </a:solidFill>
                <a:latin typeface="YS Text"/>
              </a:rPr>
              <a:t>try</a:t>
            </a:r>
            <a:r>
              <a:rPr lang="ru-RU" sz="2400" b="1" dirty="0">
                <a:solidFill>
                  <a:schemeClr val="accent6">
                    <a:lumMod val="50000"/>
                  </a:schemeClr>
                </a:solidFill>
                <a:latin typeface="YS Text"/>
              </a:rPr>
              <a:t>, </a:t>
            </a:r>
            <a:r>
              <a:rPr lang="ru-RU" sz="2400" b="1" dirty="0" err="1">
                <a:solidFill>
                  <a:schemeClr val="accent6">
                    <a:lumMod val="50000"/>
                  </a:schemeClr>
                </a:solidFill>
                <a:latin typeface="YS Text"/>
              </a:rPr>
              <a:t>except</a:t>
            </a:r>
            <a:r>
              <a:rPr lang="ru-RU" sz="2400" b="1" dirty="0">
                <a:solidFill>
                  <a:schemeClr val="accent6">
                    <a:lumMod val="50000"/>
                  </a:schemeClr>
                </a:solidFill>
                <a:latin typeface="YS Text"/>
              </a:rPr>
              <a:t>, </a:t>
            </a:r>
            <a:r>
              <a:rPr lang="ru-RU" sz="2400" b="1" dirty="0" err="1">
                <a:solidFill>
                  <a:schemeClr val="accent6">
                    <a:lumMod val="50000"/>
                  </a:schemeClr>
                </a:solidFill>
                <a:latin typeface="YS Text"/>
              </a:rPr>
              <a:t>else</a:t>
            </a:r>
            <a:r>
              <a:rPr lang="ru-RU" sz="2400" b="1" dirty="0">
                <a:solidFill>
                  <a:schemeClr val="accent6">
                    <a:lumMod val="50000"/>
                  </a:schemeClr>
                </a:solidFill>
                <a:latin typeface="YS Text"/>
              </a:rPr>
              <a:t> и </a:t>
            </a:r>
            <a:r>
              <a:rPr lang="ru-RU" sz="2400" b="1" dirty="0" err="1">
                <a:solidFill>
                  <a:schemeClr val="accent6">
                    <a:lumMod val="50000"/>
                  </a:schemeClr>
                </a:solidFill>
                <a:latin typeface="YS Text"/>
              </a:rPr>
              <a:t>finally</a:t>
            </a:r>
            <a:r>
              <a:rPr lang="ru-RU" dirty="0">
                <a:latin typeface="YS Text"/>
              </a:rPr>
              <a:t>. </a:t>
            </a:r>
          </a:p>
          <a:p>
            <a:pPr marL="0" indent="0" algn="just">
              <a:buNone/>
            </a:pPr>
            <a:endParaRPr lang="ru-RU" i="1" dirty="0">
              <a:latin typeface="YS Text"/>
            </a:endParaRPr>
          </a:p>
          <a:p>
            <a:pPr marL="0" indent="0" algn="just">
              <a:buNone/>
            </a:pPr>
            <a:r>
              <a:rPr lang="ru-RU" dirty="0">
                <a:latin typeface="YS Text"/>
              </a:rPr>
              <a:t>Вот как они работают:</a:t>
            </a:r>
          </a:p>
          <a:p>
            <a:pPr algn="just"/>
            <a:r>
              <a:rPr lang="ru-RU" dirty="0">
                <a:latin typeface="YS Text"/>
              </a:rPr>
              <a:t>	</a:t>
            </a:r>
            <a:r>
              <a:rPr lang="ru-RU" sz="2400" b="1" dirty="0">
                <a:solidFill>
                  <a:schemeClr val="accent6">
                    <a:lumMod val="50000"/>
                  </a:schemeClr>
                </a:solidFill>
                <a:latin typeface="YS Text"/>
              </a:rPr>
              <a:t>Блок </a:t>
            </a:r>
            <a:r>
              <a:rPr lang="ru-RU" sz="2400" b="1" dirty="0" err="1">
                <a:solidFill>
                  <a:schemeClr val="accent6">
                    <a:lumMod val="50000"/>
                  </a:schemeClr>
                </a:solidFill>
                <a:latin typeface="YS Text"/>
              </a:rPr>
              <a:t>try</a:t>
            </a:r>
            <a:r>
              <a:rPr lang="ru-RU" sz="2400" b="1" dirty="0">
                <a:solidFill>
                  <a:schemeClr val="accent6">
                    <a:lumMod val="50000"/>
                  </a:schemeClr>
                </a:solidFill>
                <a:latin typeface="YS Text"/>
              </a:rPr>
              <a:t> </a:t>
            </a:r>
            <a:r>
              <a:rPr lang="ru-RU" dirty="0">
                <a:latin typeface="YS Text"/>
              </a:rPr>
              <a:t>(«попробовать») содержит операции, которые могут вызвать исключение. Если при выполнении кода внутри этого блока возникает исключение, программа не останавливается, а переходит к блоку с инструкциями </a:t>
            </a:r>
            <a:r>
              <a:rPr lang="ru-RU" b="1" dirty="0" err="1">
                <a:solidFill>
                  <a:schemeClr val="accent6">
                    <a:lumMod val="50000"/>
                  </a:schemeClr>
                </a:solidFill>
                <a:latin typeface="YS Text"/>
              </a:rPr>
              <a:t>except</a:t>
            </a:r>
            <a:r>
              <a:rPr lang="ru-RU" dirty="0">
                <a:latin typeface="YS Text"/>
              </a:rPr>
              <a:t>.</a:t>
            </a:r>
          </a:p>
          <a:p>
            <a:pPr marL="0" indent="0" algn="just">
              <a:buNone/>
            </a:pPr>
            <a:r>
              <a:rPr lang="ru-RU" dirty="0">
                <a:latin typeface="YS Text"/>
              </a:rPr>
              <a:t>	</a:t>
            </a:r>
            <a:r>
              <a:rPr lang="ru-RU" b="0" i="0" dirty="0" err="1">
                <a:solidFill>
                  <a:srgbClr val="C678DD"/>
                </a:solidFill>
                <a:effectLst/>
                <a:latin typeface="Menlo"/>
              </a:rPr>
              <a:t>try</a:t>
            </a:r>
            <a:r>
              <a:rPr lang="ru-RU" b="0" i="0" dirty="0">
                <a:effectLst/>
                <a:latin typeface="Menlo"/>
              </a:rPr>
              <a:t>: </a:t>
            </a:r>
          </a:p>
          <a:p>
            <a:pPr marL="0" indent="0" algn="just">
              <a:buNone/>
            </a:pPr>
            <a:r>
              <a:rPr lang="ru-RU" dirty="0">
                <a:solidFill>
                  <a:srgbClr val="5C6370"/>
                </a:solidFill>
                <a:latin typeface="Menlo"/>
              </a:rPr>
              <a:t>		</a:t>
            </a:r>
            <a:r>
              <a:rPr lang="ru-RU" b="0" i="1" dirty="0">
                <a:solidFill>
                  <a:srgbClr val="5C6370"/>
                </a:solidFill>
                <a:effectLst/>
                <a:latin typeface="Menlo"/>
              </a:rPr>
              <a:t># Блок кода, который может вызвать исключение.</a:t>
            </a:r>
            <a:endParaRPr lang="ru-RU" dirty="0">
              <a:latin typeface="YS Text"/>
            </a:endParaRPr>
          </a:p>
        </p:txBody>
      </p:sp>
    </p:spTree>
    <p:extLst>
      <p:ext uri="{BB962C8B-B14F-4D97-AF65-F5344CB8AC3E}">
        <p14:creationId xmlns:p14="http://schemas.microsoft.com/office/powerpoint/2010/main" val="3924947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99697"/>
            <a:ext cx="10936304" cy="6469117"/>
          </a:xfrm>
        </p:spPr>
        <p:txBody>
          <a:bodyPr>
            <a:normAutofit lnSpcReduction="10000"/>
          </a:bodyPr>
          <a:lstStyle/>
          <a:p>
            <a:pPr algn="just"/>
            <a:r>
              <a:rPr lang="ru-RU" sz="2400" b="1" dirty="0">
                <a:solidFill>
                  <a:schemeClr val="accent6">
                    <a:lumMod val="50000"/>
                  </a:schemeClr>
                </a:solidFill>
                <a:latin typeface="YS Text"/>
              </a:rPr>
              <a:t>Блок </a:t>
            </a:r>
            <a:r>
              <a:rPr lang="ru-RU" sz="2400" b="1" dirty="0" err="1">
                <a:solidFill>
                  <a:schemeClr val="accent6">
                    <a:lumMod val="50000"/>
                  </a:schemeClr>
                </a:solidFill>
                <a:latin typeface="YS Text"/>
              </a:rPr>
              <a:t>except</a:t>
            </a:r>
            <a:r>
              <a:rPr lang="ru-RU" sz="2400" b="1" dirty="0">
                <a:solidFill>
                  <a:schemeClr val="accent6">
                    <a:lumMod val="50000"/>
                  </a:schemeClr>
                </a:solidFill>
                <a:latin typeface="YS Text"/>
              </a:rPr>
              <a:t> </a:t>
            </a:r>
            <a:r>
              <a:rPr lang="ru-RU" dirty="0">
                <a:latin typeface="YS Text"/>
              </a:rPr>
              <a:t>(«исключая») обрабатывает исключение, возникшее в блоке </a:t>
            </a:r>
            <a:r>
              <a:rPr lang="ru-RU" dirty="0" err="1">
                <a:latin typeface="YS Text"/>
              </a:rPr>
              <a:t>try</a:t>
            </a:r>
            <a:r>
              <a:rPr lang="ru-RU" dirty="0">
                <a:latin typeface="YS Text"/>
              </a:rPr>
              <a:t>.</a:t>
            </a:r>
          </a:p>
          <a:p>
            <a:pPr marL="0" indent="0" algn="just">
              <a:buNone/>
            </a:pPr>
            <a:r>
              <a:rPr lang="en-US" b="0" i="0" dirty="0">
                <a:solidFill>
                  <a:srgbClr val="C678DD"/>
                </a:solidFill>
                <a:effectLst/>
                <a:latin typeface="Menlo"/>
              </a:rPr>
              <a:t>	</a:t>
            </a:r>
            <a:r>
              <a:rPr lang="en-US" sz="1600" b="0" i="0" dirty="0">
                <a:solidFill>
                  <a:srgbClr val="C678DD"/>
                </a:solidFill>
                <a:effectLst/>
                <a:latin typeface="Menlo"/>
              </a:rPr>
              <a:t>except</a:t>
            </a:r>
            <a:r>
              <a:rPr lang="en-US" sz="1600" b="0" i="0" dirty="0">
                <a:effectLst/>
                <a:latin typeface="Menlo"/>
              </a:rPr>
              <a:t> </a:t>
            </a:r>
            <a:r>
              <a:rPr lang="en-US" sz="1600" b="0" i="0" dirty="0" err="1">
                <a:effectLst/>
                <a:latin typeface="Menlo"/>
              </a:rPr>
              <a:t>SomeException</a:t>
            </a:r>
            <a:r>
              <a:rPr lang="en-US" sz="1600" b="0" i="0" dirty="0">
                <a:effectLst/>
                <a:latin typeface="Menlo"/>
              </a:rPr>
              <a:t> </a:t>
            </a:r>
            <a:r>
              <a:rPr lang="en-US" sz="1600" b="0" i="0" dirty="0">
                <a:solidFill>
                  <a:srgbClr val="C678DD"/>
                </a:solidFill>
                <a:effectLst/>
                <a:latin typeface="Menlo"/>
              </a:rPr>
              <a:t>as</a:t>
            </a:r>
            <a:r>
              <a:rPr lang="en-US" sz="1600" b="0" i="0" dirty="0">
                <a:effectLst/>
                <a:latin typeface="Menlo"/>
              </a:rPr>
              <a:t> e: </a:t>
            </a:r>
          </a:p>
          <a:p>
            <a:pPr marL="0" indent="0" algn="just">
              <a:buNone/>
            </a:pPr>
            <a:r>
              <a:rPr lang="en-US" sz="1600" dirty="0">
                <a:solidFill>
                  <a:srgbClr val="5C6370"/>
                </a:solidFill>
                <a:latin typeface="Menlo"/>
              </a:rPr>
              <a:t>		</a:t>
            </a:r>
            <a:r>
              <a:rPr lang="en-US" sz="1600" b="0" i="1" dirty="0">
                <a:solidFill>
                  <a:srgbClr val="5C6370"/>
                </a:solidFill>
                <a:effectLst/>
                <a:latin typeface="Menlo"/>
              </a:rPr>
              <a:t># </a:t>
            </a:r>
            <a:r>
              <a:rPr lang="ru-RU" sz="1600" b="0" i="1" dirty="0">
                <a:solidFill>
                  <a:srgbClr val="5C6370"/>
                </a:solidFill>
                <a:effectLst/>
                <a:latin typeface="Menlo"/>
              </a:rPr>
              <a:t>Обработка исключения.</a:t>
            </a:r>
            <a:r>
              <a:rPr lang="ru-RU" sz="1600" b="0" i="0" dirty="0">
                <a:effectLst/>
                <a:latin typeface="Menlo"/>
              </a:rPr>
              <a:t> </a:t>
            </a:r>
            <a:endParaRPr lang="en-US" sz="1600" b="0" i="0" dirty="0">
              <a:effectLst/>
              <a:latin typeface="Menlo"/>
            </a:endParaRPr>
          </a:p>
          <a:p>
            <a:pPr marL="0" indent="0" algn="just">
              <a:buNone/>
            </a:pPr>
            <a:r>
              <a:rPr lang="ru-RU" b="1" i="1" dirty="0" err="1">
                <a:latin typeface="YS Text"/>
              </a:rPr>
              <a:t>SomeException</a:t>
            </a:r>
            <a:r>
              <a:rPr lang="ru-RU" i="1" dirty="0">
                <a:latin typeface="YS Text"/>
              </a:rPr>
              <a:t> — </a:t>
            </a:r>
            <a:r>
              <a:rPr lang="ru-RU" dirty="0">
                <a:latin typeface="YS Text"/>
              </a:rPr>
              <a:t>это конкретный тип исключения, который вы хотите обработать. Можно указать несколько блоков </a:t>
            </a:r>
            <a:r>
              <a:rPr lang="ru-RU" b="1" dirty="0" err="1">
                <a:latin typeface="YS Text"/>
              </a:rPr>
              <a:t>except</a:t>
            </a:r>
            <a:r>
              <a:rPr lang="ru-RU" dirty="0">
                <a:latin typeface="YS Text"/>
              </a:rPr>
              <a:t> для обработки разных типов исключений.</a:t>
            </a:r>
            <a:endParaRPr lang="en-US" dirty="0">
              <a:latin typeface="YS Text"/>
            </a:endParaRPr>
          </a:p>
          <a:p>
            <a:pPr marL="0" indent="0" algn="just">
              <a:buNone/>
            </a:pPr>
            <a:r>
              <a:rPr lang="en-US" dirty="0">
                <a:latin typeface="YS Text"/>
              </a:rPr>
              <a:t>	</a:t>
            </a:r>
            <a:r>
              <a:rPr lang="en-US" sz="1600" b="0" i="0" dirty="0">
                <a:solidFill>
                  <a:srgbClr val="C678DD"/>
                </a:solidFill>
                <a:effectLst/>
                <a:latin typeface="Menlo"/>
              </a:rPr>
              <a:t>except</a:t>
            </a:r>
            <a:r>
              <a:rPr lang="en-US" sz="1600" b="0" i="0" dirty="0">
                <a:effectLst/>
                <a:latin typeface="Menlo"/>
              </a:rPr>
              <a:t> </a:t>
            </a:r>
            <a:r>
              <a:rPr lang="en-US" sz="1600" b="0" i="0" dirty="0" err="1">
                <a:effectLst/>
                <a:latin typeface="Menlo"/>
              </a:rPr>
              <a:t>TypeError</a:t>
            </a:r>
            <a:r>
              <a:rPr lang="en-US" sz="1600" b="0" i="0" dirty="0">
                <a:effectLst/>
                <a:latin typeface="Menlo"/>
              </a:rPr>
              <a:t>: </a:t>
            </a:r>
          </a:p>
          <a:p>
            <a:pPr marL="0" indent="0" algn="just">
              <a:buNone/>
            </a:pPr>
            <a:r>
              <a:rPr lang="en-US" sz="1600" dirty="0">
                <a:solidFill>
                  <a:srgbClr val="5C6370"/>
                </a:solidFill>
                <a:latin typeface="Menlo"/>
              </a:rPr>
              <a:t>		</a:t>
            </a:r>
            <a:r>
              <a:rPr lang="en-US" sz="1600" b="0" i="1" dirty="0">
                <a:solidFill>
                  <a:srgbClr val="5C6370"/>
                </a:solidFill>
                <a:effectLst/>
                <a:latin typeface="Menlo"/>
              </a:rPr>
              <a:t># </a:t>
            </a:r>
            <a:r>
              <a:rPr lang="ru-RU" sz="1600" b="0" i="1" dirty="0">
                <a:solidFill>
                  <a:srgbClr val="5C6370"/>
                </a:solidFill>
                <a:effectLst/>
                <a:latin typeface="Menlo"/>
              </a:rPr>
              <a:t>Обработка </a:t>
            </a:r>
            <a:r>
              <a:rPr lang="en-US" sz="1600" b="0" i="1" dirty="0" err="1">
                <a:solidFill>
                  <a:srgbClr val="5C6370"/>
                </a:solidFill>
                <a:effectLst/>
                <a:latin typeface="Menlo"/>
              </a:rPr>
              <a:t>TypeError</a:t>
            </a:r>
            <a:r>
              <a:rPr lang="en-US" sz="1600" b="0" i="1" dirty="0">
                <a:solidFill>
                  <a:srgbClr val="5C6370"/>
                </a:solidFill>
                <a:effectLst/>
                <a:latin typeface="Menlo"/>
              </a:rPr>
              <a:t>.</a:t>
            </a:r>
            <a:r>
              <a:rPr lang="en-US" sz="1600" b="0" i="0" dirty="0">
                <a:effectLst/>
                <a:latin typeface="Menlo"/>
              </a:rPr>
              <a:t> </a:t>
            </a:r>
          </a:p>
          <a:p>
            <a:pPr marL="0" indent="0" algn="just">
              <a:buNone/>
            </a:pPr>
            <a:r>
              <a:rPr lang="en-US" sz="1600" dirty="0">
                <a:solidFill>
                  <a:srgbClr val="C678DD"/>
                </a:solidFill>
                <a:latin typeface="Menlo"/>
              </a:rPr>
              <a:t>	</a:t>
            </a:r>
            <a:r>
              <a:rPr lang="en-US" sz="1600" b="0" i="0" dirty="0">
                <a:solidFill>
                  <a:srgbClr val="C678DD"/>
                </a:solidFill>
                <a:effectLst/>
                <a:latin typeface="Menlo"/>
              </a:rPr>
              <a:t>except</a:t>
            </a:r>
            <a:r>
              <a:rPr lang="en-US" sz="1600" b="0" i="0" dirty="0">
                <a:effectLst/>
                <a:latin typeface="Menlo"/>
              </a:rPr>
              <a:t> </a:t>
            </a:r>
            <a:r>
              <a:rPr lang="en-US" sz="1600" b="0" i="0" dirty="0" err="1">
                <a:effectLst/>
                <a:latin typeface="Menlo"/>
              </a:rPr>
              <a:t>ValueError</a:t>
            </a:r>
            <a:r>
              <a:rPr lang="en-US" sz="1600" b="0" i="0" dirty="0">
                <a:effectLst/>
                <a:latin typeface="Menlo"/>
              </a:rPr>
              <a:t>: </a:t>
            </a:r>
          </a:p>
          <a:p>
            <a:pPr marL="0" indent="0" algn="just">
              <a:buNone/>
            </a:pPr>
            <a:r>
              <a:rPr lang="en-US" sz="1600" dirty="0">
                <a:solidFill>
                  <a:srgbClr val="5C6370"/>
                </a:solidFill>
                <a:latin typeface="Menlo"/>
              </a:rPr>
              <a:t>		</a:t>
            </a:r>
            <a:r>
              <a:rPr lang="en-US" sz="1600" b="0" i="1" dirty="0">
                <a:solidFill>
                  <a:srgbClr val="5C6370"/>
                </a:solidFill>
                <a:effectLst/>
                <a:latin typeface="Menlo"/>
              </a:rPr>
              <a:t># </a:t>
            </a:r>
            <a:r>
              <a:rPr lang="ru-RU" sz="1600" b="0" i="1" dirty="0">
                <a:solidFill>
                  <a:srgbClr val="5C6370"/>
                </a:solidFill>
                <a:effectLst/>
                <a:latin typeface="Menlo"/>
              </a:rPr>
              <a:t>Обработка </a:t>
            </a:r>
            <a:r>
              <a:rPr lang="en-US" sz="1600" b="0" i="1" dirty="0" err="1">
                <a:solidFill>
                  <a:srgbClr val="5C6370"/>
                </a:solidFill>
                <a:effectLst/>
                <a:latin typeface="Menlo"/>
              </a:rPr>
              <a:t>ValueError</a:t>
            </a:r>
            <a:r>
              <a:rPr lang="en-US" sz="1600" b="0" i="1" dirty="0">
                <a:solidFill>
                  <a:srgbClr val="5C6370"/>
                </a:solidFill>
                <a:effectLst/>
                <a:latin typeface="Menlo"/>
              </a:rPr>
              <a:t>.</a:t>
            </a:r>
            <a:r>
              <a:rPr lang="en-US" sz="1600" b="0" i="0" dirty="0">
                <a:effectLst/>
                <a:latin typeface="Menlo"/>
              </a:rPr>
              <a:t> </a:t>
            </a:r>
          </a:p>
          <a:p>
            <a:pPr marL="0" indent="0" algn="just">
              <a:buNone/>
            </a:pPr>
            <a:r>
              <a:rPr lang="en-US" sz="1600" dirty="0">
                <a:solidFill>
                  <a:srgbClr val="C678DD"/>
                </a:solidFill>
                <a:latin typeface="Menlo"/>
              </a:rPr>
              <a:t>	</a:t>
            </a:r>
            <a:r>
              <a:rPr lang="en-US" sz="1600" b="0" i="0" dirty="0">
                <a:solidFill>
                  <a:srgbClr val="C678DD"/>
                </a:solidFill>
                <a:effectLst/>
                <a:latin typeface="Menlo"/>
              </a:rPr>
              <a:t>except</a:t>
            </a:r>
            <a:r>
              <a:rPr lang="en-US" sz="1600" b="0" i="0" dirty="0">
                <a:effectLst/>
                <a:latin typeface="Menlo"/>
              </a:rPr>
              <a:t> Exception </a:t>
            </a:r>
            <a:r>
              <a:rPr lang="en-US" sz="1600" b="0" i="0" dirty="0">
                <a:solidFill>
                  <a:srgbClr val="C678DD"/>
                </a:solidFill>
                <a:effectLst/>
                <a:latin typeface="Menlo"/>
              </a:rPr>
              <a:t>as</a:t>
            </a:r>
            <a:r>
              <a:rPr lang="en-US" sz="1600" b="0" i="0" dirty="0">
                <a:effectLst/>
                <a:latin typeface="Menlo"/>
              </a:rPr>
              <a:t> e: </a:t>
            </a:r>
          </a:p>
          <a:p>
            <a:pPr marL="0" indent="0" algn="just">
              <a:buNone/>
            </a:pPr>
            <a:r>
              <a:rPr lang="en-US" sz="1600" dirty="0">
                <a:solidFill>
                  <a:srgbClr val="5C6370"/>
                </a:solidFill>
                <a:latin typeface="Menlo"/>
              </a:rPr>
              <a:t>		</a:t>
            </a:r>
            <a:r>
              <a:rPr lang="en-US" sz="1600" b="0" i="1" dirty="0">
                <a:solidFill>
                  <a:srgbClr val="5C6370"/>
                </a:solidFill>
                <a:effectLst/>
                <a:latin typeface="Menlo"/>
              </a:rPr>
              <a:t># </a:t>
            </a:r>
            <a:r>
              <a:rPr lang="ru-RU" sz="1600" b="0" i="1" dirty="0">
                <a:solidFill>
                  <a:srgbClr val="5C6370"/>
                </a:solidFill>
                <a:effectLst/>
                <a:latin typeface="Menlo"/>
              </a:rPr>
              <a:t>Обработка остальных исключений.</a:t>
            </a:r>
            <a:r>
              <a:rPr lang="ru-RU" sz="1600" b="0" i="0" dirty="0">
                <a:effectLst/>
                <a:latin typeface="Menlo"/>
              </a:rPr>
              <a:t> </a:t>
            </a:r>
            <a:endParaRPr lang="en-US" sz="1600" b="0" i="0" dirty="0">
              <a:effectLst/>
              <a:latin typeface="Menlo"/>
            </a:endParaRPr>
          </a:p>
          <a:p>
            <a:pPr marL="0" indent="0" algn="just">
              <a:buNone/>
            </a:pPr>
            <a:r>
              <a:rPr lang="en-US" sz="1600" dirty="0">
                <a:solidFill>
                  <a:srgbClr val="5C6370"/>
                </a:solidFill>
                <a:latin typeface="Menlo"/>
              </a:rPr>
              <a:t>		</a:t>
            </a:r>
            <a:r>
              <a:rPr lang="ru-RU" sz="1600" b="0" i="1" dirty="0">
                <a:solidFill>
                  <a:srgbClr val="5C6370"/>
                </a:solidFill>
                <a:effectLst/>
                <a:latin typeface="Menlo"/>
              </a:rPr>
              <a:t># </a:t>
            </a:r>
            <a:r>
              <a:rPr lang="ru-RU" sz="1600" b="1" i="1" dirty="0">
                <a:solidFill>
                  <a:srgbClr val="5C6370"/>
                </a:solidFill>
                <a:effectLst/>
                <a:latin typeface="Menlo"/>
              </a:rPr>
              <a:t>Доступ к объекту исключения в коде программы можно </a:t>
            </a:r>
            <a:r>
              <a:rPr lang="ru-RU" sz="1600" b="1" i="1" dirty="0">
                <a:solidFill>
                  <a:srgbClr val="5C6370"/>
                </a:solidFill>
                <a:latin typeface="Menlo"/>
              </a:rPr>
              <a:t>будет </a:t>
            </a:r>
            <a:r>
              <a:rPr lang="ru-RU" sz="1600" b="1" i="1" dirty="0">
                <a:solidFill>
                  <a:srgbClr val="5C6370"/>
                </a:solidFill>
                <a:effectLst/>
                <a:latin typeface="Menlo"/>
              </a:rPr>
              <a:t>получить через </a:t>
            </a:r>
            <a:r>
              <a:rPr lang="ru-RU" sz="1600" b="1" i="1" dirty="0">
                <a:solidFill>
                  <a:schemeClr val="accent6">
                    <a:lumMod val="50000"/>
                  </a:schemeClr>
                </a:solidFill>
                <a:effectLst/>
                <a:latin typeface="Menlo"/>
              </a:rPr>
              <a:t>переменную '</a:t>
            </a:r>
            <a:r>
              <a:rPr lang="en-US" sz="1600" b="1" i="1" dirty="0">
                <a:solidFill>
                  <a:schemeClr val="accent6">
                    <a:lumMod val="50000"/>
                  </a:schemeClr>
                </a:solidFill>
                <a:effectLst/>
                <a:latin typeface="Menlo"/>
              </a:rPr>
              <a:t>e’</a:t>
            </a:r>
            <a:r>
              <a:rPr lang="en-US" sz="1600" b="1" i="1" dirty="0">
                <a:solidFill>
                  <a:srgbClr val="5C6370"/>
                </a:solidFill>
                <a:effectLst/>
                <a:latin typeface="Menlo"/>
              </a:rPr>
              <a:t>.</a:t>
            </a:r>
            <a:endParaRPr lang="ru-RU" sz="1600" b="1" i="1" dirty="0">
              <a:solidFill>
                <a:srgbClr val="5C6370"/>
              </a:solidFill>
              <a:effectLst/>
              <a:latin typeface="Menlo"/>
            </a:endParaRPr>
          </a:p>
          <a:p>
            <a:pPr algn="just"/>
            <a:r>
              <a:rPr lang="ru-RU" sz="2400" b="1" dirty="0">
                <a:solidFill>
                  <a:schemeClr val="accent6">
                    <a:lumMod val="50000"/>
                  </a:schemeClr>
                </a:solidFill>
                <a:latin typeface="YS Text"/>
              </a:rPr>
              <a:t>Блок </a:t>
            </a:r>
            <a:r>
              <a:rPr lang="ru-RU" sz="2400" b="1" dirty="0" err="1">
                <a:solidFill>
                  <a:schemeClr val="accent6">
                    <a:lumMod val="50000"/>
                  </a:schemeClr>
                </a:solidFill>
                <a:latin typeface="YS Text"/>
              </a:rPr>
              <a:t>else</a:t>
            </a:r>
            <a:r>
              <a:rPr lang="ru-RU" sz="2400" b="1" dirty="0">
                <a:solidFill>
                  <a:schemeClr val="accent6">
                    <a:lumMod val="50000"/>
                  </a:schemeClr>
                </a:solidFill>
                <a:latin typeface="YS Text"/>
              </a:rPr>
              <a:t> </a:t>
            </a:r>
            <a:r>
              <a:rPr lang="ru-RU" dirty="0">
                <a:latin typeface="YS Text"/>
              </a:rPr>
              <a:t>(«иначе») выполняется, если в блоке </a:t>
            </a:r>
            <a:r>
              <a:rPr lang="ru-RU" dirty="0" err="1">
                <a:latin typeface="YS Text"/>
              </a:rPr>
              <a:t>try</a:t>
            </a:r>
            <a:r>
              <a:rPr lang="ru-RU" dirty="0">
                <a:latin typeface="YS Text"/>
              </a:rPr>
              <a:t> не возникло исключений. Это хорошее место для кода, который должен выполняться только в том случае, когда операции в </a:t>
            </a:r>
            <a:r>
              <a:rPr lang="ru-RU" dirty="0" err="1">
                <a:latin typeface="YS Text"/>
              </a:rPr>
              <a:t>try</a:t>
            </a:r>
            <a:r>
              <a:rPr lang="ru-RU" dirty="0">
                <a:latin typeface="YS Text"/>
              </a:rPr>
              <a:t> прошли успешно.</a:t>
            </a:r>
          </a:p>
          <a:p>
            <a:pPr marL="0" indent="0" algn="just">
              <a:buNone/>
            </a:pPr>
            <a:r>
              <a:rPr lang="ru-RU" dirty="0">
                <a:latin typeface="YS Text"/>
              </a:rPr>
              <a:t>		</a:t>
            </a:r>
            <a:r>
              <a:rPr lang="ru-RU" sz="1600" b="0" i="0" dirty="0" err="1">
                <a:solidFill>
                  <a:srgbClr val="C678DD"/>
                </a:solidFill>
                <a:effectLst/>
                <a:latin typeface="Menlo"/>
              </a:rPr>
              <a:t>else</a:t>
            </a:r>
            <a:r>
              <a:rPr lang="ru-RU" sz="1600" b="0" i="0" dirty="0">
                <a:effectLst/>
                <a:latin typeface="Menlo"/>
              </a:rPr>
              <a:t>: </a:t>
            </a:r>
          </a:p>
          <a:p>
            <a:pPr marL="0" indent="0" algn="just">
              <a:buNone/>
            </a:pPr>
            <a:r>
              <a:rPr lang="ru-RU" sz="1600" b="0" i="1" dirty="0">
                <a:solidFill>
                  <a:srgbClr val="5C6370"/>
                </a:solidFill>
                <a:effectLst/>
                <a:latin typeface="Menlo"/>
              </a:rPr>
              <a:t>			# Блок кода, который выполняется, если исключение не возникло.</a:t>
            </a:r>
            <a:r>
              <a:rPr lang="ru-RU" sz="1600" b="0" i="0" dirty="0">
                <a:effectLst/>
                <a:latin typeface="Menlo"/>
              </a:rPr>
              <a:t> </a:t>
            </a:r>
            <a:endParaRPr lang="ru-RU" sz="1600" dirty="0">
              <a:latin typeface="YS Text"/>
            </a:endParaRPr>
          </a:p>
        </p:txBody>
      </p:sp>
    </p:spTree>
    <p:extLst>
      <p:ext uri="{BB962C8B-B14F-4D97-AF65-F5344CB8AC3E}">
        <p14:creationId xmlns:p14="http://schemas.microsoft.com/office/powerpoint/2010/main" val="3222980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84083"/>
            <a:ext cx="10936304" cy="6731876"/>
          </a:xfrm>
        </p:spPr>
        <p:txBody>
          <a:bodyPr>
            <a:normAutofit lnSpcReduction="10000"/>
          </a:bodyPr>
          <a:lstStyle/>
          <a:p>
            <a:pPr algn="just"/>
            <a:r>
              <a:rPr lang="ru-RU" sz="2400" b="1" dirty="0">
                <a:solidFill>
                  <a:schemeClr val="accent6">
                    <a:lumMod val="50000"/>
                  </a:schemeClr>
                </a:solidFill>
                <a:latin typeface="YS Text"/>
              </a:rPr>
              <a:t>Блок кода </a:t>
            </a:r>
            <a:r>
              <a:rPr lang="ru-RU" sz="2400" b="1" dirty="0" err="1">
                <a:solidFill>
                  <a:schemeClr val="accent6">
                    <a:lumMod val="50000"/>
                  </a:schemeClr>
                </a:solidFill>
                <a:latin typeface="YS Text"/>
              </a:rPr>
              <a:t>finally</a:t>
            </a:r>
            <a:r>
              <a:rPr lang="ru-RU" sz="2400" b="1" dirty="0">
                <a:solidFill>
                  <a:schemeClr val="accent6">
                    <a:lumMod val="50000"/>
                  </a:schemeClr>
                </a:solidFill>
                <a:latin typeface="YS Text"/>
              </a:rPr>
              <a:t> </a:t>
            </a:r>
            <a:r>
              <a:rPr lang="ru-RU" dirty="0">
                <a:latin typeface="YS Text"/>
              </a:rPr>
              <a:t>(«в любом случае») выполняется независимо от того, произошло исключение или нет.</a:t>
            </a:r>
          </a:p>
          <a:p>
            <a:pPr marL="0" indent="0" algn="just">
              <a:buNone/>
            </a:pPr>
            <a:r>
              <a:rPr lang="ru-RU" i="1" dirty="0">
                <a:latin typeface="YS Text"/>
              </a:rPr>
              <a:t>	</a:t>
            </a:r>
            <a:r>
              <a:rPr lang="ru-RU" sz="1700" b="0" i="0" dirty="0" err="1">
                <a:solidFill>
                  <a:srgbClr val="C678DD"/>
                </a:solidFill>
                <a:effectLst/>
                <a:latin typeface="Menlo"/>
              </a:rPr>
              <a:t>finally</a:t>
            </a:r>
            <a:r>
              <a:rPr lang="ru-RU" sz="1700" b="0" i="0" dirty="0">
                <a:effectLst/>
                <a:latin typeface="Menlo"/>
              </a:rPr>
              <a:t>: </a:t>
            </a:r>
          </a:p>
          <a:p>
            <a:pPr marL="0" indent="0" algn="just">
              <a:buNone/>
            </a:pPr>
            <a:r>
              <a:rPr lang="ru-RU" sz="1700" dirty="0">
                <a:solidFill>
                  <a:srgbClr val="5C6370"/>
                </a:solidFill>
                <a:latin typeface="Menlo"/>
              </a:rPr>
              <a:t>		</a:t>
            </a:r>
            <a:r>
              <a:rPr lang="ru-RU" sz="1700" b="0" i="1" dirty="0">
                <a:solidFill>
                  <a:srgbClr val="5C6370"/>
                </a:solidFill>
                <a:effectLst/>
                <a:latin typeface="Menlo"/>
              </a:rPr>
              <a:t># Блок кода, который выполняется всегда.</a:t>
            </a:r>
            <a:r>
              <a:rPr lang="ru-RU" sz="1700" b="0" i="0" dirty="0">
                <a:effectLst/>
                <a:latin typeface="Menlo"/>
              </a:rPr>
              <a:t> </a:t>
            </a:r>
          </a:p>
          <a:p>
            <a:pPr marL="0" indent="0" algn="just">
              <a:buNone/>
            </a:pPr>
            <a:endParaRPr lang="ru-RU" dirty="0">
              <a:latin typeface="Menlo"/>
            </a:endParaRPr>
          </a:p>
          <a:p>
            <a:pPr marL="0" indent="0" algn="just">
              <a:buNone/>
            </a:pPr>
            <a:r>
              <a:rPr lang="ru-RU" sz="2600" b="1" dirty="0">
                <a:latin typeface="YS Text"/>
              </a:rPr>
              <a:t>Пример «укрощения» исключения:</a:t>
            </a:r>
          </a:p>
          <a:p>
            <a:pPr marL="0" indent="0" algn="just">
              <a:buNone/>
            </a:pPr>
            <a:r>
              <a:rPr lang="ru-RU" dirty="0">
                <a:latin typeface="YS Text"/>
              </a:rPr>
              <a:t>	</a:t>
            </a:r>
            <a:r>
              <a:rPr lang="ru-RU" sz="1600" b="0" i="0" dirty="0" err="1">
                <a:solidFill>
                  <a:srgbClr val="C678DD"/>
                </a:solidFill>
                <a:effectLst/>
                <a:latin typeface="Menlo"/>
              </a:rPr>
              <a:t>try</a:t>
            </a:r>
            <a:r>
              <a:rPr lang="ru-RU" sz="1600" b="0" i="0" dirty="0">
                <a:effectLst/>
                <a:latin typeface="Menlo"/>
              </a:rPr>
              <a:t>: </a:t>
            </a:r>
          </a:p>
          <a:p>
            <a:pPr marL="0" indent="0" algn="just">
              <a:buNone/>
            </a:pPr>
            <a:r>
              <a:rPr lang="ru-RU" sz="1600" dirty="0">
                <a:solidFill>
                  <a:srgbClr val="5C6370"/>
                </a:solidFill>
                <a:latin typeface="Menlo"/>
              </a:rPr>
              <a:t>		</a:t>
            </a:r>
            <a:r>
              <a:rPr lang="ru-RU" sz="1600" b="0" i="1" dirty="0">
                <a:solidFill>
                  <a:srgbClr val="5C6370"/>
                </a:solidFill>
                <a:effectLst/>
                <a:latin typeface="Menlo"/>
              </a:rPr>
              <a:t># Блок кода, который может вызвать исключение.</a:t>
            </a:r>
            <a:r>
              <a:rPr lang="ru-RU" sz="1600" b="0" i="0" dirty="0">
                <a:effectLst/>
                <a:latin typeface="Menlo"/>
              </a:rPr>
              <a:t> </a:t>
            </a:r>
          </a:p>
          <a:p>
            <a:pPr marL="0" indent="0" algn="just">
              <a:buNone/>
            </a:pPr>
            <a:r>
              <a:rPr lang="ru-RU" sz="1600" dirty="0">
                <a:latin typeface="Menlo"/>
              </a:rPr>
              <a:t>		</a:t>
            </a:r>
            <a:r>
              <a:rPr lang="ru-RU" sz="1600" b="0" i="0" dirty="0" err="1">
                <a:effectLst/>
                <a:latin typeface="Menlo"/>
              </a:rPr>
              <a:t>result</a:t>
            </a:r>
            <a:r>
              <a:rPr lang="ru-RU" sz="1600" b="0" i="0" dirty="0">
                <a:effectLst/>
                <a:latin typeface="Menlo"/>
              </a:rPr>
              <a:t> = </a:t>
            </a:r>
            <a:r>
              <a:rPr lang="ru-RU" sz="1600" b="0" i="0" dirty="0">
                <a:solidFill>
                  <a:srgbClr val="237B86"/>
                </a:solidFill>
                <a:effectLst/>
                <a:latin typeface="Menlo"/>
              </a:rPr>
              <a:t>10</a:t>
            </a:r>
            <a:r>
              <a:rPr lang="ru-RU" sz="1600" b="0" i="0" dirty="0">
                <a:effectLst/>
                <a:latin typeface="Menlo"/>
              </a:rPr>
              <a:t> / </a:t>
            </a:r>
            <a:r>
              <a:rPr lang="ru-RU" sz="1600" b="0" i="0" dirty="0">
                <a:solidFill>
                  <a:srgbClr val="237B86"/>
                </a:solidFill>
                <a:effectLst/>
                <a:latin typeface="Menlo"/>
              </a:rPr>
              <a:t>0</a:t>
            </a:r>
            <a:r>
              <a:rPr lang="ru-RU" sz="1600" b="0" i="0" dirty="0">
                <a:effectLst/>
                <a:latin typeface="Menlo"/>
              </a:rPr>
              <a:t> </a:t>
            </a:r>
          </a:p>
          <a:p>
            <a:pPr marL="0" indent="0" algn="just">
              <a:buNone/>
            </a:pPr>
            <a:r>
              <a:rPr lang="ru-RU" sz="1600" dirty="0">
                <a:solidFill>
                  <a:srgbClr val="C678DD"/>
                </a:solidFill>
                <a:latin typeface="Menlo"/>
              </a:rPr>
              <a:t>	</a:t>
            </a:r>
            <a:r>
              <a:rPr lang="ru-RU" sz="1600" b="0" i="0" dirty="0" err="1">
                <a:solidFill>
                  <a:srgbClr val="C678DD"/>
                </a:solidFill>
                <a:effectLst/>
                <a:latin typeface="Menlo"/>
              </a:rPr>
              <a:t>except</a:t>
            </a:r>
            <a:r>
              <a:rPr lang="ru-RU" sz="1600" b="0" i="0" dirty="0">
                <a:effectLst/>
                <a:latin typeface="Menlo"/>
              </a:rPr>
              <a:t> </a:t>
            </a:r>
            <a:r>
              <a:rPr lang="ru-RU" sz="1600" b="0" i="0" dirty="0" err="1">
                <a:effectLst/>
                <a:latin typeface="Menlo"/>
              </a:rPr>
              <a:t>ZeroDivisionError</a:t>
            </a:r>
            <a:r>
              <a:rPr lang="ru-RU" sz="1600" b="0" i="0" dirty="0">
                <a:effectLst/>
                <a:latin typeface="Menlo"/>
              </a:rPr>
              <a:t> </a:t>
            </a:r>
            <a:r>
              <a:rPr lang="ru-RU" sz="1600" b="0" i="0" dirty="0" err="1">
                <a:solidFill>
                  <a:srgbClr val="C678DD"/>
                </a:solidFill>
                <a:effectLst/>
                <a:latin typeface="Menlo"/>
              </a:rPr>
              <a:t>as</a:t>
            </a:r>
            <a:r>
              <a:rPr lang="ru-RU" sz="1600" b="0" i="0" dirty="0">
                <a:effectLst/>
                <a:latin typeface="Menlo"/>
              </a:rPr>
              <a:t> e: </a:t>
            </a:r>
          </a:p>
          <a:p>
            <a:pPr marL="0" indent="0" algn="just">
              <a:buNone/>
            </a:pPr>
            <a:r>
              <a:rPr lang="ru-RU" sz="1600" dirty="0">
                <a:solidFill>
                  <a:srgbClr val="5C6370"/>
                </a:solidFill>
                <a:latin typeface="Menlo"/>
              </a:rPr>
              <a:t>		</a:t>
            </a:r>
            <a:r>
              <a:rPr lang="ru-RU" sz="1600" b="0" i="1" dirty="0">
                <a:solidFill>
                  <a:srgbClr val="5C6370"/>
                </a:solidFill>
                <a:effectLst/>
                <a:latin typeface="Menlo"/>
              </a:rPr>
              <a:t># Обработка исключения при делении на ноль.</a:t>
            </a:r>
            <a:endParaRPr lang="ru-RU" sz="1600" dirty="0">
              <a:solidFill>
                <a:srgbClr val="5C6370"/>
              </a:solidFill>
              <a:latin typeface="Menlo"/>
            </a:endParaRPr>
          </a:p>
          <a:p>
            <a:pPr marL="0" indent="0" algn="just">
              <a:buNone/>
            </a:pPr>
            <a:r>
              <a:rPr lang="ru-RU" sz="1600" b="0" i="0" dirty="0">
                <a:solidFill>
                  <a:srgbClr val="5C6370"/>
                </a:solidFill>
                <a:effectLst/>
                <a:latin typeface="Menlo"/>
              </a:rPr>
              <a:t>		</a:t>
            </a:r>
            <a:r>
              <a:rPr lang="ru-RU" sz="1600" b="0" i="0" dirty="0" err="1">
                <a:solidFill>
                  <a:srgbClr val="CA8D3D"/>
                </a:solidFill>
                <a:effectLst/>
                <a:latin typeface="Menlo"/>
              </a:rPr>
              <a:t>print</a:t>
            </a:r>
            <a:r>
              <a:rPr lang="ru-RU" sz="1600" b="0" i="0" dirty="0">
                <a:effectLst/>
                <a:latin typeface="Menlo"/>
              </a:rPr>
              <a:t>(</a:t>
            </a:r>
            <a:r>
              <a:rPr lang="ru-RU" sz="1600" b="0" i="0" dirty="0" err="1">
                <a:solidFill>
                  <a:srgbClr val="32A846"/>
                </a:solidFill>
                <a:effectLst/>
                <a:latin typeface="Menlo"/>
              </a:rPr>
              <a:t>f'Ошибка</a:t>
            </a:r>
            <a:r>
              <a:rPr lang="ru-RU" sz="1600" b="0" i="0" dirty="0">
                <a:solidFill>
                  <a:srgbClr val="32A846"/>
                </a:solidFill>
                <a:effectLst/>
                <a:latin typeface="Menlo"/>
              </a:rPr>
              <a:t>: {e}’</a:t>
            </a:r>
            <a:r>
              <a:rPr lang="ru-RU" sz="1600" b="0" i="0" dirty="0">
                <a:effectLst/>
                <a:latin typeface="Menlo"/>
              </a:rPr>
              <a:t>) </a:t>
            </a:r>
          </a:p>
          <a:p>
            <a:pPr marL="0" indent="0" algn="just">
              <a:buNone/>
            </a:pPr>
            <a:r>
              <a:rPr lang="ru-RU" sz="1600" dirty="0">
                <a:solidFill>
                  <a:srgbClr val="C678DD"/>
                </a:solidFill>
                <a:latin typeface="Menlo"/>
              </a:rPr>
              <a:t>	</a:t>
            </a:r>
            <a:r>
              <a:rPr lang="ru-RU" sz="1600" b="0" i="0" dirty="0" err="1">
                <a:solidFill>
                  <a:srgbClr val="C678DD"/>
                </a:solidFill>
                <a:effectLst/>
                <a:latin typeface="Menlo"/>
              </a:rPr>
              <a:t>else</a:t>
            </a:r>
            <a:r>
              <a:rPr lang="ru-RU" sz="1600" b="0" i="0" dirty="0">
                <a:effectLst/>
                <a:latin typeface="Menlo"/>
              </a:rPr>
              <a:t>: </a:t>
            </a:r>
          </a:p>
          <a:p>
            <a:pPr marL="0" indent="0" algn="just">
              <a:buNone/>
            </a:pPr>
            <a:r>
              <a:rPr lang="ru-RU" sz="1600" dirty="0">
                <a:solidFill>
                  <a:srgbClr val="5C6370"/>
                </a:solidFill>
                <a:latin typeface="Menlo"/>
              </a:rPr>
              <a:t>		</a:t>
            </a:r>
            <a:r>
              <a:rPr lang="ru-RU" sz="1600" b="0" i="1" dirty="0">
                <a:solidFill>
                  <a:srgbClr val="5C6370"/>
                </a:solidFill>
                <a:effectLst/>
                <a:latin typeface="Menlo"/>
              </a:rPr>
              <a:t># Блок кода, который выполняется, если исключение не возникло.</a:t>
            </a:r>
            <a:endParaRPr lang="ru-RU" sz="1600" dirty="0">
              <a:solidFill>
                <a:srgbClr val="5C6370"/>
              </a:solidFill>
              <a:latin typeface="Menlo"/>
            </a:endParaRPr>
          </a:p>
          <a:p>
            <a:pPr marL="0" indent="0" algn="just">
              <a:buNone/>
            </a:pPr>
            <a:r>
              <a:rPr lang="ru-RU" sz="1600" b="0" i="0" dirty="0">
                <a:solidFill>
                  <a:srgbClr val="5C6370"/>
                </a:solidFill>
                <a:effectLst/>
                <a:latin typeface="Menlo"/>
              </a:rPr>
              <a:t>		</a:t>
            </a:r>
            <a:r>
              <a:rPr lang="ru-RU" sz="1600" b="0" i="0" dirty="0" err="1">
                <a:solidFill>
                  <a:srgbClr val="CA8D3D"/>
                </a:solidFill>
                <a:effectLst/>
                <a:latin typeface="Menlo"/>
              </a:rPr>
              <a:t>print</a:t>
            </a:r>
            <a:r>
              <a:rPr lang="ru-RU" sz="1600" b="0" i="0" dirty="0">
                <a:effectLst/>
                <a:latin typeface="Menlo"/>
              </a:rPr>
              <a:t>(</a:t>
            </a:r>
            <a:r>
              <a:rPr lang="ru-RU" sz="1600" b="0" i="0" dirty="0">
                <a:solidFill>
                  <a:srgbClr val="32A846"/>
                </a:solidFill>
                <a:effectLst/>
                <a:latin typeface="Menlo"/>
              </a:rPr>
              <a:t>'Операция выполнена успешно.’</a:t>
            </a:r>
            <a:r>
              <a:rPr lang="ru-RU" sz="1600" b="0" i="0" dirty="0">
                <a:effectLst/>
                <a:latin typeface="Menlo"/>
              </a:rPr>
              <a:t>)</a:t>
            </a:r>
          </a:p>
          <a:p>
            <a:pPr marL="0" indent="0" algn="just">
              <a:buNone/>
            </a:pPr>
            <a:r>
              <a:rPr lang="ru-RU" sz="1600" dirty="0">
                <a:solidFill>
                  <a:srgbClr val="C678DD"/>
                </a:solidFill>
                <a:latin typeface="Menlo"/>
              </a:rPr>
              <a:t>	</a:t>
            </a:r>
            <a:r>
              <a:rPr lang="ru-RU" sz="1600" b="0" i="0" dirty="0" err="1">
                <a:solidFill>
                  <a:srgbClr val="C678DD"/>
                </a:solidFill>
                <a:effectLst/>
                <a:latin typeface="Menlo"/>
              </a:rPr>
              <a:t>finally</a:t>
            </a:r>
            <a:r>
              <a:rPr lang="ru-RU" sz="1600" b="0" i="0" dirty="0">
                <a:effectLst/>
                <a:latin typeface="Menlo"/>
              </a:rPr>
              <a:t>: </a:t>
            </a:r>
          </a:p>
          <a:p>
            <a:pPr marL="0" indent="0" algn="just">
              <a:buNone/>
            </a:pPr>
            <a:r>
              <a:rPr lang="ru-RU" sz="1600" b="0" i="1" dirty="0">
                <a:solidFill>
                  <a:srgbClr val="5C6370"/>
                </a:solidFill>
                <a:effectLst/>
                <a:latin typeface="Menlo"/>
              </a:rPr>
              <a:t>		# Блок кода, который выполняется всегда.</a:t>
            </a:r>
            <a:r>
              <a:rPr lang="ru-RU" sz="1600" b="0" i="0" dirty="0">
                <a:effectLst/>
                <a:latin typeface="Menlo"/>
              </a:rPr>
              <a:t> </a:t>
            </a:r>
          </a:p>
          <a:p>
            <a:pPr marL="0" indent="0" algn="just">
              <a:buNone/>
            </a:pPr>
            <a:r>
              <a:rPr lang="ru-RU" sz="1600" dirty="0">
                <a:solidFill>
                  <a:srgbClr val="CA8D3D"/>
                </a:solidFill>
                <a:latin typeface="Menlo"/>
              </a:rPr>
              <a:t>		</a:t>
            </a:r>
            <a:r>
              <a:rPr lang="ru-RU" sz="1600" b="0" i="0" dirty="0" err="1">
                <a:solidFill>
                  <a:srgbClr val="CA8D3D"/>
                </a:solidFill>
                <a:effectLst/>
                <a:latin typeface="Menlo"/>
              </a:rPr>
              <a:t>print</a:t>
            </a:r>
            <a:r>
              <a:rPr lang="ru-RU" sz="1600" b="0" i="0" dirty="0">
                <a:effectLst/>
                <a:latin typeface="Menlo"/>
              </a:rPr>
              <a:t>(</a:t>
            </a:r>
            <a:r>
              <a:rPr lang="ru-RU" sz="1600" b="0" i="0" dirty="0">
                <a:solidFill>
                  <a:srgbClr val="32A846"/>
                </a:solidFill>
                <a:effectLst/>
                <a:latin typeface="Menlo"/>
              </a:rPr>
              <a:t>'Программа завершила свою работу.'</a:t>
            </a:r>
            <a:r>
              <a:rPr lang="ru-RU" sz="1600" b="0" i="0" dirty="0">
                <a:effectLst/>
                <a:latin typeface="Menlo"/>
              </a:rPr>
              <a:t>) </a:t>
            </a:r>
            <a:endParaRPr lang="ru-RU" dirty="0">
              <a:latin typeface="YS Text"/>
            </a:endParaRPr>
          </a:p>
        </p:txBody>
      </p:sp>
    </p:spTree>
    <p:extLst>
      <p:ext uri="{BB962C8B-B14F-4D97-AF65-F5344CB8AC3E}">
        <p14:creationId xmlns:p14="http://schemas.microsoft.com/office/powerpoint/2010/main" val="2298256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Упрощаем работу</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algn="just"/>
            <a:r>
              <a:rPr lang="ru-RU" dirty="0">
                <a:latin typeface="YS Text"/>
              </a:rPr>
              <a:t>Если исключениями надо описать стандартную операцию, например вводятся буквы, а требуются цифры, то не нужно создавать собственное исключение, Можно выбрасывать встроенное — </a:t>
            </a:r>
            <a:r>
              <a:rPr lang="en-US" b="1" dirty="0" err="1">
                <a:latin typeface="YS Text"/>
              </a:rPr>
              <a:t>ValueError</a:t>
            </a:r>
            <a:r>
              <a:rPr lang="en-US" dirty="0">
                <a:latin typeface="YS Text"/>
              </a:rPr>
              <a:t>.</a:t>
            </a:r>
            <a:endParaRPr lang="ru-RU" dirty="0">
              <a:latin typeface="YS Text"/>
            </a:endParaRPr>
          </a:p>
          <a:p>
            <a:pPr algn="just"/>
            <a:r>
              <a:rPr lang="ru-RU" dirty="0">
                <a:latin typeface="YS Text"/>
              </a:rPr>
              <a:t>Также можно добавить обработку и других, неочевидных сейчас исключений. Если возникнет любая ситуация, которая не описана в коде, можно сделать так, чтобы программа печатала сообщение </a:t>
            </a:r>
            <a:r>
              <a:rPr lang="ru-RU" b="1" dirty="0">
                <a:solidFill>
                  <a:srgbClr val="00B050"/>
                </a:solidFill>
                <a:latin typeface="YS Text"/>
              </a:rPr>
              <a:t>Возникла ошибка: &lt;название исключения&gt;</a:t>
            </a:r>
            <a:r>
              <a:rPr lang="ru-RU" dirty="0">
                <a:latin typeface="YS Text"/>
              </a:rPr>
              <a:t>. </a:t>
            </a:r>
          </a:p>
          <a:p>
            <a:pPr marL="0" indent="0" algn="just">
              <a:buNone/>
            </a:pPr>
            <a:r>
              <a:rPr lang="ru-RU" dirty="0">
                <a:latin typeface="YS Text"/>
              </a:rPr>
              <a:t>Чтобы реализовать такое поведение программы, нужно добавить </a:t>
            </a:r>
            <a:r>
              <a:rPr lang="ru-RU" b="1" dirty="0">
                <a:latin typeface="YS Text"/>
              </a:rPr>
              <a:t>блок</a:t>
            </a:r>
            <a:r>
              <a:rPr lang="ru-RU" dirty="0">
                <a:latin typeface="YS Text"/>
              </a:rPr>
              <a:t> </a:t>
            </a:r>
            <a:r>
              <a:rPr lang="ru-RU" b="1" dirty="0" err="1">
                <a:solidFill>
                  <a:schemeClr val="accent6">
                    <a:lumMod val="50000"/>
                  </a:schemeClr>
                </a:solidFill>
                <a:latin typeface="YS Text"/>
              </a:rPr>
              <a:t>except</a:t>
            </a:r>
            <a:r>
              <a:rPr lang="ru-RU" b="1" dirty="0">
                <a:solidFill>
                  <a:schemeClr val="accent6">
                    <a:lumMod val="50000"/>
                  </a:schemeClr>
                </a:solidFill>
                <a:latin typeface="YS Text"/>
              </a:rPr>
              <a:t> </a:t>
            </a:r>
            <a:r>
              <a:rPr lang="ru-RU" b="1" dirty="0" err="1">
                <a:solidFill>
                  <a:schemeClr val="accent6">
                    <a:lumMod val="50000"/>
                  </a:schemeClr>
                </a:solidFill>
                <a:latin typeface="YS Text"/>
              </a:rPr>
              <a:t>Exception</a:t>
            </a:r>
            <a:r>
              <a:rPr lang="ru-RU" dirty="0">
                <a:latin typeface="YS Text"/>
              </a:rPr>
              <a:t>. Это обработка базового класса исключений, которую обычно добавляют после обработки конкретных, ожидаемых исключений. Если при работе блока кода возникнет исключение, обработка которого не описана явным образом, оно будет перехвачено именно тут. Теперь пользователь сможет делать что угодно. Программа отреагирует в любом случае и выведет сообщение об ошибке, если что-то не так.</a:t>
            </a:r>
          </a:p>
          <a:p>
            <a:pPr marL="0" indent="0" algn="just">
              <a:buNone/>
            </a:pPr>
            <a:endParaRPr lang="ru-RU" dirty="0">
              <a:latin typeface="YS Text"/>
            </a:endParaRPr>
          </a:p>
          <a:p>
            <a:pPr marL="0" indent="0" algn="just">
              <a:buNone/>
            </a:pPr>
            <a:endParaRPr lang="ru-RU" dirty="0">
              <a:latin typeface="YS Text"/>
            </a:endParaRPr>
          </a:p>
          <a:p>
            <a:pPr marL="0" indent="0" algn="just">
              <a:buNone/>
            </a:pPr>
            <a:r>
              <a:rPr lang="ru-RU" sz="2400" b="0" i="0" dirty="0">
                <a:solidFill>
                  <a:srgbClr val="0070C0"/>
                </a:solidFill>
                <a:effectLst/>
                <a:latin typeface="YS Text"/>
                <a:hlinkClick r:id="rId2">
                  <a:extLst>
                    <a:ext uri="{A12FA001-AC4F-418D-AE19-62706E023703}">
                      <ahyp:hlinkClr xmlns:ahyp="http://schemas.microsoft.com/office/drawing/2018/hyperlinkcolor" val="tx"/>
                    </a:ext>
                  </a:extLst>
                </a:hlinkClick>
              </a:rPr>
              <a:t>Документация о встроенных исключениях</a:t>
            </a:r>
            <a:endParaRPr lang="ru-RU" sz="2400" dirty="0">
              <a:solidFill>
                <a:srgbClr val="0070C0"/>
              </a:solidFill>
              <a:latin typeface="YS Text"/>
            </a:endParaRPr>
          </a:p>
        </p:txBody>
      </p:sp>
    </p:spTree>
    <p:extLst>
      <p:ext uri="{BB962C8B-B14F-4D97-AF65-F5344CB8AC3E}">
        <p14:creationId xmlns:p14="http://schemas.microsoft.com/office/powerpoint/2010/main" val="2158918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5400" b="1" dirty="0">
                <a:solidFill>
                  <a:schemeClr val="tx1">
                    <a:lumMod val="95000"/>
                    <a:lumOff val="5000"/>
                  </a:schemeClr>
                </a:solidFill>
                <a:latin typeface="YS Text"/>
              </a:rPr>
              <a:t>Работа с файлами</a:t>
            </a:r>
            <a:endParaRPr lang="ru-RU" sz="5400" dirty="0">
              <a:solidFill>
                <a:schemeClr val="tx1">
                  <a:lumMod val="95000"/>
                  <a:lumOff val="5000"/>
                </a:schemeClr>
              </a:solidFill>
            </a:endParaRPr>
          </a:p>
        </p:txBody>
      </p:sp>
    </p:spTree>
    <p:extLst>
      <p:ext uri="{BB962C8B-B14F-4D97-AF65-F5344CB8AC3E}">
        <p14:creationId xmlns:p14="http://schemas.microsoft.com/office/powerpoint/2010/main" val="3236235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Работа с файлами: база</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861848"/>
            <a:ext cx="10936304" cy="5806966"/>
          </a:xfrm>
        </p:spPr>
        <p:txBody>
          <a:bodyPr/>
          <a:lstStyle/>
          <a:p>
            <a:pPr marL="0" indent="0" algn="just">
              <a:buNone/>
            </a:pPr>
            <a:r>
              <a:rPr lang="ru-RU" b="1" dirty="0">
                <a:latin typeface="YS Text"/>
              </a:rPr>
              <a:t>Работа с файлами всегда состоит из трёх основных шагов:</a:t>
            </a:r>
          </a:p>
          <a:p>
            <a:pPr marL="457200" indent="-457200" algn="just">
              <a:buFont typeface="+mj-lt"/>
              <a:buAutoNum type="arabicPeriod"/>
            </a:pPr>
            <a:r>
              <a:rPr lang="ru-RU" dirty="0">
                <a:latin typeface="YS Text"/>
              </a:rPr>
              <a:t>Открыть файл.</a:t>
            </a:r>
          </a:p>
          <a:p>
            <a:pPr marL="457200" indent="-457200" algn="just">
              <a:buFont typeface="+mj-lt"/>
              <a:buAutoNum type="arabicPeriod"/>
            </a:pPr>
            <a:r>
              <a:rPr lang="ru-RU" dirty="0">
                <a:latin typeface="YS Text"/>
              </a:rPr>
              <a:t>Выполнить операции, например прочитать файл или записать информацию в него.</a:t>
            </a:r>
          </a:p>
          <a:p>
            <a:pPr marL="457200" indent="-457200" algn="just">
              <a:buFont typeface="+mj-lt"/>
              <a:buAutoNum type="arabicPeriod"/>
            </a:pPr>
            <a:r>
              <a:rPr lang="ru-RU" dirty="0">
                <a:latin typeface="YS Text"/>
              </a:rPr>
              <a:t>Закрыть файл.</a:t>
            </a:r>
            <a:endParaRPr lang="en-US" dirty="0">
              <a:latin typeface="YS Text"/>
            </a:endParaRPr>
          </a:p>
          <a:p>
            <a:pPr marL="0" indent="0" algn="just">
              <a:buNone/>
            </a:pPr>
            <a:r>
              <a:rPr lang="ru-RU" sz="2400" b="1" dirty="0">
                <a:latin typeface="YS Text"/>
              </a:rPr>
              <a:t>Как открыть и закрыть файл</a:t>
            </a:r>
            <a:endParaRPr lang="en-US" sz="2400" b="1" dirty="0">
              <a:latin typeface="YS Text"/>
            </a:endParaRPr>
          </a:p>
          <a:p>
            <a:pPr marL="0" indent="0" algn="just">
              <a:buNone/>
            </a:pPr>
            <a:r>
              <a:rPr lang="ru-RU" dirty="0">
                <a:latin typeface="YS Text"/>
              </a:rPr>
              <a:t>Чтобы открыть файл, используется функция </a:t>
            </a:r>
            <a:r>
              <a:rPr lang="ru-RU" b="1" dirty="0" err="1">
                <a:latin typeface="YS Text"/>
              </a:rPr>
              <a:t>open</a:t>
            </a:r>
            <a:r>
              <a:rPr lang="ru-RU" b="1" dirty="0">
                <a:latin typeface="YS Text"/>
              </a:rPr>
              <a:t>()</a:t>
            </a:r>
            <a:r>
              <a:rPr lang="ru-RU" dirty="0">
                <a:latin typeface="YS Text"/>
              </a:rPr>
              <a:t>. Это встроенная функция, доступная без импорта дополнительных модулей. Она возвращает объект файла, который затем используется для различных операций с файлом, таких как чтение или запись данных.</a:t>
            </a:r>
          </a:p>
          <a:p>
            <a:pPr marL="0" indent="0" algn="just">
              <a:buNone/>
            </a:pPr>
            <a:r>
              <a:rPr lang="ru-RU" dirty="0">
                <a:latin typeface="YS Text"/>
              </a:rPr>
              <a:t>Функция может принимать несколько аргументов, но два из них особенно важны — это имя и режим открытия файла:</a:t>
            </a:r>
            <a:endParaRPr lang="en-US" dirty="0">
              <a:latin typeface="YS Text"/>
            </a:endParaRPr>
          </a:p>
          <a:p>
            <a:pPr marL="0" indent="0" algn="just">
              <a:buNone/>
            </a:pPr>
            <a:r>
              <a:rPr lang="en-US" dirty="0">
                <a:latin typeface="YS Text"/>
              </a:rPr>
              <a:t>	</a:t>
            </a:r>
            <a:r>
              <a:rPr lang="en-US" b="1" dirty="0">
                <a:solidFill>
                  <a:schemeClr val="accent1">
                    <a:lumMod val="75000"/>
                  </a:schemeClr>
                </a:solidFill>
                <a:latin typeface="YS Text"/>
              </a:rPr>
              <a:t>f = open(&lt;file&gt;, &lt;mode&gt;)</a:t>
            </a:r>
          </a:p>
          <a:p>
            <a:pPr marL="0" indent="0" algn="just">
              <a:buNone/>
            </a:pPr>
            <a:r>
              <a:rPr lang="ru-RU" b="1" dirty="0" err="1">
                <a:latin typeface="YS Text"/>
              </a:rPr>
              <a:t>file</a:t>
            </a:r>
            <a:r>
              <a:rPr lang="ru-RU" dirty="0">
                <a:latin typeface="YS Text"/>
              </a:rPr>
              <a:t> — первый и обязательный аргумент. Он указывает на путь к файлу, который вы хотите открыть.</a:t>
            </a:r>
          </a:p>
          <a:p>
            <a:pPr marL="0" indent="0" algn="just">
              <a:buNone/>
            </a:pPr>
            <a:r>
              <a:rPr lang="ru-RU" b="1" dirty="0" err="1">
                <a:latin typeface="YS Text"/>
              </a:rPr>
              <a:t>mode</a:t>
            </a:r>
            <a:r>
              <a:rPr lang="ru-RU" dirty="0">
                <a:latin typeface="YS Text"/>
              </a:rPr>
              <a:t> — этот параметр определяет режим, в котором файл будет открыт.</a:t>
            </a:r>
          </a:p>
        </p:txBody>
      </p:sp>
    </p:spTree>
    <p:extLst>
      <p:ext uri="{BB962C8B-B14F-4D97-AF65-F5344CB8AC3E}">
        <p14:creationId xmlns:p14="http://schemas.microsoft.com/office/powerpoint/2010/main" val="1954306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41890"/>
            <a:ext cx="10936304" cy="6526924"/>
          </a:xfrm>
        </p:spPr>
        <p:txBody>
          <a:bodyPr>
            <a:normAutofit/>
          </a:bodyPr>
          <a:lstStyle/>
          <a:p>
            <a:pPr marL="0" indent="0" algn="just">
              <a:buNone/>
            </a:pPr>
            <a:r>
              <a:rPr lang="ru-RU" b="1" dirty="0">
                <a:latin typeface="YS Text"/>
              </a:rPr>
              <a:t>Режимы бывают, например, такими:</a:t>
            </a:r>
            <a:endParaRPr lang="en-US" b="1" dirty="0">
              <a:latin typeface="YS Text"/>
            </a:endParaRPr>
          </a:p>
          <a:p>
            <a:pPr algn="just"/>
            <a:r>
              <a:rPr lang="ru-RU" sz="2400" b="1" dirty="0">
                <a:latin typeface="YS Text"/>
              </a:rPr>
              <a:t>'r'</a:t>
            </a:r>
            <a:r>
              <a:rPr lang="ru-RU" dirty="0">
                <a:latin typeface="YS Text"/>
              </a:rPr>
              <a:t> — чтение: по умолчанию открывает файл на чтение. Чтобы файл можно было прочитать, он должен существовать.</a:t>
            </a:r>
          </a:p>
          <a:p>
            <a:pPr algn="just"/>
            <a:r>
              <a:rPr lang="ru-RU" sz="2400" b="1" dirty="0">
                <a:latin typeface="YS Text"/>
              </a:rPr>
              <a:t>'w'</a:t>
            </a:r>
            <a:r>
              <a:rPr lang="ru-RU" dirty="0">
                <a:latin typeface="YS Text"/>
              </a:rPr>
              <a:t> — запись: создаёт новый файл или перезаписывает существующий.</a:t>
            </a:r>
          </a:p>
          <a:p>
            <a:pPr algn="just"/>
            <a:r>
              <a:rPr lang="ru-RU" sz="2400" b="1" dirty="0">
                <a:latin typeface="YS Text"/>
              </a:rPr>
              <a:t>'a'</a:t>
            </a:r>
            <a:r>
              <a:rPr lang="ru-RU" dirty="0">
                <a:latin typeface="YS Text"/>
              </a:rPr>
              <a:t> — добавление: добавляет данные в конец файла, при этом существующие данные не удаляет.</a:t>
            </a:r>
          </a:p>
          <a:p>
            <a:pPr algn="just"/>
            <a:r>
              <a:rPr lang="ru-RU" sz="2400" b="1" dirty="0">
                <a:latin typeface="YS Text"/>
              </a:rPr>
              <a:t>'b'</a:t>
            </a:r>
            <a:r>
              <a:rPr lang="ru-RU" dirty="0">
                <a:latin typeface="YS Text"/>
              </a:rPr>
              <a:t> — двоичный режим: предназначен для чтения или записи двоичных файлов, например изображений.</a:t>
            </a:r>
          </a:p>
          <a:p>
            <a:pPr marL="0" indent="0" algn="just">
              <a:buNone/>
            </a:pPr>
            <a:r>
              <a:rPr lang="ru-RU" dirty="0">
                <a:latin typeface="YS Text"/>
              </a:rPr>
              <a:t>Весь перечень параметров </a:t>
            </a:r>
            <a:r>
              <a:rPr lang="ru-RU" b="1" dirty="0">
                <a:latin typeface="YS Text"/>
              </a:rPr>
              <a:t>функции </a:t>
            </a:r>
            <a:r>
              <a:rPr lang="ru-RU" b="1" dirty="0" err="1">
                <a:latin typeface="YS Text"/>
              </a:rPr>
              <a:t>open</a:t>
            </a:r>
            <a:r>
              <a:rPr lang="ru-RU" b="1" dirty="0">
                <a:latin typeface="YS Text"/>
              </a:rPr>
              <a:t>() </a:t>
            </a:r>
            <a:r>
              <a:rPr lang="ru-RU" dirty="0">
                <a:latin typeface="YS Text"/>
              </a:rPr>
              <a:t>и режимов открытия файлов можно найти </a:t>
            </a:r>
            <a:r>
              <a:rPr lang="ru-RU" b="0" i="0" dirty="0">
                <a:solidFill>
                  <a:srgbClr val="0070C0"/>
                </a:solidFill>
                <a:effectLst/>
                <a:latin typeface="YS Text"/>
                <a:hlinkClick r:id="rId2">
                  <a:extLst>
                    <a:ext uri="{A12FA001-AC4F-418D-AE19-62706E023703}">
                      <ahyp:hlinkClr xmlns:ahyp="http://schemas.microsoft.com/office/drawing/2018/hyperlinkcolor" val="tx"/>
                    </a:ext>
                  </a:extLst>
                </a:hlinkClick>
              </a:rPr>
              <a:t>в документации</a:t>
            </a:r>
            <a:r>
              <a:rPr lang="ru-RU" b="0" i="0" dirty="0">
                <a:effectLst/>
                <a:latin typeface="YS Text"/>
              </a:rPr>
              <a:t>.</a:t>
            </a:r>
            <a:endParaRPr lang="en-US" b="0" i="0" dirty="0">
              <a:effectLst/>
              <a:latin typeface="YS Text"/>
            </a:endParaRPr>
          </a:p>
          <a:p>
            <a:pPr marL="0" indent="0" algn="just">
              <a:buNone/>
            </a:pPr>
            <a:r>
              <a:rPr lang="ru-RU" dirty="0">
                <a:latin typeface="YS Text"/>
              </a:rPr>
              <a:t>После выполнения операций с файлом его </a:t>
            </a:r>
            <a:r>
              <a:rPr lang="ru-RU" b="1" dirty="0">
                <a:latin typeface="YS Text"/>
              </a:rPr>
              <a:t>нужно обязательно закрыть </a:t>
            </a:r>
            <a:r>
              <a:rPr lang="ru-RU" dirty="0">
                <a:latin typeface="YS Text"/>
              </a:rPr>
              <a:t>с помощью </a:t>
            </a:r>
            <a:r>
              <a:rPr lang="ru-RU" b="1" dirty="0">
                <a:latin typeface="YS Text"/>
              </a:rPr>
              <a:t>метода </a:t>
            </a:r>
            <a:r>
              <a:rPr lang="ru-RU" b="1" dirty="0" err="1">
                <a:latin typeface="YS Text"/>
              </a:rPr>
              <a:t>close</a:t>
            </a:r>
            <a:r>
              <a:rPr lang="ru-RU" b="1" dirty="0">
                <a:latin typeface="YS Text"/>
              </a:rPr>
              <a:t>().</a:t>
            </a:r>
          </a:p>
          <a:p>
            <a:pPr marL="0" indent="0" algn="just">
              <a:buNone/>
            </a:pPr>
            <a:r>
              <a:rPr lang="ru-RU" dirty="0">
                <a:latin typeface="YS Text"/>
              </a:rPr>
              <a:t>Закрывать файл важно, потому что открытые файлы потребляют системные ресурсы. В некоторых системах даже есть ограничение на количество файлов, которые могут быть открыты одновременно. Также, если файл не закрыть, есть риск потерять важные данные, сохранённые в нём. </a:t>
            </a:r>
          </a:p>
        </p:txBody>
      </p:sp>
    </p:spTree>
    <p:extLst>
      <p:ext uri="{BB962C8B-B14F-4D97-AF65-F5344CB8AC3E}">
        <p14:creationId xmlns:p14="http://schemas.microsoft.com/office/powerpoint/2010/main" val="3593054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Таким образом, если вы хотите открыть файл, например, на запись, можно использовать подобный код:</a:t>
            </a:r>
            <a:endParaRPr lang="en-US" dirty="0">
              <a:latin typeface="YS Text"/>
            </a:endParaRPr>
          </a:p>
          <a:p>
            <a:pPr marL="0" indent="0" algn="just">
              <a:buNone/>
            </a:pPr>
            <a:r>
              <a:rPr lang="en-US" dirty="0">
                <a:latin typeface="YS Text"/>
              </a:rPr>
              <a:t>	</a:t>
            </a:r>
            <a:r>
              <a:rPr lang="ru-RU" dirty="0">
                <a:latin typeface="YS Text"/>
              </a:rPr>
              <a:t># Открыть файл </a:t>
            </a:r>
            <a:r>
              <a:rPr lang="en-US" dirty="0">
                <a:latin typeface="YS Text"/>
              </a:rPr>
              <a:t>example.txt </a:t>
            </a:r>
            <a:r>
              <a:rPr lang="ru-RU" dirty="0">
                <a:latin typeface="YS Text"/>
              </a:rPr>
              <a:t>для записи (аргумент '</a:t>
            </a:r>
            <a:r>
              <a:rPr lang="en-US" dirty="0">
                <a:latin typeface="YS Text"/>
              </a:rPr>
              <a:t>w’).</a:t>
            </a:r>
          </a:p>
          <a:p>
            <a:pPr marL="0" indent="0" algn="just">
              <a:buNone/>
            </a:pPr>
            <a:r>
              <a:rPr lang="en-US" dirty="0">
                <a:latin typeface="YS Text"/>
              </a:rPr>
              <a:t>	file = open(</a:t>
            </a:r>
            <a:r>
              <a:rPr lang="en-US" dirty="0">
                <a:solidFill>
                  <a:srgbClr val="00B050"/>
                </a:solidFill>
                <a:latin typeface="YS Text"/>
              </a:rPr>
              <a:t>'example.txt'</a:t>
            </a:r>
            <a:r>
              <a:rPr lang="en-US" dirty="0">
                <a:latin typeface="YS Text"/>
              </a:rPr>
              <a:t>, </a:t>
            </a:r>
            <a:r>
              <a:rPr lang="en-US" dirty="0">
                <a:solidFill>
                  <a:srgbClr val="00B050"/>
                </a:solidFill>
                <a:latin typeface="YS Text"/>
              </a:rPr>
              <a:t>'w’</a:t>
            </a:r>
            <a:r>
              <a:rPr lang="en-US" dirty="0">
                <a:latin typeface="YS Text"/>
              </a:rPr>
              <a:t>)</a:t>
            </a:r>
          </a:p>
          <a:p>
            <a:pPr marL="0" indent="0" algn="just">
              <a:buNone/>
            </a:pPr>
            <a:r>
              <a:rPr lang="en-US" dirty="0">
                <a:latin typeface="YS Text"/>
              </a:rPr>
              <a:t>	# </a:t>
            </a:r>
            <a:r>
              <a:rPr lang="ru-RU" dirty="0">
                <a:latin typeface="YS Text"/>
              </a:rPr>
              <a:t>Закрыть файл.</a:t>
            </a:r>
          </a:p>
          <a:p>
            <a:pPr marL="0" indent="0" algn="just">
              <a:buNone/>
            </a:pPr>
            <a:r>
              <a:rPr lang="en-US" dirty="0">
                <a:latin typeface="YS Text"/>
              </a:rPr>
              <a:t>	</a:t>
            </a:r>
            <a:r>
              <a:rPr lang="en-US" dirty="0" err="1">
                <a:latin typeface="YS Text"/>
              </a:rPr>
              <a:t>file.close</a:t>
            </a:r>
            <a:r>
              <a:rPr lang="en-US" dirty="0">
                <a:latin typeface="YS Text"/>
              </a:rPr>
              <a:t>()</a:t>
            </a:r>
          </a:p>
          <a:p>
            <a:pPr marL="0" indent="0" algn="just">
              <a:buNone/>
            </a:pPr>
            <a:r>
              <a:rPr lang="ru-RU" dirty="0">
                <a:latin typeface="YS Text"/>
              </a:rPr>
              <a:t>Для добавления текста можно использовать </a:t>
            </a:r>
            <a:r>
              <a:rPr lang="ru-RU" b="1" dirty="0">
                <a:latin typeface="YS Text"/>
              </a:rPr>
              <a:t>метод </a:t>
            </a:r>
            <a:r>
              <a:rPr lang="ru-RU" b="1" dirty="0" err="1">
                <a:latin typeface="YS Text"/>
              </a:rPr>
              <a:t>write</a:t>
            </a:r>
            <a:r>
              <a:rPr lang="ru-RU" b="1" dirty="0">
                <a:latin typeface="YS Text"/>
              </a:rPr>
              <a:t>()</a:t>
            </a:r>
            <a:r>
              <a:rPr lang="ru-RU" dirty="0">
                <a:latin typeface="YS Text"/>
              </a:rPr>
              <a:t>. В качестве аргумента этому методу передаётся текст, который нужно записать в файл. Для переноса строк используются символы </a:t>
            </a:r>
            <a:r>
              <a:rPr lang="ru-RU" b="1" dirty="0">
                <a:latin typeface="YS Text"/>
              </a:rPr>
              <a:t>\n</a:t>
            </a:r>
            <a:r>
              <a:rPr lang="ru-RU" dirty="0">
                <a:latin typeface="YS Text"/>
              </a:rPr>
              <a:t>.</a:t>
            </a:r>
          </a:p>
          <a:p>
            <a:pPr marL="0" indent="0" algn="just">
              <a:buNone/>
            </a:pPr>
            <a:r>
              <a:rPr lang="ru-RU" dirty="0">
                <a:latin typeface="YS Text"/>
              </a:rPr>
              <a:t>Если вы видите непонятные символы вместо букв, явно укажите кодировку, которая должна использоваться в файле. Это можно сделать при помощи опционального </a:t>
            </a:r>
            <a:r>
              <a:rPr lang="ru-RU" b="1" dirty="0">
                <a:latin typeface="YS Text"/>
              </a:rPr>
              <a:t>параметра </a:t>
            </a:r>
            <a:r>
              <a:rPr lang="ru-RU" b="1" dirty="0" err="1">
                <a:latin typeface="YS Text"/>
              </a:rPr>
              <a:t>encoding</a:t>
            </a:r>
            <a:r>
              <a:rPr lang="ru-RU" dirty="0">
                <a:latin typeface="YS Text"/>
              </a:rPr>
              <a:t>:</a:t>
            </a:r>
          </a:p>
          <a:p>
            <a:pPr marL="0" indent="0" algn="just">
              <a:buNone/>
            </a:pPr>
            <a:r>
              <a:rPr lang="ru-RU" dirty="0">
                <a:latin typeface="YS Text"/>
              </a:rPr>
              <a:t>	</a:t>
            </a:r>
            <a:r>
              <a:rPr lang="en-US" b="0" i="0" dirty="0">
                <a:effectLst/>
                <a:latin typeface="Menlo"/>
              </a:rPr>
              <a:t>file = open(</a:t>
            </a:r>
            <a:r>
              <a:rPr lang="en-US" b="0" i="0" dirty="0">
                <a:solidFill>
                  <a:srgbClr val="32A846"/>
                </a:solidFill>
                <a:effectLst/>
                <a:latin typeface="Menlo"/>
              </a:rPr>
              <a:t>'example.txt'</a:t>
            </a:r>
            <a:r>
              <a:rPr lang="en-US" b="0" i="0" dirty="0">
                <a:effectLst/>
                <a:latin typeface="Menlo"/>
              </a:rPr>
              <a:t>, </a:t>
            </a:r>
            <a:r>
              <a:rPr lang="en-US" b="0" i="0" dirty="0">
                <a:solidFill>
                  <a:srgbClr val="32A846"/>
                </a:solidFill>
                <a:effectLst/>
                <a:latin typeface="Menlo"/>
              </a:rPr>
              <a:t>'w'</a:t>
            </a:r>
            <a:r>
              <a:rPr lang="en-US" b="0" i="0" dirty="0">
                <a:effectLst/>
                <a:latin typeface="Menlo"/>
              </a:rPr>
              <a:t>, encoding=</a:t>
            </a:r>
            <a:r>
              <a:rPr lang="en-US" b="0" i="0" dirty="0">
                <a:solidFill>
                  <a:srgbClr val="32A846"/>
                </a:solidFill>
                <a:effectLst/>
                <a:latin typeface="Menlo"/>
              </a:rPr>
              <a:t>'utf-8'</a:t>
            </a:r>
            <a:r>
              <a:rPr lang="en-US" b="0" i="0" dirty="0">
                <a:effectLst/>
                <a:latin typeface="Menlo"/>
              </a:rPr>
              <a:t>) </a:t>
            </a:r>
            <a:endParaRPr lang="ru-RU" dirty="0">
              <a:latin typeface="YS Text"/>
            </a:endParaRPr>
          </a:p>
        </p:txBody>
      </p:sp>
    </p:spTree>
    <p:extLst>
      <p:ext uri="{BB962C8B-B14F-4D97-AF65-F5344CB8AC3E}">
        <p14:creationId xmlns:p14="http://schemas.microsoft.com/office/powerpoint/2010/main" val="4222170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69484"/>
            <a:ext cx="10936304" cy="626532"/>
          </a:xfrm>
        </p:spPr>
        <p:txBody>
          <a:bodyPr>
            <a:normAutofit fontScale="90000"/>
          </a:bodyPr>
          <a:lstStyle/>
          <a:p>
            <a:pPr algn="ctr"/>
            <a:r>
              <a:rPr lang="ru-RU" sz="4900" b="1" dirty="0">
                <a:effectLst/>
                <a:latin typeface="YS Text"/>
              </a:rPr>
              <a:t>Как прочитать данные из файла</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488731"/>
            <a:ext cx="10936304" cy="6227379"/>
          </a:xfrm>
        </p:spPr>
        <p:txBody>
          <a:bodyPr>
            <a:normAutofit fontScale="92500" lnSpcReduction="10000"/>
          </a:bodyPr>
          <a:lstStyle/>
          <a:p>
            <a:pPr marL="0" indent="0" algn="just">
              <a:buNone/>
            </a:pPr>
            <a:r>
              <a:rPr lang="ru-RU" dirty="0">
                <a:latin typeface="YS Text"/>
              </a:rPr>
              <a:t>Когда у вас есть файл, вы можете прочитать данные из него. Для этого можно воспользоваться </a:t>
            </a:r>
            <a:r>
              <a:rPr lang="ru-RU" b="1" dirty="0">
                <a:latin typeface="YS Text"/>
              </a:rPr>
              <a:t>методом </a:t>
            </a:r>
            <a:r>
              <a:rPr lang="ru-RU" b="1" dirty="0" err="1">
                <a:latin typeface="YS Text"/>
              </a:rPr>
              <a:t>read</a:t>
            </a:r>
            <a:r>
              <a:rPr lang="ru-RU" b="1" dirty="0">
                <a:latin typeface="YS Text"/>
              </a:rPr>
              <a:t>()</a:t>
            </a:r>
            <a:r>
              <a:rPr lang="ru-RU" dirty="0">
                <a:latin typeface="YS Text"/>
              </a:rPr>
              <a:t>. У этого метода есть всего один опциональный </a:t>
            </a:r>
            <a:r>
              <a:rPr lang="ru-RU" b="1" dirty="0">
                <a:latin typeface="YS Text"/>
              </a:rPr>
              <a:t>параметр — </a:t>
            </a:r>
            <a:r>
              <a:rPr lang="ru-RU" b="1" dirty="0" err="1">
                <a:latin typeface="YS Text"/>
              </a:rPr>
              <a:t>size</a:t>
            </a:r>
            <a:r>
              <a:rPr lang="ru-RU" dirty="0">
                <a:latin typeface="YS Text"/>
              </a:rPr>
              <a:t>. Этот параметр определяет количество символов, которые будут прочитаны из файла.</a:t>
            </a:r>
          </a:p>
          <a:p>
            <a:pPr marL="0" indent="0" algn="just">
              <a:buNone/>
            </a:pPr>
            <a:r>
              <a:rPr lang="ru-RU" dirty="0">
                <a:latin typeface="YS Text"/>
              </a:rPr>
              <a:t>Если вы не укажете параметр </a:t>
            </a:r>
            <a:r>
              <a:rPr lang="ru-RU" b="1" dirty="0" err="1">
                <a:latin typeface="YS Text"/>
              </a:rPr>
              <a:t>size</a:t>
            </a:r>
            <a:r>
              <a:rPr lang="ru-RU" dirty="0">
                <a:latin typeface="YS Text"/>
              </a:rPr>
              <a:t> или укажете его в виде отрицательного числа, то метод </a:t>
            </a:r>
            <a:r>
              <a:rPr lang="ru-RU" b="1" dirty="0" err="1">
                <a:latin typeface="YS Text"/>
              </a:rPr>
              <a:t>read</a:t>
            </a:r>
            <a:r>
              <a:rPr lang="ru-RU" b="1" dirty="0">
                <a:latin typeface="YS Text"/>
              </a:rPr>
              <a:t>() </a:t>
            </a:r>
            <a:r>
              <a:rPr lang="ru-RU" dirty="0">
                <a:latin typeface="YS Text"/>
              </a:rPr>
              <a:t>прочитает и вернёт содержимое файла </a:t>
            </a:r>
            <a:r>
              <a:rPr lang="ru-RU" u="sng" dirty="0">
                <a:latin typeface="YS Text"/>
              </a:rPr>
              <a:t>целиком</a:t>
            </a:r>
            <a:r>
              <a:rPr lang="ru-RU" dirty="0">
                <a:latin typeface="YS Text"/>
              </a:rPr>
              <a:t>.</a:t>
            </a:r>
          </a:p>
          <a:p>
            <a:pPr marL="0" indent="0" algn="just">
              <a:buNone/>
            </a:pPr>
            <a:r>
              <a:rPr lang="ru-RU" dirty="0">
                <a:latin typeface="YS Text"/>
              </a:rPr>
              <a:t>Также файл можно прочитать построчно. Для этого есть два метода: </a:t>
            </a:r>
            <a:r>
              <a:rPr lang="ru-RU" b="1" dirty="0" err="1">
                <a:latin typeface="YS Text"/>
              </a:rPr>
              <a:t>readline</a:t>
            </a:r>
            <a:r>
              <a:rPr lang="ru-RU" b="1" dirty="0">
                <a:latin typeface="YS Text"/>
              </a:rPr>
              <a:t>()</a:t>
            </a:r>
            <a:r>
              <a:rPr lang="ru-RU" dirty="0">
                <a:latin typeface="YS Text"/>
              </a:rPr>
              <a:t> и </a:t>
            </a:r>
            <a:r>
              <a:rPr lang="ru-RU" b="1" dirty="0" err="1">
                <a:latin typeface="YS Text"/>
              </a:rPr>
              <a:t>readlines</a:t>
            </a:r>
            <a:r>
              <a:rPr lang="ru-RU" b="1" dirty="0">
                <a:latin typeface="YS Text"/>
              </a:rPr>
              <a:t>()</a:t>
            </a:r>
            <a:r>
              <a:rPr lang="ru-RU" dirty="0">
                <a:latin typeface="YS Text"/>
              </a:rPr>
              <a:t>. Они похожи по сути, но работают по-разному. </a:t>
            </a:r>
            <a:r>
              <a:rPr lang="ru-RU" i="0" dirty="0">
                <a:solidFill>
                  <a:srgbClr val="0070C0"/>
                </a:solidFill>
                <a:effectLst/>
                <a:latin typeface="YS Text"/>
                <a:hlinkClick r:id="rId2">
                  <a:extLst>
                    <a:ext uri="{A12FA001-AC4F-418D-AE19-62706E023703}">
                      <ahyp:hlinkClr xmlns:ahyp="http://schemas.microsoft.com/office/drawing/2018/hyperlinkcolor" val="tx"/>
                    </a:ext>
                  </a:extLst>
                </a:hlinkClick>
              </a:rPr>
              <a:t>Документация о методах </a:t>
            </a:r>
            <a:r>
              <a:rPr lang="ru-RU" i="0" dirty="0" err="1">
                <a:solidFill>
                  <a:srgbClr val="0070C0"/>
                </a:solidFill>
                <a:effectLst/>
                <a:latin typeface="YS Text"/>
                <a:hlinkClick r:id="rId2">
                  <a:extLst>
                    <a:ext uri="{A12FA001-AC4F-418D-AE19-62706E023703}">
                      <ahyp:hlinkClr xmlns:ahyp="http://schemas.microsoft.com/office/drawing/2018/hyperlinkcolor" val="tx"/>
                    </a:ext>
                  </a:extLst>
                </a:hlinkClick>
              </a:rPr>
              <a:t>readline</a:t>
            </a:r>
            <a:r>
              <a:rPr lang="ru-RU" i="0" dirty="0">
                <a:solidFill>
                  <a:srgbClr val="0070C0"/>
                </a:solidFill>
                <a:effectLst/>
                <a:latin typeface="YS Text"/>
                <a:hlinkClick r:id="rId2">
                  <a:extLst>
                    <a:ext uri="{A12FA001-AC4F-418D-AE19-62706E023703}">
                      <ahyp:hlinkClr xmlns:ahyp="http://schemas.microsoft.com/office/drawing/2018/hyperlinkcolor" val="tx"/>
                    </a:ext>
                  </a:extLst>
                </a:hlinkClick>
              </a:rPr>
              <a:t>() и </a:t>
            </a:r>
            <a:r>
              <a:rPr lang="ru-RU" i="0" dirty="0" err="1">
                <a:solidFill>
                  <a:srgbClr val="0070C0"/>
                </a:solidFill>
                <a:effectLst/>
                <a:latin typeface="YS Text"/>
                <a:hlinkClick r:id="rId2">
                  <a:extLst>
                    <a:ext uri="{A12FA001-AC4F-418D-AE19-62706E023703}">
                      <ahyp:hlinkClr xmlns:ahyp="http://schemas.microsoft.com/office/drawing/2018/hyperlinkcolor" val="tx"/>
                    </a:ext>
                  </a:extLst>
                </a:hlinkClick>
              </a:rPr>
              <a:t>readlines</a:t>
            </a:r>
            <a:r>
              <a:rPr lang="ru-RU" i="0" dirty="0">
                <a:solidFill>
                  <a:srgbClr val="0070C0"/>
                </a:solidFill>
                <a:effectLst/>
                <a:latin typeface="YS Text"/>
                <a:hlinkClick r:id="rId2">
                  <a:extLst>
                    <a:ext uri="{A12FA001-AC4F-418D-AE19-62706E023703}">
                      <ahyp:hlinkClr xmlns:ahyp="http://schemas.microsoft.com/office/drawing/2018/hyperlinkcolor" val="tx"/>
                    </a:ext>
                  </a:extLst>
                </a:hlinkClick>
              </a:rPr>
              <a:t>()</a:t>
            </a:r>
            <a:endParaRPr lang="ru-RU" dirty="0">
              <a:solidFill>
                <a:srgbClr val="0070C0"/>
              </a:solidFill>
              <a:latin typeface="YS Text"/>
            </a:endParaRPr>
          </a:p>
          <a:p>
            <a:pPr marL="0" indent="0" algn="just">
              <a:buNone/>
            </a:pPr>
            <a:r>
              <a:rPr lang="ru-RU" dirty="0">
                <a:latin typeface="YS Text"/>
              </a:rPr>
              <a:t>1. </a:t>
            </a:r>
            <a:r>
              <a:rPr lang="ru-RU" b="1" dirty="0">
                <a:latin typeface="YS Text"/>
              </a:rPr>
              <a:t>Метод </a:t>
            </a:r>
            <a:r>
              <a:rPr lang="ru-RU" b="1" dirty="0" err="1">
                <a:latin typeface="YS Text"/>
              </a:rPr>
              <a:t>readline</a:t>
            </a:r>
            <a:r>
              <a:rPr lang="ru-RU" b="1" dirty="0">
                <a:latin typeface="YS Text"/>
              </a:rPr>
              <a:t>():</a:t>
            </a:r>
            <a:r>
              <a:rPr lang="ru-RU" dirty="0">
                <a:latin typeface="YS Text"/>
              </a:rPr>
              <a:t>	</a:t>
            </a:r>
          </a:p>
          <a:p>
            <a:pPr marL="0" indent="0" algn="just">
              <a:buNone/>
            </a:pPr>
            <a:r>
              <a:rPr lang="ru-RU" sz="1800" dirty="0">
                <a:latin typeface="YS Text"/>
              </a:rPr>
              <a:t>	читает одну строку из файла; </a:t>
            </a:r>
          </a:p>
          <a:p>
            <a:pPr marL="0" indent="0" algn="just">
              <a:buNone/>
            </a:pPr>
            <a:r>
              <a:rPr lang="ru-RU" sz="1800" dirty="0">
                <a:latin typeface="YS Text"/>
              </a:rPr>
              <a:t>	возвращает только прочитанную строку;</a:t>
            </a:r>
          </a:p>
          <a:p>
            <a:pPr marL="0" indent="0" algn="just">
              <a:buNone/>
            </a:pPr>
            <a:r>
              <a:rPr lang="ru-RU" sz="1800" dirty="0">
                <a:latin typeface="YS Text"/>
              </a:rPr>
              <a:t>	при каждом новом вызове перемещает воображаемый курсор к следующей строке в файле.</a:t>
            </a:r>
          </a:p>
          <a:p>
            <a:pPr marL="0" indent="0" algn="just">
              <a:buNone/>
            </a:pPr>
            <a:r>
              <a:rPr lang="ru-RU" dirty="0">
                <a:latin typeface="YS Text"/>
              </a:rPr>
              <a:t>2. </a:t>
            </a:r>
            <a:r>
              <a:rPr lang="ru-RU" b="1" dirty="0">
                <a:latin typeface="YS Text"/>
              </a:rPr>
              <a:t>Метод </a:t>
            </a:r>
            <a:r>
              <a:rPr lang="ru-RU" b="1" dirty="0" err="1">
                <a:latin typeface="YS Text"/>
              </a:rPr>
              <a:t>readlines</a:t>
            </a:r>
            <a:r>
              <a:rPr lang="ru-RU" b="1" dirty="0">
                <a:latin typeface="YS Text"/>
              </a:rPr>
              <a:t>():</a:t>
            </a:r>
          </a:p>
          <a:p>
            <a:pPr marL="0" indent="0" algn="just">
              <a:buNone/>
            </a:pPr>
            <a:r>
              <a:rPr lang="ru-RU" dirty="0">
                <a:latin typeface="YS Text"/>
              </a:rPr>
              <a:t>	</a:t>
            </a:r>
            <a:r>
              <a:rPr lang="ru-RU" sz="1800" dirty="0">
                <a:latin typeface="YS Text"/>
              </a:rPr>
              <a:t>читает все строки в файле;</a:t>
            </a:r>
          </a:p>
          <a:p>
            <a:pPr marL="0" indent="0" algn="just">
              <a:buNone/>
            </a:pPr>
            <a:r>
              <a:rPr lang="ru-RU" sz="1800" dirty="0">
                <a:latin typeface="YS Text"/>
              </a:rPr>
              <a:t>	возвращает список, где каждый элемент — одна строка из файла.</a:t>
            </a:r>
          </a:p>
          <a:p>
            <a:pPr marL="0" indent="0" algn="just">
              <a:buNone/>
            </a:pPr>
            <a:r>
              <a:rPr lang="ru-RU" dirty="0">
                <a:latin typeface="YS Text"/>
              </a:rPr>
              <a:t>Метод </a:t>
            </a:r>
            <a:r>
              <a:rPr lang="ru-RU" b="1" dirty="0" err="1">
                <a:latin typeface="YS Text"/>
              </a:rPr>
              <a:t>readlines</a:t>
            </a:r>
            <a:r>
              <a:rPr lang="ru-RU" b="1" dirty="0">
                <a:latin typeface="YS Text"/>
              </a:rPr>
              <a:t>() </a:t>
            </a:r>
            <a:r>
              <a:rPr lang="ru-RU" dirty="0">
                <a:latin typeface="YS Text"/>
              </a:rPr>
              <a:t>лучше подходит для чтения небольших файлов. Если в файле много строк, это может привести к значительному потреблению памяти, так как весь файл загружается в память. </a:t>
            </a:r>
          </a:p>
          <a:p>
            <a:pPr marL="0" indent="0" algn="just">
              <a:buNone/>
            </a:pPr>
            <a:r>
              <a:rPr lang="ru-RU" dirty="0">
                <a:latin typeface="YS Text"/>
              </a:rPr>
              <a:t>Для чтения больших файлов предпочтительнее использовать </a:t>
            </a:r>
            <a:r>
              <a:rPr lang="ru-RU" b="1" dirty="0" err="1">
                <a:latin typeface="YS Text"/>
              </a:rPr>
              <a:t>readline</a:t>
            </a:r>
            <a:r>
              <a:rPr lang="ru-RU" b="1" dirty="0">
                <a:latin typeface="YS Text"/>
              </a:rPr>
              <a:t>() </a:t>
            </a:r>
            <a:r>
              <a:rPr lang="ru-RU" dirty="0">
                <a:latin typeface="YS Text"/>
              </a:rPr>
              <a:t>в цикле, чтобы читать и обрабатывать файл построчно. </a:t>
            </a:r>
          </a:p>
        </p:txBody>
      </p:sp>
    </p:spTree>
    <p:extLst>
      <p:ext uri="{BB962C8B-B14F-4D97-AF65-F5344CB8AC3E}">
        <p14:creationId xmlns:p14="http://schemas.microsoft.com/office/powerpoint/2010/main" val="3815276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0"/>
            <a:ext cx="10936304" cy="626532"/>
          </a:xfrm>
        </p:spPr>
        <p:txBody>
          <a:bodyPr>
            <a:normAutofit fontScale="90000"/>
          </a:bodyPr>
          <a:lstStyle/>
          <a:p>
            <a:pPr algn="ctr"/>
            <a:r>
              <a:rPr lang="ru-RU" sz="4900" b="1" dirty="0">
                <a:effectLst/>
                <a:latin typeface="YS Text"/>
              </a:rPr>
              <a:t>Контекстные менеджеры</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83171"/>
            <a:ext cx="10936304" cy="6132787"/>
          </a:xfrm>
        </p:spPr>
        <p:txBody>
          <a:bodyPr>
            <a:normAutofit lnSpcReduction="10000"/>
          </a:bodyPr>
          <a:lstStyle/>
          <a:p>
            <a:pPr marL="0" indent="0" algn="just">
              <a:buNone/>
            </a:pPr>
            <a:r>
              <a:rPr lang="ru-RU" b="1" dirty="0">
                <a:solidFill>
                  <a:schemeClr val="accent6">
                    <a:lumMod val="50000"/>
                  </a:schemeClr>
                </a:solidFill>
                <a:latin typeface="YS Text"/>
              </a:rPr>
              <a:t>Контекстный менеджер </a:t>
            </a:r>
            <a:r>
              <a:rPr lang="ru-RU" dirty="0">
                <a:latin typeface="YS Text"/>
              </a:rPr>
              <a:t>— это конструкция, которая во время работы программы создаёт определённым образом настроенную среду («контекст»), где будет выполняться заданный код.</a:t>
            </a:r>
          </a:p>
          <a:p>
            <a:pPr marL="0" indent="0" algn="just">
              <a:buNone/>
            </a:pPr>
            <a:r>
              <a:rPr lang="ru-RU" dirty="0">
                <a:latin typeface="YS Text"/>
              </a:rPr>
              <a:t>Контекстный менеджер полезен в тех случаях, когда перед выполнением некоторых операций нужно подготовиться, а после — «прибраться».</a:t>
            </a:r>
          </a:p>
          <a:p>
            <a:pPr marL="0" indent="0" algn="just">
              <a:buNone/>
            </a:pPr>
            <a:r>
              <a:rPr lang="ru-RU" dirty="0">
                <a:latin typeface="YS Text"/>
              </a:rPr>
              <a:t>На практике такие конструкции могут пригодиться, например, при работе с файлами:</a:t>
            </a:r>
          </a:p>
          <a:p>
            <a:pPr algn="just"/>
            <a:r>
              <a:rPr lang="ru-RU" dirty="0">
                <a:latin typeface="YS Text"/>
              </a:rPr>
              <a:t>открыть файл («подготовка к работе»);</a:t>
            </a:r>
          </a:p>
          <a:p>
            <a:pPr algn="just"/>
            <a:r>
              <a:rPr lang="ru-RU" dirty="0">
                <a:latin typeface="YS Text"/>
              </a:rPr>
              <a:t>выполнить необходимые операции;</a:t>
            </a:r>
          </a:p>
          <a:p>
            <a:pPr algn="just"/>
            <a:r>
              <a:rPr lang="ru-RU" dirty="0">
                <a:latin typeface="YS Text"/>
              </a:rPr>
              <a:t>закрыть файл («уборка после работы»).</a:t>
            </a:r>
          </a:p>
          <a:p>
            <a:pPr marL="0" indent="0" algn="just">
              <a:buNone/>
            </a:pPr>
            <a:r>
              <a:rPr lang="ru-RU" dirty="0">
                <a:latin typeface="YS Text"/>
              </a:rPr>
              <a:t>Чтобы выполнить код в среде контекстного менеджера, используется такой синтаксис:</a:t>
            </a:r>
          </a:p>
          <a:p>
            <a:pPr marL="0" indent="0" algn="just">
              <a:buNone/>
            </a:pPr>
            <a:r>
              <a:rPr lang="ru-RU" dirty="0">
                <a:latin typeface="YS Text"/>
              </a:rPr>
              <a:t>	</a:t>
            </a:r>
            <a:r>
              <a:rPr lang="en-US" b="0" i="0" dirty="0">
                <a:solidFill>
                  <a:srgbClr val="C678DD"/>
                </a:solidFill>
                <a:effectLst/>
                <a:latin typeface="Menlo"/>
              </a:rPr>
              <a:t>with</a:t>
            </a:r>
            <a:r>
              <a:rPr lang="en-US" b="0" i="0" dirty="0">
                <a:effectLst/>
                <a:latin typeface="Menlo"/>
              </a:rPr>
              <a:t> </a:t>
            </a:r>
            <a:r>
              <a:rPr lang="en-US" b="0" i="0" dirty="0" err="1">
                <a:effectLst/>
                <a:latin typeface="Menlo"/>
              </a:rPr>
              <a:t>ContextManager</a:t>
            </a:r>
            <a:r>
              <a:rPr lang="en-US" b="0" i="0" dirty="0">
                <a:effectLst/>
                <a:latin typeface="Menlo"/>
              </a:rPr>
              <a:t> </a:t>
            </a:r>
            <a:r>
              <a:rPr lang="en-US" b="0" i="0" dirty="0">
                <a:solidFill>
                  <a:srgbClr val="C678DD"/>
                </a:solidFill>
                <a:effectLst/>
                <a:latin typeface="Menlo"/>
              </a:rPr>
              <a:t>as</a:t>
            </a:r>
            <a:r>
              <a:rPr lang="en-US" b="0" i="0" dirty="0">
                <a:effectLst/>
                <a:latin typeface="Menlo"/>
              </a:rPr>
              <a:t> cm: </a:t>
            </a:r>
            <a:endParaRPr lang="ru-RU" b="0" i="0" dirty="0">
              <a:effectLst/>
              <a:latin typeface="Menlo"/>
            </a:endParaRPr>
          </a:p>
          <a:p>
            <a:pPr marL="0" indent="0" algn="just">
              <a:buNone/>
            </a:pPr>
            <a:r>
              <a:rPr lang="ru-RU" dirty="0">
                <a:solidFill>
                  <a:srgbClr val="5C6370"/>
                </a:solidFill>
                <a:latin typeface="Menlo"/>
              </a:rPr>
              <a:t>		</a:t>
            </a:r>
            <a:r>
              <a:rPr lang="en-US" b="0" i="1" dirty="0">
                <a:solidFill>
                  <a:srgbClr val="5C6370"/>
                </a:solidFill>
                <a:effectLst/>
                <a:latin typeface="Menlo"/>
              </a:rPr>
              <a:t># </a:t>
            </a:r>
            <a:r>
              <a:rPr lang="ru-RU" b="0" i="1" dirty="0">
                <a:solidFill>
                  <a:srgbClr val="5C6370"/>
                </a:solidFill>
                <a:effectLst/>
                <a:latin typeface="Menlo"/>
              </a:rPr>
              <a:t>Код, который будет выполнен в контексте </a:t>
            </a:r>
            <a:r>
              <a:rPr lang="en-US" b="0" i="1" dirty="0" err="1">
                <a:solidFill>
                  <a:srgbClr val="5C6370"/>
                </a:solidFill>
                <a:effectLst/>
                <a:latin typeface="Menlo"/>
              </a:rPr>
              <a:t>ContextManager</a:t>
            </a:r>
            <a:r>
              <a:rPr lang="en-US" b="0" i="1" dirty="0">
                <a:solidFill>
                  <a:srgbClr val="5C6370"/>
                </a:solidFill>
                <a:effectLst/>
                <a:latin typeface="Menlo"/>
              </a:rPr>
              <a:t>.</a:t>
            </a:r>
            <a:endParaRPr lang="ru-RU" b="0" i="1" dirty="0">
              <a:solidFill>
                <a:srgbClr val="5C6370"/>
              </a:solidFill>
              <a:effectLst/>
              <a:latin typeface="Menlo"/>
            </a:endParaRPr>
          </a:p>
          <a:p>
            <a:pPr marL="0" indent="0" algn="just">
              <a:buNone/>
            </a:pPr>
            <a:r>
              <a:rPr lang="ru-RU" b="1" i="0" dirty="0" err="1">
                <a:effectLst/>
                <a:latin typeface="Menlo"/>
              </a:rPr>
              <a:t>with</a:t>
            </a:r>
            <a:r>
              <a:rPr lang="ru-RU" b="1" i="0" dirty="0">
                <a:effectLst/>
                <a:latin typeface="Menlo"/>
              </a:rPr>
              <a:t> и </a:t>
            </a:r>
            <a:r>
              <a:rPr lang="ru-RU" b="1" i="0" dirty="0" err="1">
                <a:effectLst/>
                <a:latin typeface="Menlo"/>
              </a:rPr>
              <a:t>as</a:t>
            </a:r>
            <a:r>
              <a:rPr lang="ru-RU" b="1" i="0" dirty="0">
                <a:effectLst/>
                <a:latin typeface="Menlo"/>
              </a:rPr>
              <a:t> </a:t>
            </a:r>
            <a:r>
              <a:rPr lang="ru-RU" b="0" i="0" dirty="0">
                <a:effectLst/>
                <a:latin typeface="Menlo"/>
              </a:rPr>
              <a:t>— ключевые слова, которые говорят Python, что код будет выполняться в среде контекстного менеджера.</a:t>
            </a:r>
          </a:p>
          <a:p>
            <a:pPr marL="0" indent="0" algn="just">
              <a:buNone/>
            </a:pPr>
            <a:r>
              <a:rPr lang="ru-RU" b="1" i="0" dirty="0" err="1">
                <a:effectLst/>
                <a:latin typeface="Menlo"/>
              </a:rPr>
              <a:t>ContextManager</a:t>
            </a:r>
            <a:r>
              <a:rPr lang="ru-RU" b="1" i="0" dirty="0">
                <a:effectLst/>
                <a:latin typeface="Menlo"/>
              </a:rPr>
              <a:t> </a:t>
            </a:r>
            <a:r>
              <a:rPr lang="ru-RU" b="0" i="0" dirty="0">
                <a:effectLst/>
                <a:latin typeface="Menlo"/>
              </a:rPr>
              <a:t>— название контекстного менеджера.</a:t>
            </a:r>
          </a:p>
          <a:p>
            <a:pPr marL="0" indent="0" algn="just">
              <a:buNone/>
            </a:pPr>
            <a:r>
              <a:rPr lang="ru-RU" b="1" i="0" dirty="0" err="1">
                <a:effectLst/>
                <a:latin typeface="Menlo"/>
              </a:rPr>
              <a:t>cm</a:t>
            </a:r>
            <a:r>
              <a:rPr lang="ru-RU" b="0" i="0" dirty="0">
                <a:effectLst/>
                <a:latin typeface="Menlo"/>
              </a:rPr>
              <a:t> — переменная, через которую происходит взаимодействие с ресурсом (например, с файлом), управляемым контекстным менеджером.</a:t>
            </a:r>
            <a:endParaRPr lang="ru-RU" dirty="0">
              <a:latin typeface="YS Text"/>
            </a:endParaRPr>
          </a:p>
        </p:txBody>
      </p:sp>
    </p:spTree>
    <p:extLst>
      <p:ext uri="{BB962C8B-B14F-4D97-AF65-F5344CB8AC3E}">
        <p14:creationId xmlns:p14="http://schemas.microsoft.com/office/powerpoint/2010/main" val="3306016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53719"/>
            <a:ext cx="10936304" cy="626532"/>
          </a:xfrm>
        </p:spPr>
        <p:txBody>
          <a:bodyPr>
            <a:normAutofit fontScale="90000"/>
          </a:bodyPr>
          <a:lstStyle/>
          <a:p>
            <a:pPr algn="ctr"/>
            <a:r>
              <a:rPr lang="ru-RU" sz="4900" b="1" dirty="0">
                <a:effectLst/>
                <a:latin typeface="YS Text"/>
              </a:rPr>
              <a:t>Встроенные контекстные менеджеры</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20110"/>
            <a:ext cx="10936304" cy="6237890"/>
          </a:xfrm>
        </p:spPr>
        <p:txBody>
          <a:bodyPr>
            <a:normAutofit lnSpcReduction="10000"/>
          </a:bodyPr>
          <a:lstStyle/>
          <a:p>
            <a:pPr marL="0" indent="0" algn="just">
              <a:buNone/>
            </a:pPr>
            <a:r>
              <a:rPr lang="ru-RU" dirty="0">
                <a:latin typeface="YS Text"/>
              </a:rPr>
              <a:t>В Python есть «готовые к употреблению», </a:t>
            </a:r>
            <a:r>
              <a:rPr lang="ru-RU" b="1" dirty="0">
                <a:latin typeface="YS Text"/>
              </a:rPr>
              <a:t>встроенные контекстные менеджеры</a:t>
            </a:r>
            <a:r>
              <a:rPr lang="ru-RU" dirty="0">
                <a:latin typeface="YS Text"/>
              </a:rPr>
              <a:t>, и </a:t>
            </a:r>
            <a:r>
              <a:rPr lang="ru-RU" b="1" dirty="0" err="1">
                <a:latin typeface="YS Text"/>
              </a:rPr>
              <a:t>open</a:t>
            </a:r>
            <a:r>
              <a:rPr lang="ru-RU" b="1" dirty="0">
                <a:latin typeface="YS Text"/>
              </a:rPr>
              <a:t>() </a:t>
            </a:r>
            <a:r>
              <a:rPr lang="ru-RU" dirty="0">
                <a:latin typeface="YS Text"/>
              </a:rPr>
              <a:t>— один из них. Разработчики могут писать собственные контекстные менеджеры</a:t>
            </a:r>
            <a:r>
              <a:rPr lang="en-US" dirty="0">
                <a:latin typeface="YS Text"/>
              </a:rPr>
              <a:t>, </a:t>
            </a:r>
            <a:r>
              <a:rPr lang="ru-RU" dirty="0">
                <a:latin typeface="YS Text"/>
              </a:rPr>
              <a:t>но это не скоро пригодится.</a:t>
            </a:r>
          </a:p>
          <a:p>
            <a:pPr marL="0" indent="0" algn="just">
              <a:buNone/>
            </a:pPr>
            <a:r>
              <a:rPr lang="ru-RU" dirty="0">
                <a:latin typeface="YS Text"/>
              </a:rPr>
              <a:t>Когда вы используете обычную встроенную функцию </a:t>
            </a:r>
            <a:r>
              <a:rPr lang="ru-RU" dirty="0" err="1">
                <a:latin typeface="YS Text"/>
              </a:rPr>
              <a:t>open</a:t>
            </a:r>
            <a:r>
              <a:rPr lang="ru-RU" dirty="0">
                <a:latin typeface="YS Text"/>
              </a:rPr>
              <a:t>(), то есть без синтаксиса </a:t>
            </a:r>
            <a:r>
              <a:rPr lang="ru-RU" dirty="0" err="1">
                <a:latin typeface="YS Text"/>
              </a:rPr>
              <a:t>with</a:t>
            </a:r>
            <a:r>
              <a:rPr lang="ru-RU" dirty="0">
                <a:latin typeface="YS Text"/>
              </a:rPr>
              <a:t> … </a:t>
            </a:r>
            <a:r>
              <a:rPr lang="ru-RU" dirty="0" err="1">
                <a:latin typeface="YS Text"/>
              </a:rPr>
              <a:t>as</a:t>
            </a:r>
            <a:r>
              <a:rPr lang="ru-RU" dirty="0">
                <a:latin typeface="YS Text"/>
              </a:rPr>
              <a:t> …, в коде нужно явно прописывать этапы подготовки к работе и «уборки», то есть нужно явно открыть файл и обязательно закрыть его:</a:t>
            </a:r>
          </a:p>
          <a:p>
            <a:pPr marL="0" indent="0" algn="just">
              <a:buNone/>
            </a:pPr>
            <a:r>
              <a:rPr lang="ru-RU" i="1" dirty="0">
                <a:latin typeface="YS Text"/>
              </a:rPr>
              <a:t>	</a:t>
            </a:r>
            <a:r>
              <a:rPr lang="en-US" sz="1800" b="0" i="0" dirty="0">
                <a:effectLst/>
                <a:latin typeface="Menlo"/>
              </a:rPr>
              <a:t>f = open(</a:t>
            </a:r>
            <a:r>
              <a:rPr lang="en-US" sz="1800" b="0" i="0" dirty="0">
                <a:solidFill>
                  <a:srgbClr val="32A846"/>
                </a:solidFill>
                <a:effectLst/>
                <a:latin typeface="Menlo"/>
              </a:rPr>
              <a:t>'hello_bro.txt'</a:t>
            </a:r>
            <a:r>
              <a:rPr lang="en-US" sz="1800" b="0" i="0" dirty="0">
                <a:effectLst/>
                <a:latin typeface="Menlo"/>
              </a:rPr>
              <a:t>, </a:t>
            </a:r>
            <a:r>
              <a:rPr lang="en-US" sz="1800" b="0" i="0" dirty="0">
                <a:solidFill>
                  <a:srgbClr val="32A846"/>
                </a:solidFill>
                <a:effectLst/>
                <a:latin typeface="Menlo"/>
              </a:rPr>
              <a:t>'w’</a:t>
            </a:r>
            <a:r>
              <a:rPr lang="en-US" sz="1800" b="0" i="0" dirty="0">
                <a:effectLst/>
                <a:latin typeface="Menlo"/>
              </a:rPr>
              <a:t>) </a:t>
            </a:r>
            <a:endParaRPr lang="ru-RU" sz="1800" b="0" i="0" dirty="0">
              <a:effectLst/>
              <a:latin typeface="Menlo"/>
            </a:endParaRPr>
          </a:p>
          <a:p>
            <a:pPr marL="0" indent="0" algn="just">
              <a:buNone/>
            </a:pPr>
            <a:r>
              <a:rPr lang="ru-RU" sz="1800" dirty="0">
                <a:latin typeface="Menlo"/>
              </a:rPr>
              <a:t>	</a:t>
            </a:r>
            <a:r>
              <a:rPr lang="en-US" sz="1800" b="0" i="0" dirty="0" err="1">
                <a:effectLst/>
                <a:latin typeface="Menlo"/>
              </a:rPr>
              <a:t>f.write</a:t>
            </a:r>
            <a:r>
              <a:rPr lang="en-US" sz="1800" b="0" i="0" dirty="0">
                <a:effectLst/>
                <a:latin typeface="Menlo"/>
              </a:rPr>
              <a:t>(</a:t>
            </a:r>
            <a:r>
              <a:rPr lang="en-US" sz="1800" b="0" i="0" dirty="0">
                <a:solidFill>
                  <a:srgbClr val="32A846"/>
                </a:solidFill>
                <a:effectLst/>
                <a:latin typeface="Menlo"/>
              </a:rPr>
              <a:t>'</a:t>
            </a:r>
            <a:r>
              <a:rPr lang="ru-RU" sz="1800" b="0" i="0" dirty="0">
                <a:solidFill>
                  <a:srgbClr val="32A846"/>
                </a:solidFill>
                <a:effectLst/>
                <a:latin typeface="Menlo"/>
              </a:rPr>
              <a:t>Здравствуй, Стас!’</a:t>
            </a:r>
            <a:r>
              <a:rPr lang="ru-RU" sz="1800" b="0" i="0" dirty="0">
                <a:effectLst/>
                <a:latin typeface="Menlo"/>
              </a:rPr>
              <a:t>) </a:t>
            </a:r>
          </a:p>
          <a:p>
            <a:pPr marL="0" indent="0" algn="just">
              <a:buNone/>
            </a:pPr>
            <a:r>
              <a:rPr lang="ru-RU" sz="1800" dirty="0">
                <a:latin typeface="Menlo"/>
              </a:rPr>
              <a:t>	</a:t>
            </a:r>
            <a:r>
              <a:rPr lang="en-US" sz="1800" b="0" i="0" dirty="0" err="1">
                <a:effectLst/>
                <a:latin typeface="Menlo"/>
              </a:rPr>
              <a:t>f.close</a:t>
            </a:r>
            <a:r>
              <a:rPr lang="en-US" sz="1800" b="0" i="0" dirty="0">
                <a:effectLst/>
                <a:latin typeface="Menlo"/>
              </a:rPr>
              <a:t>() </a:t>
            </a:r>
            <a:endParaRPr lang="ru-RU" sz="1800" b="0" i="0" dirty="0">
              <a:effectLst/>
              <a:latin typeface="Menlo"/>
            </a:endParaRPr>
          </a:p>
          <a:p>
            <a:pPr marL="0" indent="0" algn="just">
              <a:buNone/>
            </a:pPr>
            <a:r>
              <a:rPr lang="ru-RU" dirty="0">
                <a:latin typeface="YS Text"/>
              </a:rPr>
              <a:t>С синтаксисом </a:t>
            </a:r>
            <a:r>
              <a:rPr lang="ru-RU" b="1" dirty="0" err="1">
                <a:latin typeface="YS Text"/>
              </a:rPr>
              <a:t>with</a:t>
            </a:r>
            <a:r>
              <a:rPr lang="ru-RU" b="1" dirty="0">
                <a:latin typeface="YS Text"/>
              </a:rPr>
              <a:t> … </a:t>
            </a:r>
            <a:r>
              <a:rPr lang="ru-RU" b="1" dirty="0" err="1">
                <a:latin typeface="YS Text"/>
              </a:rPr>
              <a:t>as</a:t>
            </a:r>
            <a:r>
              <a:rPr lang="ru-RU" b="1" dirty="0">
                <a:latin typeface="YS Text"/>
              </a:rPr>
              <a:t> … </a:t>
            </a:r>
            <a:r>
              <a:rPr lang="ru-RU" dirty="0">
                <a:latin typeface="YS Text"/>
              </a:rPr>
              <a:t>всё выглядит проще и лаконичнее </a:t>
            </a:r>
            <a:r>
              <a:rPr lang="ru-RU" b="0" i="0" dirty="0">
                <a:effectLst/>
                <a:latin typeface="YS Text"/>
              </a:rPr>
              <a:t>а результат работы программы остаётся прежним.</a:t>
            </a:r>
            <a:endParaRPr lang="ru-RU" dirty="0">
              <a:latin typeface="YS Text"/>
            </a:endParaRPr>
          </a:p>
          <a:p>
            <a:pPr marL="0" indent="0" algn="just">
              <a:buNone/>
            </a:pPr>
            <a:r>
              <a:rPr lang="ru-RU" dirty="0">
                <a:latin typeface="YS Text"/>
              </a:rPr>
              <a:t>	</a:t>
            </a:r>
            <a:r>
              <a:rPr lang="en-US" sz="1800" b="0" i="0" dirty="0">
                <a:solidFill>
                  <a:srgbClr val="C678DD"/>
                </a:solidFill>
                <a:effectLst/>
                <a:latin typeface="Menlo"/>
              </a:rPr>
              <a:t>with</a:t>
            </a:r>
            <a:r>
              <a:rPr lang="en-US" sz="1800" b="0" i="0" dirty="0">
                <a:effectLst/>
                <a:latin typeface="Menlo"/>
              </a:rPr>
              <a:t> open(</a:t>
            </a:r>
            <a:r>
              <a:rPr lang="en-US" sz="1800" b="0" i="0" dirty="0">
                <a:solidFill>
                  <a:srgbClr val="32A846"/>
                </a:solidFill>
                <a:effectLst/>
                <a:latin typeface="Menlo"/>
              </a:rPr>
              <a:t>'hello_bro.txt'</a:t>
            </a:r>
            <a:r>
              <a:rPr lang="en-US" sz="1800" b="0" i="0" dirty="0">
                <a:effectLst/>
                <a:latin typeface="Menlo"/>
              </a:rPr>
              <a:t>, </a:t>
            </a:r>
            <a:r>
              <a:rPr lang="en-US" sz="1800" b="0" i="0" dirty="0">
                <a:solidFill>
                  <a:srgbClr val="32A846"/>
                </a:solidFill>
                <a:effectLst/>
                <a:latin typeface="Menlo"/>
              </a:rPr>
              <a:t>'w'</a:t>
            </a:r>
            <a:r>
              <a:rPr lang="en-US" sz="1800" b="0" i="0" dirty="0">
                <a:effectLst/>
                <a:latin typeface="Menlo"/>
              </a:rPr>
              <a:t>) </a:t>
            </a:r>
            <a:r>
              <a:rPr lang="en-US" sz="1800" b="0" i="0" dirty="0">
                <a:solidFill>
                  <a:srgbClr val="C678DD"/>
                </a:solidFill>
                <a:effectLst/>
                <a:latin typeface="Menlo"/>
              </a:rPr>
              <a:t>as</a:t>
            </a:r>
            <a:r>
              <a:rPr lang="en-US" sz="1800" b="0" i="0" dirty="0">
                <a:effectLst/>
                <a:latin typeface="Menlo"/>
              </a:rPr>
              <a:t> f:</a:t>
            </a:r>
            <a:endParaRPr lang="ru-RU" sz="1800" b="0" i="0" dirty="0">
              <a:effectLst/>
              <a:latin typeface="Menlo"/>
            </a:endParaRPr>
          </a:p>
          <a:p>
            <a:pPr marL="0" indent="0" algn="just">
              <a:buNone/>
            </a:pPr>
            <a:r>
              <a:rPr lang="ru-RU" sz="1800" dirty="0">
                <a:latin typeface="Menlo"/>
              </a:rPr>
              <a:t>		</a:t>
            </a:r>
            <a:r>
              <a:rPr lang="en-US" sz="1800" b="0" i="0" dirty="0" err="1">
                <a:effectLst/>
                <a:latin typeface="Menlo"/>
              </a:rPr>
              <a:t>f.write</a:t>
            </a:r>
            <a:r>
              <a:rPr lang="en-US" sz="1800" b="0" i="0" dirty="0">
                <a:effectLst/>
                <a:latin typeface="Menlo"/>
              </a:rPr>
              <a:t>(</a:t>
            </a:r>
            <a:r>
              <a:rPr lang="en-US" sz="1800" b="0" i="0" dirty="0">
                <a:solidFill>
                  <a:srgbClr val="32A846"/>
                </a:solidFill>
                <a:effectLst/>
                <a:latin typeface="Menlo"/>
              </a:rPr>
              <a:t>'</a:t>
            </a:r>
            <a:r>
              <a:rPr lang="ru-RU" sz="1800" b="0" i="0" dirty="0">
                <a:solidFill>
                  <a:srgbClr val="32A846"/>
                </a:solidFill>
                <a:effectLst/>
                <a:latin typeface="Menlo"/>
              </a:rPr>
              <a:t>Здравствуй, Стас!’</a:t>
            </a:r>
            <a:r>
              <a:rPr lang="ru-RU" sz="1800" b="0" i="0" dirty="0">
                <a:effectLst/>
                <a:latin typeface="Menlo"/>
              </a:rPr>
              <a:t>) </a:t>
            </a:r>
          </a:p>
          <a:p>
            <a:pPr marL="0" indent="0" algn="just">
              <a:buNone/>
            </a:pPr>
            <a:r>
              <a:rPr lang="ru-RU" dirty="0">
                <a:latin typeface="YS Text"/>
              </a:rPr>
              <a:t>В рамках синтаксиса </a:t>
            </a:r>
            <a:r>
              <a:rPr lang="ru-RU" b="1" dirty="0" err="1">
                <a:latin typeface="YS Text"/>
              </a:rPr>
              <a:t>with</a:t>
            </a:r>
            <a:r>
              <a:rPr lang="ru-RU" b="1" dirty="0">
                <a:latin typeface="YS Text"/>
              </a:rPr>
              <a:t> … </a:t>
            </a:r>
            <a:r>
              <a:rPr lang="ru-RU" b="1" dirty="0" err="1">
                <a:latin typeface="YS Text"/>
              </a:rPr>
              <a:t>as</a:t>
            </a:r>
            <a:r>
              <a:rPr lang="ru-RU" b="1" dirty="0">
                <a:latin typeface="YS Text"/>
              </a:rPr>
              <a:t> … </a:t>
            </a:r>
            <a:r>
              <a:rPr lang="ru-RU" dirty="0">
                <a:latin typeface="YS Text"/>
              </a:rPr>
              <a:t>также при необходимости можно явно указать кодировку:</a:t>
            </a:r>
          </a:p>
          <a:p>
            <a:pPr marL="0" indent="0" algn="just">
              <a:buNone/>
            </a:pPr>
            <a:r>
              <a:rPr lang="ru-RU" dirty="0">
                <a:latin typeface="YS Text"/>
              </a:rPr>
              <a:t>	</a:t>
            </a:r>
            <a:r>
              <a:rPr lang="en-US" sz="1800" b="0" i="0" dirty="0">
                <a:solidFill>
                  <a:srgbClr val="C678DD"/>
                </a:solidFill>
                <a:effectLst/>
                <a:latin typeface="Menlo"/>
              </a:rPr>
              <a:t>with</a:t>
            </a:r>
            <a:r>
              <a:rPr lang="en-US" sz="1800" b="0" i="0" dirty="0">
                <a:effectLst/>
                <a:latin typeface="Menlo"/>
              </a:rPr>
              <a:t> open(</a:t>
            </a:r>
            <a:r>
              <a:rPr lang="en-US" sz="1800" b="0" i="0" dirty="0">
                <a:solidFill>
                  <a:srgbClr val="32A846"/>
                </a:solidFill>
                <a:effectLst/>
                <a:latin typeface="Menlo"/>
              </a:rPr>
              <a:t>'hello_bro.txt'</a:t>
            </a:r>
            <a:r>
              <a:rPr lang="en-US" sz="1800" b="0" i="0" dirty="0">
                <a:effectLst/>
                <a:latin typeface="Menlo"/>
              </a:rPr>
              <a:t>, </a:t>
            </a:r>
            <a:r>
              <a:rPr lang="en-US" sz="1800" b="0" i="0" dirty="0">
                <a:solidFill>
                  <a:srgbClr val="32A846"/>
                </a:solidFill>
                <a:effectLst/>
                <a:latin typeface="Menlo"/>
              </a:rPr>
              <a:t>'w'</a:t>
            </a:r>
            <a:r>
              <a:rPr lang="en-US" sz="1800" b="0" i="0" dirty="0">
                <a:effectLst/>
                <a:latin typeface="Menlo"/>
              </a:rPr>
              <a:t>, encoding=</a:t>
            </a:r>
            <a:r>
              <a:rPr lang="en-US" sz="1800" b="0" i="0" dirty="0">
                <a:solidFill>
                  <a:srgbClr val="32A846"/>
                </a:solidFill>
                <a:effectLst/>
                <a:latin typeface="Menlo"/>
              </a:rPr>
              <a:t>'utf-8'</a:t>
            </a:r>
            <a:r>
              <a:rPr lang="en-US" sz="1800" b="0" i="0" dirty="0">
                <a:effectLst/>
                <a:latin typeface="Menlo"/>
              </a:rPr>
              <a:t>) </a:t>
            </a:r>
            <a:r>
              <a:rPr lang="en-US" sz="1800" b="0" i="0" dirty="0">
                <a:solidFill>
                  <a:srgbClr val="C678DD"/>
                </a:solidFill>
                <a:effectLst/>
                <a:latin typeface="Menlo"/>
              </a:rPr>
              <a:t>as</a:t>
            </a:r>
            <a:r>
              <a:rPr lang="en-US" sz="1800" b="0" i="0" dirty="0">
                <a:effectLst/>
                <a:latin typeface="Menlo"/>
              </a:rPr>
              <a:t> f:</a:t>
            </a:r>
            <a:endParaRPr lang="ru-RU" sz="1800" b="0" i="0" dirty="0">
              <a:effectLst/>
              <a:latin typeface="Menlo"/>
            </a:endParaRPr>
          </a:p>
          <a:p>
            <a:pPr marL="0" indent="0" algn="just">
              <a:buNone/>
            </a:pPr>
            <a:r>
              <a:rPr lang="ru-RU" sz="1800" dirty="0">
                <a:latin typeface="Menlo"/>
              </a:rPr>
              <a:t>		</a:t>
            </a:r>
            <a:r>
              <a:rPr lang="en-US" sz="1800" b="0" i="0" dirty="0" err="1">
                <a:effectLst/>
                <a:latin typeface="Menlo"/>
              </a:rPr>
              <a:t>f.write</a:t>
            </a:r>
            <a:r>
              <a:rPr lang="en-US" sz="1800" b="0" i="0" dirty="0">
                <a:effectLst/>
                <a:latin typeface="Menlo"/>
              </a:rPr>
              <a:t>(</a:t>
            </a:r>
            <a:r>
              <a:rPr lang="en-US" sz="1800" b="0" i="0" dirty="0">
                <a:solidFill>
                  <a:srgbClr val="32A846"/>
                </a:solidFill>
                <a:effectLst/>
                <a:latin typeface="Menlo"/>
              </a:rPr>
              <a:t>'</a:t>
            </a:r>
            <a:r>
              <a:rPr lang="ru-RU" sz="1800" b="0" i="0" dirty="0">
                <a:solidFill>
                  <a:srgbClr val="32A846"/>
                </a:solidFill>
                <a:effectLst/>
                <a:latin typeface="Menlo"/>
              </a:rPr>
              <a:t>Здравствуй, Стас!’</a:t>
            </a:r>
            <a:r>
              <a:rPr lang="ru-RU" sz="1800" b="0" i="0" dirty="0">
                <a:effectLst/>
                <a:latin typeface="Menlo"/>
              </a:rPr>
              <a:t>) </a:t>
            </a:r>
          </a:p>
          <a:p>
            <a:pPr marL="0" indent="0" algn="just">
              <a:buNone/>
            </a:pPr>
            <a:r>
              <a:rPr lang="ru-RU" sz="2400" b="0" i="0" dirty="0">
                <a:solidFill>
                  <a:srgbClr val="0070C0"/>
                </a:solidFill>
                <a:effectLst/>
                <a:latin typeface="YS Text"/>
                <a:hlinkClick r:id="rId2">
                  <a:extLst>
                    <a:ext uri="{A12FA001-AC4F-418D-AE19-62706E023703}">
                      <ahyp:hlinkClr xmlns:ahyp="http://schemas.microsoft.com/office/drawing/2018/hyperlinkcolor" val="tx"/>
                    </a:ext>
                  </a:extLst>
                </a:hlinkClick>
              </a:rPr>
              <a:t>Подборка библиотечных контекстных менеджеров с примерами использования</a:t>
            </a:r>
            <a:endParaRPr lang="ru-RU" sz="2800" dirty="0">
              <a:solidFill>
                <a:srgbClr val="0070C0"/>
              </a:solidFill>
              <a:latin typeface="YS Text"/>
            </a:endParaRPr>
          </a:p>
        </p:txBody>
      </p:sp>
    </p:spTree>
    <p:extLst>
      <p:ext uri="{BB962C8B-B14F-4D97-AF65-F5344CB8AC3E}">
        <p14:creationId xmlns:p14="http://schemas.microsoft.com/office/powerpoint/2010/main" val="2581863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4400" b="1" dirty="0">
                <a:solidFill>
                  <a:schemeClr val="tx1">
                    <a:lumMod val="95000"/>
                    <a:lumOff val="5000"/>
                  </a:schemeClr>
                </a:solidFill>
                <a:latin typeface="YS Text"/>
              </a:rPr>
              <a:t>Новый интерфейс для проекта</a:t>
            </a:r>
            <a:br>
              <a:rPr lang="ru-RU" sz="4400" b="1" dirty="0">
                <a:solidFill>
                  <a:schemeClr val="tx1">
                    <a:lumMod val="95000"/>
                    <a:lumOff val="5000"/>
                  </a:schemeClr>
                </a:solidFill>
                <a:latin typeface="YS Text"/>
              </a:rPr>
            </a:br>
            <a:r>
              <a:rPr lang="ru-RU" sz="4400" b="1" dirty="0">
                <a:solidFill>
                  <a:schemeClr val="tx1">
                    <a:lumMod val="95000"/>
                    <a:lumOff val="5000"/>
                  </a:schemeClr>
                </a:solidFill>
                <a:latin typeface="YS Text"/>
              </a:rPr>
              <a:t>Библиотека </a:t>
            </a:r>
            <a:r>
              <a:rPr lang="en-US" sz="4400" b="1" dirty="0" err="1">
                <a:solidFill>
                  <a:schemeClr val="tx1">
                    <a:lumMod val="95000"/>
                    <a:lumOff val="5000"/>
                  </a:schemeClr>
                </a:solidFill>
                <a:latin typeface="YS Text"/>
              </a:rPr>
              <a:t>pygame</a:t>
            </a:r>
            <a:endParaRPr lang="ru-RU" sz="4400" dirty="0">
              <a:solidFill>
                <a:schemeClr val="tx1">
                  <a:lumMod val="95000"/>
                  <a:lumOff val="5000"/>
                </a:schemeClr>
              </a:solidFill>
            </a:endParaRPr>
          </a:p>
        </p:txBody>
      </p:sp>
    </p:spTree>
    <p:extLst>
      <p:ext uri="{BB962C8B-B14F-4D97-AF65-F5344CB8AC3E}">
        <p14:creationId xmlns:p14="http://schemas.microsoft.com/office/powerpoint/2010/main" val="1126882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Установка </a:t>
            </a:r>
            <a:r>
              <a:rPr lang="en-US" sz="4900" b="1" dirty="0" err="1">
                <a:effectLst/>
                <a:latin typeface="YS Text"/>
              </a:rPr>
              <a:t>Pygame</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903890"/>
            <a:ext cx="10936304" cy="5764924"/>
          </a:xfrm>
        </p:spPr>
        <p:txBody>
          <a:bodyPr/>
          <a:lstStyle/>
          <a:p>
            <a:pPr marL="0" indent="0" algn="just">
              <a:buNone/>
            </a:pPr>
            <a:r>
              <a:rPr lang="ru-RU" b="1" dirty="0" err="1">
                <a:solidFill>
                  <a:schemeClr val="accent6">
                    <a:lumMod val="50000"/>
                  </a:schemeClr>
                </a:solidFill>
                <a:latin typeface="YS Text"/>
              </a:rPr>
              <a:t>Pygame</a:t>
            </a:r>
            <a:r>
              <a:rPr lang="ru-RU" dirty="0">
                <a:latin typeface="YS Text"/>
              </a:rPr>
              <a:t> — это кроссплатформенная библиотека для Python, которая предназначена для создания графических игр. Она включает модули для графики, звука и управления игрой, что делает эту библиотеку популярным инструментом в мире разработки простых игр и интерактивных проектов.</a:t>
            </a:r>
          </a:p>
          <a:p>
            <a:pPr marL="0" indent="0" algn="just">
              <a:buNone/>
            </a:pPr>
            <a:r>
              <a:rPr lang="ru-RU" dirty="0">
                <a:latin typeface="YS Text"/>
              </a:rPr>
              <a:t>Чтобы начать работу с библиотекой </a:t>
            </a:r>
            <a:r>
              <a:rPr lang="ru-RU" dirty="0" err="1">
                <a:latin typeface="YS Text"/>
              </a:rPr>
              <a:t>Pygame</a:t>
            </a:r>
            <a:r>
              <a:rPr lang="ru-RU" dirty="0">
                <a:latin typeface="YS Text"/>
              </a:rPr>
              <a:t>, вам сначала нужно её установить. Находясь в </a:t>
            </a:r>
            <a:r>
              <a:rPr lang="ru-RU" b="1" dirty="0">
                <a:latin typeface="YS Text"/>
              </a:rPr>
              <a:t>активированном</a:t>
            </a:r>
            <a:r>
              <a:rPr lang="ru-RU" dirty="0">
                <a:latin typeface="YS Text"/>
              </a:rPr>
              <a:t> виртуальном окружении проекта </a:t>
            </a:r>
            <a:r>
              <a:rPr lang="ru-RU" dirty="0" err="1">
                <a:latin typeface="YS Text"/>
              </a:rPr>
              <a:t>tic_tac_toe</a:t>
            </a:r>
            <a:r>
              <a:rPr lang="ru-RU" dirty="0">
                <a:latin typeface="YS Text"/>
              </a:rPr>
              <a:t>, выполните команду:</a:t>
            </a:r>
          </a:p>
          <a:p>
            <a:pPr marL="0" indent="0" algn="just">
              <a:buNone/>
            </a:pPr>
            <a:r>
              <a:rPr lang="ru-RU" i="1" dirty="0">
                <a:latin typeface="YS Text"/>
              </a:rPr>
              <a:t>	</a:t>
            </a:r>
            <a:r>
              <a:rPr lang="ru-RU" b="1" i="1" dirty="0" err="1">
                <a:solidFill>
                  <a:srgbClr val="00B050"/>
                </a:solidFill>
                <a:latin typeface="YS Text"/>
              </a:rPr>
              <a:t>pip</a:t>
            </a:r>
            <a:r>
              <a:rPr lang="ru-RU" b="1" i="1" dirty="0">
                <a:solidFill>
                  <a:srgbClr val="00B050"/>
                </a:solidFill>
                <a:latin typeface="YS Text"/>
              </a:rPr>
              <a:t> </a:t>
            </a:r>
            <a:r>
              <a:rPr lang="ru-RU" b="1" i="1" dirty="0" err="1">
                <a:solidFill>
                  <a:srgbClr val="00B050"/>
                </a:solidFill>
                <a:latin typeface="YS Text"/>
              </a:rPr>
              <a:t>install</a:t>
            </a:r>
            <a:r>
              <a:rPr lang="ru-RU" b="1" i="1" dirty="0">
                <a:solidFill>
                  <a:srgbClr val="00B050"/>
                </a:solidFill>
                <a:latin typeface="YS Text"/>
              </a:rPr>
              <a:t> </a:t>
            </a:r>
            <a:r>
              <a:rPr lang="ru-RU" b="1" i="1" dirty="0" err="1">
                <a:solidFill>
                  <a:srgbClr val="00B050"/>
                </a:solidFill>
                <a:latin typeface="YS Text"/>
              </a:rPr>
              <a:t>pygame</a:t>
            </a:r>
            <a:r>
              <a:rPr lang="ru-RU" b="1" i="1" dirty="0">
                <a:solidFill>
                  <a:srgbClr val="00B050"/>
                </a:solidFill>
                <a:latin typeface="YS Text"/>
              </a:rPr>
              <a:t>==2.5.2 </a:t>
            </a:r>
          </a:p>
          <a:p>
            <a:pPr marL="0" indent="0" algn="just">
              <a:buNone/>
            </a:pPr>
            <a:r>
              <a:rPr lang="ru-RU" dirty="0">
                <a:latin typeface="YS Text"/>
              </a:rPr>
              <a:t>Эта команда установит </a:t>
            </a:r>
            <a:r>
              <a:rPr lang="ru-RU" dirty="0" err="1">
                <a:latin typeface="YS Text"/>
              </a:rPr>
              <a:t>Pygame</a:t>
            </a:r>
            <a:r>
              <a:rPr lang="ru-RU" dirty="0">
                <a:latin typeface="YS Text"/>
              </a:rPr>
              <a:t> и все необходимые зависимости.</a:t>
            </a:r>
          </a:p>
        </p:txBody>
      </p:sp>
    </p:spTree>
    <p:extLst>
      <p:ext uri="{BB962C8B-B14F-4D97-AF65-F5344CB8AC3E}">
        <p14:creationId xmlns:p14="http://schemas.microsoft.com/office/powerpoint/2010/main" val="6359238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344"/>
            <a:ext cx="10936304" cy="626532"/>
          </a:xfrm>
        </p:spPr>
        <p:txBody>
          <a:bodyPr>
            <a:normAutofit fontScale="90000"/>
          </a:bodyPr>
          <a:lstStyle/>
          <a:p>
            <a:pPr algn="ctr"/>
            <a:r>
              <a:rPr lang="ru-RU" sz="4900" b="1" dirty="0">
                <a:effectLst/>
                <a:latin typeface="YS Text"/>
              </a:rPr>
              <a:t>Графический интерфейс с </a:t>
            </a:r>
            <a:r>
              <a:rPr lang="ru-RU" sz="4900" b="1" dirty="0" err="1">
                <a:effectLst/>
                <a:latin typeface="YS Text"/>
              </a:rPr>
              <a:t>Pygame</a:t>
            </a:r>
            <a:r>
              <a:rPr lang="ru-RU" sz="4900" b="1" dirty="0">
                <a:effectLst/>
                <a:latin typeface="YS Text"/>
              </a:rPr>
              <a:t>: основы</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normAutofit fontScale="92500" lnSpcReduction="10000"/>
          </a:bodyPr>
          <a:lstStyle/>
          <a:p>
            <a:pPr marL="0" indent="0" algn="just">
              <a:buNone/>
            </a:pPr>
            <a:r>
              <a:rPr lang="ru-RU" dirty="0">
                <a:latin typeface="YS Text"/>
              </a:rPr>
              <a:t>Пользователь может взаимодействовать с программой (игрой)через интерфейс терминала. Но с помощью библиотеки </a:t>
            </a:r>
            <a:r>
              <a:rPr lang="ru-RU" dirty="0" err="1">
                <a:latin typeface="YS Text"/>
              </a:rPr>
              <a:t>Pygame</a:t>
            </a:r>
            <a:r>
              <a:rPr lang="ru-RU" dirty="0">
                <a:latin typeface="YS Text"/>
              </a:rPr>
              <a:t> для игры можно создать собственный </a:t>
            </a:r>
            <a:r>
              <a:rPr lang="ru-RU" b="1" dirty="0">
                <a:latin typeface="YS Text"/>
              </a:rPr>
              <a:t>графический интерфейс</a:t>
            </a:r>
            <a:r>
              <a:rPr lang="ru-RU" dirty="0">
                <a:latin typeface="YS Text"/>
              </a:rPr>
              <a:t>.</a:t>
            </a:r>
          </a:p>
          <a:p>
            <a:pPr marL="0" indent="0" algn="just">
              <a:buNone/>
            </a:pPr>
            <a:r>
              <a:rPr lang="ru-RU" dirty="0">
                <a:latin typeface="YS Text"/>
              </a:rPr>
              <a:t>Например, это может быть окно с интерактивным игровым полем. Пользователю больше не придётся вводить в терминал координаты ячеек. Достаточно будет кликнуть на нужную ячейку в окне игры, и ход будет сделан. А в терминал будут выводиться, например, результаты игры.</a:t>
            </a:r>
          </a:p>
          <a:p>
            <a:pPr marL="0" indent="0" algn="just">
              <a:buNone/>
            </a:pPr>
            <a:r>
              <a:rPr lang="ru-RU" dirty="0">
                <a:latin typeface="YS Text"/>
              </a:rPr>
              <a:t>Самая простая реализация игрового графического интерфейса через </a:t>
            </a:r>
            <a:r>
              <a:rPr lang="ru-RU" dirty="0" err="1">
                <a:latin typeface="YS Text"/>
              </a:rPr>
              <a:t>Pygame</a:t>
            </a:r>
            <a:r>
              <a:rPr lang="ru-RU" dirty="0">
                <a:latin typeface="YS Text"/>
              </a:rPr>
              <a:t> должна:</a:t>
            </a:r>
          </a:p>
          <a:p>
            <a:pPr algn="just"/>
            <a:r>
              <a:rPr lang="ru-RU" dirty="0">
                <a:latin typeface="YS Text"/>
              </a:rPr>
              <a:t>создавать игровое окно;</a:t>
            </a:r>
          </a:p>
          <a:p>
            <a:pPr algn="just"/>
            <a:r>
              <a:rPr lang="ru-RU" dirty="0">
                <a:latin typeface="YS Text"/>
              </a:rPr>
              <a:t>запускать игровой цикл, в котором впоследствии будут обрабатываться действия пользователя, например нажатие клавиш, движение мышки и так далее;</a:t>
            </a:r>
          </a:p>
          <a:p>
            <a:pPr algn="just"/>
            <a:r>
              <a:rPr lang="ru-RU" dirty="0">
                <a:latin typeface="YS Text"/>
              </a:rPr>
              <a:t>закрывать игровое окно.</a:t>
            </a:r>
            <a:endParaRPr lang="en-US" dirty="0">
              <a:latin typeface="YS Text"/>
            </a:endParaRPr>
          </a:p>
          <a:p>
            <a:pPr marL="0" indent="0" algn="just">
              <a:buNone/>
            </a:pPr>
            <a:endParaRPr lang="en-US" dirty="0">
              <a:latin typeface="YS Text"/>
            </a:endParaRPr>
          </a:p>
          <a:p>
            <a:pPr marL="0" indent="0" algn="just">
              <a:buNone/>
            </a:pPr>
            <a:r>
              <a:rPr lang="ru-RU" dirty="0">
                <a:latin typeface="YS Text"/>
              </a:rPr>
              <a:t>Библиотека </a:t>
            </a:r>
            <a:r>
              <a:rPr lang="ru-RU" dirty="0" err="1">
                <a:latin typeface="YS Text"/>
              </a:rPr>
              <a:t>Pygame</a:t>
            </a:r>
            <a:r>
              <a:rPr lang="ru-RU" dirty="0">
                <a:latin typeface="YS Text"/>
              </a:rPr>
              <a:t> идёт в комплекте с документацией. Чтобы открыть документацию в браузере, выполните в активированном окружении команду:</a:t>
            </a:r>
            <a:endParaRPr lang="en-US" dirty="0">
              <a:latin typeface="YS Text"/>
            </a:endParaRPr>
          </a:p>
          <a:p>
            <a:pPr marL="0" indent="0" algn="just">
              <a:buNone/>
            </a:pPr>
            <a:r>
              <a:rPr lang="en-US" dirty="0">
                <a:latin typeface="YS Text"/>
              </a:rPr>
              <a:t>	</a:t>
            </a:r>
            <a:r>
              <a:rPr lang="ru-RU" dirty="0">
                <a:latin typeface="YS Text"/>
              </a:rPr>
              <a:t># Для </a:t>
            </a:r>
            <a:r>
              <a:rPr lang="en-US" dirty="0">
                <a:latin typeface="YS Text"/>
              </a:rPr>
              <a:t>Windows </a:t>
            </a:r>
          </a:p>
          <a:p>
            <a:pPr marL="0" indent="0" algn="just">
              <a:buNone/>
            </a:pPr>
            <a:r>
              <a:rPr lang="en-US" dirty="0">
                <a:latin typeface="YS Text"/>
              </a:rPr>
              <a:t>	</a:t>
            </a:r>
            <a:r>
              <a:rPr lang="en-US" dirty="0">
                <a:solidFill>
                  <a:srgbClr val="00B050"/>
                </a:solidFill>
                <a:latin typeface="YS Text"/>
              </a:rPr>
              <a:t>python -m </a:t>
            </a:r>
            <a:r>
              <a:rPr lang="en-US" dirty="0" err="1">
                <a:solidFill>
                  <a:srgbClr val="00B050"/>
                </a:solidFill>
                <a:latin typeface="YS Text"/>
              </a:rPr>
              <a:t>pygame.docs</a:t>
            </a:r>
            <a:endParaRPr lang="en-US" dirty="0">
              <a:solidFill>
                <a:srgbClr val="00B050"/>
              </a:solidFill>
              <a:latin typeface="YS Text"/>
            </a:endParaRPr>
          </a:p>
          <a:p>
            <a:pPr marL="0" indent="0" algn="just">
              <a:buNone/>
            </a:pPr>
            <a:r>
              <a:rPr lang="en-US" dirty="0">
                <a:latin typeface="YS Text"/>
              </a:rPr>
              <a:t>	# </a:t>
            </a:r>
            <a:r>
              <a:rPr lang="ru-RU" dirty="0">
                <a:latin typeface="YS Text"/>
              </a:rPr>
              <a:t>Для </a:t>
            </a:r>
            <a:r>
              <a:rPr lang="en-US" dirty="0">
                <a:latin typeface="YS Text"/>
              </a:rPr>
              <a:t>macOS/Linux</a:t>
            </a:r>
          </a:p>
          <a:p>
            <a:pPr marL="0" indent="0" algn="just">
              <a:buNone/>
            </a:pPr>
            <a:r>
              <a:rPr lang="en-US" dirty="0">
                <a:latin typeface="YS Text"/>
              </a:rPr>
              <a:t>	</a:t>
            </a:r>
            <a:r>
              <a:rPr lang="en-US" dirty="0">
                <a:solidFill>
                  <a:srgbClr val="00B050"/>
                </a:solidFill>
                <a:latin typeface="YS Text"/>
              </a:rPr>
              <a:t>python3 -m </a:t>
            </a:r>
            <a:r>
              <a:rPr lang="en-US" dirty="0" err="1">
                <a:solidFill>
                  <a:srgbClr val="00B050"/>
                </a:solidFill>
                <a:latin typeface="YS Text"/>
              </a:rPr>
              <a:t>pygame.docs</a:t>
            </a:r>
            <a:endParaRPr lang="ru-RU" dirty="0">
              <a:solidFill>
                <a:srgbClr val="00B050"/>
              </a:solidFill>
              <a:latin typeface="YS Text"/>
            </a:endParaRPr>
          </a:p>
        </p:txBody>
      </p:sp>
    </p:spTree>
    <p:extLst>
      <p:ext uri="{BB962C8B-B14F-4D97-AF65-F5344CB8AC3E}">
        <p14:creationId xmlns:p14="http://schemas.microsoft.com/office/powerpoint/2010/main" val="1889943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41890"/>
            <a:ext cx="10936304" cy="6526924"/>
          </a:xfrm>
        </p:spPr>
        <p:txBody>
          <a:bodyPr>
            <a:normAutofit lnSpcReduction="10000"/>
          </a:bodyPr>
          <a:lstStyle/>
          <a:p>
            <a:pPr marL="0" indent="0" algn="just">
              <a:buNone/>
            </a:pPr>
            <a:r>
              <a:rPr lang="ru-RU" dirty="0">
                <a:latin typeface="YS Text"/>
              </a:rPr>
              <a:t>При помощи </a:t>
            </a:r>
            <a:r>
              <a:rPr lang="ru-RU" dirty="0" err="1">
                <a:latin typeface="YS Text"/>
              </a:rPr>
              <a:t>Pygame</a:t>
            </a:r>
            <a:r>
              <a:rPr lang="ru-RU" dirty="0">
                <a:latin typeface="YS Text"/>
              </a:rPr>
              <a:t> можно и отрисовать различные графические элементы, такие как линии или квадраты в игровом окне.</a:t>
            </a:r>
          </a:p>
          <a:p>
            <a:pPr marL="0" indent="0" algn="just">
              <a:buNone/>
            </a:pPr>
            <a:r>
              <a:rPr lang="ru-RU" dirty="0">
                <a:latin typeface="YS Text"/>
              </a:rPr>
              <a:t>Для отрисовки линии в </a:t>
            </a:r>
            <a:r>
              <a:rPr lang="ru-RU" dirty="0" err="1">
                <a:latin typeface="YS Text"/>
              </a:rPr>
              <a:t>Pygame</a:t>
            </a:r>
            <a:r>
              <a:rPr lang="ru-RU" dirty="0">
                <a:latin typeface="YS Text"/>
              </a:rPr>
              <a:t> используется функция </a:t>
            </a:r>
            <a:r>
              <a:rPr lang="ru-RU" b="1" dirty="0" err="1">
                <a:latin typeface="YS Text"/>
              </a:rPr>
              <a:t>pygame.draw.line</a:t>
            </a:r>
            <a:r>
              <a:rPr lang="ru-RU" b="1" dirty="0">
                <a:latin typeface="YS Text"/>
              </a:rPr>
              <a:t>()</a:t>
            </a:r>
            <a:r>
              <a:rPr lang="ru-RU" dirty="0">
                <a:latin typeface="YS Text"/>
              </a:rPr>
              <a:t>. Она принимает несколько параметров, основные из которых:</a:t>
            </a:r>
          </a:p>
          <a:p>
            <a:pPr algn="l">
              <a:buFont typeface="+mj-lt"/>
              <a:buAutoNum type="arabicPeriod"/>
            </a:pPr>
            <a:r>
              <a:rPr lang="ru-RU" b="1" i="0" dirty="0">
                <a:effectLst/>
                <a:latin typeface="YS Text"/>
              </a:rPr>
              <a:t>Surface</a:t>
            </a:r>
            <a:r>
              <a:rPr lang="ru-RU" b="0" i="0" dirty="0">
                <a:effectLst/>
                <a:latin typeface="YS Text"/>
              </a:rPr>
              <a:t> — поверхность, на которой будет нарисована линия (обычно это окно программы).</a:t>
            </a:r>
          </a:p>
          <a:p>
            <a:pPr algn="l">
              <a:buFont typeface="+mj-lt"/>
              <a:buAutoNum type="arabicPeriod"/>
            </a:pPr>
            <a:r>
              <a:rPr lang="ru-RU" b="1" i="0" dirty="0">
                <a:effectLst/>
                <a:latin typeface="YS Text"/>
              </a:rPr>
              <a:t>Color</a:t>
            </a:r>
            <a:r>
              <a:rPr lang="ru-RU" b="0" i="0" dirty="0">
                <a:effectLst/>
                <a:latin typeface="YS Text"/>
              </a:rPr>
              <a:t> — цвет линии в формате RGB (красный, зелёный, синий).</a:t>
            </a:r>
          </a:p>
          <a:p>
            <a:pPr algn="l">
              <a:buFont typeface="+mj-lt"/>
              <a:buAutoNum type="arabicPeriod"/>
            </a:pPr>
            <a:r>
              <a:rPr lang="ru-RU" b="1" i="0" dirty="0" err="1">
                <a:effectLst/>
                <a:latin typeface="YS Text"/>
              </a:rPr>
              <a:t>Start_pos</a:t>
            </a:r>
            <a:r>
              <a:rPr lang="ru-RU" b="0" i="0" dirty="0">
                <a:effectLst/>
                <a:latin typeface="YS Text"/>
              </a:rPr>
              <a:t> — начальная позиция линии (координаты x и y).</a:t>
            </a:r>
          </a:p>
          <a:p>
            <a:pPr algn="l">
              <a:buFont typeface="+mj-lt"/>
              <a:buAutoNum type="arabicPeriod"/>
            </a:pPr>
            <a:r>
              <a:rPr lang="ru-RU" b="1" i="0" dirty="0" err="1">
                <a:effectLst/>
                <a:latin typeface="YS Text"/>
              </a:rPr>
              <a:t>End_pos</a:t>
            </a:r>
            <a:r>
              <a:rPr lang="ru-RU" b="0" i="0" dirty="0">
                <a:effectLst/>
                <a:latin typeface="YS Text"/>
              </a:rPr>
              <a:t> — конечная позиция линии (координаты x и y).</a:t>
            </a:r>
          </a:p>
          <a:p>
            <a:pPr algn="l">
              <a:buFont typeface="+mj-lt"/>
              <a:buAutoNum type="arabicPeriod"/>
            </a:pPr>
            <a:r>
              <a:rPr lang="ru-RU" b="1" i="0" dirty="0" err="1">
                <a:effectLst/>
                <a:latin typeface="YS Text"/>
              </a:rPr>
              <a:t>Width</a:t>
            </a:r>
            <a:r>
              <a:rPr lang="ru-RU" b="0" i="0" dirty="0">
                <a:effectLst/>
                <a:latin typeface="YS Text"/>
              </a:rPr>
              <a:t> (опционально) — ширина линии в пикселях.</a:t>
            </a:r>
          </a:p>
          <a:p>
            <a:pPr marL="0" indent="0" algn="just">
              <a:buNone/>
            </a:pPr>
            <a:r>
              <a:rPr lang="ru-RU" dirty="0">
                <a:latin typeface="YS Text"/>
              </a:rPr>
              <a:t>Для рисования квадрата в </a:t>
            </a:r>
            <a:r>
              <a:rPr lang="ru-RU" dirty="0" err="1">
                <a:latin typeface="YS Text"/>
              </a:rPr>
              <a:t>Pygame</a:t>
            </a:r>
            <a:r>
              <a:rPr lang="ru-RU" dirty="0">
                <a:latin typeface="YS Text"/>
              </a:rPr>
              <a:t> используется функция </a:t>
            </a:r>
            <a:r>
              <a:rPr lang="ru-RU" b="1" dirty="0" err="1">
                <a:latin typeface="YS Text"/>
              </a:rPr>
              <a:t>pygame.draw.rect</a:t>
            </a:r>
            <a:r>
              <a:rPr lang="ru-RU" b="1" dirty="0">
                <a:latin typeface="YS Text"/>
              </a:rPr>
              <a:t>()</a:t>
            </a:r>
            <a:r>
              <a:rPr lang="ru-RU" dirty="0">
                <a:latin typeface="YS Text"/>
              </a:rPr>
              <a:t>. Она требует следующих параметров:</a:t>
            </a:r>
          </a:p>
          <a:p>
            <a:pPr marL="457200" indent="-457200" algn="just">
              <a:buFont typeface="+mj-lt"/>
              <a:buAutoNum type="arabicPeriod"/>
            </a:pPr>
            <a:r>
              <a:rPr lang="ru-RU" b="1" dirty="0">
                <a:latin typeface="YS Text"/>
              </a:rPr>
              <a:t>Surface</a:t>
            </a:r>
            <a:r>
              <a:rPr lang="ru-RU" dirty="0">
                <a:latin typeface="YS Text"/>
              </a:rPr>
              <a:t> — поверхность для рисования.</a:t>
            </a:r>
          </a:p>
          <a:p>
            <a:pPr marL="457200" indent="-457200" algn="just">
              <a:buFont typeface="+mj-lt"/>
              <a:buAutoNum type="arabicPeriod"/>
            </a:pPr>
            <a:r>
              <a:rPr lang="ru-RU" b="1" dirty="0">
                <a:latin typeface="YS Text"/>
              </a:rPr>
              <a:t>Color</a:t>
            </a:r>
            <a:r>
              <a:rPr lang="ru-RU" dirty="0">
                <a:latin typeface="YS Text"/>
              </a:rPr>
              <a:t> — цвет в формате RGB.</a:t>
            </a:r>
          </a:p>
          <a:p>
            <a:pPr marL="457200" indent="-457200" algn="just">
              <a:buFont typeface="+mj-lt"/>
              <a:buAutoNum type="arabicPeriod"/>
            </a:pPr>
            <a:r>
              <a:rPr lang="ru-RU" b="1" dirty="0" err="1">
                <a:latin typeface="YS Text"/>
              </a:rPr>
              <a:t>Rect</a:t>
            </a:r>
            <a:r>
              <a:rPr lang="ru-RU" dirty="0">
                <a:latin typeface="YS Text"/>
              </a:rPr>
              <a:t> — прямоугольник, определяющий положение и размер квадрата. Это может быть объект </a:t>
            </a:r>
            <a:r>
              <a:rPr lang="ru-RU" dirty="0" err="1">
                <a:latin typeface="YS Text"/>
              </a:rPr>
              <a:t>pygame.Rect</a:t>
            </a:r>
            <a:r>
              <a:rPr lang="ru-RU" dirty="0">
                <a:latin typeface="YS Text"/>
              </a:rPr>
              <a:t>, созданный с параметрами (x, y, ширина, высота).</a:t>
            </a:r>
          </a:p>
          <a:p>
            <a:pPr marL="457200" indent="-457200" algn="just">
              <a:buFont typeface="+mj-lt"/>
              <a:buAutoNum type="arabicPeriod"/>
            </a:pPr>
            <a:r>
              <a:rPr lang="ru-RU" b="1" dirty="0" err="1">
                <a:latin typeface="YS Text"/>
              </a:rPr>
              <a:t>Width</a:t>
            </a:r>
            <a:r>
              <a:rPr lang="ru-RU" dirty="0">
                <a:latin typeface="YS Text"/>
              </a:rPr>
              <a:t> (опционально) — ширина границ квадрата. Если не указано, то квадрат будет закрашен.</a:t>
            </a:r>
          </a:p>
        </p:txBody>
      </p:sp>
    </p:spTree>
    <p:extLst>
      <p:ext uri="{BB962C8B-B14F-4D97-AF65-F5344CB8AC3E}">
        <p14:creationId xmlns:p14="http://schemas.microsoft.com/office/powerpoint/2010/main" val="3360286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4400" b="1" dirty="0">
                <a:solidFill>
                  <a:schemeClr val="tx1">
                    <a:lumMod val="95000"/>
                    <a:lumOff val="5000"/>
                  </a:schemeClr>
                </a:solidFill>
                <a:latin typeface="YS Text"/>
              </a:rPr>
              <a:t>Пространство имён и </a:t>
            </a:r>
            <a:br>
              <a:rPr lang="en-US" sz="4400" b="1" dirty="0">
                <a:solidFill>
                  <a:schemeClr val="tx1">
                    <a:lumMod val="95000"/>
                    <a:lumOff val="5000"/>
                  </a:schemeClr>
                </a:solidFill>
                <a:latin typeface="YS Text"/>
              </a:rPr>
            </a:br>
            <a:r>
              <a:rPr lang="ru-RU" sz="4400" b="1" dirty="0">
                <a:solidFill>
                  <a:schemeClr val="tx1">
                    <a:lumMod val="95000"/>
                    <a:lumOff val="5000"/>
                  </a:schemeClr>
                </a:solidFill>
                <a:latin typeface="YS Text"/>
              </a:rPr>
              <a:t>области видимости</a:t>
            </a:r>
            <a:endParaRPr lang="ru-RU" sz="4400" dirty="0">
              <a:solidFill>
                <a:schemeClr val="tx1">
                  <a:lumMod val="95000"/>
                  <a:lumOff val="5000"/>
                </a:schemeClr>
              </a:solidFill>
            </a:endParaRPr>
          </a:p>
        </p:txBody>
      </p:sp>
    </p:spTree>
    <p:extLst>
      <p:ext uri="{BB962C8B-B14F-4D97-AF65-F5344CB8AC3E}">
        <p14:creationId xmlns:p14="http://schemas.microsoft.com/office/powerpoint/2010/main" val="463261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746236" y="40857"/>
            <a:ext cx="10936304" cy="626532"/>
          </a:xfrm>
        </p:spPr>
        <p:txBody>
          <a:bodyPr>
            <a:normAutofit fontScale="90000"/>
          </a:bodyPr>
          <a:lstStyle/>
          <a:p>
            <a:pPr algn="ctr"/>
            <a:r>
              <a:rPr lang="ru-RU" sz="4900" b="1" dirty="0">
                <a:effectLst/>
                <a:latin typeface="YS Text"/>
              </a:rPr>
              <a:t>Пространство имён</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b="1" dirty="0">
                <a:latin typeface="YS Text"/>
              </a:rPr>
              <a:t>Пространство имён — </a:t>
            </a:r>
            <a:r>
              <a:rPr lang="ru-RU" dirty="0">
                <a:latin typeface="YS Text"/>
              </a:rPr>
              <a:t>это среда, в которой каждое имя (например, имя переменной, функции или класса) сопоставляется с уникальным объектом. Другими словами, пространство имён — это своего рода словарь, где ключами являются имена переменных, а значениями — объекты, на которые эти имена ссылаются.</a:t>
            </a:r>
          </a:p>
          <a:p>
            <a:pPr marL="0" indent="0" algn="just">
              <a:buNone/>
            </a:pPr>
            <a:r>
              <a:rPr lang="ru-RU" dirty="0">
                <a:latin typeface="YS Text"/>
              </a:rPr>
              <a:t>В Python существуют различные пространства имён:</a:t>
            </a:r>
          </a:p>
          <a:p>
            <a:pPr algn="just"/>
            <a:r>
              <a:rPr lang="ru-RU" dirty="0">
                <a:latin typeface="YS Text"/>
              </a:rPr>
              <a:t>встроенное (</a:t>
            </a:r>
            <a:r>
              <a:rPr lang="ru-RU" dirty="0" err="1">
                <a:latin typeface="YS Text"/>
              </a:rPr>
              <a:t>built-in</a:t>
            </a:r>
            <a:r>
              <a:rPr lang="ru-RU" dirty="0">
                <a:latin typeface="YS Text"/>
              </a:rPr>
              <a:t>),</a:t>
            </a:r>
          </a:p>
          <a:p>
            <a:pPr algn="just"/>
            <a:r>
              <a:rPr lang="ru-RU" dirty="0">
                <a:latin typeface="YS Text"/>
              </a:rPr>
              <a:t>глобальное (</a:t>
            </a:r>
            <a:r>
              <a:rPr lang="ru-RU" dirty="0" err="1">
                <a:latin typeface="YS Text"/>
              </a:rPr>
              <a:t>global</a:t>
            </a:r>
            <a:r>
              <a:rPr lang="ru-RU" dirty="0">
                <a:latin typeface="YS Text"/>
              </a:rPr>
              <a:t>),</a:t>
            </a:r>
          </a:p>
          <a:p>
            <a:pPr algn="just"/>
            <a:r>
              <a:rPr lang="ru-RU" dirty="0">
                <a:latin typeface="YS Text"/>
              </a:rPr>
              <a:t>локальное (</a:t>
            </a:r>
            <a:r>
              <a:rPr lang="ru-RU" dirty="0" err="1">
                <a:latin typeface="YS Text"/>
              </a:rPr>
              <a:t>local</a:t>
            </a:r>
            <a:r>
              <a:rPr lang="ru-RU" dirty="0">
                <a:latin typeface="YS Text"/>
              </a:rPr>
              <a:t>).</a:t>
            </a:r>
          </a:p>
        </p:txBody>
      </p:sp>
      <p:pic>
        <p:nvPicPr>
          <p:cNvPr id="3" name="Рисунок 2">
            <a:extLst>
              <a:ext uri="{FF2B5EF4-FFF2-40B4-BE49-F238E27FC236}">
                <a16:creationId xmlns:a16="http://schemas.microsoft.com/office/drawing/2014/main" id="{FD857C67-597A-EEE8-F646-2251497B18D4}"/>
              </a:ext>
            </a:extLst>
          </p:cNvPr>
          <p:cNvPicPr>
            <a:picLocks noChangeAspect="1"/>
          </p:cNvPicPr>
          <p:nvPr/>
        </p:nvPicPr>
        <p:blipFill>
          <a:blip r:embed="rId2"/>
          <a:srcRect l="18494" t="8046" r="18438" b="8199"/>
          <a:stretch/>
        </p:blipFill>
        <p:spPr>
          <a:xfrm>
            <a:off x="4051738" y="2308185"/>
            <a:ext cx="4614041" cy="4466916"/>
          </a:xfrm>
          <a:prstGeom prst="rect">
            <a:avLst/>
          </a:prstGeom>
        </p:spPr>
      </p:pic>
    </p:spTree>
    <p:extLst>
      <p:ext uri="{BB962C8B-B14F-4D97-AF65-F5344CB8AC3E}">
        <p14:creationId xmlns:p14="http://schemas.microsoft.com/office/powerpoint/2010/main" val="19982330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Встроенное пространство имён</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Встроенное пространство имён содержит имена всех встроенных объектов, которые доступны при работе в Python. Получить список всех объектов во встроенном пространстве можно при помощи команды </a:t>
            </a:r>
            <a:r>
              <a:rPr lang="ru-RU" b="1" dirty="0" err="1">
                <a:latin typeface="YS Text"/>
              </a:rPr>
              <a:t>dir</a:t>
            </a:r>
            <a:r>
              <a:rPr lang="ru-RU" b="1" dirty="0">
                <a:latin typeface="YS Text"/>
              </a:rPr>
              <a:t>(__</a:t>
            </a:r>
            <a:r>
              <a:rPr lang="ru-RU" b="1" dirty="0" err="1">
                <a:latin typeface="YS Text"/>
              </a:rPr>
              <a:t>builtins</a:t>
            </a:r>
            <a:r>
              <a:rPr lang="ru-RU" b="1" dirty="0">
                <a:latin typeface="YS Text"/>
              </a:rPr>
              <a:t>__)</a:t>
            </a:r>
            <a:r>
              <a:rPr lang="ru-RU" dirty="0">
                <a:latin typeface="YS Text"/>
              </a:rPr>
              <a:t>.</a:t>
            </a:r>
            <a:endParaRPr lang="en-US" dirty="0">
              <a:latin typeface="YS Text"/>
            </a:endParaRPr>
          </a:p>
          <a:p>
            <a:pPr marL="0" indent="0" algn="just">
              <a:buNone/>
            </a:pPr>
            <a:r>
              <a:rPr lang="ru-RU" dirty="0">
                <a:latin typeface="YS Text"/>
              </a:rPr>
              <a:t>Этот список содержит все функции и объекты, которые доступны в Python «из коробки».</a:t>
            </a:r>
          </a:p>
          <a:p>
            <a:pPr marL="0" indent="0" algn="just">
              <a:buNone/>
            </a:pPr>
            <a:r>
              <a:rPr lang="ru-RU" dirty="0">
                <a:latin typeface="YS Text"/>
              </a:rPr>
              <a:t>Встроенное пространство имён создаётся при запуске интерпретатора Python и сохраняется до тех пор, пока интерпретатор не завершит работу.</a:t>
            </a:r>
            <a:endParaRPr lang="en-US" dirty="0">
              <a:latin typeface="YS Text"/>
            </a:endParaRPr>
          </a:p>
          <a:p>
            <a:pPr marL="0" indent="0" algn="just">
              <a:buNone/>
            </a:pPr>
            <a:r>
              <a:rPr lang="en-US" dirty="0">
                <a:latin typeface="YS Text"/>
              </a:rPr>
              <a:t>	</a:t>
            </a:r>
            <a:r>
              <a:rPr lang="en-US" b="1" dirty="0">
                <a:solidFill>
                  <a:srgbClr val="00B050"/>
                </a:solidFill>
                <a:latin typeface="YS Text"/>
              </a:rPr>
              <a:t>print(</a:t>
            </a:r>
            <a:r>
              <a:rPr lang="en-US" b="1" dirty="0" err="1">
                <a:solidFill>
                  <a:srgbClr val="00B050"/>
                </a:solidFill>
                <a:latin typeface="YS Text"/>
              </a:rPr>
              <a:t>dir</a:t>
            </a:r>
            <a:r>
              <a:rPr lang="en-US" b="1" dirty="0">
                <a:solidFill>
                  <a:srgbClr val="00B050"/>
                </a:solidFill>
                <a:latin typeface="YS Text"/>
              </a:rPr>
              <a:t>(__</a:t>
            </a:r>
            <a:r>
              <a:rPr lang="en-US" b="1" dirty="0" err="1">
                <a:solidFill>
                  <a:srgbClr val="00B050"/>
                </a:solidFill>
                <a:latin typeface="YS Text"/>
              </a:rPr>
              <a:t>builtins</a:t>
            </a:r>
            <a:r>
              <a:rPr lang="en-US" b="1" dirty="0">
                <a:solidFill>
                  <a:srgbClr val="00B050"/>
                </a:solidFill>
                <a:latin typeface="YS Text"/>
              </a:rPr>
              <a:t>__))</a:t>
            </a:r>
          </a:p>
          <a:p>
            <a:pPr marL="0" indent="0" algn="just">
              <a:buNone/>
            </a:pPr>
            <a:r>
              <a:rPr lang="en-US" sz="1200" dirty="0">
                <a:latin typeface="YS Text"/>
              </a:rPr>
              <a:t>	</a:t>
            </a:r>
            <a:r>
              <a:rPr lang="ru-RU" sz="1200" b="1" dirty="0">
                <a:latin typeface="YS Text"/>
              </a:rPr>
              <a:t>Вывод:</a:t>
            </a:r>
            <a:r>
              <a:rPr lang="ru-RU" sz="1200" dirty="0">
                <a:latin typeface="YS Text"/>
              </a:rPr>
              <a:t> </a:t>
            </a:r>
            <a:r>
              <a:rPr lang="en-US" sz="1400" dirty="0">
                <a:latin typeface="YS Text"/>
              </a:rPr>
              <a:t>['</a:t>
            </a:r>
            <a:r>
              <a:rPr lang="en-US" sz="1400" dirty="0" err="1">
                <a:latin typeface="YS Text"/>
              </a:rPr>
              <a:t>ArithmeticError</a:t>
            </a:r>
            <a:r>
              <a:rPr lang="en-US" sz="1400" dirty="0">
                <a:latin typeface="YS Text"/>
              </a:rPr>
              <a:t>', '</a:t>
            </a:r>
            <a:r>
              <a:rPr lang="en-US" sz="1400" dirty="0" err="1">
                <a:latin typeface="YS Text"/>
              </a:rPr>
              <a:t>AssertionError</a:t>
            </a:r>
            <a:r>
              <a:rPr lang="en-US" sz="1400" dirty="0">
                <a:latin typeface="YS Text"/>
              </a:rPr>
              <a:t>', '</a:t>
            </a:r>
            <a:r>
              <a:rPr lang="en-US" sz="1400" dirty="0" err="1">
                <a:latin typeface="YS Text"/>
              </a:rPr>
              <a:t>AttributeError</a:t>
            </a:r>
            <a:r>
              <a:rPr lang="en-US" sz="1400" dirty="0">
                <a:latin typeface="YS Text"/>
              </a:rPr>
              <a:t>', '</a:t>
            </a:r>
            <a:r>
              <a:rPr lang="en-US" sz="1400" dirty="0" err="1">
                <a:latin typeface="YS Text"/>
              </a:rPr>
              <a:t>BaseException</a:t>
            </a:r>
            <a:r>
              <a:rPr lang="en-US" sz="1400" dirty="0">
                <a:latin typeface="YS Text"/>
              </a:rPr>
              <a:t>', '</a:t>
            </a:r>
            <a:r>
              <a:rPr lang="en-US" sz="1400" dirty="0" err="1">
                <a:latin typeface="YS Text"/>
              </a:rPr>
              <a:t>BlockingIOError</a:t>
            </a:r>
            <a:r>
              <a:rPr lang="en-US" sz="1400" dirty="0">
                <a:latin typeface="YS Text"/>
              </a:rPr>
              <a:t>', '</a:t>
            </a:r>
            <a:r>
              <a:rPr lang="en-US" sz="1400" dirty="0" err="1">
                <a:latin typeface="YS Text"/>
              </a:rPr>
              <a:t>BrokenPipeError</a:t>
            </a:r>
            <a:r>
              <a:rPr lang="en-US" sz="1400" dirty="0">
                <a:latin typeface="YS Text"/>
              </a:rPr>
              <a:t>', '</a:t>
            </a:r>
            <a:r>
              <a:rPr lang="en-US" sz="1400" dirty="0" err="1">
                <a:latin typeface="YS Text"/>
              </a:rPr>
              <a:t>BufferError</a:t>
            </a:r>
            <a:r>
              <a:rPr lang="en-US" sz="1400" dirty="0">
                <a:latin typeface="YS Text"/>
              </a:rPr>
              <a:t>', '</a:t>
            </a:r>
            <a:r>
              <a:rPr lang="en-US" sz="1400" dirty="0" err="1">
                <a:latin typeface="YS Text"/>
              </a:rPr>
              <a:t>BytesWarning</a:t>
            </a:r>
            <a:r>
              <a:rPr lang="en-US" sz="1400" dirty="0">
                <a:latin typeface="YS Text"/>
              </a:rPr>
              <a:t>', '</a:t>
            </a:r>
            <a:r>
              <a:rPr lang="en-US" sz="1400" dirty="0" err="1">
                <a:latin typeface="YS Text"/>
              </a:rPr>
              <a:t>ChildProcessError</a:t>
            </a:r>
            <a:r>
              <a:rPr lang="en-US" sz="1400" dirty="0">
                <a:latin typeface="YS Text"/>
              </a:rPr>
              <a:t>', '</a:t>
            </a:r>
            <a:r>
              <a:rPr lang="en-US" sz="1400" dirty="0" err="1">
                <a:latin typeface="YS Text"/>
              </a:rPr>
              <a:t>ConnectionAbortedError</a:t>
            </a:r>
            <a:r>
              <a:rPr lang="en-US" sz="1400" dirty="0">
                <a:latin typeface="YS Text"/>
              </a:rPr>
              <a:t>', '</a:t>
            </a:r>
            <a:r>
              <a:rPr lang="en-US" sz="1400" dirty="0" err="1">
                <a:latin typeface="YS Text"/>
              </a:rPr>
              <a:t>ConnectionError</a:t>
            </a:r>
            <a:r>
              <a:rPr lang="en-US" sz="1400" dirty="0">
                <a:latin typeface="YS Text"/>
              </a:rPr>
              <a:t>', '</a:t>
            </a:r>
            <a:r>
              <a:rPr lang="en-US" sz="1400" dirty="0" err="1">
                <a:latin typeface="YS Text"/>
              </a:rPr>
              <a:t>ConnectionRefusedError</a:t>
            </a:r>
            <a:r>
              <a:rPr lang="en-US" sz="1400" dirty="0">
                <a:latin typeface="YS Text"/>
              </a:rPr>
              <a:t>', '</a:t>
            </a:r>
            <a:r>
              <a:rPr lang="en-US" sz="1400" dirty="0" err="1">
                <a:latin typeface="YS Text"/>
              </a:rPr>
              <a:t>ConnectionResetError</a:t>
            </a:r>
            <a:r>
              <a:rPr lang="en-US" sz="1400" dirty="0">
                <a:latin typeface="YS Text"/>
              </a:rPr>
              <a:t>', '</a:t>
            </a:r>
            <a:r>
              <a:rPr lang="en-US" sz="1400" dirty="0" err="1">
                <a:latin typeface="YS Text"/>
              </a:rPr>
              <a:t>DeprecationWarning</a:t>
            </a:r>
            <a:r>
              <a:rPr lang="en-US" sz="1400" dirty="0">
                <a:latin typeface="YS Text"/>
              </a:rPr>
              <a:t>', '</a:t>
            </a:r>
            <a:r>
              <a:rPr lang="en-US" sz="1400" dirty="0" err="1">
                <a:latin typeface="YS Text"/>
              </a:rPr>
              <a:t>EOFError</a:t>
            </a:r>
            <a:r>
              <a:rPr lang="en-US" sz="1400" dirty="0">
                <a:latin typeface="YS Text"/>
              </a:rPr>
              <a:t>', 'Ellipsis', '</a:t>
            </a:r>
            <a:r>
              <a:rPr lang="en-US" sz="1400" dirty="0" err="1">
                <a:latin typeface="YS Text"/>
              </a:rPr>
              <a:t>EnvironmentError</a:t>
            </a:r>
            <a:r>
              <a:rPr lang="en-US" sz="1400" dirty="0">
                <a:latin typeface="YS Text"/>
              </a:rPr>
              <a:t>', 'Exception', 'False', '</a:t>
            </a:r>
            <a:r>
              <a:rPr lang="en-US" sz="1400" dirty="0" err="1">
                <a:latin typeface="YS Text"/>
              </a:rPr>
              <a:t>FileExistsError</a:t>
            </a:r>
            <a:r>
              <a:rPr lang="en-US" sz="1400" dirty="0">
                <a:latin typeface="YS Text"/>
              </a:rPr>
              <a:t>', '</a:t>
            </a:r>
            <a:r>
              <a:rPr lang="en-US" sz="1400" dirty="0" err="1">
                <a:latin typeface="YS Text"/>
              </a:rPr>
              <a:t>FileNotFoundError</a:t>
            </a:r>
            <a:r>
              <a:rPr lang="en-US" sz="1400" dirty="0">
                <a:latin typeface="YS Text"/>
              </a:rPr>
              <a:t>', '</a:t>
            </a:r>
            <a:r>
              <a:rPr lang="en-US" sz="1400" dirty="0" err="1">
                <a:latin typeface="YS Text"/>
              </a:rPr>
              <a:t>FloatingPointError</a:t>
            </a:r>
            <a:r>
              <a:rPr lang="en-US" sz="1400" dirty="0">
                <a:latin typeface="YS Text"/>
              </a:rPr>
              <a:t>', '</a:t>
            </a:r>
            <a:r>
              <a:rPr lang="en-US" sz="1400" dirty="0" err="1">
                <a:latin typeface="YS Text"/>
              </a:rPr>
              <a:t>FutureWarning</a:t>
            </a:r>
            <a:r>
              <a:rPr lang="en-US" sz="1400" dirty="0">
                <a:latin typeface="YS Text"/>
              </a:rPr>
              <a:t>', '</a:t>
            </a:r>
            <a:r>
              <a:rPr lang="en-US" sz="1400" dirty="0" err="1">
                <a:latin typeface="YS Text"/>
              </a:rPr>
              <a:t>GeneratorExit</a:t>
            </a:r>
            <a:r>
              <a:rPr lang="en-US" sz="1400" dirty="0">
                <a:latin typeface="YS Text"/>
              </a:rPr>
              <a:t>', '</a:t>
            </a:r>
            <a:r>
              <a:rPr lang="en-US" sz="1400" dirty="0" err="1">
                <a:latin typeface="YS Text"/>
              </a:rPr>
              <a:t>IOError</a:t>
            </a:r>
            <a:r>
              <a:rPr lang="en-US" sz="1400" dirty="0">
                <a:latin typeface="YS Text"/>
              </a:rPr>
              <a:t>', '</a:t>
            </a:r>
            <a:r>
              <a:rPr lang="en-US" sz="1400" dirty="0" err="1">
                <a:latin typeface="YS Text"/>
              </a:rPr>
              <a:t>ImportError</a:t>
            </a:r>
            <a:r>
              <a:rPr lang="en-US" sz="1400" dirty="0">
                <a:latin typeface="YS Text"/>
              </a:rPr>
              <a:t>', '</a:t>
            </a:r>
            <a:r>
              <a:rPr lang="en-US" sz="1400" dirty="0" err="1">
                <a:latin typeface="YS Text"/>
              </a:rPr>
              <a:t>ImportWarning</a:t>
            </a:r>
            <a:r>
              <a:rPr lang="en-US" sz="1400" dirty="0">
                <a:latin typeface="YS Text"/>
              </a:rPr>
              <a:t>', '</a:t>
            </a:r>
            <a:r>
              <a:rPr lang="en-US" sz="1400" dirty="0" err="1">
                <a:latin typeface="YS Text"/>
              </a:rPr>
              <a:t>IndentationError</a:t>
            </a:r>
            <a:r>
              <a:rPr lang="en-US" sz="1400" dirty="0">
                <a:latin typeface="YS Text"/>
              </a:rPr>
              <a:t>', '</a:t>
            </a:r>
            <a:r>
              <a:rPr lang="en-US" sz="1400" dirty="0" err="1">
                <a:latin typeface="YS Text"/>
              </a:rPr>
              <a:t>IndexError</a:t>
            </a:r>
            <a:r>
              <a:rPr lang="en-US" sz="1400" dirty="0">
                <a:latin typeface="YS Text"/>
              </a:rPr>
              <a:t>', '</a:t>
            </a:r>
            <a:r>
              <a:rPr lang="en-US" sz="1400" dirty="0" err="1">
                <a:latin typeface="YS Text"/>
              </a:rPr>
              <a:t>InterruptedError</a:t>
            </a:r>
            <a:r>
              <a:rPr lang="en-US" sz="1400" dirty="0">
                <a:latin typeface="YS Text"/>
              </a:rPr>
              <a:t>', '</a:t>
            </a:r>
            <a:r>
              <a:rPr lang="en-US" sz="1400" dirty="0" err="1">
                <a:latin typeface="YS Text"/>
              </a:rPr>
              <a:t>IsADirectoryError</a:t>
            </a:r>
            <a:r>
              <a:rPr lang="en-US" sz="1400" dirty="0">
                <a:latin typeface="YS Text"/>
              </a:rPr>
              <a:t>', '</a:t>
            </a:r>
            <a:r>
              <a:rPr lang="en-US" sz="1400" dirty="0" err="1">
                <a:latin typeface="YS Text"/>
              </a:rPr>
              <a:t>KeyError</a:t>
            </a:r>
            <a:r>
              <a:rPr lang="en-US" sz="1400" dirty="0">
                <a:latin typeface="YS Text"/>
              </a:rPr>
              <a:t>', '</a:t>
            </a:r>
            <a:r>
              <a:rPr lang="en-US" sz="1400" dirty="0" err="1">
                <a:latin typeface="YS Text"/>
              </a:rPr>
              <a:t>KeyboardInterrupt</a:t>
            </a:r>
            <a:r>
              <a:rPr lang="en-US" sz="1400" dirty="0">
                <a:latin typeface="YS Text"/>
              </a:rPr>
              <a:t>', '</a:t>
            </a:r>
            <a:r>
              <a:rPr lang="en-US" sz="1400" dirty="0" err="1">
                <a:latin typeface="YS Text"/>
              </a:rPr>
              <a:t>LookupError</a:t>
            </a:r>
            <a:r>
              <a:rPr lang="en-US" sz="1400" dirty="0">
                <a:latin typeface="YS Text"/>
              </a:rPr>
              <a:t>', '</a:t>
            </a:r>
            <a:r>
              <a:rPr lang="en-US" sz="1400" dirty="0" err="1">
                <a:latin typeface="YS Text"/>
              </a:rPr>
              <a:t>MemoryError</a:t>
            </a:r>
            <a:r>
              <a:rPr lang="en-US" sz="1400" dirty="0">
                <a:latin typeface="YS Text"/>
              </a:rPr>
              <a:t>', '</a:t>
            </a:r>
            <a:r>
              <a:rPr lang="en-US" sz="1400" dirty="0" err="1">
                <a:latin typeface="YS Text"/>
              </a:rPr>
              <a:t>ModuleNotFoundError</a:t>
            </a:r>
            <a:r>
              <a:rPr lang="en-US" sz="1400" dirty="0">
                <a:latin typeface="YS Text"/>
              </a:rPr>
              <a:t>', '</a:t>
            </a:r>
            <a:r>
              <a:rPr lang="en-US" sz="1400" dirty="0" err="1">
                <a:latin typeface="YS Text"/>
              </a:rPr>
              <a:t>NameError</a:t>
            </a:r>
            <a:r>
              <a:rPr lang="en-US" sz="1400" dirty="0">
                <a:latin typeface="YS Text"/>
              </a:rPr>
              <a:t>', 'None', '</a:t>
            </a:r>
            <a:r>
              <a:rPr lang="en-US" sz="1400" dirty="0" err="1">
                <a:latin typeface="YS Text"/>
              </a:rPr>
              <a:t>NotADirectoryError</a:t>
            </a:r>
            <a:r>
              <a:rPr lang="en-US" sz="1400" dirty="0">
                <a:latin typeface="YS Text"/>
              </a:rPr>
              <a:t>', '</a:t>
            </a:r>
            <a:r>
              <a:rPr lang="en-US" sz="1400" dirty="0" err="1">
                <a:latin typeface="YS Text"/>
              </a:rPr>
              <a:t>NotImplemented</a:t>
            </a:r>
            <a:r>
              <a:rPr lang="en-US" sz="1400" dirty="0">
                <a:latin typeface="YS Text"/>
              </a:rPr>
              <a:t>', '</a:t>
            </a:r>
            <a:r>
              <a:rPr lang="en-US" sz="1400" dirty="0" err="1">
                <a:latin typeface="YS Text"/>
              </a:rPr>
              <a:t>NotImplementedError</a:t>
            </a:r>
            <a:r>
              <a:rPr lang="en-US" sz="1400" dirty="0">
                <a:latin typeface="YS Text"/>
              </a:rPr>
              <a:t>', '</a:t>
            </a:r>
            <a:r>
              <a:rPr lang="en-US" sz="1400" dirty="0" err="1">
                <a:latin typeface="YS Text"/>
              </a:rPr>
              <a:t>OSError</a:t>
            </a:r>
            <a:r>
              <a:rPr lang="en-US" sz="1400" dirty="0">
                <a:latin typeface="YS Text"/>
              </a:rPr>
              <a:t>', '</a:t>
            </a:r>
            <a:r>
              <a:rPr lang="en-US" sz="1400" dirty="0" err="1">
                <a:latin typeface="YS Text"/>
              </a:rPr>
              <a:t>OverflowError</a:t>
            </a:r>
            <a:r>
              <a:rPr lang="en-US" sz="1400" dirty="0">
                <a:latin typeface="YS Text"/>
              </a:rPr>
              <a:t>', '</a:t>
            </a:r>
            <a:r>
              <a:rPr lang="en-US" sz="1400" dirty="0" err="1">
                <a:latin typeface="YS Text"/>
              </a:rPr>
              <a:t>PendingDeprecationWarning</a:t>
            </a:r>
            <a:r>
              <a:rPr lang="en-US" sz="1400" dirty="0">
                <a:latin typeface="YS Text"/>
              </a:rPr>
              <a:t>', '</a:t>
            </a:r>
            <a:r>
              <a:rPr lang="en-US" sz="1400" dirty="0" err="1">
                <a:latin typeface="YS Text"/>
              </a:rPr>
              <a:t>PermissionError</a:t>
            </a:r>
            <a:r>
              <a:rPr lang="en-US" sz="1400" dirty="0">
                <a:latin typeface="YS Text"/>
              </a:rPr>
              <a:t>', '</a:t>
            </a:r>
            <a:r>
              <a:rPr lang="en-US" sz="1400" dirty="0" err="1">
                <a:latin typeface="YS Text"/>
              </a:rPr>
              <a:t>ProcessLookupError</a:t>
            </a:r>
            <a:r>
              <a:rPr lang="en-US" sz="1400" dirty="0">
                <a:latin typeface="YS Text"/>
              </a:rPr>
              <a:t>', '</a:t>
            </a:r>
            <a:r>
              <a:rPr lang="en-US" sz="1400" dirty="0" err="1">
                <a:latin typeface="YS Text"/>
              </a:rPr>
              <a:t>RecursionError</a:t>
            </a:r>
            <a:r>
              <a:rPr lang="en-US" sz="1400" dirty="0">
                <a:latin typeface="YS Text"/>
              </a:rPr>
              <a:t>', '</a:t>
            </a:r>
            <a:r>
              <a:rPr lang="en-US" sz="1400" dirty="0" err="1">
                <a:latin typeface="YS Text"/>
              </a:rPr>
              <a:t>ReferenceError</a:t>
            </a:r>
            <a:r>
              <a:rPr lang="en-US" sz="1400" dirty="0">
                <a:latin typeface="YS Text"/>
              </a:rPr>
              <a:t>', '</a:t>
            </a:r>
            <a:r>
              <a:rPr lang="en-US" sz="1400" dirty="0" err="1">
                <a:latin typeface="YS Text"/>
              </a:rPr>
              <a:t>ResourceWarning</a:t>
            </a:r>
            <a:r>
              <a:rPr lang="en-US" sz="1400" dirty="0">
                <a:latin typeface="YS Text"/>
              </a:rPr>
              <a:t>', '</a:t>
            </a:r>
            <a:r>
              <a:rPr lang="en-US" sz="1400" dirty="0" err="1">
                <a:latin typeface="YS Text"/>
              </a:rPr>
              <a:t>RuntimeError</a:t>
            </a:r>
            <a:r>
              <a:rPr lang="en-US" sz="1400" dirty="0">
                <a:latin typeface="YS Text"/>
              </a:rPr>
              <a:t>', '</a:t>
            </a:r>
            <a:r>
              <a:rPr lang="en-US" sz="1400" dirty="0" err="1">
                <a:latin typeface="YS Text"/>
              </a:rPr>
              <a:t>RuntimeWarning</a:t>
            </a:r>
            <a:r>
              <a:rPr lang="en-US" sz="1400" dirty="0">
                <a:latin typeface="YS Text"/>
              </a:rPr>
              <a:t>', '</a:t>
            </a:r>
            <a:r>
              <a:rPr lang="en-US" sz="1400" dirty="0" err="1">
                <a:latin typeface="YS Text"/>
              </a:rPr>
              <a:t>StopAsyncIteration</a:t>
            </a:r>
            <a:r>
              <a:rPr lang="en-US" sz="1400" dirty="0">
                <a:latin typeface="YS Text"/>
              </a:rPr>
              <a:t>', '</a:t>
            </a:r>
            <a:r>
              <a:rPr lang="en-US" sz="1400" dirty="0" err="1">
                <a:latin typeface="YS Text"/>
              </a:rPr>
              <a:t>StopIteration</a:t>
            </a:r>
            <a:r>
              <a:rPr lang="en-US" sz="1400" dirty="0">
                <a:latin typeface="YS Text"/>
              </a:rPr>
              <a:t>', '</a:t>
            </a:r>
            <a:r>
              <a:rPr lang="en-US" sz="1400" dirty="0" err="1">
                <a:latin typeface="YS Text"/>
              </a:rPr>
              <a:t>SyntaxError</a:t>
            </a:r>
            <a:r>
              <a:rPr lang="en-US" sz="1400" dirty="0">
                <a:latin typeface="YS Text"/>
              </a:rPr>
              <a:t>', '</a:t>
            </a:r>
            <a:r>
              <a:rPr lang="en-US" sz="1400" dirty="0" err="1">
                <a:latin typeface="YS Text"/>
              </a:rPr>
              <a:t>SyntaxWarning</a:t>
            </a:r>
            <a:r>
              <a:rPr lang="en-US" sz="1400" dirty="0">
                <a:latin typeface="YS Text"/>
              </a:rPr>
              <a:t>', '</a:t>
            </a:r>
            <a:r>
              <a:rPr lang="en-US" sz="1400" dirty="0" err="1">
                <a:latin typeface="YS Text"/>
              </a:rPr>
              <a:t>SystemError</a:t>
            </a:r>
            <a:r>
              <a:rPr lang="en-US" sz="1400" dirty="0">
                <a:latin typeface="YS Text"/>
              </a:rPr>
              <a:t>', '</a:t>
            </a:r>
            <a:r>
              <a:rPr lang="en-US" sz="1400" dirty="0" err="1">
                <a:latin typeface="YS Text"/>
              </a:rPr>
              <a:t>SystemExit</a:t>
            </a:r>
            <a:r>
              <a:rPr lang="en-US" sz="1400" dirty="0">
                <a:latin typeface="YS Text"/>
              </a:rPr>
              <a:t>', '</a:t>
            </a:r>
            <a:r>
              <a:rPr lang="en-US" sz="1400" dirty="0" err="1">
                <a:latin typeface="YS Text"/>
              </a:rPr>
              <a:t>TabError</a:t>
            </a:r>
            <a:r>
              <a:rPr lang="en-US" sz="1400" dirty="0">
                <a:latin typeface="YS Text"/>
              </a:rPr>
              <a:t>', '</a:t>
            </a:r>
            <a:r>
              <a:rPr lang="en-US" sz="1400" dirty="0" err="1">
                <a:latin typeface="YS Text"/>
              </a:rPr>
              <a:t>TimeoutError</a:t>
            </a:r>
            <a:r>
              <a:rPr lang="en-US" sz="1400" dirty="0">
                <a:latin typeface="YS Text"/>
              </a:rPr>
              <a:t>', 'True', '</a:t>
            </a:r>
            <a:r>
              <a:rPr lang="en-US" sz="1400" dirty="0" err="1">
                <a:latin typeface="YS Text"/>
              </a:rPr>
              <a:t>TypeError</a:t>
            </a:r>
            <a:r>
              <a:rPr lang="en-US" sz="1400" dirty="0">
                <a:latin typeface="YS Text"/>
              </a:rPr>
              <a:t>', '</a:t>
            </a:r>
            <a:r>
              <a:rPr lang="en-US" sz="1400" dirty="0" err="1">
                <a:latin typeface="YS Text"/>
              </a:rPr>
              <a:t>UnboundLocalError</a:t>
            </a:r>
            <a:r>
              <a:rPr lang="en-US" sz="1400" dirty="0">
                <a:latin typeface="YS Text"/>
              </a:rPr>
              <a:t>', '</a:t>
            </a:r>
            <a:r>
              <a:rPr lang="en-US" sz="1400" dirty="0" err="1">
                <a:latin typeface="YS Text"/>
              </a:rPr>
              <a:t>UnicodeDecodeError</a:t>
            </a:r>
            <a:r>
              <a:rPr lang="en-US" sz="1400" dirty="0">
                <a:latin typeface="YS Text"/>
              </a:rPr>
              <a:t>', '</a:t>
            </a:r>
            <a:r>
              <a:rPr lang="en-US" sz="1400" dirty="0" err="1">
                <a:latin typeface="YS Text"/>
              </a:rPr>
              <a:t>UnicodeEncodeError</a:t>
            </a:r>
            <a:r>
              <a:rPr lang="en-US" sz="1400" dirty="0">
                <a:latin typeface="YS Text"/>
              </a:rPr>
              <a:t>', '</a:t>
            </a:r>
            <a:r>
              <a:rPr lang="en-US" sz="1400" dirty="0" err="1">
                <a:latin typeface="YS Text"/>
              </a:rPr>
              <a:t>UnicodeError</a:t>
            </a:r>
            <a:r>
              <a:rPr lang="en-US" sz="1400" dirty="0">
                <a:latin typeface="YS Text"/>
              </a:rPr>
              <a:t>', '</a:t>
            </a:r>
            <a:r>
              <a:rPr lang="en-US" sz="1400" dirty="0" err="1">
                <a:latin typeface="YS Text"/>
              </a:rPr>
              <a:t>UnicodeTranslateError</a:t>
            </a:r>
            <a:r>
              <a:rPr lang="en-US" sz="1400" dirty="0">
                <a:latin typeface="YS Text"/>
              </a:rPr>
              <a:t>', '</a:t>
            </a:r>
            <a:r>
              <a:rPr lang="en-US" sz="1400" dirty="0" err="1">
                <a:latin typeface="YS Text"/>
              </a:rPr>
              <a:t>UnicodeWarning</a:t>
            </a:r>
            <a:r>
              <a:rPr lang="en-US" sz="1400" dirty="0">
                <a:latin typeface="YS Text"/>
              </a:rPr>
              <a:t>', '</a:t>
            </a:r>
            <a:r>
              <a:rPr lang="en-US" sz="1400" dirty="0" err="1">
                <a:latin typeface="YS Text"/>
              </a:rPr>
              <a:t>UserWarning</a:t>
            </a:r>
            <a:r>
              <a:rPr lang="en-US" sz="1400" dirty="0">
                <a:latin typeface="YS Text"/>
              </a:rPr>
              <a:t>', '</a:t>
            </a:r>
            <a:r>
              <a:rPr lang="en-US" sz="1400" dirty="0" err="1">
                <a:latin typeface="YS Text"/>
              </a:rPr>
              <a:t>ValueError</a:t>
            </a:r>
            <a:r>
              <a:rPr lang="en-US" sz="1400" dirty="0">
                <a:latin typeface="YS Text"/>
              </a:rPr>
              <a:t>', 'Warning', '</a:t>
            </a:r>
            <a:r>
              <a:rPr lang="en-US" sz="1400" dirty="0" err="1">
                <a:latin typeface="YS Text"/>
              </a:rPr>
              <a:t>ZeroDivisionError</a:t>
            </a:r>
            <a:r>
              <a:rPr lang="en-US" sz="1400" dirty="0">
                <a:latin typeface="YS Text"/>
              </a:rPr>
              <a:t>', '__</a:t>
            </a:r>
            <a:r>
              <a:rPr lang="en-US" sz="1400" dirty="0" err="1">
                <a:latin typeface="YS Text"/>
              </a:rPr>
              <a:t>build_class</a:t>
            </a:r>
            <a:r>
              <a:rPr lang="en-US" sz="1400" dirty="0">
                <a:latin typeface="YS Text"/>
              </a:rPr>
              <a:t>__', '__debug__', '__doc__', '__import__', '__loader__', '__name__', '__package__', '__spec__', 'abs', 'all', 'any', 'ascii', 'bin', 'bool', 'breakpoint', '</a:t>
            </a:r>
            <a:r>
              <a:rPr lang="en-US" sz="1400" dirty="0" err="1">
                <a:latin typeface="YS Text"/>
              </a:rPr>
              <a:t>bytearray</a:t>
            </a:r>
            <a:r>
              <a:rPr lang="en-US" sz="1400" dirty="0">
                <a:latin typeface="YS Text"/>
              </a:rPr>
              <a:t>', 'bytes', 'callable', 'chr', '</a:t>
            </a:r>
            <a:r>
              <a:rPr lang="en-US" sz="1400" dirty="0" err="1">
                <a:latin typeface="YS Text"/>
              </a:rPr>
              <a:t>classmethod</a:t>
            </a:r>
            <a:r>
              <a:rPr lang="en-US" sz="1400" dirty="0">
                <a:latin typeface="YS Text"/>
              </a:rPr>
              <a:t>', 'compile', 'complex', 'copyright', 'credits', '</a:t>
            </a:r>
            <a:r>
              <a:rPr lang="en-US" sz="1400" dirty="0" err="1">
                <a:latin typeface="YS Text"/>
              </a:rPr>
              <a:t>delattr</a:t>
            </a:r>
            <a:r>
              <a:rPr lang="en-US" sz="1400" dirty="0">
                <a:latin typeface="YS Text"/>
              </a:rPr>
              <a:t>', '</a:t>
            </a:r>
            <a:r>
              <a:rPr lang="en-US" sz="1400" dirty="0" err="1">
                <a:latin typeface="YS Text"/>
              </a:rPr>
              <a:t>dict</a:t>
            </a:r>
            <a:r>
              <a:rPr lang="en-US" sz="1400" dirty="0">
                <a:latin typeface="YS Text"/>
              </a:rPr>
              <a:t>', '</a:t>
            </a:r>
            <a:r>
              <a:rPr lang="en-US" sz="1400" dirty="0" err="1">
                <a:latin typeface="YS Text"/>
              </a:rPr>
              <a:t>dir</a:t>
            </a:r>
            <a:r>
              <a:rPr lang="en-US" sz="1400" dirty="0">
                <a:latin typeface="YS Text"/>
              </a:rPr>
              <a:t>', '</a:t>
            </a:r>
            <a:r>
              <a:rPr lang="en-US" sz="1400" dirty="0" err="1">
                <a:latin typeface="YS Text"/>
              </a:rPr>
              <a:t>divmod</a:t>
            </a:r>
            <a:r>
              <a:rPr lang="en-US" sz="1400" dirty="0">
                <a:latin typeface="YS Text"/>
              </a:rPr>
              <a:t>', 'enumerate', 'eval', 'exec', 'exit', 'filter', 'float', 'format', '</a:t>
            </a:r>
            <a:r>
              <a:rPr lang="en-US" sz="1400" dirty="0" err="1">
                <a:latin typeface="YS Text"/>
              </a:rPr>
              <a:t>frozenset</a:t>
            </a:r>
            <a:r>
              <a:rPr lang="en-US" sz="1400" dirty="0">
                <a:latin typeface="YS Text"/>
              </a:rPr>
              <a:t>', '</a:t>
            </a:r>
            <a:r>
              <a:rPr lang="en-US" sz="1400" dirty="0" err="1">
                <a:latin typeface="YS Text"/>
              </a:rPr>
              <a:t>getattr</a:t>
            </a:r>
            <a:r>
              <a:rPr lang="en-US" sz="1400" dirty="0">
                <a:latin typeface="YS Text"/>
              </a:rPr>
              <a:t>', '</a:t>
            </a:r>
            <a:r>
              <a:rPr lang="en-US" sz="1400" dirty="0" err="1">
                <a:latin typeface="YS Text"/>
              </a:rPr>
              <a:t>globals</a:t>
            </a:r>
            <a:r>
              <a:rPr lang="en-US" sz="1400" dirty="0">
                <a:latin typeface="YS Text"/>
              </a:rPr>
              <a:t>', '</a:t>
            </a:r>
            <a:r>
              <a:rPr lang="en-US" sz="1400" dirty="0" err="1">
                <a:latin typeface="YS Text"/>
              </a:rPr>
              <a:t>hasattr</a:t>
            </a:r>
            <a:r>
              <a:rPr lang="en-US" sz="1400" dirty="0">
                <a:latin typeface="YS Text"/>
              </a:rPr>
              <a:t>', 'hash', 'help', 'hex', 'id', 'input', 'int', '</a:t>
            </a:r>
            <a:r>
              <a:rPr lang="en-US" sz="1400" dirty="0" err="1">
                <a:latin typeface="YS Text"/>
              </a:rPr>
              <a:t>isinstance</a:t>
            </a:r>
            <a:r>
              <a:rPr lang="en-US" sz="1400" dirty="0">
                <a:latin typeface="YS Text"/>
              </a:rPr>
              <a:t>', '</a:t>
            </a:r>
            <a:r>
              <a:rPr lang="en-US" sz="1400" dirty="0" err="1">
                <a:latin typeface="YS Text"/>
              </a:rPr>
              <a:t>issubclass</a:t>
            </a:r>
            <a:r>
              <a:rPr lang="en-US" sz="1400" dirty="0">
                <a:latin typeface="YS Text"/>
              </a:rPr>
              <a:t>', '</a:t>
            </a:r>
            <a:r>
              <a:rPr lang="en-US" sz="1400" dirty="0" err="1">
                <a:latin typeface="YS Text"/>
              </a:rPr>
              <a:t>iter</a:t>
            </a:r>
            <a:r>
              <a:rPr lang="en-US" sz="1400" dirty="0">
                <a:latin typeface="YS Text"/>
              </a:rPr>
              <a:t>', '</a:t>
            </a:r>
            <a:r>
              <a:rPr lang="en-US" sz="1400" dirty="0" err="1">
                <a:latin typeface="YS Text"/>
              </a:rPr>
              <a:t>len</a:t>
            </a:r>
            <a:r>
              <a:rPr lang="en-US" sz="1400" dirty="0">
                <a:latin typeface="YS Text"/>
              </a:rPr>
              <a:t>', 'license', 'list', 'locals', 'map', 'max', '</a:t>
            </a:r>
            <a:r>
              <a:rPr lang="en-US" sz="1400" dirty="0" err="1">
                <a:latin typeface="YS Text"/>
              </a:rPr>
              <a:t>memoryview</a:t>
            </a:r>
            <a:r>
              <a:rPr lang="en-US" sz="1400" dirty="0">
                <a:latin typeface="YS Text"/>
              </a:rPr>
              <a:t>', 'min', 'next', 'object', 'oct', 'open', '</a:t>
            </a:r>
            <a:r>
              <a:rPr lang="en-US" sz="1400" dirty="0" err="1">
                <a:latin typeface="YS Text"/>
              </a:rPr>
              <a:t>ord</a:t>
            </a:r>
            <a:r>
              <a:rPr lang="en-US" sz="1400" dirty="0">
                <a:latin typeface="YS Text"/>
              </a:rPr>
              <a:t>', 'pow', 'print', 'property', 'quit', 'range', '</a:t>
            </a:r>
            <a:r>
              <a:rPr lang="en-US" sz="1400" dirty="0" err="1">
                <a:latin typeface="YS Text"/>
              </a:rPr>
              <a:t>repr</a:t>
            </a:r>
            <a:r>
              <a:rPr lang="en-US" sz="1400" dirty="0">
                <a:latin typeface="YS Text"/>
              </a:rPr>
              <a:t>', 'reversed', 'round', 'set', '</a:t>
            </a:r>
            <a:r>
              <a:rPr lang="en-US" sz="1400" dirty="0" err="1">
                <a:latin typeface="YS Text"/>
              </a:rPr>
              <a:t>setattr</a:t>
            </a:r>
            <a:r>
              <a:rPr lang="en-US" sz="1400" dirty="0">
                <a:latin typeface="YS Text"/>
              </a:rPr>
              <a:t>', 'slice', 'sorted', '</a:t>
            </a:r>
            <a:r>
              <a:rPr lang="en-US" sz="1400" dirty="0" err="1">
                <a:latin typeface="YS Text"/>
              </a:rPr>
              <a:t>staticmethod</a:t>
            </a:r>
            <a:r>
              <a:rPr lang="en-US" sz="1400" dirty="0">
                <a:latin typeface="YS Text"/>
              </a:rPr>
              <a:t>', 'str', 'sum', 'super', 'tuple', 'type', 'vars', 'zip']</a:t>
            </a:r>
            <a:endParaRPr lang="ru-RU" sz="1200" dirty="0">
              <a:latin typeface="YS Text"/>
            </a:endParaRPr>
          </a:p>
        </p:txBody>
      </p:sp>
    </p:spTree>
    <p:extLst>
      <p:ext uri="{BB962C8B-B14F-4D97-AF65-F5344CB8AC3E}">
        <p14:creationId xmlns:p14="http://schemas.microsoft.com/office/powerpoint/2010/main" val="2011796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Глобальное пространство имён</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Глобальное пространство содержит имена, определённые на уровне модуля.</a:t>
            </a:r>
            <a:r>
              <a:rPr lang="ru-RU" b="0" i="1" dirty="0">
                <a:solidFill>
                  <a:srgbClr val="5C6370"/>
                </a:solidFill>
                <a:effectLst/>
                <a:latin typeface="Menlo"/>
              </a:rPr>
              <a:t> </a:t>
            </a:r>
          </a:p>
          <a:p>
            <a:pPr marL="0" indent="0" algn="just">
              <a:buNone/>
            </a:pPr>
            <a:r>
              <a:rPr lang="ru-RU" i="1" dirty="0">
                <a:solidFill>
                  <a:srgbClr val="5C6370"/>
                </a:solidFill>
                <a:latin typeface="Menlo"/>
              </a:rPr>
              <a:t>	</a:t>
            </a:r>
            <a:r>
              <a:rPr lang="ru-RU" b="0" i="1" dirty="0">
                <a:solidFill>
                  <a:srgbClr val="5C6370"/>
                </a:solidFill>
                <a:effectLst/>
                <a:latin typeface="Menlo"/>
              </a:rPr>
              <a:t># Определяем переменную </a:t>
            </a:r>
            <a:r>
              <a:rPr lang="ru-RU" b="0" i="1" dirty="0" err="1">
                <a:solidFill>
                  <a:srgbClr val="5C6370"/>
                </a:solidFill>
                <a:effectLst/>
                <a:latin typeface="Menlo"/>
              </a:rPr>
              <a:t>value</a:t>
            </a:r>
            <a:r>
              <a:rPr lang="ru-RU" b="0" i="1" dirty="0">
                <a:solidFill>
                  <a:srgbClr val="5C6370"/>
                </a:solidFill>
                <a:effectLst/>
                <a:latin typeface="Menlo"/>
              </a:rPr>
              <a:t> в глобальном пространстве имён.</a:t>
            </a:r>
            <a:endParaRPr lang="ru-RU" dirty="0">
              <a:solidFill>
                <a:srgbClr val="5C6370"/>
              </a:solidFill>
              <a:latin typeface="Menlo"/>
            </a:endParaRPr>
          </a:p>
          <a:p>
            <a:pPr marL="0" indent="0" algn="just">
              <a:buNone/>
            </a:pPr>
            <a:r>
              <a:rPr lang="ru-RU" b="0" i="0" dirty="0">
                <a:solidFill>
                  <a:srgbClr val="5C6370"/>
                </a:solidFill>
                <a:effectLst/>
                <a:latin typeface="Menlo"/>
              </a:rPr>
              <a:t>	</a:t>
            </a:r>
            <a:r>
              <a:rPr lang="ru-RU" b="0" i="0" dirty="0" err="1">
                <a:effectLst/>
                <a:latin typeface="Menlo"/>
              </a:rPr>
              <a:t>value</a:t>
            </a:r>
            <a:r>
              <a:rPr lang="ru-RU" b="0" i="0" dirty="0">
                <a:effectLst/>
                <a:latin typeface="Menlo"/>
              </a:rPr>
              <a:t> = </a:t>
            </a:r>
            <a:r>
              <a:rPr lang="ru-RU" b="0" i="0" dirty="0">
                <a:solidFill>
                  <a:srgbClr val="32A846"/>
                </a:solidFill>
                <a:effectLst/>
                <a:latin typeface="Menlo"/>
              </a:rPr>
              <a:t>'Я в глобальном пространстве имён!’</a:t>
            </a:r>
          </a:p>
          <a:p>
            <a:pPr marL="0" indent="0" algn="just">
              <a:buNone/>
            </a:pPr>
            <a:endParaRPr lang="ru-RU" dirty="0">
              <a:solidFill>
                <a:srgbClr val="32A846"/>
              </a:solidFill>
              <a:latin typeface="Menlo"/>
            </a:endParaRPr>
          </a:p>
          <a:p>
            <a:pPr marL="0" indent="0" algn="just">
              <a:buNone/>
            </a:pPr>
            <a:r>
              <a:rPr lang="ru-RU" b="0" i="0" dirty="0">
                <a:solidFill>
                  <a:srgbClr val="32A846"/>
                </a:solidFill>
                <a:effectLst/>
                <a:latin typeface="Menlo"/>
              </a:rPr>
              <a:t>	</a:t>
            </a:r>
            <a:r>
              <a:rPr lang="ru-RU" b="0" i="0" dirty="0" err="1">
                <a:solidFill>
                  <a:srgbClr val="C678DD"/>
                </a:solidFill>
                <a:effectLst/>
                <a:latin typeface="Menlo"/>
              </a:rPr>
              <a:t>def</a:t>
            </a:r>
            <a:r>
              <a:rPr lang="ru-RU" b="0" i="0" dirty="0">
                <a:effectLst/>
                <a:latin typeface="Menlo"/>
              </a:rPr>
              <a:t> </a:t>
            </a:r>
            <a:r>
              <a:rPr lang="ru-RU" b="0" i="0" dirty="0" err="1">
                <a:effectLst/>
                <a:latin typeface="Menlo"/>
              </a:rPr>
              <a:t>inner_function</a:t>
            </a:r>
            <a:r>
              <a:rPr lang="ru-RU" b="0" i="0" dirty="0">
                <a:effectLst/>
                <a:latin typeface="Menlo"/>
              </a:rPr>
              <a:t>():</a:t>
            </a:r>
          </a:p>
          <a:p>
            <a:pPr marL="0" indent="0" algn="just">
              <a:buNone/>
            </a:pPr>
            <a:r>
              <a:rPr lang="ru-RU" dirty="0">
                <a:latin typeface="Menlo"/>
              </a:rPr>
              <a:t>		</a:t>
            </a:r>
            <a:r>
              <a:rPr lang="ru-RU" b="0" i="0" dirty="0" err="1">
                <a:effectLst/>
                <a:latin typeface="Menlo"/>
              </a:rPr>
              <a:t>value</a:t>
            </a:r>
            <a:r>
              <a:rPr lang="ru-RU" b="0" i="0" dirty="0">
                <a:effectLst/>
                <a:latin typeface="Menlo"/>
              </a:rPr>
              <a:t> = </a:t>
            </a:r>
            <a:r>
              <a:rPr lang="ru-RU" b="0" i="0" dirty="0">
                <a:solidFill>
                  <a:srgbClr val="32A846"/>
                </a:solidFill>
                <a:effectLst/>
                <a:latin typeface="Menlo"/>
              </a:rPr>
              <a:t>'А я нет!’</a:t>
            </a:r>
            <a:r>
              <a:rPr lang="ru-RU" b="0" i="0" dirty="0">
                <a:effectLst/>
                <a:latin typeface="Menlo"/>
              </a:rPr>
              <a:t> </a:t>
            </a:r>
          </a:p>
          <a:p>
            <a:pPr marL="0" indent="0" algn="just">
              <a:buNone/>
            </a:pPr>
            <a:endParaRPr lang="ru-RU" b="0" i="0" dirty="0">
              <a:effectLst/>
              <a:latin typeface="Menlo"/>
            </a:endParaRPr>
          </a:p>
          <a:p>
            <a:pPr marL="0" indent="0" algn="just">
              <a:buNone/>
            </a:pPr>
            <a:r>
              <a:rPr lang="ru-RU" dirty="0">
                <a:latin typeface="YS Text"/>
              </a:rPr>
              <a:t>Глобальное пространство имён создаётся при запуске программы и сохраняется до момента завершения работы интерпретатора.</a:t>
            </a:r>
          </a:p>
          <a:p>
            <a:pPr marL="0" indent="0" algn="just">
              <a:buNone/>
            </a:pPr>
            <a:r>
              <a:rPr lang="ru-RU" dirty="0">
                <a:latin typeface="YS Text"/>
              </a:rPr>
              <a:t>Интерпретатор создаёт глобальное пространство имён и для любого модуля, загружаемого программой при помощи </a:t>
            </a:r>
            <a:r>
              <a:rPr lang="ru-RU" b="1" dirty="0">
                <a:latin typeface="YS Text"/>
              </a:rPr>
              <a:t>команды </a:t>
            </a:r>
            <a:r>
              <a:rPr lang="ru-RU" b="1" dirty="0" err="1">
                <a:latin typeface="YS Text"/>
              </a:rPr>
              <a:t>import</a:t>
            </a:r>
            <a:r>
              <a:rPr lang="ru-RU" dirty="0">
                <a:latin typeface="YS Text"/>
              </a:rPr>
              <a:t>.</a:t>
            </a:r>
          </a:p>
        </p:txBody>
      </p:sp>
    </p:spTree>
    <p:extLst>
      <p:ext uri="{BB962C8B-B14F-4D97-AF65-F5344CB8AC3E}">
        <p14:creationId xmlns:p14="http://schemas.microsoft.com/office/powerpoint/2010/main" val="2193402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289035"/>
            <a:ext cx="10936304" cy="788276"/>
          </a:xfrm>
        </p:spPr>
        <p:txBody>
          <a:bodyPr>
            <a:normAutofit fontScale="90000"/>
          </a:bodyPr>
          <a:lstStyle/>
          <a:p>
            <a:pPr algn="ctr"/>
            <a:r>
              <a:rPr lang="ru-RU" sz="4900" b="1" dirty="0">
                <a:effectLst/>
                <a:latin typeface="YS Text"/>
              </a:rPr>
              <a:t>Локальное пространство имён</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114097"/>
            <a:ext cx="10936304" cy="5796455"/>
          </a:xfrm>
        </p:spPr>
        <p:txBody>
          <a:bodyPr>
            <a:normAutofit/>
          </a:bodyPr>
          <a:lstStyle/>
          <a:p>
            <a:pPr marL="0" indent="0" algn="just">
              <a:buNone/>
            </a:pPr>
            <a:r>
              <a:rPr lang="ru-RU" dirty="0">
                <a:latin typeface="YS Text"/>
              </a:rPr>
              <a:t>При каждом вызове функции или метода, при каждом выполнении спискового или словарного включения, при работе с менеджерами контекста и в других подобных ситуациях Python создаёт новое пространство имён. Это локальное пространство имён, оно сохраняется, пока соответствующая конструкция выполняет свою работу.</a:t>
            </a:r>
          </a:p>
          <a:p>
            <a:pPr marL="0" indent="0" algn="just">
              <a:buNone/>
            </a:pPr>
            <a:r>
              <a:rPr lang="ru-RU" dirty="0">
                <a:latin typeface="YS Text"/>
              </a:rPr>
              <a:t>Если объявить одну функцию внутри другой, то при вызове этих функций у внешней функции будет своё локальное пространство имён, а у вложенной — своё. Имя вложенной функции будет принадлежать пространству имён внешней функции.</a:t>
            </a:r>
          </a:p>
          <a:p>
            <a:pPr marL="0" indent="0" algn="just">
              <a:buNone/>
            </a:pPr>
            <a:endParaRPr lang="ru-RU" i="1" dirty="0">
              <a:solidFill>
                <a:srgbClr val="00B050"/>
              </a:solidFill>
              <a:latin typeface="YS Text"/>
            </a:endParaRPr>
          </a:p>
        </p:txBody>
      </p:sp>
    </p:spTree>
    <p:extLst>
      <p:ext uri="{BB962C8B-B14F-4D97-AF65-F5344CB8AC3E}">
        <p14:creationId xmlns:p14="http://schemas.microsoft.com/office/powerpoint/2010/main" val="3498261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20869"/>
            <a:ext cx="10936304" cy="6737131"/>
          </a:xfrm>
        </p:spPr>
        <p:txBody>
          <a:bodyPr>
            <a:normAutofit fontScale="55000" lnSpcReduction="20000"/>
          </a:bodyPr>
          <a:lstStyle/>
          <a:p>
            <a:pPr marL="0" indent="0" algn="just">
              <a:buNone/>
            </a:pPr>
            <a:r>
              <a:rPr lang="ru-RU" sz="3300" dirty="0">
                <a:latin typeface="YS Text"/>
              </a:rPr>
              <a:t>Когда основная программа вызывает функцию </a:t>
            </a:r>
            <a:r>
              <a:rPr lang="ru-RU" sz="3300" dirty="0" err="1">
                <a:latin typeface="YS Text"/>
              </a:rPr>
              <a:t>outer_function</a:t>
            </a:r>
            <a:r>
              <a:rPr lang="ru-RU" sz="3300" dirty="0">
                <a:latin typeface="YS Text"/>
              </a:rPr>
              <a:t>(), Python создаёт локальное пространство имён этой функции. </a:t>
            </a:r>
          </a:p>
          <a:p>
            <a:pPr marL="0" indent="0" algn="just">
              <a:buNone/>
            </a:pPr>
            <a:r>
              <a:rPr lang="ru-RU" sz="3300" dirty="0">
                <a:latin typeface="YS Text"/>
              </a:rPr>
              <a:t>Когда в </a:t>
            </a:r>
            <a:r>
              <a:rPr lang="ru-RU" sz="3300" dirty="0" err="1">
                <a:latin typeface="YS Text"/>
              </a:rPr>
              <a:t>outer_function</a:t>
            </a:r>
            <a:r>
              <a:rPr lang="ru-RU" sz="3300" dirty="0">
                <a:latin typeface="YS Text"/>
              </a:rPr>
              <a:t>() вызывается вложенная </a:t>
            </a:r>
            <a:r>
              <a:rPr lang="ru-RU" sz="3300" dirty="0" err="1">
                <a:latin typeface="YS Text"/>
              </a:rPr>
              <a:t>inner_function</a:t>
            </a:r>
            <a:r>
              <a:rPr lang="ru-RU" sz="3300" dirty="0">
                <a:latin typeface="YS Text"/>
              </a:rPr>
              <a:t>(), </a:t>
            </a:r>
            <a:r>
              <a:rPr lang="ru-RU" sz="3300" dirty="0" err="1">
                <a:latin typeface="YS Text"/>
              </a:rPr>
              <a:t>inner_function</a:t>
            </a:r>
            <a:r>
              <a:rPr lang="ru-RU" sz="3300" dirty="0">
                <a:latin typeface="YS Text"/>
              </a:rPr>
              <a:t>() тоже получает своё собственное, отдельное пространство имён.</a:t>
            </a:r>
          </a:p>
          <a:p>
            <a:pPr marL="0" indent="0" algn="just">
              <a:buNone/>
            </a:pPr>
            <a:r>
              <a:rPr lang="ru-RU" sz="3300" dirty="0">
                <a:latin typeface="YS Text"/>
              </a:rPr>
              <a:t>Эти локальные пространства существуют до тех пор, пока выполняются соответствующие им функции. По завершении работы этих функций Python может не сразу удалить пространства имён из памяти, но все ссылки на содержащиеся в них объекты станут недоступны немедленно.</a:t>
            </a:r>
          </a:p>
          <a:p>
            <a:pPr marL="0" indent="0" algn="just">
              <a:buNone/>
            </a:pPr>
            <a:r>
              <a:rPr lang="en-US" sz="2300" i="1" dirty="0">
                <a:solidFill>
                  <a:srgbClr val="00B050"/>
                </a:solidFill>
                <a:latin typeface="YS Text"/>
              </a:rPr>
              <a:t>def </a:t>
            </a:r>
            <a:r>
              <a:rPr lang="en-US" sz="2300" i="1" dirty="0" err="1">
                <a:solidFill>
                  <a:srgbClr val="00B050"/>
                </a:solidFill>
                <a:latin typeface="YS Text"/>
              </a:rPr>
              <a:t>outer_function</a:t>
            </a:r>
            <a:r>
              <a:rPr lang="en-US" sz="2300" i="1" dirty="0">
                <a:solidFill>
                  <a:srgbClr val="00B050"/>
                </a:solidFill>
                <a:latin typeface="YS Text"/>
              </a:rPr>
              <a:t>():</a:t>
            </a:r>
          </a:p>
          <a:p>
            <a:pPr marL="0" indent="0" algn="just">
              <a:buNone/>
            </a:pPr>
            <a:r>
              <a:rPr lang="en-US" sz="2300" i="1" dirty="0">
                <a:solidFill>
                  <a:srgbClr val="00B050"/>
                </a:solidFill>
                <a:latin typeface="YS Text"/>
              </a:rPr>
              <a:t>    print('</a:t>
            </a:r>
            <a:r>
              <a:rPr lang="ru-RU" sz="2300" i="1" dirty="0">
                <a:solidFill>
                  <a:srgbClr val="00B050"/>
                </a:solidFill>
                <a:latin typeface="YS Text"/>
              </a:rPr>
              <a:t>Старт функции </a:t>
            </a:r>
            <a:r>
              <a:rPr lang="en-US" sz="2300" i="1" dirty="0" err="1">
                <a:solidFill>
                  <a:srgbClr val="00B050"/>
                </a:solidFill>
                <a:latin typeface="YS Text"/>
              </a:rPr>
              <a:t>outer_function</a:t>
            </a:r>
            <a:r>
              <a:rPr lang="en-US" sz="2300" i="1" dirty="0">
                <a:solidFill>
                  <a:srgbClr val="00B050"/>
                </a:solidFill>
                <a:latin typeface="YS Text"/>
              </a:rPr>
              <a:t>()')</a:t>
            </a:r>
          </a:p>
          <a:p>
            <a:pPr marL="0" indent="0" algn="just">
              <a:buNone/>
            </a:pPr>
            <a:endParaRPr lang="en-US" sz="2300" i="1" dirty="0">
              <a:solidFill>
                <a:srgbClr val="00B050"/>
              </a:solidFill>
              <a:latin typeface="YS Text"/>
            </a:endParaRPr>
          </a:p>
          <a:p>
            <a:pPr marL="0" indent="0" algn="just">
              <a:buNone/>
            </a:pPr>
            <a:r>
              <a:rPr lang="en-US" sz="2300" i="1" dirty="0">
                <a:solidFill>
                  <a:srgbClr val="00B050"/>
                </a:solidFill>
                <a:latin typeface="YS Text"/>
              </a:rPr>
              <a:t>    def </a:t>
            </a:r>
            <a:r>
              <a:rPr lang="en-US" sz="2300" i="1" dirty="0" err="1">
                <a:solidFill>
                  <a:srgbClr val="00B050"/>
                </a:solidFill>
                <a:latin typeface="YS Text"/>
              </a:rPr>
              <a:t>inner_function</a:t>
            </a:r>
            <a:r>
              <a:rPr lang="en-US" sz="2300" i="1" dirty="0">
                <a:solidFill>
                  <a:srgbClr val="00B050"/>
                </a:solidFill>
                <a:latin typeface="YS Text"/>
              </a:rPr>
              <a:t>():</a:t>
            </a:r>
          </a:p>
          <a:p>
            <a:pPr marL="0" indent="0" algn="just">
              <a:buNone/>
            </a:pPr>
            <a:r>
              <a:rPr lang="en-US" sz="2300" i="1" dirty="0">
                <a:solidFill>
                  <a:srgbClr val="00B050"/>
                </a:solidFill>
                <a:latin typeface="YS Text"/>
              </a:rPr>
              <a:t>        print('</a:t>
            </a:r>
            <a:r>
              <a:rPr lang="ru-RU" sz="2300" i="1" dirty="0">
                <a:solidFill>
                  <a:srgbClr val="00B050"/>
                </a:solidFill>
                <a:latin typeface="YS Text"/>
              </a:rPr>
              <a:t>Старт функции </a:t>
            </a:r>
            <a:r>
              <a:rPr lang="en-US" sz="2300" i="1" dirty="0" err="1">
                <a:solidFill>
                  <a:srgbClr val="00B050"/>
                </a:solidFill>
                <a:latin typeface="YS Text"/>
              </a:rPr>
              <a:t>inner_function</a:t>
            </a:r>
            <a:r>
              <a:rPr lang="en-US" sz="2300" i="1" dirty="0">
                <a:solidFill>
                  <a:srgbClr val="00B050"/>
                </a:solidFill>
                <a:latin typeface="YS Text"/>
              </a:rPr>
              <a:t>()')</a:t>
            </a:r>
          </a:p>
          <a:p>
            <a:pPr marL="0" indent="0" algn="just">
              <a:buNone/>
            </a:pPr>
            <a:r>
              <a:rPr lang="en-US" sz="2300" i="1" dirty="0">
                <a:solidFill>
                  <a:srgbClr val="00B050"/>
                </a:solidFill>
                <a:latin typeface="YS Text"/>
              </a:rPr>
              <a:t>        print('</a:t>
            </a:r>
            <a:r>
              <a:rPr lang="ru-RU" sz="2300" i="1" dirty="0">
                <a:solidFill>
                  <a:srgbClr val="00B050"/>
                </a:solidFill>
                <a:latin typeface="YS Text"/>
              </a:rPr>
              <a:t>Завершение функции </a:t>
            </a:r>
            <a:r>
              <a:rPr lang="en-US" sz="2300" i="1" dirty="0" err="1">
                <a:solidFill>
                  <a:srgbClr val="00B050"/>
                </a:solidFill>
                <a:latin typeface="YS Text"/>
              </a:rPr>
              <a:t>inner_function</a:t>
            </a:r>
            <a:r>
              <a:rPr lang="en-US" sz="2300" i="1" dirty="0">
                <a:solidFill>
                  <a:srgbClr val="00B050"/>
                </a:solidFill>
                <a:latin typeface="YS Text"/>
              </a:rPr>
              <a:t>()')</a:t>
            </a:r>
          </a:p>
          <a:p>
            <a:pPr marL="0" indent="0" algn="just">
              <a:buNone/>
            </a:pPr>
            <a:endParaRPr lang="en-US" sz="2300" i="1" dirty="0">
              <a:solidFill>
                <a:srgbClr val="00B050"/>
              </a:solidFill>
              <a:latin typeface="YS Text"/>
            </a:endParaRPr>
          </a:p>
          <a:p>
            <a:pPr marL="0" indent="0" algn="just">
              <a:buNone/>
            </a:pPr>
            <a:r>
              <a:rPr lang="en-US" sz="2300" i="1" dirty="0">
                <a:solidFill>
                  <a:srgbClr val="00B050"/>
                </a:solidFill>
                <a:latin typeface="YS Text"/>
              </a:rPr>
              <a:t>    </a:t>
            </a:r>
            <a:r>
              <a:rPr lang="en-US" sz="2300" i="1" dirty="0" err="1">
                <a:solidFill>
                  <a:srgbClr val="00B050"/>
                </a:solidFill>
                <a:latin typeface="YS Text"/>
              </a:rPr>
              <a:t>inner_function</a:t>
            </a:r>
            <a:r>
              <a:rPr lang="en-US" sz="2300" i="1" dirty="0">
                <a:solidFill>
                  <a:srgbClr val="00B050"/>
                </a:solidFill>
                <a:latin typeface="YS Text"/>
              </a:rPr>
              <a:t>()</a:t>
            </a:r>
          </a:p>
          <a:p>
            <a:pPr marL="0" indent="0" algn="just">
              <a:buNone/>
            </a:pPr>
            <a:r>
              <a:rPr lang="en-US" sz="2300" i="1" dirty="0">
                <a:solidFill>
                  <a:srgbClr val="00B050"/>
                </a:solidFill>
                <a:latin typeface="YS Text"/>
              </a:rPr>
              <a:t>    print('</a:t>
            </a:r>
            <a:r>
              <a:rPr lang="ru-RU" sz="2300" i="1" dirty="0">
                <a:solidFill>
                  <a:srgbClr val="00B050"/>
                </a:solidFill>
                <a:latin typeface="YS Text"/>
              </a:rPr>
              <a:t>Завершение функции </a:t>
            </a:r>
            <a:r>
              <a:rPr lang="en-US" sz="2300" i="1" dirty="0" err="1">
                <a:solidFill>
                  <a:srgbClr val="00B050"/>
                </a:solidFill>
                <a:latin typeface="YS Text"/>
              </a:rPr>
              <a:t>outer_function</a:t>
            </a:r>
            <a:r>
              <a:rPr lang="en-US" sz="2300" i="1" dirty="0">
                <a:solidFill>
                  <a:srgbClr val="00B050"/>
                </a:solidFill>
                <a:latin typeface="YS Text"/>
              </a:rPr>
              <a:t>()')</a:t>
            </a:r>
          </a:p>
          <a:p>
            <a:pPr marL="0" indent="0" algn="just">
              <a:buNone/>
            </a:pPr>
            <a:endParaRPr lang="en-US" sz="2300" i="1" dirty="0">
              <a:solidFill>
                <a:srgbClr val="00B050"/>
              </a:solidFill>
              <a:latin typeface="YS Text"/>
            </a:endParaRPr>
          </a:p>
          <a:p>
            <a:pPr marL="0" indent="0" algn="just">
              <a:buNone/>
            </a:pPr>
            <a:r>
              <a:rPr lang="en-US" sz="2300" i="1" dirty="0" err="1">
                <a:solidFill>
                  <a:srgbClr val="00B050"/>
                </a:solidFill>
                <a:latin typeface="YS Text"/>
              </a:rPr>
              <a:t>outer_function</a:t>
            </a:r>
            <a:r>
              <a:rPr lang="en-US" sz="2300" i="1" dirty="0">
                <a:solidFill>
                  <a:srgbClr val="00B050"/>
                </a:solidFill>
                <a:latin typeface="YS Text"/>
              </a:rPr>
              <a:t>()</a:t>
            </a:r>
            <a:endParaRPr lang="ru-RU" sz="2300" i="1" dirty="0">
              <a:solidFill>
                <a:srgbClr val="00B050"/>
              </a:solidFill>
              <a:latin typeface="YS Text"/>
            </a:endParaRPr>
          </a:p>
          <a:p>
            <a:pPr marL="0" indent="0" algn="just">
              <a:buNone/>
            </a:pPr>
            <a:r>
              <a:rPr lang="en-US" sz="2300" b="1" i="1" dirty="0">
                <a:solidFill>
                  <a:schemeClr val="tx1"/>
                </a:solidFill>
                <a:latin typeface="YS Text"/>
              </a:rPr>
              <a:t># </a:t>
            </a:r>
            <a:r>
              <a:rPr lang="ru-RU" sz="2300" b="1" i="1" dirty="0">
                <a:solidFill>
                  <a:schemeClr val="tx1"/>
                </a:solidFill>
                <a:latin typeface="YS Text"/>
              </a:rPr>
              <a:t>Вывод:</a:t>
            </a:r>
          </a:p>
          <a:p>
            <a:pPr marL="0" indent="0" algn="just">
              <a:buNone/>
            </a:pPr>
            <a:r>
              <a:rPr lang="ru-RU" sz="2300" i="1" dirty="0">
                <a:solidFill>
                  <a:srgbClr val="00B050"/>
                </a:solidFill>
                <a:latin typeface="YS Text"/>
              </a:rPr>
              <a:t>Старт функции </a:t>
            </a:r>
            <a:r>
              <a:rPr lang="en-US" sz="2300" i="1" dirty="0" err="1">
                <a:solidFill>
                  <a:srgbClr val="00B050"/>
                </a:solidFill>
                <a:latin typeface="YS Text"/>
              </a:rPr>
              <a:t>outer_function</a:t>
            </a:r>
            <a:r>
              <a:rPr lang="en-US" sz="2300" i="1" dirty="0">
                <a:solidFill>
                  <a:srgbClr val="00B050"/>
                </a:solidFill>
                <a:latin typeface="YS Text"/>
              </a:rPr>
              <a:t>()</a:t>
            </a:r>
          </a:p>
          <a:p>
            <a:pPr marL="0" indent="0" algn="just">
              <a:buNone/>
            </a:pPr>
            <a:r>
              <a:rPr lang="ru-RU" sz="2300" i="1" dirty="0">
                <a:solidFill>
                  <a:srgbClr val="00B050"/>
                </a:solidFill>
                <a:latin typeface="YS Text"/>
              </a:rPr>
              <a:t>Старт функции </a:t>
            </a:r>
            <a:r>
              <a:rPr lang="en-US" sz="2300" i="1" dirty="0" err="1">
                <a:solidFill>
                  <a:srgbClr val="00B050"/>
                </a:solidFill>
                <a:latin typeface="YS Text"/>
              </a:rPr>
              <a:t>inner_function</a:t>
            </a:r>
            <a:r>
              <a:rPr lang="en-US" sz="2300" i="1" dirty="0">
                <a:solidFill>
                  <a:srgbClr val="00B050"/>
                </a:solidFill>
                <a:latin typeface="YS Text"/>
              </a:rPr>
              <a:t>()</a:t>
            </a:r>
          </a:p>
          <a:p>
            <a:pPr marL="0" indent="0" algn="just">
              <a:buNone/>
            </a:pPr>
            <a:r>
              <a:rPr lang="ru-RU" sz="2300" i="1" dirty="0">
                <a:solidFill>
                  <a:srgbClr val="00B050"/>
                </a:solidFill>
                <a:latin typeface="YS Text"/>
              </a:rPr>
              <a:t>Завершение функции </a:t>
            </a:r>
            <a:r>
              <a:rPr lang="en-US" sz="2300" i="1" dirty="0" err="1">
                <a:solidFill>
                  <a:srgbClr val="00B050"/>
                </a:solidFill>
                <a:latin typeface="YS Text"/>
              </a:rPr>
              <a:t>inner_function</a:t>
            </a:r>
            <a:r>
              <a:rPr lang="en-US" sz="2300" i="1" dirty="0">
                <a:solidFill>
                  <a:srgbClr val="00B050"/>
                </a:solidFill>
                <a:latin typeface="YS Text"/>
              </a:rPr>
              <a:t>()</a:t>
            </a:r>
          </a:p>
          <a:p>
            <a:pPr marL="0" indent="0" algn="just">
              <a:buNone/>
            </a:pPr>
            <a:r>
              <a:rPr lang="ru-RU" sz="2300" i="1" dirty="0">
                <a:solidFill>
                  <a:srgbClr val="00B050"/>
                </a:solidFill>
                <a:latin typeface="YS Text"/>
              </a:rPr>
              <a:t>Завершение функции </a:t>
            </a:r>
            <a:r>
              <a:rPr lang="en-US" sz="2300" i="1" dirty="0" err="1">
                <a:solidFill>
                  <a:srgbClr val="00B050"/>
                </a:solidFill>
                <a:latin typeface="YS Text"/>
              </a:rPr>
              <a:t>outer_function</a:t>
            </a:r>
            <a:r>
              <a:rPr lang="en-US" sz="2300" i="1" dirty="0">
                <a:solidFill>
                  <a:srgbClr val="00B050"/>
                </a:solidFill>
                <a:latin typeface="YS Text"/>
              </a:rPr>
              <a:t>()</a:t>
            </a:r>
            <a:endParaRPr lang="ru-RU" sz="2300" i="1" dirty="0">
              <a:solidFill>
                <a:srgbClr val="00B050"/>
              </a:solidFill>
              <a:latin typeface="YS Text"/>
            </a:endParaRPr>
          </a:p>
          <a:p>
            <a:pPr marL="0" indent="0" algn="just">
              <a:buNone/>
            </a:pPr>
            <a:endParaRPr lang="ru-RU" i="1" dirty="0">
              <a:latin typeface="YS Text"/>
            </a:endParaRPr>
          </a:p>
        </p:txBody>
      </p:sp>
    </p:spTree>
    <p:extLst>
      <p:ext uri="{BB962C8B-B14F-4D97-AF65-F5344CB8AC3E}">
        <p14:creationId xmlns:p14="http://schemas.microsoft.com/office/powerpoint/2010/main" val="12595296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Области видимости переменной</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dirty="0">
                <a:latin typeface="YS Text"/>
              </a:rPr>
              <a:t>В разных пространствах имён могут одновременно существовать несколько разных переменных с одинаковыми именами. Пока каждая из них находится в собственном пространстве, все они обслуживаются по отдельности, и путаницы не происходит. Чтобы обратиться к нужной, применяется концепция «области видимости переменной».</a:t>
            </a:r>
          </a:p>
          <a:p>
            <a:pPr marL="0" indent="0" algn="just">
              <a:buNone/>
            </a:pPr>
            <a:r>
              <a:rPr lang="ru-RU" b="1" dirty="0">
                <a:latin typeface="YS Text"/>
              </a:rPr>
              <a:t>Области видимости </a:t>
            </a:r>
            <a:r>
              <a:rPr lang="ru-RU" dirty="0">
                <a:latin typeface="YS Text"/>
              </a:rPr>
              <a:t>определяют, какие пространства имён доступны для поиска нужного имени.</a:t>
            </a:r>
          </a:p>
          <a:p>
            <a:pPr marL="0" indent="0" algn="just">
              <a:buNone/>
            </a:pPr>
            <a:r>
              <a:rPr lang="ru-RU" dirty="0">
                <a:latin typeface="YS Text"/>
              </a:rPr>
              <a:t>Область видимости определяется местом в коде, из которого запрошено имя. Область видимости может быть локальной, охватывающей, глобальной или встроенной.</a:t>
            </a:r>
          </a:p>
          <a:p>
            <a:pPr marL="0" indent="0" algn="just">
              <a:buNone/>
            </a:pPr>
            <a:r>
              <a:rPr lang="ru-RU" b="1" dirty="0">
                <a:latin typeface="YS Text"/>
              </a:rPr>
              <a:t>Общий принцип таков</a:t>
            </a:r>
            <a:r>
              <a:rPr lang="ru-RU" dirty="0">
                <a:latin typeface="YS Text"/>
              </a:rPr>
              <a:t>: когда запрашивается определённое имя, первым делом Python станет искать это имя в том пространстве имён, где его запросили. Если не найдёт — начнёт искать во внешнем, «охватывающем». Если опять не найдёт — станет искать в следующем внешнем. Так поиск дойдёт до глобального пространства имён, а потом и до встроенного. Если не найдёт и во встроенном, выдаст ошибку </a:t>
            </a:r>
            <a:r>
              <a:rPr lang="ru-RU" dirty="0" err="1">
                <a:latin typeface="YS Text"/>
              </a:rPr>
              <a:t>NameError</a:t>
            </a:r>
            <a:r>
              <a:rPr lang="ru-RU" dirty="0">
                <a:latin typeface="YS Text"/>
              </a:rPr>
              <a:t>: </a:t>
            </a:r>
            <a:r>
              <a:rPr lang="ru-RU" dirty="0" err="1">
                <a:latin typeface="YS Text"/>
              </a:rPr>
              <a:t>name</a:t>
            </a:r>
            <a:r>
              <a:rPr lang="ru-RU" dirty="0">
                <a:latin typeface="YS Text"/>
              </a:rPr>
              <a:t> '...' </a:t>
            </a:r>
            <a:r>
              <a:rPr lang="ru-RU" dirty="0" err="1">
                <a:latin typeface="YS Text"/>
              </a:rPr>
              <a:t>is</a:t>
            </a:r>
            <a:r>
              <a:rPr lang="ru-RU" dirty="0">
                <a:latin typeface="YS Text"/>
              </a:rPr>
              <a:t> </a:t>
            </a:r>
            <a:r>
              <a:rPr lang="ru-RU" dirty="0" err="1">
                <a:latin typeface="YS Text"/>
              </a:rPr>
              <a:t>not</a:t>
            </a:r>
            <a:r>
              <a:rPr lang="ru-RU" dirty="0">
                <a:latin typeface="YS Text"/>
              </a:rPr>
              <a:t> </a:t>
            </a:r>
            <a:r>
              <a:rPr lang="ru-RU" dirty="0" err="1">
                <a:latin typeface="YS Text"/>
              </a:rPr>
              <a:t>defined</a:t>
            </a:r>
            <a:r>
              <a:rPr lang="ru-RU" dirty="0">
                <a:latin typeface="YS Text"/>
              </a:rPr>
              <a:t>.</a:t>
            </a:r>
          </a:p>
        </p:txBody>
      </p:sp>
    </p:spTree>
    <p:extLst>
      <p:ext uri="{BB962C8B-B14F-4D97-AF65-F5344CB8AC3E}">
        <p14:creationId xmlns:p14="http://schemas.microsoft.com/office/powerpoint/2010/main" val="3305788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Локальная область видимости</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normAutofit/>
          </a:bodyPr>
          <a:lstStyle/>
          <a:p>
            <a:pPr marL="0" indent="0" algn="just">
              <a:buNone/>
            </a:pPr>
            <a:r>
              <a:rPr lang="ru-RU" dirty="0">
                <a:latin typeface="YS Text"/>
              </a:rPr>
              <a:t>Локальная область видимости. Если сослаться на какую-то переменную, то интерпретатор сначала будет искать её в локальном пространстве имён, которое относится к текущему функциональному блоку.</a:t>
            </a:r>
          </a:p>
          <a:p>
            <a:pPr marL="0" indent="0" algn="just">
              <a:buNone/>
            </a:pPr>
            <a:r>
              <a:rPr lang="en-US" sz="1600" b="0" i="0" dirty="0">
                <a:effectLst/>
                <a:latin typeface="Menlo"/>
              </a:rPr>
              <a:t>value = </a:t>
            </a:r>
            <a:r>
              <a:rPr lang="en-US" sz="1600" b="0" i="0" dirty="0">
                <a:solidFill>
                  <a:srgbClr val="32A846"/>
                </a:solidFill>
                <a:effectLst/>
                <a:latin typeface="Menlo"/>
              </a:rPr>
              <a:t>'</a:t>
            </a:r>
            <a:r>
              <a:rPr lang="ru-RU" sz="1600" b="0" i="0" dirty="0">
                <a:solidFill>
                  <a:srgbClr val="32A846"/>
                </a:solidFill>
                <a:effectLst/>
                <a:latin typeface="Menlo"/>
              </a:rPr>
              <a:t>Глобальная </a:t>
            </a:r>
            <a:r>
              <a:rPr lang="en-US" sz="1600" b="0" i="0" dirty="0">
                <a:solidFill>
                  <a:srgbClr val="32A846"/>
                </a:solidFill>
                <a:effectLst/>
                <a:latin typeface="Menlo"/>
              </a:rPr>
              <a:t>value’</a:t>
            </a:r>
            <a:endParaRPr lang="ru-RU" sz="1600" dirty="0">
              <a:solidFill>
                <a:srgbClr val="32A846"/>
              </a:solidFill>
              <a:latin typeface="Menlo"/>
            </a:endParaRPr>
          </a:p>
          <a:p>
            <a:pPr marL="0" indent="0" algn="just">
              <a:buNone/>
            </a:pPr>
            <a:r>
              <a:rPr lang="en-US" sz="1600" b="0" i="0" dirty="0">
                <a:solidFill>
                  <a:srgbClr val="C678DD"/>
                </a:solidFill>
                <a:effectLst/>
                <a:latin typeface="Menlo"/>
              </a:rPr>
              <a:t>def</a:t>
            </a:r>
            <a:r>
              <a:rPr lang="en-US" sz="1600" b="0" i="0" dirty="0">
                <a:effectLst/>
                <a:latin typeface="Menlo"/>
              </a:rPr>
              <a:t> </a:t>
            </a:r>
            <a:r>
              <a:rPr lang="en-US" sz="1600" b="0" i="0" dirty="0" err="1">
                <a:effectLst/>
                <a:latin typeface="Menlo"/>
              </a:rPr>
              <a:t>outer_function</a:t>
            </a:r>
            <a:r>
              <a:rPr lang="en-US" sz="1600" b="0" i="0" dirty="0">
                <a:effectLst/>
                <a:latin typeface="Menlo"/>
              </a:rPr>
              <a:t>():</a:t>
            </a:r>
            <a:endParaRPr lang="ru-RU" sz="1600" b="0" i="0" dirty="0">
              <a:effectLst/>
              <a:latin typeface="Menlo"/>
            </a:endParaRPr>
          </a:p>
          <a:p>
            <a:pPr marL="0" indent="0" algn="just">
              <a:buNone/>
            </a:pPr>
            <a:r>
              <a:rPr lang="ru-RU" sz="1600" dirty="0">
                <a:latin typeface="Menlo"/>
              </a:rPr>
              <a:t>	</a:t>
            </a:r>
            <a:r>
              <a:rPr lang="en-US" sz="1600" b="0" i="0" dirty="0">
                <a:effectLst/>
                <a:latin typeface="Menlo"/>
              </a:rPr>
              <a:t>value = </a:t>
            </a:r>
            <a:r>
              <a:rPr lang="en-US" sz="1600" b="0" i="0" dirty="0">
                <a:solidFill>
                  <a:srgbClr val="32A846"/>
                </a:solidFill>
                <a:effectLst/>
                <a:latin typeface="Menlo"/>
              </a:rPr>
              <a:t>'</a:t>
            </a:r>
            <a:r>
              <a:rPr lang="ru-RU" sz="1600" b="0" i="0" dirty="0">
                <a:solidFill>
                  <a:srgbClr val="32A846"/>
                </a:solidFill>
                <a:effectLst/>
                <a:latin typeface="Menlo"/>
              </a:rPr>
              <a:t>Локальная </a:t>
            </a:r>
            <a:r>
              <a:rPr lang="en-US" sz="1600" b="0" i="0" dirty="0">
                <a:solidFill>
                  <a:srgbClr val="32A846"/>
                </a:solidFill>
                <a:effectLst/>
                <a:latin typeface="Menlo"/>
              </a:rPr>
              <a:t>value </a:t>
            </a:r>
            <a:r>
              <a:rPr lang="ru-RU" sz="1600" b="0" i="0" dirty="0">
                <a:solidFill>
                  <a:srgbClr val="32A846"/>
                </a:solidFill>
                <a:effectLst/>
                <a:latin typeface="Menlo"/>
              </a:rPr>
              <a:t>из </a:t>
            </a:r>
            <a:r>
              <a:rPr lang="en-US" sz="1600" b="0" i="0" dirty="0" err="1">
                <a:solidFill>
                  <a:srgbClr val="32A846"/>
                </a:solidFill>
                <a:effectLst/>
                <a:latin typeface="Menlo"/>
              </a:rPr>
              <a:t>outer_function</a:t>
            </a:r>
            <a:r>
              <a:rPr lang="en-US" sz="1600" b="0" i="0" dirty="0">
                <a:solidFill>
                  <a:srgbClr val="32A846"/>
                </a:solidFill>
                <a:effectLst/>
                <a:latin typeface="Menlo"/>
              </a:rPr>
              <a:t>()’</a:t>
            </a:r>
            <a:endParaRPr lang="ru-RU" sz="1600" dirty="0">
              <a:solidFill>
                <a:srgbClr val="32A846"/>
              </a:solidFill>
              <a:latin typeface="Menlo"/>
            </a:endParaRPr>
          </a:p>
          <a:p>
            <a:pPr marL="0" indent="0" algn="just">
              <a:buNone/>
            </a:pPr>
            <a:r>
              <a:rPr lang="ru-RU" sz="1600" b="0" i="0" dirty="0">
                <a:solidFill>
                  <a:srgbClr val="32A846"/>
                </a:solidFill>
                <a:effectLst/>
                <a:latin typeface="Menlo"/>
              </a:rPr>
              <a:t>	</a:t>
            </a:r>
            <a:r>
              <a:rPr lang="en-US" sz="1600" b="0" i="0" dirty="0">
                <a:effectLst/>
                <a:latin typeface="Menlo"/>
              </a:rPr>
              <a:t>...</a:t>
            </a:r>
            <a:endParaRPr lang="ru-RU" sz="1600" b="0" i="0" dirty="0">
              <a:effectLst/>
              <a:latin typeface="Menlo"/>
            </a:endParaRPr>
          </a:p>
          <a:p>
            <a:pPr marL="0" indent="0" algn="just">
              <a:buNone/>
            </a:pPr>
            <a:endParaRPr lang="ru-RU" sz="1600" b="0" i="0" dirty="0">
              <a:effectLst/>
              <a:latin typeface="Menlo"/>
            </a:endParaRPr>
          </a:p>
          <a:p>
            <a:pPr marL="0" indent="0" algn="just">
              <a:buNone/>
            </a:pPr>
            <a:r>
              <a:rPr lang="ru-RU" sz="1600" b="0" i="0" dirty="0">
                <a:solidFill>
                  <a:srgbClr val="C678DD"/>
                </a:solidFill>
                <a:effectLst/>
                <a:latin typeface="Menlo"/>
              </a:rPr>
              <a:t>	</a:t>
            </a:r>
            <a:r>
              <a:rPr lang="en-US" sz="1600" b="0" i="0" dirty="0">
                <a:solidFill>
                  <a:srgbClr val="C678DD"/>
                </a:solidFill>
                <a:effectLst/>
                <a:latin typeface="Menlo"/>
              </a:rPr>
              <a:t>def</a:t>
            </a:r>
            <a:r>
              <a:rPr lang="en-US" sz="1600" b="0" i="0" dirty="0">
                <a:effectLst/>
                <a:latin typeface="Menlo"/>
              </a:rPr>
              <a:t> </a:t>
            </a:r>
            <a:r>
              <a:rPr lang="en-US" sz="1600" b="0" i="0" dirty="0" err="1">
                <a:effectLst/>
                <a:latin typeface="Menlo"/>
              </a:rPr>
              <a:t>inner_function</a:t>
            </a:r>
            <a:r>
              <a:rPr lang="en-US" sz="1600" b="0" i="0" dirty="0">
                <a:effectLst/>
                <a:latin typeface="Menlo"/>
              </a:rPr>
              <a:t>():</a:t>
            </a:r>
            <a:endParaRPr lang="ru-RU" sz="1600" b="0" i="0" dirty="0">
              <a:effectLst/>
              <a:latin typeface="Menlo"/>
            </a:endParaRPr>
          </a:p>
          <a:p>
            <a:pPr marL="0" indent="0" algn="just">
              <a:buNone/>
            </a:pPr>
            <a:r>
              <a:rPr lang="ru-RU" sz="1600" dirty="0">
                <a:latin typeface="Menlo"/>
              </a:rPr>
              <a:t>		</a:t>
            </a:r>
            <a:r>
              <a:rPr lang="en-US" sz="1600" b="0" i="0" dirty="0">
                <a:effectLst/>
                <a:latin typeface="Menlo"/>
              </a:rPr>
              <a:t>value = </a:t>
            </a:r>
            <a:r>
              <a:rPr lang="en-US" sz="1600" b="0" i="0" dirty="0">
                <a:solidFill>
                  <a:srgbClr val="32A846"/>
                </a:solidFill>
                <a:effectLst/>
                <a:latin typeface="Menlo"/>
              </a:rPr>
              <a:t>'</a:t>
            </a:r>
            <a:r>
              <a:rPr lang="ru-RU" sz="1600" b="0" i="0" dirty="0">
                <a:solidFill>
                  <a:srgbClr val="32A846"/>
                </a:solidFill>
                <a:effectLst/>
                <a:latin typeface="Menlo"/>
              </a:rPr>
              <a:t>Локальная </a:t>
            </a:r>
            <a:r>
              <a:rPr lang="en-US" sz="1600" b="0" i="0" dirty="0">
                <a:solidFill>
                  <a:srgbClr val="32A846"/>
                </a:solidFill>
                <a:effectLst/>
                <a:latin typeface="Menlo"/>
              </a:rPr>
              <a:t>value </a:t>
            </a:r>
            <a:r>
              <a:rPr lang="ru-RU" sz="1600" b="0" i="0" dirty="0">
                <a:solidFill>
                  <a:srgbClr val="32A846"/>
                </a:solidFill>
                <a:effectLst/>
                <a:latin typeface="Menlo"/>
              </a:rPr>
              <a:t>из </a:t>
            </a:r>
            <a:r>
              <a:rPr lang="en-US" sz="1600" b="0" i="0" dirty="0" err="1">
                <a:solidFill>
                  <a:srgbClr val="32A846"/>
                </a:solidFill>
                <a:effectLst/>
                <a:latin typeface="Menlo"/>
              </a:rPr>
              <a:t>inner_function</a:t>
            </a:r>
            <a:r>
              <a:rPr lang="en-US" sz="1600" b="0" i="0" dirty="0">
                <a:solidFill>
                  <a:srgbClr val="32A846"/>
                </a:solidFill>
                <a:effectLst/>
                <a:latin typeface="Menlo"/>
              </a:rPr>
              <a:t>()’</a:t>
            </a:r>
            <a:endParaRPr lang="ru-RU" sz="1600" dirty="0">
              <a:solidFill>
                <a:srgbClr val="32A846"/>
              </a:solidFill>
              <a:latin typeface="Menlo"/>
            </a:endParaRPr>
          </a:p>
          <a:p>
            <a:pPr marL="0" indent="0" algn="just">
              <a:buNone/>
            </a:pPr>
            <a:r>
              <a:rPr lang="ru-RU" sz="1600" b="0" i="0" dirty="0">
                <a:solidFill>
                  <a:srgbClr val="32A846"/>
                </a:solidFill>
                <a:effectLst/>
                <a:latin typeface="Menlo"/>
              </a:rPr>
              <a:t>		</a:t>
            </a:r>
            <a:r>
              <a:rPr lang="en-US" sz="1600" b="0" i="0" dirty="0">
                <a:solidFill>
                  <a:srgbClr val="CA8D3D"/>
                </a:solidFill>
                <a:effectLst/>
                <a:latin typeface="Menlo"/>
              </a:rPr>
              <a:t>print</a:t>
            </a:r>
            <a:r>
              <a:rPr lang="en-US" sz="1600" b="0" i="0" dirty="0">
                <a:effectLst/>
                <a:latin typeface="Menlo"/>
              </a:rPr>
              <a:t>(value)</a:t>
            </a:r>
            <a:r>
              <a:rPr lang="ru-RU" sz="1600" dirty="0">
                <a:latin typeface="Menlo"/>
              </a:rPr>
              <a:t> </a:t>
            </a:r>
            <a:r>
              <a:rPr lang="en-US" sz="1600" b="0" i="1" dirty="0">
                <a:solidFill>
                  <a:srgbClr val="5C6370"/>
                </a:solidFill>
                <a:effectLst/>
                <a:latin typeface="Menlo"/>
              </a:rPr>
              <a:t># </a:t>
            </a:r>
            <a:r>
              <a:rPr lang="ru-RU" sz="1600" b="0" i="1" dirty="0">
                <a:solidFill>
                  <a:srgbClr val="5C6370"/>
                </a:solidFill>
                <a:effectLst/>
                <a:latin typeface="Menlo"/>
              </a:rPr>
              <a:t>Обратились к переменной </a:t>
            </a:r>
            <a:r>
              <a:rPr lang="en-US" sz="1600" b="0" i="1" dirty="0">
                <a:solidFill>
                  <a:srgbClr val="5C6370"/>
                </a:solidFill>
                <a:effectLst/>
                <a:latin typeface="Menlo"/>
              </a:rPr>
              <a:t>value.</a:t>
            </a:r>
            <a:endParaRPr lang="ru-RU" sz="1600" dirty="0">
              <a:solidFill>
                <a:srgbClr val="5C6370"/>
              </a:solidFill>
              <a:latin typeface="Menlo"/>
            </a:endParaRPr>
          </a:p>
          <a:p>
            <a:pPr marL="0" indent="0" algn="just">
              <a:buNone/>
            </a:pPr>
            <a:r>
              <a:rPr lang="ru-RU" sz="1600" b="0" i="1" dirty="0">
                <a:solidFill>
                  <a:srgbClr val="5C6370"/>
                </a:solidFill>
                <a:effectLst/>
                <a:latin typeface="Menlo"/>
              </a:rPr>
              <a:t>		</a:t>
            </a:r>
            <a:r>
              <a:rPr lang="en-US" sz="1600" b="0" i="1" dirty="0">
                <a:solidFill>
                  <a:srgbClr val="5C6370"/>
                </a:solidFill>
                <a:effectLst/>
                <a:latin typeface="Menlo"/>
              </a:rPr>
              <a:t># </a:t>
            </a:r>
            <a:r>
              <a:rPr lang="ru-RU" sz="1600" b="0" i="1" dirty="0">
                <a:solidFill>
                  <a:srgbClr val="5C6370"/>
                </a:solidFill>
                <a:effectLst/>
                <a:latin typeface="Menlo"/>
              </a:rPr>
              <a:t>Сперва ищем это имя в локальном пространстве имён, внутри функции </a:t>
            </a:r>
            <a:r>
              <a:rPr lang="en-US" sz="1600" b="0" i="1" dirty="0" err="1">
                <a:solidFill>
                  <a:srgbClr val="5C6370"/>
                </a:solidFill>
                <a:effectLst/>
                <a:latin typeface="Menlo"/>
              </a:rPr>
              <a:t>inner_function</a:t>
            </a:r>
            <a:r>
              <a:rPr lang="en-US" sz="1600" b="0" i="1" dirty="0">
                <a:solidFill>
                  <a:srgbClr val="5C6370"/>
                </a:solidFill>
                <a:effectLst/>
                <a:latin typeface="Menlo"/>
              </a:rPr>
              <a:t>(). </a:t>
            </a:r>
            <a:r>
              <a:rPr lang="ru-RU" sz="1600" b="0" i="1" dirty="0">
                <a:solidFill>
                  <a:srgbClr val="5C6370"/>
                </a:solidFill>
                <a:effectLst/>
                <a:latin typeface="Menlo"/>
              </a:rPr>
              <a:t>Нашли! </a:t>
            </a:r>
            <a:endParaRPr lang="ru-RU" sz="1600" i="1" dirty="0">
              <a:solidFill>
                <a:srgbClr val="5C6370"/>
              </a:solidFill>
              <a:latin typeface="Menlo"/>
            </a:endParaRPr>
          </a:p>
          <a:p>
            <a:pPr marL="0" indent="0" algn="just">
              <a:buNone/>
            </a:pPr>
            <a:endParaRPr lang="ru-RU" sz="1600" dirty="0">
              <a:solidFill>
                <a:srgbClr val="5C6370"/>
              </a:solidFill>
              <a:latin typeface="Menlo"/>
            </a:endParaRPr>
          </a:p>
          <a:p>
            <a:pPr marL="0" indent="0" algn="just">
              <a:buNone/>
            </a:pPr>
            <a:r>
              <a:rPr lang="en-US" sz="1600" b="0" i="0" dirty="0" err="1">
                <a:effectLst/>
                <a:latin typeface="Menlo"/>
              </a:rPr>
              <a:t>inner_function</a:t>
            </a:r>
            <a:r>
              <a:rPr lang="en-US" sz="1600" b="0" i="0" dirty="0">
                <a:effectLst/>
                <a:latin typeface="Menlo"/>
              </a:rPr>
              <a:t>() </a:t>
            </a:r>
            <a:r>
              <a:rPr lang="en-US" sz="1600" b="0" i="0" dirty="0" err="1">
                <a:effectLst/>
                <a:latin typeface="Menlo"/>
              </a:rPr>
              <a:t>outer_function</a:t>
            </a:r>
            <a:r>
              <a:rPr lang="en-US" sz="1600" b="0" i="0" dirty="0">
                <a:effectLst/>
                <a:latin typeface="Menlo"/>
              </a:rPr>
              <a:t>()</a:t>
            </a:r>
            <a:endParaRPr lang="ru-RU" sz="1600" b="0" i="0" dirty="0">
              <a:effectLst/>
              <a:latin typeface="Menlo"/>
            </a:endParaRPr>
          </a:p>
          <a:p>
            <a:pPr marL="0" indent="0" algn="just">
              <a:buNone/>
            </a:pPr>
            <a:r>
              <a:rPr lang="en-US" sz="1600" b="0" i="1" dirty="0">
                <a:solidFill>
                  <a:srgbClr val="5C6370"/>
                </a:solidFill>
                <a:effectLst/>
                <a:latin typeface="Menlo"/>
              </a:rPr>
              <a:t># </a:t>
            </a:r>
            <a:r>
              <a:rPr lang="ru-RU" sz="1600" b="0" i="1" dirty="0">
                <a:solidFill>
                  <a:srgbClr val="5C6370"/>
                </a:solidFill>
                <a:effectLst/>
                <a:latin typeface="Menlo"/>
              </a:rPr>
              <a:t>Будет напечатано:</a:t>
            </a:r>
            <a:endParaRPr lang="ru-RU" sz="1600" dirty="0">
              <a:solidFill>
                <a:srgbClr val="5C6370"/>
              </a:solidFill>
              <a:latin typeface="Menlo"/>
            </a:endParaRPr>
          </a:p>
          <a:p>
            <a:pPr marL="0" indent="0" algn="just">
              <a:buNone/>
            </a:pPr>
            <a:r>
              <a:rPr lang="ru-RU" sz="1600" b="0" i="1" dirty="0">
                <a:solidFill>
                  <a:srgbClr val="5C6370"/>
                </a:solidFill>
                <a:effectLst/>
                <a:latin typeface="Menlo"/>
              </a:rPr>
              <a:t># Локальная </a:t>
            </a:r>
            <a:r>
              <a:rPr lang="en-US" sz="1600" b="0" i="1" dirty="0">
                <a:solidFill>
                  <a:srgbClr val="5C6370"/>
                </a:solidFill>
                <a:effectLst/>
                <a:latin typeface="Menlo"/>
              </a:rPr>
              <a:t>value </a:t>
            </a:r>
            <a:r>
              <a:rPr lang="ru-RU" sz="1600" b="0" i="1" dirty="0">
                <a:solidFill>
                  <a:srgbClr val="5C6370"/>
                </a:solidFill>
                <a:effectLst/>
                <a:latin typeface="Menlo"/>
              </a:rPr>
              <a:t>из </a:t>
            </a:r>
            <a:r>
              <a:rPr lang="en-US" sz="1600" b="0" i="1" dirty="0" err="1">
                <a:solidFill>
                  <a:srgbClr val="5C6370"/>
                </a:solidFill>
                <a:effectLst/>
                <a:latin typeface="Menlo"/>
              </a:rPr>
              <a:t>inner_function</a:t>
            </a:r>
            <a:r>
              <a:rPr lang="en-US" sz="1600" b="0" i="1" dirty="0">
                <a:solidFill>
                  <a:srgbClr val="5C6370"/>
                </a:solidFill>
                <a:effectLst/>
                <a:latin typeface="Menlo"/>
              </a:rPr>
              <a:t>()</a:t>
            </a:r>
            <a:endParaRPr lang="ru-RU" i="1" dirty="0">
              <a:latin typeface="YS Text"/>
            </a:endParaRPr>
          </a:p>
        </p:txBody>
      </p:sp>
    </p:spTree>
    <p:extLst>
      <p:ext uri="{BB962C8B-B14F-4D97-AF65-F5344CB8AC3E}">
        <p14:creationId xmlns:p14="http://schemas.microsoft.com/office/powerpoint/2010/main" val="13921623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Autofit/>
          </a:bodyPr>
          <a:lstStyle/>
          <a:p>
            <a:pPr algn="ctr"/>
            <a:r>
              <a:rPr lang="ru-RU" sz="4000" b="1" dirty="0">
                <a:effectLst/>
                <a:latin typeface="YS Text"/>
              </a:rPr>
              <a:t>Внешняя (охватывающая) область видимости</a:t>
            </a:r>
            <a:endParaRPr lang="ru-RU" sz="3600"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normAutofit/>
          </a:bodyPr>
          <a:lstStyle/>
          <a:p>
            <a:pPr marL="0" indent="0" algn="just">
              <a:buNone/>
            </a:pPr>
            <a:r>
              <a:rPr lang="ru-RU" dirty="0">
                <a:latin typeface="YS Text"/>
              </a:rPr>
              <a:t>Внешняя (охватывающая) область видимости. Если запрошена переменная, которой нет в локальном пространстве имён, поиск продолжается в охватывающем пространстве.</a:t>
            </a:r>
          </a:p>
          <a:p>
            <a:pPr marL="0" indent="0" algn="just">
              <a:buNone/>
            </a:pPr>
            <a:r>
              <a:rPr lang="en-US" sz="1600" b="0" i="0" dirty="0">
                <a:effectLst/>
                <a:latin typeface="Menlo"/>
              </a:rPr>
              <a:t>value = </a:t>
            </a:r>
            <a:r>
              <a:rPr lang="en-US" sz="1600" b="0" i="0" dirty="0">
                <a:solidFill>
                  <a:srgbClr val="32A846"/>
                </a:solidFill>
                <a:effectLst/>
                <a:latin typeface="Menlo"/>
              </a:rPr>
              <a:t>'</a:t>
            </a:r>
            <a:r>
              <a:rPr lang="ru-RU" sz="1600" b="0" i="0" dirty="0">
                <a:solidFill>
                  <a:srgbClr val="32A846"/>
                </a:solidFill>
                <a:effectLst/>
                <a:latin typeface="Menlo"/>
              </a:rPr>
              <a:t>Глобальная </a:t>
            </a:r>
            <a:r>
              <a:rPr lang="en-US" sz="1600" b="0" i="0" dirty="0">
                <a:solidFill>
                  <a:srgbClr val="32A846"/>
                </a:solidFill>
                <a:effectLst/>
                <a:latin typeface="Menlo"/>
              </a:rPr>
              <a:t>value’</a:t>
            </a:r>
            <a:endParaRPr lang="ru-RU" sz="1600" b="0" i="0" dirty="0">
              <a:solidFill>
                <a:srgbClr val="32A846"/>
              </a:solidFill>
              <a:effectLst/>
              <a:latin typeface="Menlo"/>
            </a:endParaRPr>
          </a:p>
          <a:p>
            <a:pPr marL="0" indent="0" algn="just">
              <a:buNone/>
            </a:pPr>
            <a:endParaRPr lang="ru-RU" sz="1600" dirty="0">
              <a:solidFill>
                <a:srgbClr val="32A846"/>
              </a:solidFill>
              <a:latin typeface="Menlo"/>
            </a:endParaRPr>
          </a:p>
          <a:p>
            <a:pPr marL="0" indent="0" algn="just">
              <a:buNone/>
            </a:pPr>
            <a:r>
              <a:rPr lang="en-US" sz="1600" b="0" i="0" dirty="0">
                <a:solidFill>
                  <a:srgbClr val="C678DD"/>
                </a:solidFill>
                <a:effectLst/>
                <a:latin typeface="Menlo"/>
              </a:rPr>
              <a:t>def</a:t>
            </a:r>
            <a:r>
              <a:rPr lang="en-US" sz="1600" b="0" i="0" dirty="0">
                <a:effectLst/>
                <a:latin typeface="Menlo"/>
              </a:rPr>
              <a:t> </a:t>
            </a:r>
            <a:r>
              <a:rPr lang="en-US" sz="1600" b="0" i="0" dirty="0" err="1">
                <a:effectLst/>
                <a:latin typeface="Menlo"/>
              </a:rPr>
              <a:t>outer_function</a:t>
            </a:r>
            <a:r>
              <a:rPr lang="en-US" sz="1600" b="0" i="0" dirty="0">
                <a:effectLst/>
                <a:latin typeface="Menlo"/>
              </a:rPr>
              <a:t>():</a:t>
            </a:r>
            <a:endParaRPr lang="ru-RU" sz="1600" b="0" i="0" dirty="0">
              <a:effectLst/>
              <a:latin typeface="Menlo"/>
            </a:endParaRPr>
          </a:p>
          <a:p>
            <a:pPr marL="0" indent="0" algn="just">
              <a:buNone/>
            </a:pPr>
            <a:r>
              <a:rPr lang="ru-RU" sz="1600" dirty="0">
                <a:latin typeface="Menlo"/>
              </a:rPr>
              <a:t>	</a:t>
            </a:r>
            <a:r>
              <a:rPr lang="en-US" sz="1600" b="0" i="0" dirty="0">
                <a:effectLst/>
                <a:latin typeface="Menlo"/>
              </a:rPr>
              <a:t>value = </a:t>
            </a:r>
            <a:r>
              <a:rPr lang="en-US" sz="1600" b="0" i="0" dirty="0">
                <a:solidFill>
                  <a:srgbClr val="32A846"/>
                </a:solidFill>
                <a:effectLst/>
                <a:latin typeface="Menlo"/>
              </a:rPr>
              <a:t>'</a:t>
            </a:r>
            <a:r>
              <a:rPr lang="ru-RU" sz="1600" b="0" i="0" dirty="0">
                <a:solidFill>
                  <a:srgbClr val="32A846"/>
                </a:solidFill>
                <a:effectLst/>
                <a:latin typeface="Menlo"/>
              </a:rPr>
              <a:t>Локальная </a:t>
            </a:r>
            <a:r>
              <a:rPr lang="en-US" sz="1600" b="0" i="0" dirty="0">
                <a:solidFill>
                  <a:srgbClr val="32A846"/>
                </a:solidFill>
                <a:effectLst/>
                <a:latin typeface="Menlo"/>
              </a:rPr>
              <a:t>value </a:t>
            </a:r>
            <a:r>
              <a:rPr lang="ru-RU" sz="1600" b="0" i="0" dirty="0">
                <a:solidFill>
                  <a:srgbClr val="32A846"/>
                </a:solidFill>
                <a:effectLst/>
                <a:latin typeface="Menlo"/>
              </a:rPr>
              <a:t>из </a:t>
            </a:r>
            <a:r>
              <a:rPr lang="en-US" sz="1600" b="0" i="0" dirty="0" err="1">
                <a:solidFill>
                  <a:srgbClr val="32A846"/>
                </a:solidFill>
                <a:effectLst/>
                <a:latin typeface="Menlo"/>
              </a:rPr>
              <a:t>outer_function</a:t>
            </a:r>
            <a:r>
              <a:rPr lang="en-US" sz="1600" b="0" i="0" dirty="0">
                <a:solidFill>
                  <a:srgbClr val="32A846"/>
                </a:solidFill>
                <a:effectLst/>
                <a:latin typeface="Menlo"/>
              </a:rPr>
              <a:t>()’</a:t>
            </a:r>
            <a:endParaRPr lang="ru-RU" sz="1600" dirty="0">
              <a:solidFill>
                <a:srgbClr val="32A846"/>
              </a:solidFill>
              <a:latin typeface="Menlo"/>
            </a:endParaRPr>
          </a:p>
          <a:p>
            <a:pPr marL="0" indent="0" algn="just">
              <a:buNone/>
            </a:pPr>
            <a:r>
              <a:rPr lang="ru-RU" sz="1600" b="0" i="0" dirty="0">
                <a:solidFill>
                  <a:srgbClr val="32A846"/>
                </a:solidFill>
                <a:effectLst/>
                <a:latin typeface="Menlo"/>
              </a:rPr>
              <a:t>	</a:t>
            </a:r>
            <a:r>
              <a:rPr lang="en-US" sz="1600" b="0" i="0" dirty="0">
                <a:effectLst/>
                <a:latin typeface="Menlo"/>
              </a:rPr>
              <a:t>...</a:t>
            </a:r>
            <a:endParaRPr lang="ru-RU" sz="1600" dirty="0">
              <a:solidFill>
                <a:srgbClr val="C678DD"/>
              </a:solidFill>
              <a:latin typeface="Menlo"/>
            </a:endParaRPr>
          </a:p>
          <a:p>
            <a:pPr marL="0" indent="0" algn="just">
              <a:buNone/>
            </a:pPr>
            <a:r>
              <a:rPr lang="ru-RU" sz="1600" b="0" i="0" dirty="0">
                <a:solidFill>
                  <a:srgbClr val="C678DD"/>
                </a:solidFill>
                <a:effectLst/>
                <a:latin typeface="Menlo"/>
              </a:rPr>
              <a:t>	</a:t>
            </a:r>
            <a:r>
              <a:rPr lang="en-US" sz="1600" b="0" i="0" dirty="0">
                <a:solidFill>
                  <a:srgbClr val="C678DD"/>
                </a:solidFill>
                <a:effectLst/>
                <a:latin typeface="Menlo"/>
              </a:rPr>
              <a:t>def</a:t>
            </a:r>
            <a:r>
              <a:rPr lang="en-US" sz="1600" b="0" i="0" dirty="0">
                <a:effectLst/>
                <a:latin typeface="Menlo"/>
              </a:rPr>
              <a:t> </a:t>
            </a:r>
            <a:r>
              <a:rPr lang="en-US" sz="1600" b="0" i="0" dirty="0" err="1">
                <a:effectLst/>
                <a:latin typeface="Menlo"/>
              </a:rPr>
              <a:t>inner_function</a:t>
            </a:r>
            <a:r>
              <a:rPr lang="en-US" sz="1600" b="0" i="0" dirty="0">
                <a:effectLst/>
                <a:latin typeface="Menlo"/>
              </a:rPr>
              <a:t>():</a:t>
            </a:r>
            <a:endParaRPr lang="ru-RU" sz="1600" b="0" i="0" dirty="0">
              <a:effectLst/>
              <a:latin typeface="Menlo"/>
            </a:endParaRPr>
          </a:p>
          <a:p>
            <a:pPr marL="0" indent="0" algn="just">
              <a:buNone/>
            </a:pPr>
            <a:r>
              <a:rPr lang="ru-RU" sz="1600" dirty="0">
                <a:solidFill>
                  <a:srgbClr val="5C6370"/>
                </a:solidFill>
                <a:latin typeface="Menlo"/>
              </a:rPr>
              <a:t>		</a:t>
            </a:r>
            <a:r>
              <a:rPr lang="en-US" sz="1600" b="0" i="1" dirty="0">
                <a:solidFill>
                  <a:srgbClr val="5C6370"/>
                </a:solidFill>
                <a:effectLst/>
                <a:latin typeface="Menlo"/>
              </a:rPr>
              <a:t># value = '</a:t>
            </a:r>
            <a:r>
              <a:rPr lang="ru-RU" sz="1600" b="0" i="1" dirty="0">
                <a:solidFill>
                  <a:srgbClr val="5C6370"/>
                </a:solidFill>
                <a:effectLst/>
                <a:latin typeface="Menlo"/>
              </a:rPr>
              <a:t>Локальная </a:t>
            </a:r>
            <a:r>
              <a:rPr lang="en-US" sz="1600" b="0" i="1" dirty="0">
                <a:solidFill>
                  <a:srgbClr val="5C6370"/>
                </a:solidFill>
                <a:effectLst/>
                <a:latin typeface="Menlo"/>
              </a:rPr>
              <a:t>value </a:t>
            </a:r>
            <a:r>
              <a:rPr lang="ru-RU" sz="1600" b="0" i="1" dirty="0">
                <a:solidFill>
                  <a:srgbClr val="5C6370"/>
                </a:solidFill>
                <a:effectLst/>
                <a:latin typeface="Menlo"/>
              </a:rPr>
              <a:t>из </a:t>
            </a:r>
            <a:r>
              <a:rPr lang="en-US" sz="1600" b="0" i="1" dirty="0" err="1">
                <a:solidFill>
                  <a:srgbClr val="5C6370"/>
                </a:solidFill>
                <a:effectLst/>
                <a:latin typeface="Menlo"/>
              </a:rPr>
              <a:t>inner_function</a:t>
            </a:r>
            <a:r>
              <a:rPr lang="en-US" sz="1600" b="0" i="1" dirty="0">
                <a:solidFill>
                  <a:srgbClr val="5C6370"/>
                </a:solidFill>
                <a:effectLst/>
                <a:latin typeface="Menlo"/>
              </a:rPr>
              <a:t>()’</a:t>
            </a:r>
            <a:endParaRPr lang="ru-RU" sz="1600" dirty="0">
              <a:solidFill>
                <a:srgbClr val="5C6370"/>
              </a:solidFill>
              <a:latin typeface="Menlo"/>
            </a:endParaRPr>
          </a:p>
          <a:p>
            <a:pPr marL="0" indent="0" algn="just">
              <a:buNone/>
            </a:pPr>
            <a:r>
              <a:rPr lang="ru-RU" sz="1600" b="0" i="0" dirty="0">
                <a:solidFill>
                  <a:srgbClr val="5C6370"/>
                </a:solidFill>
                <a:effectLst/>
                <a:latin typeface="Menlo"/>
              </a:rPr>
              <a:t>		</a:t>
            </a:r>
            <a:r>
              <a:rPr lang="en-US" sz="1600" b="0" i="0" dirty="0">
                <a:solidFill>
                  <a:srgbClr val="CA8D3D"/>
                </a:solidFill>
                <a:effectLst/>
                <a:latin typeface="Menlo"/>
              </a:rPr>
              <a:t>print</a:t>
            </a:r>
            <a:r>
              <a:rPr lang="en-US" sz="1600" b="0" i="0" dirty="0">
                <a:effectLst/>
                <a:latin typeface="Menlo"/>
              </a:rPr>
              <a:t>(value) </a:t>
            </a:r>
            <a:r>
              <a:rPr lang="en-US" sz="1600" b="0" i="1" dirty="0">
                <a:solidFill>
                  <a:srgbClr val="5C6370"/>
                </a:solidFill>
                <a:effectLst/>
                <a:latin typeface="Menlo"/>
              </a:rPr>
              <a:t># </a:t>
            </a:r>
            <a:r>
              <a:rPr lang="ru-RU" sz="1600" b="0" i="1" dirty="0">
                <a:solidFill>
                  <a:srgbClr val="5C6370"/>
                </a:solidFill>
                <a:effectLst/>
                <a:latin typeface="Menlo"/>
              </a:rPr>
              <a:t>Обратились к переменной </a:t>
            </a:r>
            <a:r>
              <a:rPr lang="en-US" sz="1600" b="0" i="1" dirty="0">
                <a:solidFill>
                  <a:srgbClr val="5C6370"/>
                </a:solidFill>
                <a:effectLst/>
                <a:latin typeface="Menlo"/>
              </a:rPr>
              <a:t>value.</a:t>
            </a:r>
            <a:endParaRPr lang="ru-RU" sz="1600" dirty="0">
              <a:solidFill>
                <a:srgbClr val="5C6370"/>
              </a:solidFill>
              <a:latin typeface="Menlo"/>
            </a:endParaRPr>
          </a:p>
          <a:p>
            <a:pPr marL="0" indent="0" algn="just">
              <a:buNone/>
            </a:pPr>
            <a:r>
              <a:rPr lang="ru-RU" sz="1600" b="0" i="1" dirty="0">
                <a:solidFill>
                  <a:srgbClr val="5C6370"/>
                </a:solidFill>
                <a:effectLst/>
                <a:latin typeface="Menlo"/>
              </a:rPr>
              <a:t>		</a:t>
            </a:r>
            <a:r>
              <a:rPr lang="en-US" sz="1600" b="0" i="1" dirty="0">
                <a:solidFill>
                  <a:srgbClr val="5C6370"/>
                </a:solidFill>
                <a:effectLst/>
                <a:latin typeface="Menlo"/>
              </a:rPr>
              <a:t># </a:t>
            </a:r>
            <a:r>
              <a:rPr lang="ru-RU" sz="1600" b="0" i="1" dirty="0">
                <a:solidFill>
                  <a:srgbClr val="5C6370"/>
                </a:solidFill>
                <a:effectLst/>
                <a:latin typeface="Menlo"/>
              </a:rPr>
              <a:t>Ищем это имя в локальном пространстве имён - нету! Ищем в ближайшем внешнем 			пространстве имён,</a:t>
            </a:r>
            <a:r>
              <a:rPr lang="ru-RU" sz="1600" dirty="0">
                <a:solidFill>
                  <a:srgbClr val="5C6370"/>
                </a:solidFill>
                <a:latin typeface="Menlo"/>
              </a:rPr>
              <a:t> </a:t>
            </a:r>
            <a:r>
              <a:rPr lang="ru-RU" sz="1600" b="0" i="1" dirty="0">
                <a:solidFill>
                  <a:srgbClr val="5C6370"/>
                </a:solidFill>
                <a:effectLst/>
                <a:latin typeface="Menlo"/>
              </a:rPr>
              <a:t>в локальном пространстве функции </a:t>
            </a:r>
            <a:r>
              <a:rPr lang="en-US" sz="1600" b="0" i="1" dirty="0" err="1">
                <a:solidFill>
                  <a:srgbClr val="5C6370"/>
                </a:solidFill>
                <a:effectLst/>
                <a:latin typeface="Menlo"/>
              </a:rPr>
              <a:t>outer_function</a:t>
            </a:r>
            <a:r>
              <a:rPr lang="en-US" sz="1600" b="0" i="1" dirty="0">
                <a:solidFill>
                  <a:srgbClr val="5C6370"/>
                </a:solidFill>
                <a:effectLst/>
                <a:latin typeface="Menlo"/>
              </a:rPr>
              <a:t>(). </a:t>
            </a:r>
            <a:r>
              <a:rPr lang="ru-RU" sz="1600" b="0" i="1" dirty="0">
                <a:solidFill>
                  <a:srgbClr val="5C6370"/>
                </a:solidFill>
                <a:effectLst/>
                <a:latin typeface="Menlo"/>
              </a:rPr>
              <a:t>Нашли! Печатаем.</a:t>
            </a:r>
            <a:r>
              <a:rPr lang="ru-RU" sz="1600" b="0" i="0" dirty="0">
                <a:effectLst/>
                <a:latin typeface="Menlo"/>
              </a:rPr>
              <a:t> </a:t>
            </a:r>
          </a:p>
          <a:p>
            <a:pPr marL="0" indent="0" algn="just">
              <a:buNone/>
            </a:pPr>
            <a:r>
              <a:rPr lang="ru-RU" sz="1600" b="0" i="0" dirty="0">
                <a:effectLst/>
                <a:latin typeface="Menlo"/>
              </a:rPr>
              <a:t>	</a:t>
            </a:r>
            <a:r>
              <a:rPr lang="en-US" sz="1600" b="0" i="0" dirty="0" err="1">
                <a:effectLst/>
                <a:latin typeface="Menlo"/>
              </a:rPr>
              <a:t>inner_function</a:t>
            </a:r>
            <a:r>
              <a:rPr lang="en-US" sz="1600" b="0" i="0" dirty="0">
                <a:effectLst/>
                <a:latin typeface="Menlo"/>
              </a:rPr>
              <a:t>()</a:t>
            </a:r>
            <a:endParaRPr lang="ru-RU" sz="1600" b="0" i="0" dirty="0">
              <a:effectLst/>
              <a:latin typeface="Menlo"/>
            </a:endParaRPr>
          </a:p>
          <a:p>
            <a:pPr marL="0" indent="0" algn="just">
              <a:buNone/>
            </a:pPr>
            <a:r>
              <a:rPr lang="en-US" sz="1600" b="0" i="0" dirty="0" err="1">
                <a:effectLst/>
                <a:latin typeface="Menlo"/>
              </a:rPr>
              <a:t>outer_function</a:t>
            </a:r>
            <a:r>
              <a:rPr lang="en-US" sz="1600" b="0" i="0" dirty="0">
                <a:effectLst/>
                <a:latin typeface="Menlo"/>
              </a:rPr>
              <a:t>()</a:t>
            </a:r>
            <a:endParaRPr lang="ru-RU" sz="1600" b="0" i="0" dirty="0">
              <a:effectLst/>
              <a:latin typeface="Menlo"/>
            </a:endParaRPr>
          </a:p>
          <a:p>
            <a:pPr marL="0" indent="0" algn="just">
              <a:buNone/>
            </a:pPr>
            <a:r>
              <a:rPr lang="en-US" sz="1600" b="0" i="1" dirty="0">
                <a:solidFill>
                  <a:srgbClr val="5C6370"/>
                </a:solidFill>
                <a:effectLst/>
                <a:latin typeface="Menlo"/>
              </a:rPr>
              <a:t># </a:t>
            </a:r>
            <a:r>
              <a:rPr lang="ru-RU" sz="1600" b="0" i="1" dirty="0">
                <a:solidFill>
                  <a:srgbClr val="5C6370"/>
                </a:solidFill>
                <a:effectLst/>
                <a:latin typeface="Menlo"/>
              </a:rPr>
              <a:t>Будет напечатано:</a:t>
            </a:r>
            <a:endParaRPr lang="ru-RU" sz="1600" dirty="0">
              <a:solidFill>
                <a:srgbClr val="5C6370"/>
              </a:solidFill>
              <a:latin typeface="Menlo"/>
            </a:endParaRPr>
          </a:p>
          <a:p>
            <a:pPr marL="0" indent="0" algn="just">
              <a:buNone/>
            </a:pPr>
            <a:r>
              <a:rPr lang="ru-RU" sz="1600" b="0" i="1" dirty="0">
                <a:solidFill>
                  <a:srgbClr val="5C6370"/>
                </a:solidFill>
                <a:effectLst/>
                <a:latin typeface="Menlo"/>
              </a:rPr>
              <a:t># Локальная </a:t>
            </a:r>
            <a:r>
              <a:rPr lang="en-US" sz="1600" b="0" i="1" dirty="0">
                <a:solidFill>
                  <a:srgbClr val="5C6370"/>
                </a:solidFill>
                <a:effectLst/>
                <a:latin typeface="Menlo"/>
              </a:rPr>
              <a:t>value </a:t>
            </a:r>
            <a:r>
              <a:rPr lang="ru-RU" sz="1600" b="0" i="1" dirty="0">
                <a:solidFill>
                  <a:srgbClr val="5C6370"/>
                </a:solidFill>
                <a:effectLst/>
                <a:latin typeface="Menlo"/>
              </a:rPr>
              <a:t>из </a:t>
            </a:r>
            <a:r>
              <a:rPr lang="en-US" sz="1600" b="0" i="1" dirty="0" err="1">
                <a:solidFill>
                  <a:srgbClr val="5C6370"/>
                </a:solidFill>
                <a:effectLst/>
                <a:latin typeface="Menlo"/>
              </a:rPr>
              <a:t>outer_function</a:t>
            </a:r>
            <a:r>
              <a:rPr lang="en-US" sz="1600" b="0" i="1" dirty="0">
                <a:solidFill>
                  <a:srgbClr val="5C6370"/>
                </a:solidFill>
                <a:effectLst/>
                <a:latin typeface="Menlo"/>
              </a:rPr>
              <a:t>()</a:t>
            </a:r>
            <a:endParaRPr lang="ru-RU" i="1" dirty="0">
              <a:latin typeface="YS Text"/>
            </a:endParaRPr>
          </a:p>
        </p:txBody>
      </p:sp>
    </p:spTree>
    <p:extLst>
      <p:ext uri="{BB962C8B-B14F-4D97-AF65-F5344CB8AC3E}">
        <p14:creationId xmlns:p14="http://schemas.microsoft.com/office/powerpoint/2010/main" val="2908408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Глобальная область видимости</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222124"/>
          </a:xfrm>
        </p:spPr>
        <p:txBody>
          <a:bodyPr>
            <a:normAutofit fontScale="92500" lnSpcReduction="20000"/>
          </a:bodyPr>
          <a:lstStyle/>
          <a:p>
            <a:pPr marL="0" indent="0" algn="just">
              <a:buNone/>
            </a:pPr>
            <a:r>
              <a:rPr lang="ru-RU" sz="2200" dirty="0">
                <a:latin typeface="YS Text"/>
              </a:rPr>
              <a:t>Глобальная область видимости. Если имя не найдено и в охватывающих пространствах имён, интерпретатор начнёт искать его в глобальной области видимости — в глобальном пространстве, которое обычно соответствует уровню модуля.</a:t>
            </a:r>
          </a:p>
          <a:p>
            <a:pPr marL="0" indent="0" algn="just">
              <a:buNone/>
            </a:pPr>
            <a:r>
              <a:rPr lang="en-US" sz="1900" b="0" i="0" dirty="0">
                <a:effectLst/>
                <a:latin typeface="Menlo"/>
              </a:rPr>
              <a:t>value = </a:t>
            </a:r>
            <a:r>
              <a:rPr lang="en-US" sz="1900" b="0" i="0" dirty="0">
                <a:solidFill>
                  <a:srgbClr val="32A846"/>
                </a:solidFill>
                <a:effectLst/>
                <a:latin typeface="Menlo"/>
              </a:rPr>
              <a:t>'</a:t>
            </a:r>
            <a:r>
              <a:rPr lang="ru-RU" sz="1900" b="0" i="0" dirty="0">
                <a:solidFill>
                  <a:srgbClr val="32A846"/>
                </a:solidFill>
                <a:effectLst/>
                <a:latin typeface="Menlo"/>
              </a:rPr>
              <a:t>Глобальная </a:t>
            </a:r>
            <a:r>
              <a:rPr lang="en-US" sz="1900" b="0" i="0" dirty="0">
                <a:solidFill>
                  <a:srgbClr val="32A846"/>
                </a:solidFill>
                <a:effectLst/>
                <a:latin typeface="Menlo"/>
              </a:rPr>
              <a:t>value’</a:t>
            </a:r>
            <a:endParaRPr lang="ru-RU" sz="1900" dirty="0">
              <a:solidFill>
                <a:srgbClr val="32A846"/>
              </a:solidFill>
              <a:latin typeface="Menlo"/>
            </a:endParaRPr>
          </a:p>
          <a:p>
            <a:pPr marL="0" indent="0" algn="just">
              <a:buNone/>
            </a:pPr>
            <a:endParaRPr lang="ru-RU" sz="1900" b="0" i="0" dirty="0">
              <a:solidFill>
                <a:srgbClr val="32A846"/>
              </a:solidFill>
              <a:effectLst/>
              <a:latin typeface="Menlo"/>
            </a:endParaRPr>
          </a:p>
          <a:p>
            <a:pPr marL="0" indent="0" algn="just">
              <a:buNone/>
            </a:pPr>
            <a:r>
              <a:rPr lang="en-US" sz="1900" b="0" i="0" dirty="0">
                <a:solidFill>
                  <a:srgbClr val="C678DD"/>
                </a:solidFill>
                <a:effectLst/>
                <a:latin typeface="Menlo"/>
              </a:rPr>
              <a:t>def</a:t>
            </a:r>
            <a:r>
              <a:rPr lang="en-US" sz="1900" b="0" i="0" dirty="0">
                <a:effectLst/>
                <a:latin typeface="Menlo"/>
              </a:rPr>
              <a:t> </a:t>
            </a:r>
            <a:r>
              <a:rPr lang="en-US" sz="1900" b="0" i="0" dirty="0" err="1">
                <a:effectLst/>
                <a:latin typeface="Menlo"/>
              </a:rPr>
              <a:t>outer_function</a:t>
            </a:r>
            <a:r>
              <a:rPr lang="en-US" sz="1900" b="0" i="0" dirty="0">
                <a:effectLst/>
                <a:latin typeface="Menlo"/>
              </a:rPr>
              <a:t>():</a:t>
            </a:r>
            <a:endParaRPr lang="ru-RU" sz="1900" b="0" i="0" dirty="0">
              <a:effectLst/>
              <a:latin typeface="Menlo"/>
            </a:endParaRPr>
          </a:p>
          <a:p>
            <a:pPr marL="0" indent="0" algn="just">
              <a:buNone/>
            </a:pPr>
            <a:r>
              <a:rPr lang="ru-RU" sz="1900" dirty="0">
                <a:solidFill>
                  <a:srgbClr val="5C6370"/>
                </a:solidFill>
                <a:latin typeface="Menlo"/>
              </a:rPr>
              <a:t>	</a:t>
            </a:r>
            <a:r>
              <a:rPr lang="en-US" sz="1900" b="0" i="1" dirty="0">
                <a:solidFill>
                  <a:srgbClr val="5C6370"/>
                </a:solidFill>
                <a:effectLst/>
                <a:latin typeface="Menlo"/>
              </a:rPr>
              <a:t># value = '</a:t>
            </a:r>
            <a:r>
              <a:rPr lang="ru-RU" sz="1900" b="0" i="1" dirty="0">
                <a:solidFill>
                  <a:srgbClr val="5C6370"/>
                </a:solidFill>
                <a:effectLst/>
                <a:latin typeface="Menlo"/>
              </a:rPr>
              <a:t>Локальная </a:t>
            </a:r>
            <a:r>
              <a:rPr lang="en-US" sz="1900" b="0" i="1" dirty="0">
                <a:solidFill>
                  <a:srgbClr val="5C6370"/>
                </a:solidFill>
                <a:effectLst/>
                <a:latin typeface="Menlo"/>
              </a:rPr>
              <a:t>value </a:t>
            </a:r>
            <a:r>
              <a:rPr lang="ru-RU" sz="1900" b="0" i="1" dirty="0">
                <a:solidFill>
                  <a:srgbClr val="5C6370"/>
                </a:solidFill>
                <a:effectLst/>
                <a:latin typeface="Menlo"/>
              </a:rPr>
              <a:t>из </a:t>
            </a:r>
            <a:r>
              <a:rPr lang="en-US" sz="1900" b="0" i="1" dirty="0" err="1">
                <a:solidFill>
                  <a:srgbClr val="5C6370"/>
                </a:solidFill>
                <a:effectLst/>
                <a:latin typeface="Menlo"/>
              </a:rPr>
              <a:t>outer_function</a:t>
            </a:r>
            <a:r>
              <a:rPr lang="en-US" sz="1900" b="0" i="1" dirty="0">
                <a:solidFill>
                  <a:srgbClr val="5C6370"/>
                </a:solidFill>
                <a:effectLst/>
                <a:latin typeface="Menlo"/>
              </a:rPr>
              <a:t>()’</a:t>
            </a:r>
            <a:endParaRPr lang="ru-RU" sz="1900" dirty="0">
              <a:solidFill>
                <a:srgbClr val="5C6370"/>
              </a:solidFill>
              <a:latin typeface="Menlo"/>
            </a:endParaRPr>
          </a:p>
          <a:p>
            <a:pPr marL="0" indent="0" algn="just">
              <a:buNone/>
            </a:pPr>
            <a:r>
              <a:rPr lang="ru-RU" sz="1900" b="0" i="0" dirty="0">
                <a:solidFill>
                  <a:srgbClr val="5C6370"/>
                </a:solidFill>
                <a:effectLst/>
                <a:latin typeface="Menlo"/>
              </a:rPr>
              <a:t>	</a:t>
            </a:r>
            <a:r>
              <a:rPr lang="en-US" sz="1900" b="0" i="0" dirty="0">
                <a:effectLst/>
                <a:latin typeface="Menlo"/>
              </a:rPr>
              <a:t>...</a:t>
            </a:r>
            <a:endParaRPr lang="ru-RU" sz="1900" b="0" i="0" dirty="0">
              <a:effectLst/>
              <a:latin typeface="Menlo"/>
            </a:endParaRPr>
          </a:p>
          <a:p>
            <a:pPr marL="0" indent="0" algn="just">
              <a:buNone/>
            </a:pPr>
            <a:r>
              <a:rPr lang="ru-RU" sz="1900" dirty="0">
                <a:solidFill>
                  <a:srgbClr val="C678DD"/>
                </a:solidFill>
                <a:latin typeface="Menlo"/>
              </a:rPr>
              <a:t>	</a:t>
            </a:r>
            <a:r>
              <a:rPr lang="en-US" sz="1900" b="0" i="0" dirty="0">
                <a:solidFill>
                  <a:srgbClr val="C678DD"/>
                </a:solidFill>
                <a:effectLst/>
                <a:latin typeface="Menlo"/>
              </a:rPr>
              <a:t>def</a:t>
            </a:r>
            <a:r>
              <a:rPr lang="en-US" sz="1900" b="0" i="0" dirty="0">
                <a:effectLst/>
                <a:latin typeface="Menlo"/>
              </a:rPr>
              <a:t> </a:t>
            </a:r>
            <a:r>
              <a:rPr lang="en-US" sz="1900" b="0" i="0" dirty="0" err="1">
                <a:effectLst/>
                <a:latin typeface="Menlo"/>
              </a:rPr>
              <a:t>inner_function</a:t>
            </a:r>
            <a:r>
              <a:rPr lang="en-US" sz="1900" b="0" i="0" dirty="0">
                <a:effectLst/>
                <a:latin typeface="Menlo"/>
              </a:rPr>
              <a:t>():</a:t>
            </a:r>
            <a:endParaRPr lang="ru-RU" sz="1900" b="0" i="0" dirty="0">
              <a:effectLst/>
              <a:latin typeface="Menlo"/>
            </a:endParaRPr>
          </a:p>
          <a:p>
            <a:pPr marL="0" indent="0" algn="just">
              <a:buNone/>
            </a:pPr>
            <a:r>
              <a:rPr lang="ru-RU" sz="1900" dirty="0">
                <a:solidFill>
                  <a:srgbClr val="5C6370"/>
                </a:solidFill>
                <a:latin typeface="Menlo"/>
              </a:rPr>
              <a:t>		</a:t>
            </a:r>
            <a:r>
              <a:rPr lang="en-US" sz="1900" b="0" i="1" dirty="0">
                <a:solidFill>
                  <a:srgbClr val="5C6370"/>
                </a:solidFill>
                <a:effectLst/>
                <a:latin typeface="Menlo"/>
              </a:rPr>
              <a:t># value = '</a:t>
            </a:r>
            <a:r>
              <a:rPr lang="ru-RU" sz="1900" b="0" i="1" dirty="0">
                <a:solidFill>
                  <a:srgbClr val="5C6370"/>
                </a:solidFill>
                <a:effectLst/>
                <a:latin typeface="Menlo"/>
              </a:rPr>
              <a:t>Локальная </a:t>
            </a:r>
            <a:r>
              <a:rPr lang="en-US" sz="1900" b="0" i="1" dirty="0">
                <a:solidFill>
                  <a:srgbClr val="5C6370"/>
                </a:solidFill>
                <a:effectLst/>
                <a:latin typeface="Menlo"/>
              </a:rPr>
              <a:t>value </a:t>
            </a:r>
            <a:r>
              <a:rPr lang="ru-RU" sz="1900" b="0" i="1" dirty="0">
                <a:solidFill>
                  <a:srgbClr val="5C6370"/>
                </a:solidFill>
                <a:effectLst/>
                <a:latin typeface="Menlo"/>
              </a:rPr>
              <a:t>из </a:t>
            </a:r>
            <a:r>
              <a:rPr lang="en-US" sz="1900" b="0" i="1" dirty="0" err="1">
                <a:solidFill>
                  <a:srgbClr val="5C6370"/>
                </a:solidFill>
                <a:effectLst/>
                <a:latin typeface="Menlo"/>
              </a:rPr>
              <a:t>inner_function</a:t>
            </a:r>
            <a:r>
              <a:rPr lang="en-US" sz="1900" b="0" i="1" dirty="0">
                <a:solidFill>
                  <a:srgbClr val="5C6370"/>
                </a:solidFill>
                <a:effectLst/>
                <a:latin typeface="Menlo"/>
              </a:rPr>
              <a:t>()’</a:t>
            </a:r>
            <a:endParaRPr lang="ru-RU" sz="1900" dirty="0">
              <a:solidFill>
                <a:srgbClr val="5C6370"/>
              </a:solidFill>
              <a:latin typeface="Menlo"/>
            </a:endParaRPr>
          </a:p>
          <a:p>
            <a:pPr marL="0" indent="0" algn="just">
              <a:buNone/>
            </a:pPr>
            <a:r>
              <a:rPr lang="ru-RU" sz="1900" b="0" i="0" dirty="0">
                <a:solidFill>
                  <a:srgbClr val="5C6370"/>
                </a:solidFill>
                <a:effectLst/>
                <a:latin typeface="Menlo"/>
              </a:rPr>
              <a:t>		</a:t>
            </a:r>
            <a:r>
              <a:rPr lang="en-US" sz="1900" b="0" i="0" dirty="0">
                <a:solidFill>
                  <a:srgbClr val="CA8D3D"/>
                </a:solidFill>
                <a:effectLst/>
                <a:latin typeface="Menlo"/>
              </a:rPr>
              <a:t>print</a:t>
            </a:r>
            <a:r>
              <a:rPr lang="en-US" sz="1900" b="0" i="0" dirty="0">
                <a:effectLst/>
                <a:latin typeface="Menlo"/>
              </a:rPr>
              <a:t>(value)</a:t>
            </a:r>
            <a:endParaRPr lang="ru-RU" sz="1900" b="0" i="0" dirty="0">
              <a:effectLst/>
              <a:latin typeface="Menlo"/>
            </a:endParaRPr>
          </a:p>
          <a:p>
            <a:pPr marL="0" indent="0" algn="just">
              <a:buNone/>
            </a:pPr>
            <a:r>
              <a:rPr lang="ru-RU" sz="1900" dirty="0">
                <a:solidFill>
                  <a:srgbClr val="5C6370"/>
                </a:solidFill>
                <a:latin typeface="Menlo"/>
              </a:rPr>
              <a:t>		</a:t>
            </a:r>
            <a:r>
              <a:rPr lang="en-US" sz="1900" b="0" i="1" dirty="0">
                <a:solidFill>
                  <a:srgbClr val="5C6370"/>
                </a:solidFill>
                <a:effectLst/>
                <a:latin typeface="Menlo"/>
              </a:rPr>
              <a:t># </a:t>
            </a:r>
            <a:r>
              <a:rPr lang="ru-RU" sz="1900" b="0" i="1" dirty="0">
                <a:solidFill>
                  <a:srgbClr val="5C6370"/>
                </a:solidFill>
                <a:effectLst/>
                <a:latin typeface="Menlo"/>
              </a:rPr>
              <a:t>Обратились к переменной </a:t>
            </a:r>
            <a:r>
              <a:rPr lang="en-US" sz="1900" b="0" i="1" dirty="0">
                <a:solidFill>
                  <a:srgbClr val="5C6370"/>
                </a:solidFill>
                <a:effectLst/>
                <a:latin typeface="Menlo"/>
              </a:rPr>
              <a:t>value. </a:t>
            </a:r>
            <a:r>
              <a:rPr lang="ru-RU" sz="1900" b="0" i="1" dirty="0">
                <a:solidFill>
                  <a:srgbClr val="5C6370"/>
                </a:solidFill>
                <a:effectLst/>
                <a:latin typeface="Menlo"/>
              </a:rPr>
              <a:t>Ищем это имя в локальном пространстве имён - 		нету! Ищем в ближайшем внешнем пространстве имён - нету! Ищем в 			глобальном пространстве имён. Нашли! Печатаем.</a:t>
            </a:r>
            <a:endParaRPr lang="ru-RU" sz="1900" dirty="0">
              <a:solidFill>
                <a:srgbClr val="5C6370"/>
              </a:solidFill>
              <a:latin typeface="Menlo"/>
            </a:endParaRPr>
          </a:p>
          <a:p>
            <a:pPr marL="0" indent="0" algn="just">
              <a:buNone/>
            </a:pPr>
            <a:r>
              <a:rPr lang="ru-RU" sz="1900" b="0" i="0" dirty="0">
                <a:solidFill>
                  <a:srgbClr val="5C6370"/>
                </a:solidFill>
                <a:effectLst/>
                <a:latin typeface="Menlo"/>
              </a:rPr>
              <a:t>	</a:t>
            </a:r>
            <a:r>
              <a:rPr lang="en-US" sz="1900" b="0" i="0" dirty="0" err="1">
                <a:effectLst/>
                <a:latin typeface="Menlo"/>
              </a:rPr>
              <a:t>inner_function</a:t>
            </a:r>
            <a:r>
              <a:rPr lang="en-US" sz="1900" b="0" i="0" dirty="0">
                <a:effectLst/>
                <a:latin typeface="Menlo"/>
              </a:rPr>
              <a:t>()</a:t>
            </a:r>
            <a:endParaRPr lang="ru-RU" sz="1900" b="0" i="0" dirty="0">
              <a:effectLst/>
              <a:latin typeface="Menlo"/>
            </a:endParaRPr>
          </a:p>
          <a:p>
            <a:pPr marL="0" indent="0" algn="just">
              <a:buNone/>
            </a:pPr>
            <a:r>
              <a:rPr lang="en-US" sz="1900" b="0" i="0" dirty="0" err="1">
                <a:effectLst/>
                <a:latin typeface="Menlo"/>
              </a:rPr>
              <a:t>outer_function</a:t>
            </a:r>
            <a:r>
              <a:rPr lang="en-US" sz="1900" b="0" i="0" dirty="0">
                <a:effectLst/>
                <a:latin typeface="Menlo"/>
              </a:rPr>
              <a:t>()</a:t>
            </a:r>
            <a:endParaRPr lang="ru-RU" sz="1900" b="0" i="0" dirty="0">
              <a:effectLst/>
              <a:latin typeface="Menlo"/>
            </a:endParaRPr>
          </a:p>
          <a:p>
            <a:pPr marL="0" indent="0" algn="just">
              <a:buNone/>
            </a:pPr>
            <a:r>
              <a:rPr lang="en-US" sz="1900" b="0" i="1" dirty="0">
                <a:solidFill>
                  <a:srgbClr val="5C6370"/>
                </a:solidFill>
                <a:effectLst/>
                <a:latin typeface="Menlo"/>
              </a:rPr>
              <a:t># </a:t>
            </a:r>
            <a:r>
              <a:rPr lang="ru-RU" sz="1900" b="0" i="1" dirty="0">
                <a:solidFill>
                  <a:srgbClr val="5C6370"/>
                </a:solidFill>
                <a:effectLst/>
                <a:latin typeface="Menlo"/>
              </a:rPr>
              <a:t>Будет напечатано:</a:t>
            </a:r>
            <a:endParaRPr lang="ru-RU" sz="1900" dirty="0">
              <a:solidFill>
                <a:srgbClr val="5C6370"/>
              </a:solidFill>
              <a:latin typeface="Menlo"/>
            </a:endParaRPr>
          </a:p>
          <a:p>
            <a:pPr marL="0" indent="0" algn="just">
              <a:buNone/>
            </a:pPr>
            <a:r>
              <a:rPr lang="ru-RU" sz="1900" b="0" i="1" dirty="0">
                <a:solidFill>
                  <a:srgbClr val="5C6370"/>
                </a:solidFill>
                <a:effectLst/>
                <a:latin typeface="Menlo"/>
              </a:rPr>
              <a:t># Глобальная </a:t>
            </a:r>
            <a:r>
              <a:rPr lang="en-US" sz="1900" b="0" i="1" dirty="0">
                <a:solidFill>
                  <a:srgbClr val="5C6370"/>
                </a:solidFill>
                <a:effectLst/>
                <a:latin typeface="Menlo"/>
              </a:rPr>
              <a:t>value</a:t>
            </a:r>
            <a:endParaRPr lang="ru-RU" i="1" dirty="0">
              <a:latin typeface="YS Text"/>
            </a:endParaRPr>
          </a:p>
        </p:txBody>
      </p:sp>
    </p:spTree>
    <p:extLst>
      <p:ext uri="{BB962C8B-B14F-4D97-AF65-F5344CB8AC3E}">
        <p14:creationId xmlns:p14="http://schemas.microsoft.com/office/powerpoint/2010/main" val="15933789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Встроенная область видимости</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809296"/>
            <a:ext cx="10936304" cy="5859517"/>
          </a:xfrm>
        </p:spPr>
        <p:txBody>
          <a:bodyPr/>
          <a:lstStyle/>
          <a:p>
            <a:pPr marL="0" indent="0" algn="just">
              <a:buNone/>
            </a:pPr>
            <a:r>
              <a:rPr lang="ru-RU" dirty="0">
                <a:latin typeface="YS Text"/>
              </a:rPr>
              <a:t>Встроенная. Если интерпретатор так и не нашёл переменную, он продолжит поиск во встроенном пространстве имён.</a:t>
            </a:r>
          </a:p>
          <a:p>
            <a:pPr marL="0" indent="0" algn="just">
              <a:buNone/>
            </a:pPr>
            <a:r>
              <a:rPr lang="ru-RU" dirty="0">
                <a:latin typeface="YS Text"/>
              </a:rPr>
              <a:t>Если интерпретатор не найдёт имя и во встроенном пространстве имён, будет вызвано исключение </a:t>
            </a:r>
            <a:r>
              <a:rPr lang="ru-RU" b="1" dirty="0" err="1">
                <a:latin typeface="YS Text"/>
              </a:rPr>
              <a:t>NameError</a:t>
            </a:r>
            <a:r>
              <a:rPr lang="ru-RU" dirty="0">
                <a:latin typeface="YS Text"/>
              </a:rPr>
              <a:t>.</a:t>
            </a:r>
          </a:p>
          <a:p>
            <a:pPr marL="0" indent="0" algn="just">
              <a:buNone/>
            </a:pPr>
            <a:r>
              <a:rPr lang="ru-RU" dirty="0">
                <a:latin typeface="YS Text"/>
              </a:rPr>
              <a:t>Эта последовательность поиска реализует правила областей видимости </a:t>
            </a:r>
            <a:r>
              <a:rPr lang="ru-RU" b="1" dirty="0">
                <a:latin typeface="YS Text"/>
              </a:rPr>
              <a:t>LEGB</a:t>
            </a:r>
            <a:r>
              <a:rPr lang="ru-RU" dirty="0">
                <a:latin typeface="YS Text"/>
              </a:rPr>
              <a:t> (Local, </a:t>
            </a:r>
            <a:r>
              <a:rPr lang="ru-RU" dirty="0" err="1">
                <a:latin typeface="YS Text"/>
              </a:rPr>
              <a:t>Enclosing</a:t>
            </a:r>
            <a:r>
              <a:rPr lang="ru-RU" dirty="0">
                <a:latin typeface="YS Text"/>
              </a:rPr>
              <a:t>, Global, </a:t>
            </a:r>
            <a:r>
              <a:rPr lang="ru-RU" dirty="0" err="1">
                <a:latin typeface="YS Text"/>
              </a:rPr>
              <a:t>Built-in</a:t>
            </a:r>
            <a:r>
              <a:rPr lang="ru-RU" dirty="0">
                <a:latin typeface="YS Text"/>
              </a:rPr>
              <a:t>). Поиск имени происходит в пространствах имён, но какие именно пространства имён будут проверены — зависит от текущей области видимости в соответствии с правилом LEGB.</a:t>
            </a:r>
            <a:endParaRPr lang="ru-RU" i="1" dirty="0">
              <a:latin typeface="YS Text"/>
            </a:endParaRPr>
          </a:p>
        </p:txBody>
      </p:sp>
    </p:spTree>
    <p:extLst>
      <p:ext uri="{BB962C8B-B14F-4D97-AF65-F5344CB8AC3E}">
        <p14:creationId xmlns:p14="http://schemas.microsoft.com/office/powerpoint/2010/main" val="4106831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Инструкция </a:t>
            </a:r>
            <a:r>
              <a:rPr lang="en-US" sz="4900" b="1" dirty="0">
                <a:effectLst/>
                <a:latin typeface="YS Text"/>
              </a:rPr>
              <a:t>global</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В любом локальном пространстве </a:t>
            </a:r>
            <a:r>
              <a:rPr lang="ru-RU" dirty="0" err="1">
                <a:latin typeface="YS Text"/>
              </a:rPr>
              <a:t>можено</a:t>
            </a:r>
            <a:r>
              <a:rPr lang="ru-RU" dirty="0">
                <a:latin typeface="YS Text"/>
              </a:rPr>
              <a:t> определить переменную как глобальную — для этого есть </a:t>
            </a:r>
            <a:r>
              <a:rPr lang="ru-RU" b="1" dirty="0">
                <a:latin typeface="YS Text"/>
              </a:rPr>
              <a:t>инструкция </a:t>
            </a:r>
            <a:r>
              <a:rPr lang="ru-RU" b="1" dirty="0" err="1">
                <a:latin typeface="YS Text"/>
              </a:rPr>
              <a:t>global</a:t>
            </a:r>
            <a:r>
              <a:rPr lang="ru-RU" dirty="0">
                <a:latin typeface="YS Text"/>
              </a:rPr>
              <a:t>. </a:t>
            </a:r>
          </a:p>
          <a:p>
            <a:pPr algn="just"/>
            <a:r>
              <a:rPr lang="ru-RU" dirty="0">
                <a:latin typeface="YS Text"/>
              </a:rPr>
              <a:t>Если же при запуске функции не существует глобальной переменной с именем, определённом в объявлении </a:t>
            </a:r>
            <a:r>
              <a:rPr lang="ru-RU" dirty="0" err="1">
                <a:latin typeface="YS Text"/>
              </a:rPr>
              <a:t>global</a:t>
            </a:r>
            <a:r>
              <a:rPr lang="ru-RU" dirty="0">
                <a:latin typeface="YS Text"/>
              </a:rPr>
              <a:t>, то инструкция </a:t>
            </a:r>
            <a:r>
              <a:rPr lang="ru-RU" dirty="0" err="1">
                <a:latin typeface="YS Text"/>
              </a:rPr>
              <a:t>global</a:t>
            </a:r>
            <a:r>
              <a:rPr lang="ru-RU" dirty="0">
                <a:latin typeface="YS Text"/>
              </a:rPr>
              <a:t> и операция присваивания создадут эту переменную в глобальном пространстве имён.</a:t>
            </a:r>
          </a:p>
          <a:p>
            <a:pPr algn="just"/>
            <a:r>
              <a:rPr lang="ru-RU" dirty="0">
                <a:latin typeface="YS Text"/>
              </a:rPr>
              <a:t>Обратиться к переменной, определённой через </a:t>
            </a:r>
            <a:r>
              <a:rPr lang="ru-RU" dirty="0" err="1">
                <a:latin typeface="YS Text"/>
              </a:rPr>
              <a:t>global</a:t>
            </a:r>
            <a:r>
              <a:rPr lang="ru-RU" dirty="0">
                <a:latin typeface="YS Text"/>
              </a:rPr>
              <a:t>, можно только после того, как она определена. Если же сначала обратиться к переменной, а потом объявить её глобальной, возникнет коллизия, и Python выбросит исключение:</a:t>
            </a:r>
          </a:p>
          <a:p>
            <a:pPr marL="0" indent="0" algn="just">
              <a:buNone/>
            </a:pPr>
            <a:r>
              <a:rPr lang="ru-RU" dirty="0" err="1">
                <a:latin typeface="YS Text"/>
              </a:rPr>
              <a:t>SyntaxError</a:t>
            </a:r>
            <a:r>
              <a:rPr lang="ru-RU" dirty="0">
                <a:latin typeface="YS Text"/>
              </a:rPr>
              <a:t>: </a:t>
            </a:r>
            <a:r>
              <a:rPr lang="ru-RU" dirty="0" err="1">
                <a:latin typeface="YS Text"/>
              </a:rPr>
              <a:t>name</a:t>
            </a:r>
            <a:r>
              <a:rPr lang="ru-RU" dirty="0">
                <a:latin typeface="YS Text"/>
              </a:rPr>
              <a:t> '</a:t>
            </a:r>
            <a:r>
              <a:rPr lang="ru-RU" dirty="0" err="1">
                <a:latin typeface="YS Text"/>
              </a:rPr>
              <a:t>my_var</a:t>
            </a:r>
            <a:r>
              <a:rPr lang="ru-RU" dirty="0">
                <a:latin typeface="YS Text"/>
              </a:rPr>
              <a:t>' </a:t>
            </a:r>
            <a:r>
              <a:rPr lang="ru-RU" dirty="0" err="1">
                <a:latin typeface="YS Text"/>
              </a:rPr>
              <a:t>is</a:t>
            </a:r>
            <a:r>
              <a:rPr lang="ru-RU" dirty="0">
                <a:latin typeface="YS Text"/>
              </a:rPr>
              <a:t> </a:t>
            </a:r>
            <a:r>
              <a:rPr lang="ru-RU" dirty="0" err="1">
                <a:latin typeface="YS Text"/>
              </a:rPr>
              <a:t>used</a:t>
            </a:r>
            <a:r>
              <a:rPr lang="ru-RU" dirty="0">
                <a:latin typeface="YS Text"/>
              </a:rPr>
              <a:t> </a:t>
            </a:r>
            <a:r>
              <a:rPr lang="ru-RU" dirty="0" err="1">
                <a:latin typeface="YS Text"/>
              </a:rPr>
              <a:t>prior</a:t>
            </a:r>
            <a:r>
              <a:rPr lang="ru-RU" dirty="0">
                <a:latin typeface="YS Text"/>
              </a:rPr>
              <a:t> </a:t>
            </a:r>
            <a:r>
              <a:rPr lang="ru-RU" dirty="0" err="1">
                <a:latin typeface="YS Text"/>
              </a:rPr>
              <a:t>to</a:t>
            </a:r>
            <a:r>
              <a:rPr lang="ru-RU" dirty="0">
                <a:latin typeface="YS Text"/>
              </a:rPr>
              <a:t> </a:t>
            </a:r>
            <a:r>
              <a:rPr lang="ru-RU" dirty="0" err="1">
                <a:latin typeface="YS Text"/>
              </a:rPr>
              <a:t>global</a:t>
            </a:r>
            <a:r>
              <a:rPr lang="ru-RU" dirty="0">
                <a:latin typeface="YS Text"/>
              </a:rPr>
              <a:t> </a:t>
            </a:r>
            <a:r>
              <a:rPr lang="ru-RU" dirty="0" err="1">
                <a:latin typeface="YS Text"/>
              </a:rPr>
              <a:t>declaration</a:t>
            </a:r>
            <a:endParaRPr lang="ru-RU" dirty="0">
              <a:latin typeface="YS Text"/>
            </a:endParaRPr>
          </a:p>
          <a:p>
            <a:pPr marL="0" indent="0" algn="just">
              <a:buNone/>
            </a:pPr>
            <a:endParaRPr lang="ru-RU" dirty="0">
              <a:latin typeface="YS Text"/>
            </a:endParaRPr>
          </a:p>
        </p:txBody>
      </p:sp>
    </p:spTree>
    <p:extLst>
      <p:ext uri="{BB962C8B-B14F-4D97-AF65-F5344CB8AC3E}">
        <p14:creationId xmlns:p14="http://schemas.microsoft.com/office/powerpoint/2010/main" val="183554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42041"/>
            <a:ext cx="10936304" cy="6626773"/>
          </a:xfrm>
        </p:spPr>
        <p:txBody>
          <a:bodyPr>
            <a:normAutofit lnSpcReduction="10000"/>
          </a:bodyPr>
          <a:lstStyle/>
          <a:p>
            <a:pPr marL="0" indent="0" algn="just">
              <a:buNone/>
            </a:pPr>
            <a:r>
              <a:rPr lang="en-US" sz="1800" b="1" dirty="0" err="1">
                <a:solidFill>
                  <a:srgbClr val="00B050"/>
                </a:solidFill>
                <a:latin typeface="YS Text"/>
              </a:rPr>
              <a:t>my_var</a:t>
            </a:r>
            <a:r>
              <a:rPr lang="en-US" sz="1800" b="1" dirty="0">
                <a:solidFill>
                  <a:srgbClr val="00B050"/>
                </a:solidFill>
                <a:latin typeface="YS Text"/>
              </a:rPr>
              <a:t> = 10</a:t>
            </a:r>
          </a:p>
          <a:p>
            <a:pPr marL="0" indent="0" algn="just">
              <a:buNone/>
            </a:pPr>
            <a:endParaRPr lang="en-US" sz="1800" dirty="0">
              <a:latin typeface="YS Text"/>
            </a:endParaRPr>
          </a:p>
          <a:p>
            <a:pPr marL="0" indent="0" algn="just">
              <a:buNone/>
            </a:pPr>
            <a:r>
              <a:rPr lang="en-US" sz="1800" b="1" dirty="0">
                <a:solidFill>
                  <a:srgbClr val="00B050"/>
                </a:solidFill>
                <a:latin typeface="YS Text"/>
              </a:rPr>
              <a:t>def </a:t>
            </a:r>
            <a:r>
              <a:rPr lang="en-US" sz="1800" b="1" dirty="0" err="1">
                <a:solidFill>
                  <a:srgbClr val="00B050"/>
                </a:solidFill>
                <a:latin typeface="YS Text"/>
              </a:rPr>
              <a:t>my_function</a:t>
            </a:r>
            <a:r>
              <a:rPr lang="en-US" sz="1800" b="1" dirty="0">
                <a:solidFill>
                  <a:srgbClr val="00B050"/>
                </a:solidFill>
                <a:latin typeface="YS Text"/>
              </a:rPr>
              <a:t>():</a:t>
            </a:r>
          </a:p>
          <a:p>
            <a:pPr marL="0" indent="0" algn="just">
              <a:buNone/>
            </a:pPr>
            <a:r>
              <a:rPr lang="en-US" sz="1800" dirty="0">
                <a:latin typeface="YS Text"/>
              </a:rPr>
              <a:t>    # </a:t>
            </a:r>
            <a:r>
              <a:rPr lang="ru-RU" sz="1800" dirty="0">
                <a:latin typeface="YS Text"/>
              </a:rPr>
              <a:t>Описываем переменную как глобальную...</a:t>
            </a:r>
          </a:p>
          <a:p>
            <a:pPr marL="0" indent="0" algn="just">
              <a:buNone/>
            </a:pPr>
            <a:r>
              <a:rPr lang="ru-RU" sz="1800" dirty="0">
                <a:latin typeface="YS Text"/>
              </a:rPr>
              <a:t>    </a:t>
            </a:r>
            <a:r>
              <a:rPr lang="en-US" sz="1800" b="1" dirty="0">
                <a:solidFill>
                  <a:srgbClr val="00B050"/>
                </a:solidFill>
                <a:latin typeface="YS Text"/>
              </a:rPr>
              <a:t>global </a:t>
            </a:r>
            <a:r>
              <a:rPr lang="en-US" sz="1800" b="1" dirty="0" err="1">
                <a:solidFill>
                  <a:srgbClr val="00B050"/>
                </a:solidFill>
                <a:latin typeface="YS Text"/>
              </a:rPr>
              <a:t>my_var</a:t>
            </a:r>
            <a:endParaRPr lang="en-US" sz="1800" b="1" dirty="0">
              <a:solidFill>
                <a:srgbClr val="00B050"/>
              </a:solidFill>
              <a:latin typeface="YS Text"/>
            </a:endParaRPr>
          </a:p>
          <a:p>
            <a:pPr marL="0" indent="0" algn="just">
              <a:buNone/>
            </a:pPr>
            <a:r>
              <a:rPr lang="en-US" sz="1800" dirty="0">
                <a:latin typeface="YS Text"/>
              </a:rPr>
              <a:t>    # </a:t>
            </a:r>
            <a:r>
              <a:rPr lang="ru-RU" sz="1800" dirty="0">
                <a:latin typeface="YS Text"/>
              </a:rPr>
              <a:t>Теперь глобальную переменную можно обрабатывать прямо внутри функции,</a:t>
            </a:r>
          </a:p>
          <a:p>
            <a:pPr marL="0" indent="0" algn="just">
              <a:buNone/>
            </a:pPr>
            <a:r>
              <a:rPr lang="ru-RU" sz="1800" dirty="0">
                <a:latin typeface="YS Text"/>
              </a:rPr>
              <a:t>    # например - переопределить:</a:t>
            </a:r>
          </a:p>
          <a:p>
            <a:pPr marL="0" indent="0" algn="just">
              <a:buNone/>
            </a:pPr>
            <a:r>
              <a:rPr lang="ru-RU" sz="1800" dirty="0">
                <a:latin typeface="YS Text"/>
              </a:rPr>
              <a:t>    </a:t>
            </a:r>
            <a:r>
              <a:rPr lang="en-US" sz="1800" b="1" dirty="0" err="1">
                <a:solidFill>
                  <a:srgbClr val="00B050"/>
                </a:solidFill>
                <a:latin typeface="YS Text"/>
              </a:rPr>
              <a:t>my_var</a:t>
            </a:r>
            <a:r>
              <a:rPr lang="en-US" sz="1800" b="1" dirty="0">
                <a:solidFill>
                  <a:srgbClr val="00B050"/>
                </a:solidFill>
                <a:latin typeface="YS Text"/>
              </a:rPr>
              <a:t> = 5</a:t>
            </a:r>
          </a:p>
          <a:p>
            <a:pPr marL="0" indent="0" algn="just">
              <a:buNone/>
            </a:pPr>
            <a:r>
              <a:rPr lang="en-US" sz="1800" dirty="0">
                <a:latin typeface="YS Text"/>
              </a:rPr>
              <a:t>    </a:t>
            </a:r>
            <a:r>
              <a:rPr lang="en-US" sz="1800" b="1" dirty="0">
                <a:solidFill>
                  <a:srgbClr val="00B050"/>
                </a:solidFill>
                <a:latin typeface="YS Text"/>
              </a:rPr>
              <a:t>print('</a:t>
            </a:r>
            <a:r>
              <a:rPr lang="ru-RU" sz="1800" b="1" dirty="0">
                <a:solidFill>
                  <a:srgbClr val="00B050"/>
                </a:solidFill>
                <a:latin typeface="YS Text"/>
              </a:rPr>
              <a:t>Внутри функции:', </a:t>
            </a:r>
            <a:r>
              <a:rPr lang="en-US" sz="1800" b="1" dirty="0" err="1">
                <a:solidFill>
                  <a:srgbClr val="00B050"/>
                </a:solidFill>
                <a:latin typeface="YS Text"/>
              </a:rPr>
              <a:t>my_var</a:t>
            </a:r>
            <a:r>
              <a:rPr lang="en-US" sz="1800" b="1" dirty="0">
                <a:solidFill>
                  <a:srgbClr val="00B050"/>
                </a:solidFill>
                <a:latin typeface="YS Text"/>
              </a:rPr>
              <a:t>)</a:t>
            </a:r>
          </a:p>
          <a:p>
            <a:pPr marL="0" indent="0" algn="just">
              <a:buNone/>
            </a:pPr>
            <a:r>
              <a:rPr lang="en-US" sz="1800" dirty="0">
                <a:latin typeface="YS Text"/>
              </a:rPr>
              <a:t>    # ...</a:t>
            </a:r>
            <a:r>
              <a:rPr lang="ru-RU" sz="1800" dirty="0">
                <a:latin typeface="YS Text"/>
              </a:rPr>
              <a:t>и снова переопределить:</a:t>
            </a:r>
          </a:p>
          <a:p>
            <a:pPr marL="0" indent="0" algn="just">
              <a:buNone/>
            </a:pPr>
            <a:r>
              <a:rPr lang="ru-RU" sz="1800" dirty="0">
                <a:latin typeface="YS Text"/>
              </a:rPr>
              <a:t>    </a:t>
            </a:r>
            <a:r>
              <a:rPr lang="en-US" sz="1800" b="1" dirty="0" err="1">
                <a:solidFill>
                  <a:srgbClr val="00B050"/>
                </a:solidFill>
                <a:latin typeface="YS Text"/>
              </a:rPr>
              <a:t>my_var</a:t>
            </a:r>
            <a:r>
              <a:rPr lang="en-US" sz="1800" b="1" dirty="0">
                <a:solidFill>
                  <a:srgbClr val="00B050"/>
                </a:solidFill>
                <a:latin typeface="YS Text"/>
              </a:rPr>
              <a:t> += 95</a:t>
            </a:r>
          </a:p>
          <a:p>
            <a:pPr marL="0" indent="0" algn="just">
              <a:buNone/>
            </a:pPr>
            <a:r>
              <a:rPr lang="en-US" sz="1800" dirty="0">
                <a:latin typeface="YS Text"/>
              </a:rPr>
              <a:t>    </a:t>
            </a:r>
            <a:r>
              <a:rPr lang="en-US" sz="1800" b="1" dirty="0">
                <a:solidFill>
                  <a:srgbClr val="00B050"/>
                </a:solidFill>
                <a:latin typeface="YS Text"/>
              </a:rPr>
              <a:t>print('</a:t>
            </a:r>
            <a:r>
              <a:rPr lang="ru-RU" sz="1800" b="1" dirty="0">
                <a:solidFill>
                  <a:srgbClr val="00B050"/>
                </a:solidFill>
                <a:latin typeface="YS Text"/>
              </a:rPr>
              <a:t>Внутри функции после изменений:', </a:t>
            </a:r>
            <a:r>
              <a:rPr lang="en-US" sz="1800" b="1" dirty="0" err="1">
                <a:solidFill>
                  <a:srgbClr val="00B050"/>
                </a:solidFill>
                <a:latin typeface="YS Text"/>
              </a:rPr>
              <a:t>my_var</a:t>
            </a:r>
            <a:r>
              <a:rPr lang="en-US" sz="1800" b="1" dirty="0">
                <a:solidFill>
                  <a:srgbClr val="00B050"/>
                </a:solidFill>
                <a:latin typeface="YS Text"/>
              </a:rPr>
              <a:t>)</a:t>
            </a:r>
          </a:p>
          <a:p>
            <a:pPr marL="0" indent="0" algn="just">
              <a:buNone/>
            </a:pPr>
            <a:endParaRPr lang="en-US" sz="1800" dirty="0">
              <a:latin typeface="YS Text"/>
            </a:endParaRPr>
          </a:p>
          <a:p>
            <a:pPr marL="0" indent="0" algn="just">
              <a:buNone/>
            </a:pPr>
            <a:r>
              <a:rPr lang="en-US" sz="1800" b="1" dirty="0" err="1">
                <a:solidFill>
                  <a:srgbClr val="00B050"/>
                </a:solidFill>
                <a:latin typeface="YS Text"/>
              </a:rPr>
              <a:t>my_function</a:t>
            </a:r>
            <a:r>
              <a:rPr lang="en-US" sz="1800" b="1" dirty="0">
                <a:solidFill>
                  <a:srgbClr val="00B050"/>
                </a:solidFill>
                <a:latin typeface="YS Text"/>
              </a:rPr>
              <a:t>()</a:t>
            </a:r>
          </a:p>
          <a:p>
            <a:pPr marL="0" indent="0" algn="just">
              <a:buNone/>
            </a:pPr>
            <a:r>
              <a:rPr lang="en-US" sz="1800" b="1" dirty="0">
                <a:solidFill>
                  <a:srgbClr val="00B050"/>
                </a:solidFill>
                <a:latin typeface="YS Text"/>
              </a:rPr>
              <a:t>print('</a:t>
            </a:r>
            <a:r>
              <a:rPr lang="ru-RU" sz="1800" b="1" dirty="0">
                <a:solidFill>
                  <a:srgbClr val="00B050"/>
                </a:solidFill>
                <a:latin typeface="YS Text"/>
              </a:rPr>
              <a:t>Снаружи функции:', </a:t>
            </a:r>
            <a:r>
              <a:rPr lang="en-US" sz="1800" b="1" dirty="0" err="1">
                <a:solidFill>
                  <a:srgbClr val="00B050"/>
                </a:solidFill>
                <a:latin typeface="YS Text"/>
              </a:rPr>
              <a:t>my_var</a:t>
            </a:r>
            <a:r>
              <a:rPr lang="en-US" sz="1800" b="1" dirty="0">
                <a:solidFill>
                  <a:srgbClr val="00B050"/>
                </a:solidFill>
                <a:latin typeface="YS Text"/>
              </a:rPr>
              <a:t>)</a:t>
            </a:r>
            <a:endParaRPr lang="ru-RU" sz="1800" b="1" dirty="0">
              <a:solidFill>
                <a:srgbClr val="00B050"/>
              </a:solidFill>
              <a:latin typeface="YS Text"/>
            </a:endParaRPr>
          </a:p>
          <a:p>
            <a:pPr marL="0" indent="0" algn="just">
              <a:buNone/>
            </a:pPr>
            <a:r>
              <a:rPr lang="ru-RU" sz="1800" dirty="0">
                <a:solidFill>
                  <a:schemeClr val="tx1"/>
                </a:solidFill>
                <a:latin typeface="YS Text"/>
              </a:rPr>
              <a:t>Переменная </a:t>
            </a:r>
            <a:r>
              <a:rPr lang="ru-RU" sz="1800" b="1" dirty="0" err="1">
                <a:solidFill>
                  <a:schemeClr val="tx1"/>
                </a:solidFill>
                <a:latin typeface="YS Text"/>
              </a:rPr>
              <a:t>my_var</a:t>
            </a:r>
            <a:r>
              <a:rPr lang="ru-RU" sz="1800" b="1" dirty="0">
                <a:solidFill>
                  <a:schemeClr val="tx1"/>
                </a:solidFill>
                <a:latin typeface="YS Text"/>
              </a:rPr>
              <a:t> </a:t>
            </a:r>
            <a:r>
              <a:rPr lang="ru-RU" sz="1800" dirty="0">
                <a:solidFill>
                  <a:schemeClr val="tx1"/>
                </a:solidFill>
                <a:latin typeface="YS Text"/>
              </a:rPr>
              <a:t>в теле функции </a:t>
            </a:r>
            <a:r>
              <a:rPr lang="ru-RU" sz="1800" b="1" dirty="0" err="1">
                <a:solidFill>
                  <a:schemeClr val="tx1"/>
                </a:solidFill>
                <a:latin typeface="YS Text"/>
              </a:rPr>
              <a:t>my_function</a:t>
            </a:r>
            <a:r>
              <a:rPr lang="ru-RU" sz="1800" b="1" dirty="0">
                <a:solidFill>
                  <a:schemeClr val="tx1"/>
                </a:solidFill>
                <a:latin typeface="YS Text"/>
              </a:rPr>
              <a:t>() </a:t>
            </a:r>
            <a:r>
              <a:rPr lang="ru-RU" sz="1800" dirty="0">
                <a:solidFill>
                  <a:schemeClr val="tx1"/>
                </a:solidFill>
                <a:latin typeface="YS Text"/>
              </a:rPr>
              <a:t>будет ссылаться на глобальную переменную </a:t>
            </a:r>
            <a:r>
              <a:rPr lang="ru-RU" sz="1800" b="1" dirty="0" err="1">
                <a:solidFill>
                  <a:schemeClr val="tx1"/>
                </a:solidFill>
                <a:latin typeface="YS Text"/>
              </a:rPr>
              <a:t>my_var</a:t>
            </a:r>
            <a:r>
              <a:rPr lang="ru-RU" sz="1800" dirty="0">
                <a:solidFill>
                  <a:schemeClr val="tx1"/>
                </a:solidFill>
                <a:latin typeface="YS Text"/>
              </a:rPr>
              <a:t>. Следовательно, выражение </a:t>
            </a:r>
            <a:r>
              <a:rPr lang="ru-RU" sz="1800" b="1" dirty="0" err="1">
                <a:solidFill>
                  <a:schemeClr val="tx1"/>
                </a:solidFill>
                <a:latin typeface="YS Text"/>
              </a:rPr>
              <a:t>my_var</a:t>
            </a:r>
            <a:r>
              <a:rPr lang="ru-RU" sz="1800" b="1" dirty="0">
                <a:solidFill>
                  <a:schemeClr val="tx1"/>
                </a:solidFill>
                <a:latin typeface="YS Text"/>
              </a:rPr>
              <a:t> </a:t>
            </a:r>
            <a:r>
              <a:rPr lang="ru-RU" sz="1800" dirty="0">
                <a:solidFill>
                  <a:schemeClr val="tx1"/>
                </a:solidFill>
                <a:latin typeface="YS Text"/>
              </a:rPr>
              <a:t>= 5 не создаст новую переменную в локальном пространстве имён, а присвоит новое значение переменной </a:t>
            </a:r>
            <a:r>
              <a:rPr lang="ru-RU" sz="1800" b="1" dirty="0" err="1">
                <a:solidFill>
                  <a:schemeClr val="tx1"/>
                </a:solidFill>
                <a:latin typeface="YS Text"/>
              </a:rPr>
              <a:t>my_var</a:t>
            </a:r>
            <a:r>
              <a:rPr lang="ru-RU" sz="1800" b="1" dirty="0">
                <a:solidFill>
                  <a:schemeClr val="tx1"/>
                </a:solidFill>
                <a:latin typeface="YS Text"/>
              </a:rPr>
              <a:t> </a:t>
            </a:r>
            <a:r>
              <a:rPr lang="ru-RU" sz="1800" dirty="0">
                <a:solidFill>
                  <a:schemeClr val="tx1"/>
                </a:solidFill>
                <a:latin typeface="YS Text"/>
              </a:rPr>
              <a:t>в глобальном пространстве имён.</a:t>
            </a:r>
          </a:p>
        </p:txBody>
      </p:sp>
    </p:spTree>
    <p:extLst>
      <p:ext uri="{BB962C8B-B14F-4D97-AF65-F5344CB8AC3E}">
        <p14:creationId xmlns:p14="http://schemas.microsoft.com/office/powerpoint/2010/main" val="1328359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Инструкция </a:t>
            </a:r>
            <a:r>
              <a:rPr lang="en-US" sz="4900" b="1" dirty="0">
                <a:effectLst/>
                <a:latin typeface="YS Text"/>
              </a:rPr>
              <a:t>nonlocal</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dirty="0">
                <a:latin typeface="YS Text"/>
              </a:rPr>
              <a:t>Инструкция </a:t>
            </a:r>
            <a:r>
              <a:rPr lang="ru-RU" dirty="0" err="1">
                <a:latin typeface="YS Text"/>
              </a:rPr>
              <a:t>global</a:t>
            </a:r>
            <a:r>
              <a:rPr lang="ru-RU" dirty="0">
                <a:latin typeface="YS Text"/>
              </a:rPr>
              <a:t> не поможет «дотянуться» из тела функции </a:t>
            </a:r>
            <a:r>
              <a:rPr lang="ru-RU" dirty="0" err="1">
                <a:latin typeface="YS Text"/>
              </a:rPr>
              <a:t>inner_function</a:t>
            </a:r>
            <a:r>
              <a:rPr lang="ru-RU" dirty="0">
                <a:latin typeface="YS Text"/>
              </a:rPr>
              <a:t>() до переменной, объявленной в </a:t>
            </a:r>
            <a:r>
              <a:rPr lang="ru-RU" dirty="0" err="1">
                <a:latin typeface="YS Text"/>
              </a:rPr>
              <a:t>outer_function</a:t>
            </a:r>
            <a:r>
              <a:rPr lang="ru-RU" dirty="0">
                <a:latin typeface="YS Text"/>
              </a:rPr>
              <a:t>():</a:t>
            </a: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endParaRPr lang="ru-RU" i="1" dirty="0">
              <a:latin typeface="YS Text"/>
            </a:endParaRPr>
          </a:p>
          <a:p>
            <a:pPr marL="0" indent="0" algn="just">
              <a:buNone/>
            </a:pPr>
            <a:r>
              <a:rPr lang="ru-RU" dirty="0">
                <a:latin typeface="YS Text"/>
              </a:rPr>
              <a:t>Обратиться к имени во внешней области можно при помощи </a:t>
            </a:r>
            <a:r>
              <a:rPr lang="ru-RU" b="1" dirty="0">
                <a:latin typeface="YS Text"/>
              </a:rPr>
              <a:t>ключевого слова </a:t>
            </a:r>
            <a:r>
              <a:rPr lang="ru-RU" b="1" dirty="0" err="1">
                <a:latin typeface="YS Text"/>
              </a:rPr>
              <a:t>nonlocal</a:t>
            </a:r>
            <a:r>
              <a:rPr lang="ru-RU" dirty="0">
                <a:latin typeface="YS Text"/>
              </a:rPr>
              <a:t>. Переменные, определённые после </a:t>
            </a:r>
            <a:r>
              <a:rPr lang="ru-RU" dirty="0" err="1">
                <a:latin typeface="YS Text"/>
              </a:rPr>
              <a:t>nonlocal</a:t>
            </a:r>
            <a:r>
              <a:rPr lang="ru-RU" dirty="0">
                <a:latin typeface="YS Text"/>
              </a:rPr>
              <a:t>, ссылаются на переменные в пространстве имён </a:t>
            </a:r>
            <a:r>
              <a:rPr lang="ru-RU" b="1" dirty="0">
                <a:latin typeface="YS Text"/>
              </a:rPr>
              <a:t>в ближайшей внешней области видимости</a:t>
            </a:r>
            <a:r>
              <a:rPr lang="ru-RU" dirty="0">
                <a:latin typeface="YS Text"/>
              </a:rPr>
              <a:t>.</a:t>
            </a:r>
          </a:p>
        </p:txBody>
      </p:sp>
      <p:pic>
        <p:nvPicPr>
          <p:cNvPr id="3" name="Рисунок 2">
            <a:extLst>
              <a:ext uri="{FF2B5EF4-FFF2-40B4-BE49-F238E27FC236}">
                <a16:creationId xmlns:a16="http://schemas.microsoft.com/office/drawing/2014/main" id="{EA5209BD-CDB7-7995-4635-34FBCDF3BC2A}"/>
              </a:ext>
            </a:extLst>
          </p:cNvPr>
          <p:cNvPicPr>
            <a:picLocks noChangeAspect="1"/>
          </p:cNvPicPr>
          <p:nvPr/>
        </p:nvPicPr>
        <p:blipFill>
          <a:blip r:embed="rId2"/>
          <a:srcRect l="7026" t="7435" r="3879" b="10412"/>
          <a:stretch/>
        </p:blipFill>
        <p:spPr>
          <a:xfrm>
            <a:off x="2927130" y="1362934"/>
            <a:ext cx="7872249" cy="3781879"/>
          </a:xfrm>
          <a:prstGeom prst="rect">
            <a:avLst/>
          </a:prstGeom>
        </p:spPr>
      </p:pic>
    </p:spTree>
    <p:extLst>
      <p:ext uri="{BB962C8B-B14F-4D97-AF65-F5344CB8AC3E}">
        <p14:creationId xmlns:p14="http://schemas.microsoft.com/office/powerpoint/2010/main" val="34649622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8828"/>
            <a:ext cx="10936304" cy="6589986"/>
          </a:xfrm>
        </p:spPr>
        <p:txBody>
          <a:bodyPr>
            <a:normAutofit/>
          </a:bodyPr>
          <a:lstStyle/>
          <a:p>
            <a:pPr marL="0" indent="0" algn="just">
              <a:buNone/>
            </a:pPr>
            <a:r>
              <a:rPr lang="en-US" sz="1600" dirty="0">
                <a:solidFill>
                  <a:srgbClr val="00B050"/>
                </a:solidFill>
                <a:latin typeface="YS Text"/>
              </a:rPr>
              <a:t>def </a:t>
            </a:r>
            <a:r>
              <a:rPr lang="en-US" sz="1600" dirty="0" err="1">
                <a:solidFill>
                  <a:srgbClr val="00B050"/>
                </a:solidFill>
                <a:latin typeface="YS Text"/>
              </a:rPr>
              <a:t>outer_function</a:t>
            </a:r>
            <a:r>
              <a:rPr lang="en-US" sz="1600" dirty="0">
                <a:solidFill>
                  <a:srgbClr val="00B050"/>
                </a:solidFill>
                <a:latin typeface="YS Text"/>
              </a:rPr>
              <a:t>():</a:t>
            </a:r>
          </a:p>
          <a:p>
            <a:pPr marL="0" indent="0" algn="just">
              <a:buNone/>
            </a:pPr>
            <a:r>
              <a:rPr lang="en-US" sz="1600" dirty="0">
                <a:solidFill>
                  <a:srgbClr val="00B050"/>
                </a:solidFill>
                <a:latin typeface="YS Text"/>
              </a:rPr>
              <a:t>    value = 10</a:t>
            </a:r>
          </a:p>
          <a:p>
            <a:pPr marL="0" indent="0" algn="just">
              <a:buNone/>
            </a:pPr>
            <a:endParaRPr lang="en-US" sz="1600" dirty="0">
              <a:solidFill>
                <a:srgbClr val="00B050"/>
              </a:solidFill>
              <a:latin typeface="YS Text"/>
            </a:endParaRPr>
          </a:p>
          <a:p>
            <a:pPr marL="0" indent="0" algn="just">
              <a:buNone/>
            </a:pPr>
            <a:r>
              <a:rPr lang="en-US" sz="1600" dirty="0">
                <a:solidFill>
                  <a:srgbClr val="00B050"/>
                </a:solidFill>
                <a:latin typeface="YS Text"/>
              </a:rPr>
              <a:t>    def </a:t>
            </a:r>
            <a:r>
              <a:rPr lang="en-US" sz="1600" dirty="0" err="1">
                <a:solidFill>
                  <a:srgbClr val="00B050"/>
                </a:solidFill>
                <a:latin typeface="YS Text"/>
              </a:rPr>
              <a:t>inner_function</a:t>
            </a:r>
            <a:r>
              <a:rPr lang="en-US" sz="1600" dirty="0">
                <a:solidFill>
                  <a:srgbClr val="00B050"/>
                </a:solidFill>
                <a:latin typeface="YS Text"/>
              </a:rPr>
              <a:t>():</a:t>
            </a:r>
          </a:p>
          <a:p>
            <a:pPr marL="0" indent="0" algn="just">
              <a:buNone/>
            </a:pPr>
            <a:r>
              <a:rPr lang="en-US" sz="1600" dirty="0">
                <a:solidFill>
                  <a:srgbClr val="00B050"/>
                </a:solidFill>
                <a:latin typeface="YS Text"/>
              </a:rPr>
              <a:t>        nonlocal value</a:t>
            </a:r>
          </a:p>
          <a:p>
            <a:pPr marL="0" indent="0" algn="just">
              <a:buNone/>
            </a:pPr>
            <a:r>
              <a:rPr lang="en-US" sz="1600" dirty="0">
                <a:solidFill>
                  <a:srgbClr val="00B050"/>
                </a:solidFill>
                <a:latin typeface="YS Text"/>
              </a:rPr>
              <a:t>        value = 20</a:t>
            </a:r>
          </a:p>
          <a:p>
            <a:pPr marL="0" indent="0" algn="just">
              <a:buNone/>
            </a:pPr>
            <a:endParaRPr lang="en-US" sz="1600" dirty="0">
              <a:solidFill>
                <a:srgbClr val="00B050"/>
              </a:solidFill>
              <a:latin typeface="YS Text"/>
            </a:endParaRPr>
          </a:p>
          <a:p>
            <a:pPr marL="0" indent="0" algn="just">
              <a:buNone/>
            </a:pPr>
            <a:r>
              <a:rPr lang="en-US" sz="1600" dirty="0">
                <a:solidFill>
                  <a:srgbClr val="00B050"/>
                </a:solidFill>
                <a:latin typeface="YS Text"/>
              </a:rPr>
              <a:t>    </a:t>
            </a:r>
            <a:r>
              <a:rPr lang="en-US" sz="1600" dirty="0" err="1">
                <a:solidFill>
                  <a:srgbClr val="00B050"/>
                </a:solidFill>
                <a:latin typeface="YS Text"/>
              </a:rPr>
              <a:t>inner_function</a:t>
            </a:r>
            <a:r>
              <a:rPr lang="en-US" sz="1600" dirty="0">
                <a:solidFill>
                  <a:srgbClr val="00B050"/>
                </a:solidFill>
                <a:latin typeface="YS Text"/>
              </a:rPr>
              <a:t>()</a:t>
            </a:r>
          </a:p>
          <a:p>
            <a:pPr marL="0" indent="0" algn="just">
              <a:buNone/>
            </a:pPr>
            <a:r>
              <a:rPr lang="en-US" sz="1600" dirty="0">
                <a:solidFill>
                  <a:srgbClr val="00B050"/>
                </a:solidFill>
                <a:latin typeface="YS Text"/>
              </a:rPr>
              <a:t>    print(value)</a:t>
            </a:r>
          </a:p>
          <a:p>
            <a:pPr marL="0" indent="0" algn="just">
              <a:buNone/>
            </a:pPr>
            <a:endParaRPr lang="en-US" sz="1600" dirty="0">
              <a:solidFill>
                <a:srgbClr val="00B050"/>
              </a:solidFill>
              <a:latin typeface="YS Text"/>
            </a:endParaRPr>
          </a:p>
          <a:p>
            <a:pPr marL="0" indent="0" algn="just">
              <a:buNone/>
            </a:pPr>
            <a:r>
              <a:rPr lang="en-US" sz="1600" dirty="0">
                <a:solidFill>
                  <a:srgbClr val="00B050"/>
                </a:solidFill>
                <a:latin typeface="YS Text"/>
              </a:rPr>
              <a:t>    </a:t>
            </a:r>
          </a:p>
          <a:p>
            <a:pPr marL="0" indent="0" algn="just">
              <a:buNone/>
            </a:pPr>
            <a:r>
              <a:rPr lang="en-US" sz="1600" dirty="0" err="1">
                <a:solidFill>
                  <a:srgbClr val="00B050"/>
                </a:solidFill>
                <a:latin typeface="YS Text"/>
              </a:rPr>
              <a:t>outer_function</a:t>
            </a:r>
            <a:r>
              <a:rPr lang="en-US" sz="1600" dirty="0">
                <a:solidFill>
                  <a:srgbClr val="00B050"/>
                </a:solidFill>
                <a:latin typeface="YS Text"/>
              </a:rPr>
              <a:t>()</a:t>
            </a:r>
          </a:p>
          <a:p>
            <a:pPr marL="0" indent="0" algn="just">
              <a:buNone/>
            </a:pPr>
            <a:endParaRPr lang="en-US" sz="1600" dirty="0">
              <a:solidFill>
                <a:srgbClr val="00B050"/>
              </a:solidFill>
              <a:latin typeface="YS Text"/>
            </a:endParaRPr>
          </a:p>
          <a:p>
            <a:pPr marL="0" indent="0" algn="just">
              <a:buNone/>
            </a:pPr>
            <a:r>
              <a:rPr lang="en-US" sz="1600" dirty="0">
                <a:solidFill>
                  <a:schemeClr val="tx1"/>
                </a:solidFill>
                <a:latin typeface="YS Text"/>
              </a:rPr>
              <a:t># </a:t>
            </a:r>
            <a:r>
              <a:rPr lang="ru-RU" sz="1600" dirty="0">
                <a:solidFill>
                  <a:schemeClr val="tx1"/>
                </a:solidFill>
                <a:latin typeface="YS Text"/>
              </a:rPr>
              <a:t>Будет напечатано: </a:t>
            </a:r>
            <a:r>
              <a:rPr lang="ru-RU" sz="1600" dirty="0">
                <a:solidFill>
                  <a:srgbClr val="00B050"/>
                </a:solidFill>
                <a:latin typeface="YS Text"/>
              </a:rPr>
              <a:t>20 </a:t>
            </a:r>
          </a:p>
          <a:p>
            <a:pPr marL="0" indent="0" algn="just">
              <a:buNone/>
            </a:pPr>
            <a:r>
              <a:rPr lang="ru-RU" sz="2400" dirty="0">
                <a:latin typeface="YS Text"/>
              </a:rPr>
              <a:t>Однако управление переменными в других областях видимости может привести к непредсказуемым и неочевидным последствиям и к запутыванию кода. Применять инструкции </a:t>
            </a:r>
            <a:r>
              <a:rPr lang="ru-RU" sz="2400" b="1" dirty="0" err="1">
                <a:latin typeface="YS Text"/>
              </a:rPr>
              <a:t>global</a:t>
            </a:r>
            <a:r>
              <a:rPr lang="ru-RU" sz="2400" dirty="0">
                <a:latin typeface="YS Text"/>
              </a:rPr>
              <a:t> и </a:t>
            </a:r>
            <a:r>
              <a:rPr lang="ru-RU" sz="2400" b="1" dirty="0" err="1">
                <a:latin typeface="YS Text"/>
              </a:rPr>
              <a:t>nonlocal</a:t>
            </a:r>
            <a:r>
              <a:rPr lang="ru-RU" sz="2400" b="1" dirty="0">
                <a:latin typeface="YS Text"/>
              </a:rPr>
              <a:t> </a:t>
            </a:r>
            <a:r>
              <a:rPr lang="ru-RU" sz="2400" dirty="0">
                <a:latin typeface="YS Text"/>
              </a:rPr>
              <a:t>нужно с осторожностью.</a:t>
            </a:r>
          </a:p>
        </p:txBody>
      </p:sp>
    </p:spTree>
    <p:extLst>
      <p:ext uri="{BB962C8B-B14F-4D97-AF65-F5344CB8AC3E}">
        <p14:creationId xmlns:p14="http://schemas.microsoft.com/office/powerpoint/2010/main" val="27940110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Словари пространств имён </a:t>
            </a:r>
            <a:r>
              <a:rPr lang="en-US" sz="4900" b="1" dirty="0">
                <a:effectLst/>
                <a:latin typeface="YS Text"/>
              </a:rPr>
              <a:t>Python</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6132786"/>
          </a:xfrm>
        </p:spPr>
        <p:txBody>
          <a:bodyPr>
            <a:normAutofit fontScale="92500" lnSpcReduction="20000"/>
          </a:bodyPr>
          <a:lstStyle/>
          <a:p>
            <a:pPr marL="0" indent="0" algn="just">
              <a:buNone/>
            </a:pPr>
            <a:r>
              <a:rPr lang="ru-RU" dirty="0">
                <a:latin typeface="YS Text"/>
              </a:rPr>
              <a:t>В Python есть специальные словари, которые хранят информацию о глобальном и локальном пространствах имён. </a:t>
            </a:r>
          </a:p>
          <a:p>
            <a:pPr marL="0" indent="0" algn="just">
              <a:buNone/>
            </a:pPr>
            <a:r>
              <a:rPr lang="ru-RU" dirty="0">
                <a:latin typeface="YS Text"/>
              </a:rPr>
              <a:t>Получить доступ к этим словарям можно через встроенные функции </a:t>
            </a:r>
            <a:r>
              <a:rPr lang="ru-RU" sz="2600" b="1" dirty="0" err="1">
                <a:latin typeface="YS Text"/>
              </a:rPr>
              <a:t>globals</a:t>
            </a:r>
            <a:r>
              <a:rPr lang="ru-RU" sz="2600" b="1" dirty="0">
                <a:latin typeface="YS Text"/>
              </a:rPr>
              <a:t>() </a:t>
            </a:r>
            <a:r>
              <a:rPr lang="ru-RU" sz="2600" dirty="0">
                <a:latin typeface="YS Text"/>
              </a:rPr>
              <a:t>и </a:t>
            </a:r>
            <a:r>
              <a:rPr lang="ru-RU" sz="2600" b="1" dirty="0" err="1">
                <a:latin typeface="YS Text"/>
              </a:rPr>
              <a:t>locals</a:t>
            </a:r>
            <a:r>
              <a:rPr lang="ru-RU" sz="2600" b="1" dirty="0">
                <a:latin typeface="YS Text"/>
              </a:rPr>
              <a:t>().</a:t>
            </a:r>
          </a:p>
          <a:p>
            <a:pPr marL="0" indent="0" algn="just">
              <a:buNone/>
            </a:pPr>
            <a:r>
              <a:rPr lang="en-US" b="1" dirty="0" err="1">
                <a:solidFill>
                  <a:srgbClr val="00B050"/>
                </a:solidFill>
                <a:latin typeface="YS Text"/>
              </a:rPr>
              <a:t>global_value</a:t>
            </a:r>
            <a:r>
              <a:rPr lang="en-US" b="1" dirty="0">
                <a:solidFill>
                  <a:srgbClr val="00B050"/>
                </a:solidFill>
                <a:latin typeface="YS Text"/>
              </a:rPr>
              <a:t> = 10</a:t>
            </a:r>
          </a:p>
          <a:p>
            <a:pPr marL="0" indent="0" algn="just">
              <a:buNone/>
            </a:pPr>
            <a:endParaRPr lang="en-US" dirty="0">
              <a:latin typeface="YS Text"/>
            </a:endParaRPr>
          </a:p>
          <a:p>
            <a:pPr marL="0" indent="0" algn="just">
              <a:buNone/>
            </a:pPr>
            <a:r>
              <a:rPr lang="en-US" b="1" dirty="0">
                <a:solidFill>
                  <a:srgbClr val="00B050"/>
                </a:solidFill>
                <a:latin typeface="YS Text"/>
              </a:rPr>
              <a:t>def </a:t>
            </a:r>
            <a:r>
              <a:rPr lang="en-US" b="1" dirty="0" err="1">
                <a:solidFill>
                  <a:srgbClr val="00B050"/>
                </a:solidFill>
                <a:latin typeface="YS Text"/>
              </a:rPr>
              <a:t>any_function</a:t>
            </a:r>
            <a:r>
              <a:rPr lang="en-US" b="1" dirty="0">
                <a:solidFill>
                  <a:srgbClr val="00B050"/>
                </a:solidFill>
                <a:latin typeface="YS Text"/>
              </a:rPr>
              <a:t>():</a:t>
            </a:r>
          </a:p>
          <a:p>
            <a:pPr marL="0" indent="0" algn="just">
              <a:buNone/>
            </a:pPr>
            <a:r>
              <a:rPr lang="en-US" b="1" dirty="0">
                <a:solidFill>
                  <a:srgbClr val="00B050"/>
                </a:solidFill>
                <a:latin typeface="YS Text"/>
              </a:rPr>
              <a:t>    </a:t>
            </a:r>
            <a:r>
              <a:rPr lang="ru-RU" b="1" dirty="0">
                <a:solidFill>
                  <a:srgbClr val="00B050"/>
                </a:solidFill>
                <a:latin typeface="YS Text"/>
              </a:rPr>
              <a:t>    </a:t>
            </a:r>
            <a:r>
              <a:rPr lang="en-US" b="1" dirty="0" err="1">
                <a:solidFill>
                  <a:srgbClr val="00B050"/>
                </a:solidFill>
                <a:latin typeface="YS Text"/>
              </a:rPr>
              <a:t>local_value</a:t>
            </a:r>
            <a:r>
              <a:rPr lang="en-US" b="1" dirty="0">
                <a:solidFill>
                  <a:srgbClr val="00B050"/>
                </a:solidFill>
                <a:latin typeface="YS Text"/>
              </a:rPr>
              <a:t> = 20</a:t>
            </a:r>
          </a:p>
          <a:p>
            <a:pPr marL="0" indent="0" algn="just">
              <a:buNone/>
            </a:pPr>
            <a:r>
              <a:rPr lang="en-US" b="1" dirty="0">
                <a:solidFill>
                  <a:srgbClr val="00B050"/>
                </a:solidFill>
                <a:latin typeface="YS Text"/>
              </a:rPr>
              <a:t>   </a:t>
            </a:r>
            <a:r>
              <a:rPr lang="ru-RU" b="1" dirty="0">
                <a:solidFill>
                  <a:srgbClr val="00B050"/>
                </a:solidFill>
                <a:latin typeface="YS Text"/>
              </a:rPr>
              <a:t>    </a:t>
            </a:r>
            <a:r>
              <a:rPr lang="en-US" b="1" dirty="0">
                <a:solidFill>
                  <a:srgbClr val="00B050"/>
                </a:solidFill>
                <a:latin typeface="YS Text"/>
              </a:rPr>
              <a:t> </a:t>
            </a:r>
            <a:r>
              <a:rPr lang="en-US" b="1" dirty="0" err="1">
                <a:solidFill>
                  <a:srgbClr val="00B050"/>
                </a:solidFill>
                <a:latin typeface="YS Text"/>
              </a:rPr>
              <a:t>local_text</a:t>
            </a:r>
            <a:r>
              <a:rPr lang="en-US" b="1" dirty="0">
                <a:solidFill>
                  <a:srgbClr val="00B050"/>
                </a:solidFill>
                <a:latin typeface="YS Text"/>
              </a:rPr>
              <a:t> = '</a:t>
            </a:r>
            <a:r>
              <a:rPr lang="ru-RU" b="1" dirty="0">
                <a:solidFill>
                  <a:srgbClr val="00B050"/>
                </a:solidFill>
                <a:latin typeface="YS Text"/>
              </a:rPr>
              <a:t>Локальная строка'</a:t>
            </a:r>
          </a:p>
          <a:p>
            <a:pPr marL="0" indent="0" algn="just">
              <a:buNone/>
            </a:pPr>
            <a:r>
              <a:rPr lang="ru-RU" b="1" dirty="0">
                <a:solidFill>
                  <a:srgbClr val="00B050"/>
                </a:solidFill>
                <a:latin typeface="YS Text"/>
              </a:rPr>
              <a:t>        </a:t>
            </a:r>
            <a:r>
              <a:rPr lang="en-US" b="1" dirty="0">
                <a:solidFill>
                  <a:srgbClr val="00B050"/>
                </a:solidFill>
                <a:latin typeface="YS Text"/>
              </a:rPr>
              <a:t>global </a:t>
            </a:r>
            <a:r>
              <a:rPr lang="en-US" b="1" dirty="0" err="1">
                <a:solidFill>
                  <a:srgbClr val="00B050"/>
                </a:solidFill>
                <a:latin typeface="YS Text"/>
              </a:rPr>
              <a:t>global_value</a:t>
            </a:r>
            <a:endParaRPr lang="en-US" b="1" dirty="0">
              <a:solidFill>
                <a:srgbClr val="00B050"/>
              </a:solidFill>
              <a:latin typeface="YS Text"/>
            </a:endParaRPr>
          </a:p>
          <a:p>
            <a:pPr marL="0" indent="0" algn="just">
              <a:buNone/>
            </a:pPr>
            <a:r>
              <a:rPr lang="en-US" b="1" dirty="0">
                <a:solidFill>
                  <a:srgbClr val="00B050"/>
                </a:solidFill>
                <a:latin typeface="YS Text"/>
              </a:rPr>
              <a:t>   </a:t>
            </a:r>
            <a:r>
              <a:rPr lang="ru-RU" b="1" dirty="0">
                <a:solidFill>
                  <a:srgbClr val="00B050"/>
                </a:solidFill>
                <a:latin typeface="YS Text"/>
              </a:rPr>
              <a:t>    </a:t>
            </a:r>
            <a:r>
              <a:rPr lang="en-US" b="1" dirty="0">
                <a:solidFill>
                  <a:srgbClr val="00B050"/>
                </a:solidFill>
                <a:latin typeface="YS Text"/>
              </a:rPr>
              <a:t> </a:t>
            </a:r>
            <a:r>
              <a:rPr lang="en-US" b="1" dirty="0" err="1">
                <a:solidFill>
                  <a:srgbClr val="00B050"/>
                </a:solidFill>
                <a:latin typeface="YS Text"/>
              </a:rPr>
              <a:t>global_value</a:t>
            </a:r>
            <a:r>
              <a:rPr lang="en-US" b="1" dirty="0">
                <a:solidFill>
                  <a:srgbClr val="00B050"/>
                </a:solidFill>
                <a:latin typeface="YS Text"/>
              </a:rPr>
              <a:t> = 100500</a:t>
            </a:r>
            <a:r>
              <a:rPr lang="en-US" dirty="0">
                <a:latin typeface="YS Text"/>
              </a:rPr>
              <a:t>  # </a:t>
            </a:r>
            <a:r>
              <a:rPr lang="ru-RU" dirty="0">
                <a:latin typeface="YS Text"/>
              </a:rPr>
              <a:t>Изменяем глобальную переменную.</a:t>
            </a:r>
          </a:p>
          <a:p>
            <a:pPr marL="0" indent="0" algn="just">
              <a:buNone/>
            </a:pPr>
            <a:r>
              <a:rPr lang="ru-RU" dirty="0">
                <a:latin typeface="YS Text"/>
              </a:rPr>
              <a:t>        # Печатаем словарь с объектами локального пространства функции:</a:t>
            </a:r>
          </a:p>
          <a:p>
            <a:pPr marL="0" indent="0" algn="just">
              <a:buNone/>
            </a:pPr>
            <a:r>
              <a:rPr lang="ru-RU" b="1" dirty="0">
                <a:solidFill>
                  <a:srgbClr val="00B050"/>
                </a:solidFill>
                <a:latin typeface="YS Text"/>
              </a:rPr>
              <a:t>        </a:t>
            </a:r>
            <a:r>
              <a:rPr lang="en-US" b="1" dirty="0">
                <a:solidFill>
                  <a:srgbClr val="00B050"/>
                </a:solidFill>
                <a:latin typeface="YS Text"/>
              </a:rPr>
              <a:t>print(f'</a:t>
            </a:r>
            <a:r>
              <a:rPr lang="ru-RU" b="1" dirty="0">
                <a:solidFill>
                  <a:srgbClr val="00B050"/>
                </a:solidFill>
                <a:latin typeface="YS Text"/>
              </a:rPr>
              <a:t>Локальные переменные в функции </a:t>
            </a:r>
            <a:r>
              <a:rPr lang="en-US" b="1" dirty="0" err="1">
                <a:solidFill>
                  <a:srgbClr val="00B050"/>
                </a:solidFill>
                <a:latin typeface="YS Text"/>
              </a:rPr>
              <a:t>any_function</a:t>
            </a:r>
            <a:r>
              <a:rPr lang="en-US" b="1" dirty="0">
                <a:solidFill>
                  <a:srgbClr val="00B050"/>
                </a:solidFill>
                <a:latin typeface="YS Text"/>
              </a:rPr>
              <a:t>(): {locals()}')</a:t>
            </a:r>
          </a:p>
          <a:p>
            <a:pPr marL="0" indent="0" algn="just">
              <a:buNone/>
            </a:pPr>
            <a:endParaRPr lang="en-US" dirty="0">
              <a:latin typeface="YS Text"/>
            </a:endParaRPr>
          </a:p>
          <a:p>
            <a:pPr marL="0" indent="0" algn="just">
              <a:buNone/>
            </a:pPr>
            <a:r>
              <a:rPr lang="en-US" b="1" dirty="0" err="1">
                <a:solidFill>
                  <a:srgbClr val="00B050"/>
                </a:solidFill>
                <a:latin typeface="YS Text"/>
              </a:rPr>
              <a:t>any_function</a:t>
            </a:r>
            <a:r>
              <a:rPr lang="en-US" b="1" dirty="0">
                <a:solidFill>
                  <a:srgbClr val="00B050"/>
                </a:solidFill>
                <a:latin typeface="YS Text"/>
              </a:rPr>
              <a:t>()</a:t>
            </a:r>
          </a:p>
          <a:p>
            <a:pPr marL="0" indent="0" algn="just">
              <a:buNone/>
            </a:pPr>
            <a:endParaRPr lang="en-US" dirty="0">
              <a:latin typeface="YS Text"/>
            </a:endParaRPr>
          </a:p>
          <a:p>
            <a:pPr marL="0" indent="0" algn="just">
              <a:buNone/>
            </a:pPr>
            <a:r>
              <a:rPr lang="en-US" dirty="0">
                <a:latin typeface="YS Text"/>
              </a:rPr>
              <a:t># </a:t>
            </a:r>
            <a:r>
              <a:rPr lang="ru-RU" dirty="0">
                <a:latin typeface="YS Text"/>
              </a:rPr>
              <a:t>Печатаем словарь с объектами глобального пространства программы:</a:t>
            </a:r>
          </a:p>
          <a:p>
            <a:pPr marL="0" indent="0" algn="just">
              <a:buNone/>
            </a:pPr>
            <a:r>
              <a:rPr lang="en-US" b="1" dirty="0">
                <a:solidFill>
                  <a:srgbClr val="00B050"/>
                </a:solidFill>
                <a:latin typeface="YS Text"/>
              </a:rPr>
              <a:t>print(f'</a:t>
            </a:r>
            <a:r>
              <a:rPr lang="ru-RU" b="1" dirty="0">
                <a:solidFill>
                  <a:srgbClr val="00B050"/>
                </a:solidFill>
                <a:latin typeface="YS Text"/>
              </a:rPr>
              <a:t>Глобальные переменные программы: {</a:t>
            </a:r>
            <a:r>
              <a:rPr lang="en-US" b="1" dirty="0" err="1">
                <a:solidFill>
                  <a:srgbClr val="00B050"/>
                </a:solidFill>
                <a:latin typeface="YS Text"/>
              </a:rPr>
              <a:t>globals</a:t>
            </a:r>
            <a:r>
              <a:rPr lang="en-US" b="1" dirty="0">
                <a:solidFill>
                  <a:srgbClr val="00B050"/>
                </a:solidFill>
                <a:latin typeface="YS Text"/>
              </a:rPr>
              <a:t>()}')</a:t>
            </a:r>
            <a:endParaRPr lang="ru-RU" b="1" dirty="0">
              <a:solidFill>
                <a:srgbClr val="00B050"/>
              </a:solidFill>
              <a:latin typeface="YS Text"/>
            </a:endParaRPr>
          </a:p>
        </p:txBody>
      </p:sp>
    </p:spTree>
    <p:extLst>
      <p:ext uri="{BB962C8B-B14F-4D97-AF65-F5344CB8AC3E}">
        <p14:creationId xmlns:p14="http://schemas.microsoft.com/office/powerpoint/2010/main" val="19080417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4400" b="1" dirty="0">
                <a:solidFill>
                  <a:schemeClr val="tx1">
                    <a:lumMod val="95000"/>
                    <a:lumOff val="5000"/>
                  </a:schemeClr>
                </a:solidFill>
                <a:latin typeface="YS Text"/>
              </a:rPr>
              <a:t>Итераторы и генераторы</a:t>
            </a:r>
            <a:endParaRPr lang="ru-RU" sz="4400" dirty="0">
              <a:solidFill>
                <a:schemeClr val="tx1">
                  <a:lumMod val="95000"/>
                  <a:lumOff val="5000"/>
                </a:schemeClr>
              </a:solidFill>
            </a:endParaRPr>
          </a:p>
        </p:txBody>
      </p:sp>
    </p:spTree>
    <p:extLst>
      <p:ext uri="{BB962C8B-B14F-4D97-AF65-F5344CB8AC3E}">
        <p14:creationId xmlns:p14="http://schemas.microsoft.com/office/powerpoint/2010/main" val="3704467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Итерация, итерируемый объект и итератор</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b="1" dirty="0">
                <a:latin typeface="YS Text"/>
              </a:rPr>
              <a:t>Итерируемым называют объект</a:t>
            </a:r>
            <a:r>
              <a:rPr lang="ru-RU" dirty="0">
                <a:latin typeface="YS Text"/>
              </a:rPr>
              <a:t>, который содержит элементы, и эти элементы можно перебрать. Каждый шаг перебора — это итерация.</a:t>
            </a:r>
            <a:r>
              <a:rPr lang="en-US" dirty="0">
                <a:latin typeface="YS Text"/>
              </a:rPr>
              <a:t> </a:t>
            </a:r>
            <a:r>
              <a:rPr lang="ru-RU" dirty="0">
                <a:latin typeface="YS Text"/>
              </a:rPr>
              <a:t>В Python итерируемые объекты — это, например, списки, кортежи, строки.</a:t>
            </a:r>
          </a:p>
          <a:p>
            <a:pPr algn="just"/>
            <a:r>
              <a:rPr lang="ru-RU" dirty="0">
                <a:latin typeface="YS Text"/>
              </a:rPr>
              <a:t>Чтобы проверить, итерируется объект или нет, можно применить к нему функцию </a:t>
            </a:r>
            <a:r>
              <a:rPr lang="ru-RU" sz="2400" b="1" dirty="0" err="1">
                <a:solidFill>
                  <a:schemeClr val="accent6">
                    <a:lumMod val="50000"/>
                  </a:schemeClr>
                </a:solidFill>
                <a:latin typeface="YS Text"/>
              </a:rPr>
              <a:t>iter</a:t>
            </a:r>
            <a:r>
              <a:rPr lang="ru-RU" sz="2400" b="1" dirty="0">
                <a:solidFill>
                  <a:schemeClr val="accent6">
                    <a:lumMod val="50000"/>
                  </a:schemeClr>
                </a:solidFill>
                <a:latin typeface="YS Text"/>
              </a:rPr>
              <a:t>(). </a:t>
            </a:r>
            <a:r>
              <a:rPr lang="ru-RU" dirty="0">
                <a:latin typeface="YS Text"/>
              </a:rPr>
              <a:t>Для итерируемых объектов она вернёт </a:t>
            </a:r>
            <a:r>
              <a:rPr lang="ru-RU" b="1" dirty="0">
                <a:solidFill>
                  <a:schemeClr val="accent6">
                    <a:lumMod val="50000"/>
                  </a:schemeClr>
                </a:solidFill>
                <a:latin typeface="YS Text"/>
              </a:rPr>
              <a:t>объект итератора</a:t>
            </a:r>
            <a:r>
              <a:rPr lang="ru-RU" dirty="0">
                <a:latin typeface="YS Text"/>
              </a:rPr>
              <a:t>, а для </a:t>
            </a:r>
            <a:r>
              <a:rPr lang="ru-RU" dirty="0" err="1">
                <a:latin typeface="YS Text"/>
              </a:rPr>
              <a:t>неитерируемых</a:t>
            </a:r>
            <a:r>
              <a:rPr lang="ru-RU" dirty="0">
                <a:latin typeface="YS Text"/>
              </a:rPr>
              <a:t> — ошибку </a:t>
            </a:r>
            <a:r>
              <a:rPr lang="ru-RU" dirty="0" err="1">
                <a:latin typeface="YS Text"/>
              </a:rPr>
              <a:t>object</a:t>
            </a:r>
            <a:r>
              <a:rPr lang="ru-RU" dirty="0">
                <a:latin typeface="YS Text"/>
              </a:rPr>
              <a:t> </a:t>
            </a:r>
            <a:r>
              <a:rPr lang="ru-RU" dirty="0" err="1">
                <a:latin typeface="YS Text"/>
              </a:rPr>
              <a:t>is</a:t>
            </a:r>
            <a:r>
              <a:rPr lang="ru-RU" dirty="0">
                <a:latin typeface="YS Text"/>
              </a:rPr>
              <a:t> </a:t>
            </a:r>
            <a:r>
              <a:rPr lang="ru-RU" dirty="0" err="1">
                <a:latin typeface="YS Text"/>
              </a:rPr>
              <a:t>not</a:t>
            </a:r>
            <a:r>
              <a:rPr lang="ru-RU" dirty="0">
                <a:latin typeface="YS Text"/>
              </a:rPr>
              <a:t> </a:t>
            </a:r>
            <a:r>
              <a:rPr lang="ru-RU" dirty="0" err="1">
                <a:latin typeface="YS Text"/>
              </a:rPr>
              <a:t>iterable</a:t>
            </a:r>
            <a:r>
              <a:rPr lang="ru-RU" dirty="0">
                <a:latin typeface="YS Text"/>
              </a:rPr>
              <a:t>.</a:t>
            </a:r>
          </a:p>
          <a:p>
            <a:pPr algn="just"/>
            <a:r>
              <a:rPr lang="ru-RU" dirty="0">
                <a:latin typeface="YS Text"/>
              </a:rPr>
              <a:t>Любой итерируемый объект содержит </a:t>
            </a:r>
            <a:r>
              <a:rPr lang="ru-RU" b="1" dirty="0">
                <a:solidFill>
                  <a:schemeClr val="accent6">
                    <a:lumMod val="50000"/>
                  </a:schemeClr>
                </a:solidFill>
                <a:latin typeface="YS Text"/>
              </a:rPr>
              <a:t>метод __</a:t>
            </a:r>
            <a:r>
              <a:rPr lang="ru-RU" b="1" dirty="0" err="1">
                <a:solidFill>
                  <a:schemeClr val="accent6">
                    <a:lumMod val="50000"/>
                  </a:schemeClr>
                </a:solidFill>
                <a:latin typeface="YS Text"/>
              </a:rPr>
              <a:t>iter</a:t>
            </a:r>
            <a:r>
              <a:rPr lang="ru-RU" b="1" dirty="0">
                <a:solidFill>
                  <a:schemeClr val="accent6">
                    <a:lumMod val="50000"/>
                  </a:schemeClr>
                </a:solidFill>
                <a:latin typeface="YS Text"/>
              </a:rPr>
              <a:t>__()</a:t>
            </a:r>
            <a:r>
              <a:rPr lang="ru-RU" dirty="0">
                <a:latin typeface="YS Text"/>
              </a:rPr>
              <a:t>, который вернет </a:t>
            </a:r>
            <a:r>
              <a:rPr lang="en-US" dirty="0">
                <a:latin typeface="YS Text"/>
              </a:rPr>
              <a:t>True </a:t>
            </a:r>
            <a:r>
              <a:rPr lang="ru-RU" dirty="0">
                <a:latin typeface="YS Text"/>
              </a:rPr>
              <a:t>или </a:t>
            </a:r>
            <a:r>
              <a:rPr lang="en-US" dirty="0">
                <a:latin typeface="YS Text"/>
              </a:rPr>
              <a:t>False.</a:t>
            </a:r>
          </a:p>
          <a:p>
            <a:pPr algn="just"/>
            <a:r>
              <a:rPr lang="ru-RU" dirty="0">
                <a:latin typeface="YS Text"/>
              </a:rPr>
              <a:t>У любого </a:t>
            </a:r>
            <a:r>
              <a:rPr lang="ru-RU" b="1" dirty="0">
                <a:latin typeface="YS Text"/>
              </a:rPr>
              <a:t>объекта итератора </a:t>
            </a:r>
            <a:r>
              <a:rPr lang="ru-RU" dirty="0">
                <a:latin typeface="YS Text"/>
              </a:rPr>
              <a:t>есть </a:t>
            </a:r>
            <a:r>
              <a:rPr lang="ru-RU" b="1" dirty="0">
                <a:solidFill>
                  <a:schemeClr val="accent6">
                    <a:lumMod val="50000"/>
                  </a:schemeClr>
                </a:solidFill>
                <a:latin typeface="YS Text"/>
              </a:rPr>
              <a:t>метод __</a:t>
            </a:r>
            <a:r>
              <a:rPr lang="ru-RU" b="1" dirty="0" err="1">
                <a:solidFill>
                  <a:schemeClr val="accent6">
                    <a:lumMod val="50000"/>
                  </a:schemeClr>
                </a:solidFill>
                <a:latin typeface="YS Text"/>
              </a:rPr>
              <a:t>next</a:t>
            </a:r>
            <a:r>
              <a:rPr lang="ru-RU" b="1" dirty="0">
                <a:solidFill>
                  <a:schemeClr val="accent6">
                    <a:lumMod val="50000"/>
                  </a:schemeClr>
                </a:solidFill>
                <a:latin typeface="YS Text"/>
              </a:rPr>
              <a:t>__()</a:t>
            </a:r>
            <a:r>
              <a:rPr lang="ru-RU" dirty="0">
                <a:latin typeface="YS Text"/>
              </a:rPr>
              <a:t>, который обеспечивает обращение к следующему элементу итерируемого объекта</a:t>
            </a:r>
            <a:endParaRPr lang="en-US" dirty="0">
              <a:latin typeface="YS Text"/>
            </a:endParaRPr>
          </a:p>
          <a:p>
            <a:pPr marL="0" indent="0" algn="just">
              <a:buNone/>
            </a:pPr>
            <a:r>
              <a:rPr lang="ru-RU" dirty="0">
                <a:latin typeface="YS Text"/>
              </a:rPr>
              <a:t>Созданный собственный итерируемый объект и называют </a:t>
            </a:r>
            <a:r>
              <a:rPr lang="ru-RU" sz="2400" b="1" dirty="0">
                <a:solidFill>
                  <a:schemeClr val="accent6">
                    <a:lumMod val="50000"/>
                  </a:schemeClr>
                </a:solidFill>
                <a:latin typeface="YS Text"/>
              </a:rPr>
              <a:t>итератором.</a:t>
            </a:r>
            <a:endParaRPr lang="en-US" b="1" dirty="0">
              <a:solidFill>
                <a:schemeClr val="accent6">
                  <a:lumMod val="50000"/>
                </a:schemeClr>
              </a:solidFill>
              <a:latin typeface="YS Text"/>
            </a:endParaRPr>
          </a:p>
          <a:p>
            <a:pPr marL="0" indent="0" algn="just">
              <a:buNone/>
            </a:pPr>
            <a:endParaRPr lang="ru-RU" dirty="0">
              <a:latin typeface="YS Text"/>
            </a:endParaRPr>
          </a:p>
        </p:txBody>
      </p:sp>
    </p:spTree>
    <p:extLst>
      <p:ext uri="{BB962C8B-B14F-4D97-AF65-F5344CB8AC3E}">
        <p14:creationId xmlns:p14="http://schemas.microsoft.com/office/powerpoint/2010/main" val="4033108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Что такое генератор</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b="1" dirty="0">
                <a:solidFill>
                  <a:schemeClr val="accent6">
                    <a:lumMod val="50000"/>
                  </a:schemeClr>
                </a:solidFill>
                <a:latin typeface="YS Text"/>
              </a:rPr>
              <a:t>Генератор</a:t>
            </a:r>
            <a:r>
              <a:rPr lang="ru-RU" dirty="0">
                <a:solidFill>
                  <a:schemeClr val="accent6">
                    <a:lumMod val="50000"/>
                  </a:schemeClr>
                </a:solidFill>
                <a:latin typeface="YS Text"/>
              </a:rPr>
              <a:t> </a:t>
            </a:r>
            <a:r>
              <a:rPr lang="ru-RU" dirty="0">
                <a:latin typeface="YS Text"/>
              </a:rPr>
              <a:t>— это </a:t>
            </a:r>
            <a:r>
              <a:rPr lang="ru-RU" b="1" dirty="0">
                <a:latin typeface="YS Text"/>
              </a:rPr>
              <a:t>подвид итератора</a:t>
            </a:r>
            <a:r>
              <a:rPr lang="ru-RU" dirty="0">
                <a:latin typeface="YS Text"/>
              </a:rPr>
              <a:t>: функция, которая генерирует значения.</a:t>
            </a:r>
          </a:p>
          <a:p>
            <a:pPr marL="0" indent="0" algn="just">
              <a:buNone/>
            </a:pPr>
            <a:r>
              <a:rPr lang="ru-RU" dirty="0">
                <a:latin typeface="YS Text"/>
              </a:rPr>
              <a:t>Генератор не хранит элементы в оперативной памяти, а вычисляет их по заданному правилу, поэтому занимает очень мало места.</a:t>
            </a:r>
          </a:p>
          <a:p>
            <a:pPr algn="just"/>
            <a:r>
              <a:rPr lang="ru-RU" dirty="0">
                <a:latin typeface="YS Text"/>
              </a:rPr>
              <a:t>Генератор объявляется как обычная функция, но вместо инструкции </a:t>
            </a:r>
            <a:r>
              <a:rPr lang="ru-RU" dirty="0" err="1">
                <a:latin typeface="YS Text"/>
              </a:rPr>
              <a:t>return</a:t>
            </a:r>
            <a:r>
              <a:rPr lang="ru-RU" dirty="0">
                <a:latin typeface="YS Text"/>
              </a:rPr>
              <a:t> в нём используется </a:t>
            </a:r>
            <a:r>
              <a:rPr lang="ru-RU" b="1" dirty="0" err="1">
                <a:solidFill>
                  <a:schemeClr val="accent6">
                    <a:lumMod val="50000"/>
                  </a:schemeClr>
                </a:solidFill>
                <a:latin typeface="YS Text"/>
              </a:rPr>
              <a:t>yield</a:t>
            </a:r>
            <a:r>
              <a:rPr lang="ru-RU" b="1" dirty="0">
                <a:solidFill>
                  <a:schemeClr val="accent6">
                    <a:lumMod val="50000"/>
                  </a:schemeClr>
                </a:solidFill>
                <a:latin typeface="YS Text"/>
              </a:rPr>
              <a:t> </a:t>
            </a:r>
            <a:r>
              <a:rPr lang="ru-RU" dirty="0">
                <a:solidFill>
                  <a:schemeClr val="tx1"/>
                </a:solidFill>
                <a:latin typeface="YS Text"/>
              </a:rPr>
              <a:t>(</a:t>
            </a:r>
            <a:r>
              <a:rPr lang="ru-RU" i="0" dirty="0" err="1">
                <a:solidFill>
                  <a:schemeClr val="tx1"/>
                </a:solidFill>
                <a:effectLst/>
                <a:latin typeface="Google Sans"/>
              </a:rPr>
              <a:t>y</a:t>
            </a:r>
            <a:r>
              <a:rPr lang="ru-RU" b="0" i="0" dirty="0" err="1">
                <a:solidFill>
                  <a:srgbClr val="0A0A0A"/>
                </a:solidFill>
                <a:effectLst/>
                <a:latin typeface="Google Sans"/>
              </a:rPr>
              <a:t>ield</a:t>
            </a:r>
            <a:r>
              <a:rPr lang="ru-RU" b="0" i="0" dirty="0">
                <a:solidFill>
                  <a:srgbClr val="0A0A0A"/>
                </a:solidFill>
                <a:effectLst/>
                <a:latin typeface="Google Sans"/>
              </a:rPr>
              <a:t> используется для приостановки функции и возврата промежуточного значения)</a:t>
            </a:r>
            <a:r>
              <a:rPr lang="ru-RU" dirty="0">
                <a:latin typeface="YS Text"/>
              </a:rPr>
              <a:t>. Инструкция </a:t>
            </a:r>
            <a:r>
              <a:rPr lang="ru-RU" dirty="0" err="1">
                <a:latin typeface="YS Text"/>
              </a:rPr>
              <a:t>return</a:t>
            </a:r>
            <a:r>
              <a:rPr lang="ru-RU" dirty="0">
                <a:latin typeface="YS Text"/>
              </a:rPr>
              <a:t> завершает работу функции, а </a:t>
            </a:r>
            <a:r>
              <a:rPr lang="ru-RU" dirty="0" err="1">
                <a:latin typeface="YS Text"/>
              </a:rPr>
              <a:t>yield</a:t>
            </a:r>
            <a:r>
              <a:rPr lang="ru-RU" dirty="0">
                <a:latin typeface="YS Text"/>
              </a:rPr>
              <a:t> лишь приостанавливает её и при этом возвращает какое-то значение.</a:t>
            </a:r>
          </a:p>
          <a:p>
            <a:pPr algn="just"/>
            <a:r>
              <a:rPr lang="ru-RU" dirty="0">
                <a:latin typeface="YS Text"/>
              </a:rPr>
              <a:t>Когда значения исчерпаются, генератор выбросит </a:t>
            </a:r>
            <a:r>
              <a:rPr lang="ru-RU" b="1" dirty="0">
                <a:latin typeface="YS Text"/>
              </a:rPr>
              <a:t>исключение </a:t>
            </a:r>
            <a:r>
              <a:rPr lang="ru-RU" b="1" dirty="0" err="1">
                <a:solidFill>
                  <a:schemeClr val="accent6">
                    <a:lumMod val="50000"/>
                  </a:schemeClr>
                </a:solidFill>
                <a:latin typeface="YS Text"/>
              </a:rPr>
              <a:t>StopIteration</a:t>
            </a:r>
            <a:r>
              <a:rPr lang="ru-RU" dirty="0">
                <a:latin typeface="YS Text"/>
              </a:rPr>
              <a:t>.</a:t>
            </a:r>
          </a:p>
          <a:p>
            <a:pPr algn="just"/>
            <a:r>
              <a:rPr lang="ru-RU" dirty="0">
                <a:latin typeface="YS Text"/>
              </a:rPr>
              <a:t>Если у генератора есть ограничение на количество значений, то все эти значения можно получить, перебрав генератор в цикле. </a:t>
            </a:r>
          </a:p>
          <a:p>
            <a:pPr algn="just"/>
            <a:r>
              <a:rPr lang="ru-RU" dirty="0">
                <a:latin typeface="YS Text"/>
              </a:rPr>
              <a:t>Получить элемент генератора по индексу невозможно, вернётся </a:t>
            </a:r>
            <a:r>
              <a:rPr lang="ru-RU" b="1" dirty="0">
                <a:latin typeface="YS Text"/>
              </a:rPr>
              <a:t>ошибка </a:t>
            </a:r>
            <a:r>
              <a:rPr lang="ru-RU" b="1" dirty="0" err="1">
                <a:solidFill>
                  <a:schemeClr val="accent6">
                    <a:lumMod val="50000"/>
                  </a:schemeClr>
                </a:solidFill>
                <a:latin typeface="YS Text"/>
              </a:rPr>
              <a:t>TypeError</a:t>
            </a:r>
            <a:r>
              <a:rPr lang="ru-RU" dirty="0">
                <a:latin typeface="YS Text"/>
              </a:rPr>
              <a:t>.</a:t>
            </a:r>
          </a:p>
          <a:p>
            <a:pPr algn="just"/>
            <a:r>
              <a:rPr lang="ru-RU" dirty="0">
                <a:latin typeface="YS Text"/>
              </a:rPr>
              <a:t>Генератор может быть устроен по-разному; важно, чтобы значения генерировались через </a:t>
            </a:r>
            <a:r>
              <a:rPr lang="ru-RU" sz="2400" b="1" dirty="0">
                <a:solidFill>
                  <a:schemeClr val="accent6">
                    <a:lumMod val="50000"/>
                  </a:schemeClr>
                </a:solidFill>
                <a:latin typeface="YS Text"/>
              </a:rPr>
              <a:t>инструкцию </a:t>
            </a:r>
            <a:r>
              <a:rPr lang="ru-RU" sz="2400" b="1" dirty="0" err="1">
                <a:solidFill>
                  <a:schemeClr val="accent6">
                    <a:lumMod val="50000"/>
                  </a:schemeClr>
                </a:solidFill>
                <a:latin typeface="YS Text"/>
              </a:rPr>
              <a:t>yield</a:t>
            </a:r>
            <a:r>
              <a:rPr lang="ru-RU" sz="2400" b="1" dirty="0">
                <a:solidFill>
                  <a:schemeClr val="accent6">
                    <a:lumMod val="50000"/>
                  </a:schemeClr>
                </a:solidFill>
                <a:latin typeface="YS Text"/>
              </a:rPr>
              <a:t>!</a:t>
            </a:r>
          </a:p>
          <a:p>
            <a:pPr algn="just"/>
            <a:endParaRPr lang="ru-RU" dirty="0">
              <a:latin typeface="YS Text"/>
            </a:endParaRPr>
          </a:p>
        </p:txBody>
      </p:sp>
    </p:spTree>
    <p:extLst>
      <p:ext uri="{BB962C8B-B14F-4D97-AF65-F5344CB8AC3E}">
        <p14:creationId xmlns:p14="http://schemas.microsoft.com/office/powerpoint/2010/main" val="4127723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89338"/>
            <a:ext cx="10936304" cy="6579476"/>
          </a:xfrm>
        </p:spPr>
        <p:txBody>
          <a:bodyPr>
            <a:normAutofit fontScale="85000" lnSpcReduction="20000"/>
          </a:bodyPr>
          <a:lstStyle/>
          <a:p>
            <a:pPr marL="0" indent="0" algn="just">
              <a:buNone/>
            </a:pPr>
            <a:r>
              <a:rPr lang="ru-RU" dirty="0">
                <a:latin typeface="YS Text"/>
              </a:rPr>
              <a:t># Создать функцию-генератор.</a:t>
            </a:r>
          </a:p>
          <a:p>
            <a:pPr marL="0" indent="0" algn="just">
              <a:buNone/>
            </a:pPr>
            <a:r>
              <a:rPr lang="en-US" b="1" dirty="0">
                <a:solidFill>
                  <a:srgbClr val="00B050"/>
                </a:solidFill>
                <a:latin typeface="YS Text"/>
              </a:rPr>
              <a:t>def </a:t>
            </a:r>
            <a:r>
              <a:rPr lang="en-US" b="1" dirty="0" err="1">
                <a:solidFill>
                  <a:srgbClr val="00B050"/>
                </a:solidFill>
                <a:latin typeface="YS Text"/>
              </a:rPr>
              <a:t>short_sequence</a:t>
            </a:r>
            <a:r>
              <a:rPr lang="en-US" b="1" dirty="0">
                <a:solidFill>
                  <a:srgbClr val="00B050"/>
                </a:solidFill>
                <a:latin typeface="YS Text"/>
              </a:rPr>
              <a:t>():</a:t>
            </a:r>
          </a:p>
          <a:p>
            <a:pPr marL="0" indent="0" algn="just">
              <a:buNone/>
            </a:pPr>
            <a:r>
              <a:rPr lang="en-US" b="1" dirty="0">
                <a:solidFill>
                  <a:srgbClr val="00B050"/>
                </a:solidFill>
                <a:latin typeface="YS Text"/>
              </a:rPr>
              <a:t>    num = 1</a:t>
            </a:r>
          </a:p>
          <a:p>
            <a:pPr marL="0" indent="0" algn="just">
              <a:buNone/>
            </a:pPr>
            <a:r>
              <a:rPr lang="en-US" b="1" dirty="0">
                <a:solidFill>
                  <a:srgbClr val="00B050"/>
                </a:solidFill>
                <a:latin typeface="YS Text"/>
              </a:rPr>
              <a:t>    while num &lt; 5:</a:t>
            </a:r>
          </a:p>
          <a:p>
            <a:pPr marL="0" indent="0" algn="just">
              <a:buNone/>
            </a:pPr>
            <a:r>
              <a:rPr lang="en-US" dirty="0">
                <a:latin typeface="YS Text"/>
              </a:rPr>
              <a:t>    # </a:t>
            </a:r>
            <a:r>
              <a:rPr lang="ru-RU" dirty="0">
                <a:latin typeface="YS Text"/>
              </a:rPr>
              <a:t>Сгенерировать значение через </a:t>
            </a:r>
            <a:r>
              <a:rPr lang="en-US" dirty="0">
                <a:latin typeface="YS Text"/>
              </a:rPr>
              <a:t>yield.</a:t>
            </a:r>
          </a:p>
          <a:p>
            <a:pPr marL="0" indent="0" algn="just">
              <a:buNone/>
            </a:pPr>
            <a:r>
              <a:rPr lang="en-US" dirty="0">
                <a:latin typeface="YS Text"/>
              </a:rPr>
              <a:t>        </a:t>
            </a:r>
            <a:r>
              <a:rPr lang="en-US" b="1" dirty="0">
                <a:solidFill>
                  <a:srgbClr val="00B050"/>
                </a:solidFill>
                <a:latin typeface="YS Text"/>
              </a:rPr>
              <a:t>yield num</a:t>
            </a:r>
          </a:p>
          <a:p>
            <a:pPr marL="0" indent="0" algn="just">
              <a:buNone/>
            </a:pPr>
            <a:r>
              <a:rPr lang="en-US" b="1" dirty="0">
                <a:solidFill>
                  <a:srgbClr val="00B050"/>
                </a:solidFill>
                <a:latin typeface="YS Text"/>
              </a:rPr>
              <a:t>        num += 1</a:t>
            </a:r>
          </a:p>
          <a:p>
            <a:pPr marL="0" indent="0" algn="just">
              <a:buNone/>
            </a:pPr>
            <a:endParaRPr lang="en-US" dirty="0">
              <a:latin typeface="YS Text"/>
            </a:endParaRPr>
          </a:p>
          <a:p>
            <a:pPr marL="0" indent="0" algn="just">
              <a:buNone/>
            </a:pPr>
            <a:r>
              <a:rPr lang="en-US" b="1" dirty="0">
                <a:solidFill>
                  <a:srgbClr val="00B050"/>
                </a:solidFill>
                <a:latin typeface="YS Text"/>
              </a:rPr>
              <a:t>step = </a:t>
            </a:r>
            <a:r>
              <a:rPr lang="en-US" b="1" dirty="0" err="1">
                <a:solidFill>
                  <a:srgbClr val="00B050"/>
                </a:solidFill>
                <a:latin typeface="YS Text"/>
              </a:rPr>
              <a:t>short_sequence</a:t>
            </a:r>
            <a:r>
              <a:rPr lang="en-US" b="1" dirty="0">
                <a:solidFill>
                  <a:srgbClr val="00B050"/>
                </a:solidFill>
                <a:latin typeface="YS Text"/>
              </a:rPr>
              <a:t>()</a:t>
            </a:r>
            <a:r>
              <a:rPr lang="ru-RU" b="1" dirty="0">
                <a:solidFill>
                  <a:srgbClr val="00B050"/>
                </a:solidFill>
                <a:latin typeface="YS Text"/>
              </a:rPr>
              <a:t> </a:t>
            </a:r>
            <a:r>
              <a:rPr lang="en-US" dirty="0">
                <a:latin typeface="YS Text"/>
              </a:rPr>
              <a:t># </a:t>
            </a:r>
            <a:r>
              <a:rPr lang="ru-RU" dirty="0">
                <a:latin typeface="YS Text"/>
              </a:rPr>
              <a:t>Здесь функция-генератор возвращает итератор.</a:t>
            </a:r>
            <a:endParaRPr lang="en-US" dirty="0">
              <a:latin typeface="YS Text"/>
            </a:endParaRPr>
          </a:p>
          <a:p>
            <a:pPr marL="0" indent="0" algn="just">
              <a:buNone/>
            </a:pPr>
            <a:r>
              <a:rPr lang="en-US" dirty="0">
                <a:latin typeface="YS Text"/>
              </a:rPr>
              <a:t># </a:t>
            </a:r>
            <a:r>
              <a:rPr lang="ru-RU" dirty="0">
                <a:latin typeface="YS Text"/>
              </a:rPr>
              <a:t>Обратиться к методу __</a:t>
            </a:r>
            <a:r>
              <a:rPr lang="en-US" dirty="0">
                <a:latin typeface="YS Text"/>
              </a:rPr>
              <a:t>next__() </a:t>
            </a:r>
            <a:r>
              <a:rPr lang="ru-RU" dirty="0">
                <a:latin typeface="YS Text"/>
              </a:rPr>
              <a:t>итератора и получить первое значение последовательности.</a:t>
            </a:r>
          </a:p>
          <a:p>
            <a:pPr marL="0" indent="0" algn="just">
              <a:buNone/>
            </a:pPr>
            <a:r>
              <a:rPr lang="en-US" b="1" dirty="0">
                <a:solidFill>
                  <a:srgbClr val="00B050"/>
                </a:solidFill>
                <a:latin typeface="YS Text"/>
              </a:rPr>
              <a:t>print(</a:t>
            </a:r>
            <a:r>
              <a:rPr lang="en-US" b="1" dirty="0" err="1">
                <a:solidFill>
                  <a:srgbClr val="00B050"/>
                </a:solidFill>
                <a:latin typeface="YS Text"/>
              </a:rPr>
              <a:t>step.__next</a:t>
            </a:r>
            <a:r>
              <a:rPr lang="en-US" b="1" dirty="0">
                <a:solidFill>
                  <a:srgbClr val="00B050"/>
                </a:solidFill>
                <a:latin typeface="YS Text"/>
              </a:rPr>
              <a:t>__())</a:t>
            </a:r>
          </a:p>
          <a:p>
            <a:pPr marL="0" indent="0" algn="just">
              <a:buNone/>
            </a:pPr>
            <a:endParaRPr lang="en-US" dirty="0">
              <a:latin typeface="YS Text"/>
            </a:endParaRPr>
          </a:p>
          <a:p>
            <a:pPr marL="0" indent="0" algn="just">
              <a:buNone/>
            </a:pPr>
            <a:r>
              <a:rPr lang="en-US" dirty="0">
                <a:latin typeface="YS Text"/>
              </a:rPr>
              <a:t># </a:t>
            </a:r>
            <a:r>
              <a:rPr lang="ru-RU" dirty="0">
                <a:latin typeface="YS Text"/>
              </a:rPr>
              <a:t>Ещё раз обратиться к методу __</a:t>
            </a:r>
            <a:r>
              <a:rPr lang="en-US" dirty="0">
                <a:latin typeface="YS Text"/>
              </a:rPr>
              <a:t>next__()</a:t>
            </a:r>
            <a:r>
              <a:rPr lang="ru-RU" dirty="0">
                <a:latin typeface="YS Text"/>
              </a:rPr>
              <a:t> и получить второе значение последовательности.</a:t>
            </a:r>
          </a:p>
          <a:p>
            <a:pPr marL="0" indent="0" algn="just">
              <a:buNone/>
            </a:pPr>
            <a:r>
              <a:rPr lang="en-US" b="1" dirty="0">
                <a:solidFill>
                  <a:srgbClr val="00B050"/>
                </a:solidFill>
                <a:latin typeface="YS Text"/>
              </a:rPr>
              <a:t>print(</a:t>
            </a:r>
            <a:r>
              <a:rPr lang="en-US" b="1" dirty="0" err="1">
                <a:solidFill>
                  <a:srgbClr val="00B050"/>
                </a:solidFill>
                <a:latin typeface="YS Text"/>
              </a:rPr>
              <a:t>step.__next</a:t>
            </a:r>
            <a:r>
              <a:rPr lang="en-US" b="1" dirty="0">
                <a:solidFill>
                  <a:srgbClr val="00B050"/>
                </a:solidFill>
                <a:latin typeface="YS Text"/>
              </a:rPr>
              <a:t>__())</a:t>
            </a:r>
            <a:endParaRPr lang="ru-RU" b="1" dirty="0">
              <a:solidFill>
                <a:srgbClr val="00B050"/>
              </a:solidFill>
              <a:latin typeface="YS Text"/>
            </a:endParaRPr>
          </a:p>
          <a:p>
            <a:pPr marL="457200" indent="-457200" algn="just">
              <a:buFont typeface="+mj-lt"/>
              <a:buAutoNum type="arabicPeriod"/>
            </a:pPr>
            <a:r>
              <a:rPr lang="ru-RU" sz="2400" dirty="0">
                <a:latin typeface="YS Text"/>
              </a:rPr>
              <a:t>При первом вызове метода </a:t>
            </a:r>
            <a:r>
              <a:rPr lang="ru-RU" sz="2400" b="1" dirty="0">
                <a:latin typeface="YS Text"/>
              </a:rPr>
              <a:t>__</a:t>
            </a:r>
            <a:r>
              <a:rPr lang="ru-RU" sz="2400" b="1" dirty="0" err="1">
                <a:latin typeface="YS Text"/>
              </a:rPr>
              <a:t>next</a:t>
            </a:r>
            <a:r>
              <a:rPr lang="ru-RU" sz="2400" b="1" dirty="0">
                <a:latin typeface="YS Text"/>
              </a:rPr>
              <a:t>__() </a:t>
            </a:r>
            <a:r>
              <a:rPr lang="ru-RU" sz="2400" dirty="0">
                <a:latin typeface="YS Text"/>
              </a:rPr>
              <a:t>инструкция </a:t>
            </a:r>
            <a:r>
              <a:rPr lang="ru-RU" sz="2400" b="1" dirty="0" err="1">
                <a:latin typeface="YS Text"/>
              </a:rPr>
              <a:t>yield</a:t>
            </a:r>
            <a:r>
              <a:rPr lang="ru-RU" sz="2400" dirty="0">
                <a:latin typeface="YS Text"/>
              </a:rPr>
              <a:t> генерирует и возвращает первое значение — 1.</a:t>
            </a:r>
          </a:p>
          <a:p>
            <a:pPr marL="457200" indent="-457200" algn="just">
              <a:buFont typeface="+mj-lt"/>
              <a:buAutoNum type="arabicPeriod"/>
            </a:pPr>
            <a:r>
              <a:rPr lang="ru-RU" sz="2400" dirty="0">
                <a:latin typeface="YS Text"/>
              </a:rPr>
              <a:t>Затем функция-генератор встаёт на паузу на выполнении цикла </a:t>
            </a:r>
            <a:r>
              <a:rPr lang="ru-RU" sz="2400" b="1" dirty="0" err="1">
                <a:latin typeface="YS Text"/>
              </a:rPr>
              <a:t>while</a:t>
            </a:r>
            <a:r>
              <a:rPr lang="ru-RU" sz="2400" dirty="0">
                <a:latin typeface="YS Text"/>
              </a:rPr>
              <a:t>, запомнив своё состояние.</a:t>
            </a:r>
          </a:p>
          <a:p>
            <a:pPr marL="457200" indent="-457200" algn="just">
              <a:buFont typeface="+mj-lt"/>
              <a:buAutoNum type="arabicPeriod"/>
            </a:pPr>
            <a:r>
              <a:rPr lang="ru-RU" sz="2400" dirty="0">
                <a:latin typeface="YS Text"/>
              </a:rPr>
              <a:t>При втором вызове метода </a:t>
            </a:r>
            <a:r>
              <a:rPr lang="ru-RU" sz="2400" b="1" dirty="0">
                <a:latin typeface="YS Text"/>
              </a:rPr>
              <a:t>__</a:t>
            </a:r>
            <a:r>
              <a:rPr lang="ru-RU" sz="2400" b="1" dirty="0" err="1">
                <a:latin typeface="YS Text"/>
              </a:rPr>
              <a:t>next</a:t>
            </a:r>
            <a:r>
              <a:rPr lang="ru-RU" sz="2400" b="1" dirty="0">
                <a:latin typeface="YS Text"/>
              </a:rPr>
              <a:t>__() </a:t>
            </a:r>
            <a:r>
              <a:rPr lang="ru-RU" sz="2400" dirty="0">
                <a:latin typeface="YS Text"/>
              </a:rPr>
              <a:t>функция-генератор продолжает работу с того места, на котором остановилась, и возвращает следующее значение — 2.</a:t>
            </a:r>
          </a:p>
        </p:txBody>
      </p:sp>
    </p:spTree>
    <p:extLst>
      <p:ext uri="{BB962C8B-B14F-4D97-AF65-F5344CB8AC3E}">
        <p14:creationId xmlns:p14="http://schemas.microsoft.com/office/powerpoint/2010/main" val="3145297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Что такое генераторное выражение</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6132786"/>
          </a:xfrm>
        </p:spPr>
        <p:txBody>
          <a:bodyPr>
            <a:normAutofit fontScale="77500" lnSpcReduction="20000"/>
          </a:bodyPr>
          <a:lstStyle/>
          <a:p>
            <a:pPr marL="0" indent="0" algn="just">
              <a:buNone/>
            </a:pPr>
            <a:r>
              <a:rPr lang="ru-RU" sz="2300" b="1" dirty="0">
                <a:solidFill>
                  <a:schemeClr val="accent6">
                    <a:lumMod val="50000"/>
                  </a:schemeClr>
                </a:solidFill>
                <a:latin typeface="YS Text"/>
              </a:rPr>
              <a:t>Генераторное выражение </a:t>
            </a:r>
            <a:r>
              <a:rPr lang="ru-RU" sz="2300" dirty="0">
                <a:latin typeface="YS Text"/>
              </a:rPr>
              <a:t>— это упрощённый синтаксис для создания генератора.</a:t>
            </a:r>
          </a:p>
          <a:p>
            <a:pPr marL="0" indent="0" algn="just">
              <a:buNone/>
            </a:pPr>
            <a:r>
              <a:rPr lang="ru-RU" sz="2300" dirty="0">
                <a:latin typeface="YS Text"/>
              </a:rPr>
              <a:t>Очень часто генераторы могут быть записаны с использованием синтаксиса, похожего на </a:t>
            </a:r>
            <a:r>
              <a:rPr lang="ru-RU" sz="2300" dirty="0" err="1">
                <a:latin typeface="YS Text"/>
              </a:rPr>
              <a:t>list</a:t>
            </a:r>
            <a:r>
              <a:rPr lang="ru-RU" sz="2300" dirty="0">
                <a:latin typeface="YS Text"/>
              </a:rPr>
              <a:t> </a:t>
            </a:r>
            <a:r>
              <a:rPr lang="ru-RU" sz="2300" dirty="0" err="1">
                <a:latin typeface="YS Text"/>
              </a:rPr>
              <a:t>comprehension</a:t>
            </a:r>
            <a:r>
              <a:rPr lang="ru-RU" sz="2300" dirty="0">
                <a:latin typeface="YS Text"/>
              </a:rPr>
              <a:t>, но не в квадратных, а в круглых скобках.</a:t>
            </a:r>
          </a:p>
          <a:p>
            <a:pPr marL="0" indent="0" algn="just">
              <a:buNone/>
            </a:pPr>
            <a:r>
              <a:rPr lang="ru-RU" sz="2300" dirty="0">
                <a:latin typeface="YS Text"/>
              </a:rPr>
              <a:t>Генераторы требуют меньше памяти, и если нужно сформировать последовательность, то выгоднее формировать её именно через генератор или генераторное выражение, а не через </a:t>
            </a:r>
            <a:r>
              <a:rPr lang="ru-RU" sz="2300" dirty="0" err="1">
                <a:latin typeface="YS Text"/>
              </a:rPr>
              <a:t>list</a:t>
            </a:r>
            <a:r>
              <a:rPr lang="ru-RU" sz="2300" dirty="0">
                <a:latin typeface="YS Text"/>
              </a:rPr>
              <a:t> </a:t>
            </a:r>
            <a:r>
              <a:rPr lang="ru-RU" sz="2300" dirty="0" err="1">
                <a:latin typeface="YS Text"/>
              </a:rPr>
              <a:t>comprehension</a:t>
            </a:r>
            <a:r>
              <a:rPr lang="ru-RU" sz="2300" dirty="0">
                <a:latin typeface="YS Text"/>
              </a:rPr>
              <a:t>.</a:t>
            </a:r>
          </a:p>
          <a:p>
            <a:pPr marL="0" indent="0" algn="just">
              <a:buNone/>
            </a:pPr>
            <a:r>
              <a:rPr lang="ru-RU" sz="2100" b="1" dirty="0">
                <a:latin typeface="YS Text"/>
              </a:rPr>
              <a:t># Так описывается генераторное выражение.</a:t>
            </a:r>
          </a:p>
          <a:p>
            <a:pPr marL="0" indent="0" algn="just">
              <a:buNone/>
            </a:pPr>
            <a:r>
              <a:rPr lang="en-US" sz="2100" b="1" dirty="0" err="1">
                <a:solidFill>
                  <a:srgbClr val="00B050"/>
                </a:solidFill>
                <a:latin typeface="YS Text"/>
              </a:rPr>
              <a:t>simple_generator</a:t>
            </a:r>
            <a:r>
              <a:rPr lang="en-US" sz="2100" b="1" dirty="0">
                <a:solidFill>
                  <a:srgbClr val="00B050"/>
                </a:solidFill>
                <a:latin typeface="YS Text"/>
              </a:rPr>
              <a:t> = (digit for digit in range(2))</a:t>
            </a:r>
          </a:p>
          <a:p>
            <a:pPr marL="0" indent="0" algn="just">
              <a:buNone/>
            </a:pPr>
            <a:endParaRPr lang="en-US" sz="2100" dirty="0">
              <a:latin typeface="YS Text"/>
            </a:endParaRPr>
          </a:p>
          <a:p>
            <a:pPr marL="0" indent="0" algn="just">
              <a:buNone/>
            </a:pPr>
            <a:r>
              <a:rPr lang="en-US" sz="2100" b="1" dirty="0">
                <a:solidFill>
                  <a:srgbClr val="00B050"/>
                </a:solidFill>
                <a:latin typeface="YS Text"/>
              </a:rPr>
              <a:t>print(type(</a:t>
            </a:r>
            <a:r>
              <a:rPr lang="en-US" sz="2100" b="1" dirty="0" err="1">
                <a:solidFill>
                  <a:srgbClr val="00B050"/>
                </a:solidFill>
                <a:latin typeface="YS Text"/>
              </a:rPr>
              <a:t>simple_generator</a:t>
            </a:r>
            <a:r>
              <a:rPr lang="en-US" sz="2100" b="1" dirty="0">
                <a:solidFill>
                  <a:srgbClr val="00B050"/>
                </a:solidFill>
                <a:latin typeface="YS Text"/>
              </a:rPr>
              <a:t>))</a:t>
            </a:r>
          </a:p>
          <a:p>
            <a:pPr marL="0" indent="0" algn="just">
              <a:buNone/>
            </a:pPr>
            <a:r>
              <a:rPr lang="en-US" sz="2100" b="1" dirty="0">
                <a:solidFill>
                  <a:srgbClr val="00B050"/>
                </a:solidFill>
                <a:latin typeface="YS Text"/>
              </a:rPr>
              <a:t>print(</a:t>
            </a:r>
            <a:r>
              <a:rPr lang="en-US" sz="2100" b="1" dirty="0" err="1">
                <a:solidFill>
                  <a:srgbClr val="00B050"/>
                </a:solidFill>
                <a:latin typeface="YS Text"/>
              </a:rPr>
              <a:t>simple_generator.__next</a:t>
            </a:r>
            <a:r>
              <a:rPr lang="en-US" sz="2100" b="1" dirty="0">
                <a:solidFill>
                  <a:srgbClr val="00B050"/>
                </a:solidFill>
                <a:latin typeface="YS Text"/>
              </a:rPr>
              <a:t>__())</a:t>
            </a:r>
          </a:p>
          <a:p>
            <a:pPr marL="0" indent="0" algn="just">
              <a:buNone/>
            </a:pPr>
            <a:r>
              <a:rPr lang="en-US" sz="2100" b="1" dirty="0">
                <a:solidFill>
                  <a:srgbClr val="00B050"/>
                </a:solidFill>
                <a:latin typeface="YS Text"/>
              </a:rPr>
              <a:t>print(</a:t>
            </a:r>
            <a:r>
              <a:rPr lang="en-US" sz="2100" b="1" dirty="0" err="1">
                <a:solidFill>
                  <a:srgbClr val="00B050"/>
                </a:solidFill>
                <a:latin typeface="YS Text"/>
              </a:rPr>
              <a:t>simple_generator.__next</a:t>
            </a:r>
            <a:r>
              <a:rPr lang="en-US" sz="2100" b="1" dirty="0">
                <a:solidFill>
                  <a:srgbClr val="00B050"/>
                </a:solidFill>
                <a:latin typeface="YS Text"/>
              </a:rPr>
              <a:t>__())</a:t>
            </a:r>
          </a:p>
          <a:p>
            <a:pPr marL="0" indent="0" algn="just">
              <a:buNone/>
            </a:pPr>
            <a:endParaRPr lang="en-US" sz="2100" b="1" dirty="0">
              <a:solidFill>
                <a:srgbClr val="00B050"/>
              </a:solidFill>
              <a:latin typeface="YS Text"/>
            </a:endParaRPr>
          </a:p>
          <a:p>
            <a:pPr marL="0" indent="0" algn="just">
              <a:buNone/>
            </a:pPr>
            <a:r>
              <a:rPr lang="en-US" sz="2100" dirty="0">
                <a:latin typeface="YS Text"/>
              </a:rPr>
              <a:t># </a:t>
            </a:r>
            <a:r>
              <a:rPr lang="ru-RU" sz="2100" dirty="0">
                <a:latin typeface="YS Text"/>
              </a:rPr>
              <a:t>Выведется:</a:t>
            </a:r>
          </a:p>
          <a:p>
            <a:pPr marL="0" indent="0" algn="just">
              <a:buNone/>
            </a:pPr>
            <a:r>
              <a:rPr lang="ru-RU" sz="2100" dirty="0">
                <a:latin typeface="YS Text"/>
              </a:rPr>
              <a:t># </a:t>
            </a:r>
            <a:r>
              <a:rPr lang="ru-RU" sz="2100" b="1" dirty="0">
                <a:solidFill>
                  <a:srgbClr val="00B050"/>
                </a:solidFill>
                <a:latin typeface="YS Text"/>
              </a:rPr>
              <a:t>&lt;</a:t>
            </a:r>
            <a:r>
              <a:rPr lang="en-US" sz="2100" b="1" dirty="0">
                <a:solidFill>
                  <a:srgbClr val="00B050"/>
                </a:solidFill>
                <a:latin typeface="YS Text"/>
              </a:rPr>
              <a:t>class 'generator'&gt;</a:t>
            </a:r>
          </a:p>
          <a:p>
            <a:pPr marL="0" indent="0" algn="just">
              <a:buNone/>
            </a:pPr>
            <a:r>
              <a:rPr lang="en-US" sz="2100" dirty="0">
                <a:latin typeface="YS Text"/>
              </a:rPr>
              <a:t># </a:t>
            </a:r>
            <a:r>
              <a:rPr lang="en-US" sz="2100" b="1" dirty="0">
                <a:solidFill>
                  <a:srgbClr val="00B050"/>
                </a:solidFill>
                <a:latin typeface="YS Text"/>
              </a:rPr>
              <a:t>0</a:t>
            </a:r>
          </a:p>
          <a:p>
            <a:pPr marL="0" indent="0" algn="just">
              <a:buNone/>
            </a:pPr>
            <a:r>
              <a:rPr lang="en-US" sz="2100" dirty="0">
                <a:latin typeface="YS Text"/>
              </a:rPr>
              <a:t># </a:t>
            </a:r>
            <a:r>
              <a:rPr lang="en-US" sz="2100" b="1" dirty="0">
                <a:solidFill>
                  <a:srgbClr val="00B050"/>
                </a:solidFill>
                <a:latin typeface="YS Text"/>
              </a:rPr>
              <a:t>1 </a:t>
            </a:r>
            <a:endParaRPr lang="ru-RU" sz="2100" b="1" dirty="0">
              <a:solidFill>
                <a:srgbClr val="00B050"/>
              </a:solidFill>
              <a:latin typeface="YS Text"/>
            </a:endParaRPr>
          </a:p>
          <a:p>
            <a:pPr marL="0" indent="0" algn="just">
              <a:buNone/>
            </a:pPr>
            <a:endParaRPr lang="ru-RU" sz="2100" b="1" dirty="0">
              <a:solidFill>
                <a:srgbClr val="00B050"/>
              </a:solidFill>
              <a:latin typeface="YS Text"/>
            </a:endParaRPr>
          </a:p>
          <a:p>
            <a:pPr marL="0" indent="0" algn="just">
              <a:buNone/>
            </a:pPr>
            <a:r>
              <a:rPr lang="en-US" sz="2100" b="1" dirty="0">
                <a:solidFill>
                  <a:schemeClr val="tx1"/>
                </a:solidFill>
                <a:latin typeface="YS Text"/>
              </a:rPr>
              <a:t># </a:t>
            </a:r>
            <a:r>
              <a:rPr lang="ru-RU" sz="2100" b="1" dirty="0">
                <a:solidFill>
                  <a:schemeClr val="tx1"/>
                </a:solidFill>
                <a:latin typeface="YS Text"/>
              </a:rPr>
              <a:t>А т</a:t>
            </a:r>
            <a:r>
              <a:rPr lang="en-US" sz="2100" b="1" dirty="0" err="1">
                <a:solidFill>
                  <a:schemeClr val="tx1"/>
                </a:solidFill>
                <a:latin typeface="YS Text"/>
              </a:rPr>
              <a:t>ак</a:t>
            </a:r>
            <a:r>
              <a:rPr lang="en-US" sz="2100" b="1" dirty="0">
                <a:solidFill>
                  <a:schemeClr val="tx1"/>
                </a:solidFill>
                <a:latin typeface="YS Text"/>
              </a:rPr>
              <a:t> </a:t>
            </a:r>
            <a:r>
              <a:rPr lang="en-US" sz="2100" b="1" dirty="0" err="1">
                <a:solidFill>
                  <a:schemeClr val="tx1"/>
                </a:solidFill>
                <a:latin typeface="YS Text"/>
              </a:rPr>
              <a:t>описыва</a:t>
            </a:r>
            <a:r>
              <a:rPr lang="ru-RU" sz="2100" b="1" dirty="0">
                <a:solidFill>
                  <a:schemeClr val="tx1"/>
                </a:solidFill>
                <a:latin typeface="YS Text"/>
              </a:rPr>
              <a:t>ли бы</a:t>
            </a:r>
            <a:r>
              <a:rPr lang="en-US" sz="2100" b="1" dirty="0">
                <a:solidFill>
                  <a:schemeClr val="tx1"/>
                </a:solidFill>
                <a:latin typeface="YS Text"/>
              </a:rPr>
              <a:t> </a:t>
            </a:r>
            <a:r>
              <a:rPr lang="en-US" sz="2100" b="1" dirty="0" err="1">
                <a:solidFill>
                  <a:schemeClr val="tx1"/>
                </a:solidFill>
                <a:latin typeface="YS Text"/>
              </a:rPr>
              <a:t>список</a:t>
            </a:r>
            <a:r>
              <a:rPr lang="en-US" sz="2100" b="1" dirty="0">
                <a:solidFill>
                  <a:schemeClr val="tx1"/>
                </a:solidFill>
                <a:latin typeface="YS Text"/>
              </a:rPr>
              <a:t> </a:t>
            </a:r>
            <a:r>
              <a:rPr lang="en-US" sz="2100" b="1" dirty="0" err="1">
                <a:solidFill>
                  <a:schemeClr val="tx1"/>
                </a:solidFill>
                <a:latin typeface="YS Text"/>
              </a:rPr>
              <a:t>через</a:t>
            </a:r>
            <a:r>
              <a:rPr lang="en-US" sz="2100" b="1" dirty="0">
                <a:solidFill>
                  <a:schemeClr val="tx1"/>
                </a:solidFill>
                <a:latin typeface="YS Text"/>
              </a:rPr>
              <a:t> list comprehension.</a:t>
            </a:r>
          </a:p>
          <a:p>
            <a:pPr marL="0" indent="0" algn="just">
              <a:buNone/>
            </a:pPr>
            <a:r>
              <a:rPr lang="en-US" sz="2100" b="1" dirty="0" err="1">
                <a:solidFill>
                  <a:srgbClr val="00B050"/>
                </a:solidFill>
                <a:latin typeface="YS Text"/>
              </a:rPr>
              <a:t>simple_list</a:t>
            </a:r>
            <a:r>
              <a:rPr lang="en-US" sz="2100" b="1" dirty="0">
                <a:solidFill>
                  <a:srgbClr val="00B050"/>
                </a:solidFill>
                <a:latin typeface="YS Text"/>
              </a:rPr>
              <a:t> = [digit for digit in range(2)]</a:t>
            </a:r>
          </a:p>
          <a:p>
            <a:pPr marL="0" indent="0" algn="just">
              <a:buNone/>
            </a:pPr>
            <a:endParaRPr lang="ru-RU" b="1" dirty="0">
              <a:solidFill>
                <a:srgbClr val="00B050"/>
              </a:solidFill>
              <a:latin typeface="YS Text"/>
            </a:endParaRPr>
          </a:p>
        </p:txBody>
      </p:sp>
    </p:spTree>
    <p:extLst>
      <p:ext uri="{BB962C8B-B14F-4D97-AF65-F5344CB8AC3E}">
        <p14:creationId xmlns:p14="http://schemas.microsoft.com/office/powerpoint/2010/main" val="22902961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1"/>
            <a:ext cx="10936304" cy="1204601"/>
          </a:xfrm>
        </p:spPr>
        <p:txBody>
          <a:bodyPr>
            <a:normAutofit fontScale="90000"/>
          </a:bodyPr>
          <a:lstStyle/>
          <a:p>
            <a:pPr algn="ctr"/>
            <a:r>
              <a:rPr lang="ru-RU" sz="4900" b="1" dirty="0">
                <a:effectLst/>
                <a:latin typeface="YS Text"/>
              </a:rPr>
              <a:t>В чём разница между итератором и генератором</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397876"/>
            <a:ext cx="10936304" cy="5270938"/>
          </a:xfrm>
        </p:spPr>
        <p:txBody>
          <a:bodyPr/>
          <a:lstStyle/>
          <a:p>
            <a:pPr marL="0" indent="0" algn="just">
              <a:buNone/>
            </a:pPr>
            <a:r>
              <a:rPr lang="ru-RU" dirty="0">
                <a:latin typeface="YS Text"/>
              </a:rPr>
              <a:t>Все генераторы — итераторы, но не все итераторы — генераторы. Итератор — более общая концепция.</a:t>
            </a:r>
          </a:p>
          <a:p>
            <a:pPr marL="0" indent="0" algn="just">
              <a:buNone/>
            </a:pPr>
            <a:r>
              <a:rPr lang="ru-RU" dirty="0">
                <a:latin typeface="YS Text"/>
              </a:rPr>
              <a:t>Генератор хранит в памяти не элементы, а внутреннее состояние для вычисления очередного элемента. На каждом шаге можно вычислить только следующий элемент, но не предыдущий. </a:t>
            </a:r>
          </a:p>
          <a:p>
            <a:pPr marL="0" indent="0" algn="just">
              <a:buNone/>
            </a:pPr>
            <a:r>
              <a:rPr lang="ru-RU" dirty="0">
                <a:latin typeface="YS Text"/>
              </a:rPr>
              <a:t>Генератор, исчерпавший все свои значения, помнит своё состояние («я всё сделал!»), поэтому повторное обращение к нему не вернёт никакого результата. Второй раз подряд </a:t>
            </a:r>
            <a:r>
              <a:rPr lang="ru-RU" dirty="0" err="1">
                <a:latin typeface="YS Text"/>
              </a:rPr>
              <a:t>проитерироваться</a:t>
            </a:r>
            <a:r>
              <a:rPr lang="ru-RU" dirty="0">
                <a:latin typeface="YS Text"/>
              </a:rPr>
              <a:t> по генератору не получится.</a:t>
            </a:r>
            <a:endParaRPr lang="ru-RU" i="1" dirty="0">
              <a:latin typeface="YS Text"/>
            </a:endParaRPr>
          </a:p>
        </p:txBody>
      </p:sp>
    </p:spTree>
    <p:extLst>
      <p:ext uri="{BB962C8B-B14F-4D97-AF65-F5344CB8AC3E}">
        <p14:creationId xmlns:p14="http://schemas.microsoft.com/office/powerpoint/2010/main" val="27966494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Что в итоге</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normAutofit lnSpcReduction="10000"/>
          </a:bodyPr>
          <a:lstStyle/>
          <a:p>
            <a:pPr algn="just"/>
            <a:r>
              <a:rPr lang="ru-RU" dirty="0">
                <a:latin typeface="YS Text"/>
              </a:rPr>
              <a:t>Итерируемым называют объект, который содержит элементы, и эти элементы можно перебрать. Каждый шаг перебора — это итерация.</a:t>
            </a:r>
          </a:p>
          <a:p>
            <a:pPr algn="just"/>
            <a:r>
              <a:rPr lang="ru-RU" dirty="0">
                <a:latin typeface="YS Text"/>
              </a:rPr>
              <a:t>Чтобы проверить, итерируется объект или нет, можно применить к нему функцию </a:t>
            </a:r>
            <a:r>
              <a:rPr lang="ru-RU" b="1" dirty="0" err="1">
                <a:solidFill>
                  <a:schemeClr val="accent6">
                    <a:lumMod val="50000"/>
                  </a:schemeClr>
                </a:solidFill>
                <a:latin typeface="YS Text"/>
              </a:rPr>
              <a:t>iter</a:t>
            </a:r>
            <a:r>
              <a:rPr lang="ru-RU" b="1" dirty="0">
                <a:solidFill>
                  <a:schemeClr val="accent6">
                    <a:lumMod val="50000"/>
                  </a:schemeClr>
                </a:solidFill>
                <a:latin typeface="YS Text"/>
              </a:rPr>
              <a:t>()</a:t>
            </a:r>
            <a:r>
              <a:rPr lang="ru-RU" dirty="0">
                <a:solidFill>
                  <a:schemeClr val="accent6">
                    <a:lumMod val="50000"/>
                  </a:schemeClr>
                </a:solidFill>
                <a:latin typeface="YS Text"/>
              </a:rPr>
              <a:t>: </a:t>
            </a:r>
            <a:r>
              <a:rPr lang="ru-RU" dirty="0">
                <a:latin typeface="YS Text"/>
              </a:rPr>
              <a:t>для итерируемых объектов она вернёт объект итератора, а для </a:t>
            </a:r>
            <a:r>
              <a:rPr lang="ru-RU" dirty="0" err="1">
                <a:latin typeface="YS Text"/>
              </a:rPr>
              <a:t>неитерируемых</a:t>
            </a:r>
            <a:r>
              <a:rPr lang="ru-RU" dirty="0">
                <a:latin typeface="YS Text"/>
              </a:rPr>
              <a:t> — ошибку </a:t>
            </a:r>
            <a:r>
              <a:rPr lang="ru-RU" b="1" dirty="0" err="1">
                <a:latin typeface="YS Text"/>
              </a:rPr>
              <a:t>object</a:t>
            </a:r>
            <a:r>
              <a:rPr lang="ru-RU" b="1" dirty="0">
                <a:latin typeface="YS Text"/>
              </a:rPr>
              <a:t> </a:t>
            </a:r>
            <a:r>
              <a:rPr lang="ru-RU" b="1" dirty="0" err="1">
                <a:latin typeface="YS Text"/>
              </a:rPr>
              <a:t>is</a:t>
            </a:r>
            <a:r>
              <a:rPr lang="ru-RU" b="1" dirty="0">
                <a:latin typeface="YS Text"/>
              </a:rPr>
              <a:t> </a:t>
            </a:r>
            <a:r>
              <a:rPr lang="ru-RU" b="1" dirty="0" err="1">
                <a:latin typeface="YS Text"/>
              </a:rPr>
              <a:t>not</a:t>
            </a:r>
            <a:r>
              <a:rPr lang="ru-RU" b="1" dirty="0">
                <a:latin typeface="YS Text"/>
              </a:rPr>
              <a:t> </a:t>
            </a:r>
            <a:r>
              <a:rPr lang="ru-RU" b="1" dirty="0" err="1">
                <a:latin typeface="YS Text"/>
              </a:rPr>
              <a:t>iterable</a:t>
            </a:r>
            <a:r>
              <a:rPr lang="ru-RU" b="1" dirty="0">
                <a:latin typeface="YS Text"/>
              </a:rPr>
              <a:t>.</a:t>
            </a:r>
          </a:p>
          <a:p>
            <a:pPr algn="just"/>
            <a:r>
              <a:rPr lang="ru-RU" dirty="0">
                <a:latin typeface="YS Text"/>
              </a:rPr>
              <a:t>Любой итерируемый объект содержит метод </a:t>
            </a:r>
            <a:r>
              <a:rPr lang="ru-RU" b="1" dirty="0">
                <a:solidFill>
                  <a:schemeClr val="accent6">
                    <a:lumMod val="50000"/>
                  </a:schemeClr>
                </a:solidFill>
                <a:latin typeface="YS Text"/>
              </a:rPr>
              <a:t>__</a:t>
            </a:r>
            <a:r>
              <a:rPr lang="ru-RU" b="1" dirty="0" err="1">
                <a:solidFill>
                  <a:schemeClr val="accent6">
                    <a:lumMod val="50000"/>
                  </a:schemeClr>
                </a:solidFill>
                <a:latin typeface="YS Text"/>
              </a:rPr>
              <a:t>iter</a:t>
            </a:r>
            <a:r>
              <a:rPr lang="ru-RU" b="1" dirty="0">
                <a:solidFill>
                  <a:schemeClr val="accent6">
                    <a:lumMod val="50000"/>
                  </a:schemeClr>
                </a:solidFill>
                <a:latin typeface="YS Text"/>
              </a:rPr>
              <a:t>__()</a:t>
            </a:r>
            <a:r>
              <a:rPr lang="ru-RU" dirty="0">
                <a:solidFill>
                  <a:schemeClr val="accent6">
                    <a:lumMod val="50000"/>
                  </a:schemeClr>
                </a:solidFill>
                <a:latin typeface="YS Text"/>
              </a:rPr>
              <a:t>, </a:t>
            </a:r>
            <a:r>
              <a:rPr lang="ru-RU" dirty="0">
                <a:latin typeface="YS Text"/>
              </a:rPr>
              <a:t>а объект итератора — метод </a:t>
            </a:r>
            <a:r>
              <a:rPr lang="ru-RU" b="1" dirty="0">
                <a:solidFill>
                  <a:schemeClr val="accent6">
                    <a:lumMod val="50000"/>
                  </a:schemeClr>
                </a:solidFill>
                <a:latin typeface="YS Text"/>
              </a:rPr>
              <a:t>__</a:t>
            </a:r>
            <a:r>
              <a:rPr lang="ru-RU" b="1" dirty="0" err="1">
                <a:solidFill>
                  <a:schemeClr val="accent6">
                    <a:lumMod val="50000"/>
                  </a:schemeClr>
                </a:solidFill>
                <a:latin typeface="YS Text"/>
              </a:rPr>
              <a:t>next</a:t>
            </a:r>
            <a:r>
              <a:rPr lang="ru-RU" b="1" dirty="0">
                <a:solidFill>
                  <a:schemeClr val="accent6">
                    <a:lumMod val="50000"/>
                  </a:schemeClr>
                </a:solidFill>
                <a:latin typeface="YS Text"/>
              </a:rPr>
              <a:t>__()</a:t>
            </a:r>
            <a:r>
              <a:rPr lang="ru-RU" dirty="0">
                <a:solidFill>
                  <a:schemeClr val="accent6">
                    <a:lumMod val="50000"/>
                  </a:schemeClr>
                </a:solidFill>
                <a:latin typeface="YS Text"/>
              </a:rPr>
              <a:t>.</a:t>
            </a:r>
          </a:p>
          <a:p>
            <a:pPr algn="just"/>
            <a:r>
              <a:rPr lang="ru-RU" dirty="0">
                <a:latin typeface="YS Text"/>
              </a:rPr>
              <a:t>Чтобы создать собственный итерируемый объект, нужно для этого объекта реализовать методы </a:t>
            </a:r>
            <a:r>
              <a:rPr lang="ru-RU" b="1" dirty="0">
                <a:latin typeface="YS Text"/>
              </a:rPr>
              <a:t>__</a:t>
            </a:r>
            <a:r>
              <a:rPr lang="ru-RU" b="1" dirty="0" err="1">
                <a:latin typeface="YS Text"/>
              </a:rPr>
              <a:t>iter</a:t>
            </a:r>
            <a:r>
              <a:rPr lang="ru-RU" b="1" dirty="0">
                <a:latin typeface="YS Text"/>
              </a:rPr>
              <a:t>__(), __</a:t>
            </a:r>
            <a:r>
              <a:rPr lang="ru-RU" b="1" dirty="0" err="1">
                <a:latin typeface="YS Text"/>
              </a:rPr>
              <a:t>next</a:t>
            </a:r>
            <a:r>
              <a:rPr lang="ru-RU" b="1" dirty="0">
                <a:latin typeface="YS Text"/>
              </a:rPr>
              <a:t>__() </a:t>
            </a:r>
            <a:r>
              <a:rPr lang="ru-RU" dirty="0">
                <a:latin typeface="YS Text"/>
              </a:rPr>
              <a:t>и выброс исключения </a:t>
            </a:r>
            <a:r>
              <a:rPr lang="ru-RU" b="1" dirty="0" err="1">
                <a:latin typeface="YS Text"/>
              </a:rPr>
              <a:t>StopIteration</a:t>
            </a:r>
            <a:r>
              <a:rPr lang="ru-RU" dirty="0">
                <a:latin typeface="YS Text"/>
              </a:rPr>
              <a:t> на случай, если значения итератора исчерпаются.</a:t>
            </a:r>
          </a:p>
          <a:p>
            <a:pPr algn="just"/>
            <a:r>
              <a:rPr lang="ru-RU" b="1" dirty="0">
                <a:solidFill>
                  <a:schemeClr val="accent6">
                    <a:lumMod val="50000"/>
                  </a:schemeClr>
                </a:solidFill>
                <a:latin typeface="YS Text"/>
              </a:rPr>
              <a:t>Генератор</a:t>
            </a:r>
            <a:r>
              <a:rPr lang="ru-RU" dirty="0">
                <a:latin typeface="YS Text"/>
              </a:rPr>
              <a:t> — это подвид итератора: функция, которая генерирует значения. Его использование помогает экономить место в оперативной памяти.</a:t>
            </a:r>
          </a:p>
          <a:p>
            <a:pPr algn="just"/>
            <a:r>
              <a:rPr lang="ru-RU" dirty="0">
                <a:latin typeface="YS Text"/>
              </a:rPr>
              <a:t>Генератор объявляется как обычная функция, но вместо инструкции </a:t>
            </a:r>
            <a:r>
              <a:rPr lang="ru-RU" dirty="0" err="1">
                <a:latin typeface="YS Text"/>
              </a:rPr>
              <a:t>return</a:t>
            </a:r>
            <a:r>
              <a:rPr lang="ru-RU" dirty="0">
                <a:latin typeface="YS Text"/>
              </a:rPr>
              <a:t> в нём используется </a:t>
            </a:r>
            <a:r>
              <a:rPr lang="ru-RU" b="1" dirty="0" err="1">
                <a:solidFill>
                  <a:schemeClr val="accent6">
                    <a:lumMod val="50000"/>
                  </a:schemeClr>
                </a:solidFill>
                <a:latin typeface="YS Text"/>
              </a:rPr>
              <a:t>yield</a:t>
            </a:r>
            <a:r>
              <a:rPr lang="ru-RU" dirty="0">
                <a:latin typeface="YS Text"/>
              </a:rPr>
              <a:t>. Инструкция </a:t>
            </a:r>
            <a:r>
              <a:rPr lang="ru-RU" dirty="0" err="1">
                <a:latin typeface="YS Text"/>
              </a:rPr>
              <a:t>return</a:t>
            </a:r>
            <a:r>
              <a:rPr lang="ru-RU" dirty="0">
                <a:latin typeface="YS Text"/>
              </a:rPr>
              <a:t> завершает работу функции, а </a:t>
            </a:r>
            <a:r>
              <a:rPr lang="ru-RU" dirty="0" err="1">
                <a:latin typeface="YS Text"/>
              </a:rPr>
              <a:t>yield</a:t>
            </a:r>
            <a:r>
              <a:rPr lang="ru-RU" dirty="0">
                <a:latin typeface="YS Text"/>
              </a:rPr>
              <a:t> лишь приостанавливает её и при этом возвращает какое-то значение.</a:t>
            </a:r>
          </a:p>
          <a:p>
            <a:pPr algn="just"/>
            <a:r>
              <a:rPr lang="ru-RU" dirty="0">
                <a:latin typeface="YS Text"/>
              </a:rPr>
              <a:t>Генератор можно перебрать в цикле только один раз.</a:t>
            </a:r>
          </a:p>
          <a:p>
            <a:pPr algn="just"/>
            <a:r>
              <a:rPr lang="ru-RU" b="1" dirty="0">
                <a:solidFill>
                  <a:schemeClr val="accent6">
                    <a:lumMod val="50000"/>
                  </a:schemeClr>
                </a:solidFill>
                <a:latin typeface="YS Text"/>
              </a:rPr>
              <a:t>Генераторное выражение</a:t>
            </a:r>
            <a:r>
              <a:rPr lang="ru-RU" dirty="0">
                <a:solidFill>
                  <a:schemeClr val="accent6">
                    <a:lumMod val="50000"/>
                  </a:schemeClr>
                </a:solidFill>
                <a:latin typeface="YS Text"/>
              </a:rPr>
              <a:t> </a:t>
            </a:r>
            <a:r>
              <a:rPr lang="ru-RU" dirty="0">
                <a:latin typeface="YS Text"/>
              </a:rPr>
              <a:t>— это упрощённый синтаксис для создания генератора.</a:t>
            </a:r>
          </a:p>
          <a:p>
            <a:pPr marL="0" indent="0" algn="just">
              <a:buNone/>
            </a:pPr>
            <a:r>
              <a:rPr lang="ru-RU" dirty="0">
                <a:latin typeface="YS Text"/>
              </a:rPr>
              <a:t>	</a:t>
            </a:r>
            <a:r>
              <a:rPr lang="ru-RU" b="1" dirty="0" err="1">
                <a:solidFill>
                  <a:srgbClr val="00B050"/>
                </a:solidFill>
                <a:latin typeface="YS Text"/>
              </a:rPr>
              <a:t>simple_generator</a:t>
            </a:r>
            <a:r>
              <a:rPr lang="ru-RU" b="1" dirty="0">
                <a:solidFill>
                  <a:srgbClr val="00B050"/>
                </a:solidFill>
                <a:latin typeface="YS Text"/>
              </a:rPr>
              <a:t> = (</a:t>
            </a:r>
            <a:r>
              <a:rPr lang="ru-RU" b="1" dirty="0" err="1">
                <a:solidFill>
                  <a:srgbClr val="00B050"/>
                </a:solidFill>
                <a:latin typeface="YS Text"/>
              </a:rPr>
              <a:t>digit</a:t>
            </a:r>
            <a:r>
              <a:rPr lang="ru-RU" b="1" dirty="0">
                <a:solidFill>
                  <a:srgbClr val="00B050"/>
                </a:solidFill>
                <a:latin typeface="YS Text"/>
              </a:rPr>
              <a:t> </a:t>
            </a:r>
            <a:r>
              <a:rPr lang="ru-RU" b="1" dirty="0" err="1">
                <a:solidFill>
                  <a:srgbClr val="00B050"/>
                </a:solidFill>
                <a:latin typeface="YS Text"/>
              </a:rPr>
              <a:t>for</a:t>
            </a:r>
            <a:r>
              <a:rPr lang="ru-RU" b="1" dirty="0">
                <a:solidFill>
                  <a:srgbClr val="00B050"/>
                </a:solidFill>
                <a:latin typeface="YS Text"/>
              </a:rPr>
              <a:t> </a:t>
            </a:r>
            <a:r>
              <a:rPr lang="ru-RU" b="1" dirty="0" err="1">
                <a:solidFill>
                  <a:srgbClr val="00B050"/>
                </a:solidFill>
                <a:latin typeface="YS Text"/>
              </a:rPr>
              <a:t>digit</a:t>
            </a:r>
            <a:r>
              <a:rPr lang="ru-RU" b="1" dirty="0">
                <a:solidFill>
                  <a:srgbClr val="00B050"/>
                </a:solidFill>
                <a:latin typeface="YS Text"/>
              </a:rPr>
              <a:t> </a:t>
            </a:r>
            <a:r>
              <a:rPr lang="ru-RU" b="1" dirty="0" err="1">
                <a:solidFill>
                  <a:srgbClr val="00B050"/>
                </a:solidFill>
                <a:latin typeface="YS Text"/>
              </a:rPr>
              <a:t>in</a:t>
            </a:r>
            <a:r>
              <a:rPr lang="ru-RU" b="1" dirty="0">
                <a:solidFill>
                  <a:srgbClr val="00B050"/>
                </a:solidFill>
                <a:latin typeface="YS Text"/>
              </a:rPr>
              <a:t> </a:t>
            </a:r>
            <a:r>
              <a:rPr lang="ru-RU" b="1" dirty="0" err="1">
                <a:solidFill>
                  <a:srgbClr val="00B050"/>
                </a:solidFill>
                <a:latin typeface="YS Text"/>
              </a:rPr>
              <a:t>range</a:t>
            </a:r>
            <a:r>
              <a:rPr lang="ru-RU" b="1" dirty="0">
                <a:solidFill>
                  <a:srgbClr val="00B050"/>
                </a:solidFill>
                <a:latin typeface="YS Text"/>
              </a:rPr>
              <a:t>(2)) </a:t>
            </a:r>
            <a:endParaRPr lang="ru-RU" b="1" i="1" dirty="0">
              <a:solidFill>
                <a:srgbClr val="00B050"/>
              </a:solidFill>
              <a:latin typeface="YS Text"/>
            </a:endParaRPr>
          </a:p>
        </p:txBody>
      </p:sp>
    </p:spTree>
    <p:extLst>
      <p:ext uri="{BB962C8B-B14F-4D97-AF65-F5344CB8AC3E}">
        <p14:creationId xmlns:p14="http://schemas.microsoft.com/office/powerpoint/2010/main" val="16243425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en-US" sz="4400" b="1" dirty="0">
                <a:solidFill>
                  <a:schemeClr val="tx1">
                    <a:lumMod val="95000"/>
                    <a:lumOff val="5000"/>
                  </a:schemeClr>
                </a:solidFill>
                <a:latin typeface="YS Text"/>
              </a:rPr>
              <a:t>lambda-</a:t>
            </a:r>
            <a:r>
              <a:rPr lang="ru-RU" sz="4400" b="1" dirty="0">
                <a:solidFill>
                  <a:schemeClr val="tx1">
                    <a:lumMod val="95000"/>
                    <a:lumOff val="5000"/>
                  </a:schemeClr>
                </a:solidFill>
                <a:latin typeface="YS Text"/>
              </a:rPr>
              <a:t>функции</a:t>
            </a:r>
            <a:endParaRPr lang="ru-RU" sz="4400" dirty="0">
              <a:solidFill>
                <a:schemeClr val="tx1">
                  <a:lumMod val="95000"/>
                  <a:lumOff val="5000"/>
                </a:schemeClr>
              </a:solidFill>
            </a:endParaRPr>
          </a:p>
        </p:txBody>
      </p:sp>
    </p:spTree>
    <p:extLst>
      <p:ext uri="{BB962C8B-B14F-4D97-AF65-F5344CB8AC3E}">
        <p14:creationId xmlns:p14="http://schemas.microsoft.com/office/powerpoint/2010/main" val="25139205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1362256"/>
          </a:xfrm>
        </p:spPr>
        <p:txBody>
          <a:bodyPr>
            <a:normAutofit fontScale="90000"/>
          </a:bodyPr>
          <a:lstStyle/>
          <a:p>
            <a:pPr algn="ctr"/>
            <a:r>
              <a:rPr lang="ru-RU" sz="4900" b="1" dirty="0">
                <a:effectLst/>
                <a:latin typeface="YS Text"/>
              </a:rPr>
              <a:t>Передаём функцию как аргумент другой функции</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340069"/>
            <a:ext cx="10936304" cy="5328745"/>
          </a:xfrm>
        </p:spPr>
        <p:txBody>
          <a:bodyPr>
            <a:normAutofit fontScale="92500" lnSpcReduction="20000"/>
          </a:bodyPr>
          <a:lstStyle/>
          <a:p>
            <a:pPr marL="0" indent="0" algn="just">
              <a:buNone/>
            </a:pPr>
            <a:r>
              <a:rPr lang="ru-RU" dirty="0">
                <a:latin typeface="YS Text"/>
              </a:rPr>
              <a:t>В тех случаях, когда нужно </a:t>
            </a:r>
            <a:r>
              <a:rPr lang="ru-RU" sz="2400" b="1" dirty="0">
                <a:latin typeface="YS Text"/>
              </a:rPr>
              <a:t>передать</a:t>
            </a:r>
            <a:r>
              <a:rPr lang="ru-RU" dirty="0">
                <a:latin typeface="YS Text"/>
              </a:rPr>
              <a:t> функцию как объект, после названия функции скобки не ставятся. Если поставить скобки — функция будет </a:t>
            </a:r>
            <a:r>
              <a:rPr lang="ru-RU" sz="2400" b="1" dirty="0">
                <a:latin typeface="YS Text"/>
              </a:rPr>
              <a:t>вызвана</a:t>
            </a:r>
            <a:r>
              <a:rPr lang="ru-RU" dirty="0">
                <a:latin typeface="YS Text"/>
              </a:rPr>
              <a:t>.</a:t>
            </a:r>
          </a:p>
          <a:p>
            <a:pPr marL="0" indent="0" algn="just">
              <a:buNone/>
            </a:pPr>
            <a:r>
              <a:rPr lang="ru-RU" i="1" dirty="0">
                <a:latin typeface="YS Text"/>
              </a:rPr>
              <a:t># Объявляем функцию, которая принимает два числа и возвращает их сумму:</a:t>
            </a:r>
          </a:p>
          <a:p>
            <a:pPr marL="0" indent="0" algn="just">
              <a:buNone/>
            </a:pPr>
            <a:r>
              <a:rPr lang="ru-RU" b="1" i="1" dirty="0" err="1">
                <a:solidFill>
                  <a:srgbClr val="00B050"/>
                </a:solidFill>
                <a:latin typeface="YS Text"/>
              </a:rPr>
              <a:t>def</a:t>
            </a:r>
            <a:r>
              <a:rPr lang="ru-RU" b="1" i="1" dirty="0">
                <a:solidFill>
                  <a:srgbClr val="00B050"/>
                </a:solidFill>
                <a:latin typeface="YS Text"/>
              </a:rPr>
              <a:t> </a:t>
            </a:r>
            <a:r>
              <a:rPr lang="ru-RU" b="1" i="1" dirty="0" err="1">
                <a:solidFill>
                  <a:srgbClr val="00B050"/>
                </a:solidFill>
                <a:latin typeface="YS Text"/>
              </a:rPr>
              <a:t>operation_plus</a:t>
            </a:r>
            <a:r>
              <a:rPr lang="ru-RU" b="1" i="1" dirty="0">
                <a:solidFill>
                  <a:srgbClr val="00B050"/>
                </a:solidFill>
                <a:latin typeface="YS Text"/>
              </a:rPr>
              <a:t>(a, b):</a:t>
            </a:r>
          </a:p>
          <a:p>
            <a:pPr marL="0" indent="0" algn="just">
              <a:buNone/>
            </a:pPr>
            <a:r>
              <a:rPr lang="ru-RU" b="1" i="1" dirty="0">
                <a:solidFill>
                  <a:srgbClr val="00B050"/>
                </a:solidFill>
                <a:latin typeface="YS Text"/>
              </a:rPr>
              <a:t>         </a:t>
            </a:r>
            <a:r>
              <a:rPr lang="ru-RU" b="1" i="1" dirty="0" err="1">
                <a:solidFill>
                  <a:srgbClr val="00B050"/>
                </a:solidFill>
                <a:latin typeface="YS Text"/>
              </a:rPr>
              <a:t>return</a:t>
            </a:r>
            <a:r>
              <a:rPr lang="ru-RU" b="1" i="1" dirty="0">
                <a:solidFill>
                  <a:srgbClr val="00B050"/>
                </a:solidFill>
                <a:latin typeface="YS Text"/>
              </a:rPr>
              <a:t> a + b</a:t>
            </a:r>
          </a:p>
          <a:p>
            <a:pPr marL="0" indent="0" algn="just">
              <a:buNone/>
            </a:pPr>
            <a:endParaRPr lang="ru-RU" i="1" dirty="0">
              <a:latin typeface="YS Text"/>
            </a:endParaRPr>
          </a:p>
          <a:p>
            <a:pPr marL="0" indent="0" algn="just">
              <a:buNone/>
            </a:pPr>
            <a:r>
              <a:rPr lang="ru-RU" i="1" dirty="0">
                <a:latin typeface="YS Text"/>
              </a:rPr>
              <a:t># Объявляем функцию-калькулятор, которая принимает функцию и два числа:</a:t>
            </a:r>
          </a:p>
          <a:p>
            <a:pPr marL="0" indent="0" algn="just">
              <a:buNone/>
            </a:pPr>
            <a:r>
              <a:rPr lang="ru-RU" b="1" i="1" dirty="0" err="1">
                <a:solidFill>
                  <a:srgbClr val="00B050"/>
                </a:solidFill>
                <a:latin typeface="YS Text"/>
              </a:rPr>
              <a:t>def</a:t>
            </a:r>
            <a:r>
              <a:rPr lang="ru-RU" b="1" i="1" dirty="0">
                <a:solidFill>
                  <a:srgbClr val="00B050"/>
                </a:solidFill>
                <a:latin typeface="YS Text"/>
              </a:rPr>
              <a:t> </a:t>
            </a:r>
            <a:r>
              <a:rPr lang="ru-RU" b="1" i="1" dirty="0" err="1">
                <a:solidFill>
                  <a:srgbClr val="00B050"/>
                </a:solidFill>
                <a:latin typeface="YS Text"/>
              </a:rPr>
              <a:t>calc</a:t>
            </a:r>
            <a:r>
              <a:rPr lang="ru-RU" b="1" i="1" dirty="0">
                <a:solidFill>
                  <a:srgbClr val="00B050"/>
                </a:solidFill>
                <a:latin typeface="YS Text"/>
              </a:rPr>
              <a:t>(</a:t>
            </a:r>
            <a:r>
              <a:rPr lang="ru-RU" b="1" i="1" dirty="0" err="1">
                <a:solidFill>
                  <a:srgbClr val="00B050"/>
                </a:solidFill>
                <a:latin typeface="YS Text"/>
              </a:rPr>
              <a:t>func</a:t>
            </a:r>
            <a:r>
              <a:rPr lang="ru-RU" b="1" i="1" dirty="0">
                <a:solidFill>
                  <a:srgbClr val="00B050"/>
                </a:solidFill>
                <a:latin typeface="YS Text"/>
              </a:rPr>
              <a:t>, </a:t>
            </a:r>
            <a:r>
              <a:rPr lang="ru-RU" b="1" i="1" dirty="0" err="1">
                <a:solidFill>
                  <a:srgbClr val="00B050"/>
                </a:solidFill>
                <a:latin typeface="YS Text"/>
              </a:rPr>
              <a:t>first</a:t>
            </a:r>
            <a:r>
              <a:rPr lang="ru-RU" b="1" i="1" dirty="0">
                <a:solidFill>
                  <a:srgbClr val="00B050"/>
                </a:solidFill>
                <a:latin typeface="YS Text"/>
              </a:rPr>
              <a:t>, </a:t>
            </a:r>
            <a:r>
              <a:rPr lang="ru-RU" b="1" i="1" dirty="0" err="1">
                <a:solidFill>
                  <a:srgbClr val="00B050"/>
                </a:solidFill>
                <a:latin typeface="YS Text"/>
              </a:rPr>
              <a:t>second</a:t>
            </a:r>
            <a:r>
              <a:rPr lang="ru-RU" b="1" i="1" dirty="0">
                <a:solidFill>
                  <a:srgbClr val="00B050"/>
                </a:solidFill>
                <a:latin typeface="YS Text"/>
              </a:rPr>
              <a:t>):</a:t>
            </a:r>
          </a:p>
          <a:p>
            <a:pPr marL="0" indent="0" algn="just">
              <a:buNone/>
            </a:pPr>
            <a:r>
              <a:rPr lang="ru-RU" i="1" dirty="0">
                <a:latin typeface="YS Text"/>
              </a:rPr>
              <a:t>        # Вызываем функцию, переданную в аргументах. Передаём в неё два числа, которые тоже    	получены в аргументах. Возвращаем результат работы полученной функции.</a:t>
            </a:r>
          </a:p>
          <a:p>
            <a:pPr marL="0" indent="0" algn="just">
              <a:buNone/>
            </a:pPr>
            <a:r>
              <a:rPr lang="ru-RU" i="1" dirty="0">
                <a:latin typeface="YS Text"/>
              </a:rPr>
              <a:t>        </a:t>
            </a:r>
            <a:r>
              <a:rPr lang="ru-RU" b="1" i="1" dirty="0" err="1">
                <a:solidFill>
                  <a:srgbClr val="00B050"/>
                </a:solidFill>
                <a:latin typeface="YS Text"/>
              </a:rPr>
              <a:t>return</a:t>
            </a:r>
            <a:r>
              <a:rPr lang="ru-RU" b="1" i="1" dirty="0">
                <a:solidFill>
                  <a:srgbClr val="00B050"/>
                </a:solidFill>
                <a:latin typeface="YS Text"/>
              </a:rPr>
              <a:t> </a:t>
            </a:r>
            <a:r>
              <a:rPr lang="ru-RU" b="1" i="1" dirty="0" err="1">
                <a:solidFill>
                  <a:srgbClr val="00B050"/>
                </a:solidFill>
                <a:latin typeface="YS Text"/>
              </a:rPr>
              <a:t>func</a:t>
            </a:r>
            <a:r>
              <a:rPr lang="ru-RU" b="1" i="1" dirty="0">
                <a:solidFill>
                  <a:srgbClr val="00B050"/>
                </a:solidFill>
                <a:latin typeface="YS Text"/>
              </a:rPr>
              <a:t>(</a:t>
            </a:r>
            <a:r>
              <a:rPr lang="ru-RU" b="1" i="1" dirty="0" err="1">
                <a:solidFill>
                  <a:srgbClr val="00B050"/>
                </a:solidFill>
                <a:latin typeface="YS Text"/>
              </a:rPr>
              <a:t>first</a:t>
            </a:r>
            <a:r>
              <a:rPr lang="ru-RU" b="1" i="1" dirty="0">
                <a:solidFill>
                  <a:srgbClr val="00B050"/>
                </a:solidFill>
                <a:latin typeface="YS Text"/>
              </a:rPr>
              <a:t>, </a:t>
            </a:r>
            <a:r>
              <a:rPr lang="ru-RU" b="1" i="1" dirty="0" err="1">
                <a:solidFill>
                  <a:srgbClr val="00B050"/>
                </a:solidFill>
                <a:latin typeface="YS Text"/>
              </a:rPr>
              <a:t>second</a:t>
            </a:r>
            <a:r>
              <a:rPr lang="ru-RU" b="1" i="1" dirty="0">
                <a:solidFill>
                  <a:srgbClr val="00B050"/>
                </a:solidFill>
                <a:latin typeface="YS Text"/>
              </a:rPr>
              <a:t>)</a:t>
            </a:r>
          </a:p>
          <a:p>
            <a:pPr marL="0" indent="0" algn="just">
              <a:buNone/>
            </a:pPr>
            <a:endParaRPr lang="ru-RU" i="1" dirty="0">
              <a:latin typeface="YS Text"/>
            </a:endParaRPr>
          </a:p>
          <a:p>
            <a:pPr marL="0" indent="0" algn="just">
              <a:buNone/>
            </a:pPr>
            <a:r>
              <a:rPr lang="ru-RU" i="1" dirty="0">
                <a:latin typeface="YS Text"/>
              </a:rPr>
              <a:t># Вызываем функцию-калькулятор, передаём в неё функцию </a:t>
            </a:r>
            <a:r>
              <a:rPr lang="ru-RU" i="1" dirty="0" err="1">
                <a:latin typeface="YS Text"/>
              </a:rPr>
              <a:t>operation_plus</a:t>
            </a:r>
            <a:r>
              <a:rPr lang="ru-RU" i="1" dirty="0">
                <a:latin typeface="YS Text"/>
              </a:rPr>
              <a:t>()</a:t>
            </a:r>
          </a:p>
          <a:p>
            <a:pPr marL="0" indent="0" algn="just">
              <a:buNone/>
            </a:pPr>
            <a:r>
              <a:rPr lang="ru-RU" i="1" dirty="0">
                <a:latin typeface="YS Text"/>
              </a:rPr>
              <a:t># и два числа, которые надо сложить.</a:t>
            </a:r>
          </a:p>
          <a:p>
            <a:pPr marL="0" indent="0" algn="just">
              <a:buNone/>
            </a:pPr>
            <a:r>
              <a:rPr lang="ru-RU" b="1" i="1" dirty="0" err="1">
                <a:solidFill>
                  <a:srgbClr val="00B050"/>
                </a:solidFill>
                <a:latin typeface="YS Text"/>
              </a:rPr>
              <a:t>result</a:t>
            </a:r>
            <a:r>
              <a:rPr lang="ru-RU" b="1" i="1" dirty="0">
                <a:solidFill>
                  <a:srgbClr val="00B050"/>
                </a:solidFill>
                <a:latin typeface="YS Text"/>
              </a:rPr>
              <a:t> = </a:t>
            </a:r>
            <a:r>
              <a:rPr lang="ru-RU" b="1" i="1" dirty="0" err="1">
                <a:solidFill>
                  <a:srgbClr val="00B050"/>
                </a:solidFill>
                <a:latin typeface="YS Text"/>
              </a:rPr>
              <a:t>calc</a:t>
            </a:r>
            <a:r>
              <a:rPr lang="ru-RU" b="1" i="1" dirty="0">
                <a:solidFill>
                  <a:srgbClr val="00B050"/>
                </a:solidFill>
                <a:latin typeface="YS Text"/>
              </a:rPr>
              <a:t>(</a:t>
            </a:r>
            <a:r>
              <a:rPr lang="ru-RU" b="1" i="1" dirty="0" err="1">
                <a:solidFill>
                  <a:srgbClr val="00B050"/>
                </a:solidFill>
                <a:latin typeface="YS Text"/>
              </a:rPr>
              <a:t>operation_plus</a:t>
            </a:r>
            <a:r>
              <a:rPr lang="ru-RU" b="1" i="1" dirty="0">
                <a:solidFill>
                  <a:srgbClr val="00B050"/>
                </a:solidFill>
                <a:latin typeface="YS Text"/>
              </a:rPr>
              <a:t>, 10, 15)  </a:t>
            </a:r>
            <a:r>
              <a:rPr lang="ru-RU" i="1" dirty="0">
                <a:latin typeface="YS Text"/>
              </a:rPr>
              <a:t># Имя передаваемой функции - без скобок!</a:t>
            </a:r>
          </a:p>
        </p:txBody>
      </p:sp>
    </p:spTree>
    <p:extLst>
      <p:ext uri="{BB962C8B-B14F-4D97-AF65-F5344CB8AC3E}">
        <p14:creationId xmlns:p14="http://schemas.microsoft.com/office/powerpoint/2010/main" val="40072688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Лямбда-функции</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b="1" dirty="0">
                <a:latin typeface="YS Text"/>
              </a:rPr>
              <a:t>Лямбда-функции</a:t>
            </a:r>
            <a:r>
              <a:rPr lang="ru-RU" dirty="0">
                <a:latin typeface="YS Text"/>
              </a:rPr>
              <a:t> — это безымянные, «анонимные» функции в Python. Для объявления такой функции используется </a:t>
            </a:r>
            <a:r>
              <a:rPr lang="ru-RU" b="1" dirty="0">
                <a:latin typeface="YS Text"/>
              </a:rPr>
              <a:t>ключевое слово </a:t>
            </a:r>
            <a:r>
              <a:rPr lang="ru-RU" b="1" dirty="0" err="1">
                <a:solidFill>
                  <a:schemeClr val="accent6">
                    <a:lumMod val="50000"/>
                  </a:schemeClr>
                </a:solidFill>
                <a:latin typeface="YS Text"/>
              </a:rPr>
              <a:t>lambda</a:t>
            </a:r>
            <a:r>
              <a:rPr lang="ru-RU" dirty="0">
                <a:latin typeface="YS Text"/>
              </a:rPr>
              <a:t>. Как и обычные функции, лямбда-функции могут принимать параметры.</a:t>
            </a:r>
            <a:r>
              <a:rPr lang="en-US" dirty="0">
                <a:latin typeface="YS Text"/>
              </a:rPr>
              <a:t> </a:t>
            </a:r>
            <a:r>
              <a:rPr lang="ru-RU" dirty="0">
                <a:latin typeface="YS Text"/>
              </a:rPr>
              <a:t>Лямбда-функция — это безымянная функция по определению!</a:t>
            </a:r>
          </a:p>
          <a:p>
            <a:pPr marL="0" indent="0" algn="just">
              <a:buNone/>
            </a:pPr>
            <a:r>
              <a:rPr lang="ru-RU" dirty="0">
                <a:latin typeface="YS Text"/>
              </a:rPr>
              <a:t>В общем виде синтаксис объявления лямбда-функции выглядит так:</a:t>
            </a:r>
            <a:endParaRPr lang="en-US" dirty="0">
              <a:latin typeface="YS Text"/>
            </a:endParaRPr>
          </a:p>
          <a:p>
            <a:pPr marL="0" indent="0" algn="just">
              <a:buNone/>
            </a:pPr>
            <a:r>
              <a:rPr lang="en-US" sz="2400" b="0" i="0" dirty="0">
                <a:solidFill>
                  <a:srgbClr val="C678DD"/>
                </a:solidFill>
                <a:effectLst/>
                <a:latin typeface="YS Text"/>
              </a:rPr>
              <a:t>	</a:t>
            </a:r>
            <a:r>
              <a:rPr lang="ru-RU" sz="2400" b="0" i="0" dirty="0" err="1">
                <a:solidFill>
                  <a:srgbClr val="C678DD"/>
                </a:solidFill>
                <a:effectLst/>
                <a:latin typeface="Menlo"/>
              </a:rPr>
              <a:t>lambda</a:t>
            </a:r>
            <a:r>
              <a:rPr lang="ru-RU" sz="2400" b="0" i="0" dirty="0">
                <a:effectLst/>
                <a:latin typeface="Menlo"/>
              </a:rPr>
              <a:t> </a:t>
            </a:r>
            <a:r>
              <a:rPr lang="ru-RU" sz="2400" b="0" i="0" dirty="0" err="1">
                <a:effectLst/>
                <a:latin typeface="Menlo"/>
              </a:rPr>
              <a:t>параметры_через_запятую</a:t>
            </a:r>
            <a:r>
              <a:rPr lang="ru-RU" sz="2400" b="0" i="0" dirty="0">
                <a:effectLst/>
                <a:latin typeface="Menlo"/>
              </a:rPr>
              <a:t>: </a:t>
            </a:r>
            <a:r>
              <a:rPr lang="ru-RU" sz="2400" b="0" i="0" dirty="0" err="1">
                <a:effectLst/>
                <a:latin typeface="Menlo"/>
              </a:rPr>
              <a:t>выполняемое_функцией_выражение</a:t>
            </a:r>
            <a:r>
              <a:rPr lang="ru-RU" sz="2400" b="0" i="0" dirty="0">
                <a:effectLst/>
                <a:latin typeface="Menlo"/>
              </a:rPr>
              <a:t> </a:t>
            </a:r>
            <a:endParaRPr lang="en-US" b="0" i="0" dirty="0">
              <a:effectLst/>
              <a:latin typeface="Menlo"/>
            </a:endParaRPr>
          </a:p>
          <a:p>
            <a:pPr marL="0" indent="0" algn="just">
              <a:buNone/>
            </a:pPr>
            <a:r>
              <a:rPr lang="ru-RU" b="0" i="0" dirty="0">
                <a:effectLst/>
                <a:latin typeface="YS Text"/>
              </a:rPr>
              <a:t>Лямбда-функции очень похожи на обычные функции в Python. Например, обычную функцию с одним действием тоже можно объявить в одну строку:</a:t>
            </a:r>
            <a:endParaRPr lang="en-US" dirty="0">
              <a:latin typeface="Menlo"/>
            </a:endParaRPr>
          </a:p>
          <a:p>
            <a:pPr marL="0" indent="0" algn="just">
              <a:buNone/>
            </a:pPr>
            <a:r>
              <a:rPr lang="en-US" b="0" i="0" dirty="0">
                <a:solidFill>
                  <a:srgbClr val="C678DD"/>
                </a:solidFill>
                <a:effectLst/>
                <a:latin typeface="Menlo"/>
              </a:rPr>
              <a:t>	</a:t>
            </a:r>
            <a:r>
              <a:rPr lang="ru-RU" b="0" i="0" dirty="0" err="1">
                <a:solidFill>
                  <a:srgbClr val="C678DD"/>
                </a:solidFill>
                <a:effectLst/>
                <a:latin typeface="Menlo"/>
              </a:rPr>
              <a:t>def</a:t>
            </a:r>
            <a:r>
              <a:rPr lang="ru-RU" b="0" i="0" dirty="0">
                <a:effectLst/>
                <a:latin typeface="Menlo"/>
              </a:rPr>
              <a:t> </a:t>
            </a:r>
            <a:r>
              <a:rPr lang="ru-RU" b="0" i="0" dirty="0" err="1">
                <a:effectLst/>
                <a:latin typeface="Menlo"/>
              </a:rPr>
              <a:t>имя_функции</a:t>
            </a:r>
            <a:r>
              <a:rPr lang="ru-RU" b="0" i="0" dirty="0">
                <a:effectLst/>
                <a:latin typeface="Menlo"/>
              </a:rPr>
              <a:t>(</a:t>
            </a:r>
            <a:r>
              <a:rPr lang="ru-RU" b="0" i="0" dirty="0" err="1">
                <a:effectLst/>
                <a:latin typeface="Menlo"/>
              </a:rPr>
              <a:t>параметры_через_запятую</a:t>
            </a:r>
            <a:r>
              <a:rPr lang="ru-RU" b="0" i="0" dirty="0">
                <a:effectLst/>
                <a:latin typeface="Menlo"/>
              </a:rPr>
              <a:t>): </a:t>
            </a:r>
            <a:r>
              <a:rPr lang="ru-RU" b="0" i="0" dirty="0" err="1">
                <a:effectLst/>
                <a:latin typeface="Menlo"/>
              </a:rPr>
              <a:t>выполняемое_функцией_выражение</a:t>
            </a:r>
            <a:r>
              <a:rPr lang="ru-RU" b="0" i="0" dirty="0">
                <a:effectLst/>
                <a:latin typeface="Menlo"/>
              </a:rPr>
              <a:t> </a:t>
            </a:r>
            <a:endParaRPr lang="en-US" b="0" i="0" dirty="0">
              <a:effectLst/>
              <a:latin typeface="Menlo"/>
            </a:endParaRPr>
          </a:p>
          <a:p>
            <a:pPr marL="0" indent="0" algn="just">
              <a:buNone/>
            </a:pPr>
            <a:r>
              <a:rPr lang="ru-RU" sz="2400" u="sng" dirty="0">
                <a:latin typeface="YS Text"/>
              </a:rPr>
              <a:t>Разница заключается в том, что:</a:t>
            </a:r>
          </a:p>
          <a:p>
            <a:pPr algn="just"/>
            <a:r>
              <a:rPr lang="ru-RU" dirty="0">
                <a:latin typeface="YS Text"/>
              </a:rPr>
              <a:t>Обычные функции определяются с помощью ключевого слова </a:t>
            </a:r>
            <a:r>
              <a:rPr lang="ru-RU" b="1" dirty="0" err="1">
                <a:latin typeface="YS Text"/>
              </a:rPr>
              <a:t>def</a:t>
            </a:r>
            <a:r>
              <a:rPr lang="ru-RU" dirty="0">
                <a:latin typeface="YS Text"/>
              </a:rPr>
              <a:t>, после которого указывается имя. Лямбда-функции объявляются ключевым словом </a:t>
            </a:r>
            <a:r>
              <a:rPr lang="ru-RU" b="1" dirty="0" err="1">
                <a:latin typeface="YS Text"/>
              </a:rPr>
              <a:t>lambda</a:t>
            </a:r>
            <a:r>
              <a:rPr lang="ru-RU" dirty="0">
                <a:latin typeface="YS Text"/>
              </a:rPr>
              <a:t>, а имена им и вовсе не нужны.</a:t>
            </a:r>
          </a:p>
          <a:p>
            <a:pPr algn="just"/>
            <a:r>
              <a:rPr lang="ru-RU" dirty="0">
                <a:latin typeface="YS Text"/>
              </a:rPr>
              <a:t>В лямбда-функциях можно использовать </a:t>
            </a:r>
            <a:r>
              <a:rPr lang="ru-RU" b="1" dirty="0">
                <a:latin typeface="YS Text"/>
              </a:rPr>
              <a:t>только одно выражение</a:t>
            </a:r>
            <a:r>
              <a:rPr lang="ru-RU" dirty="0">
                <a:latin typeface="YS Text"/>
              </a:rPr>
              <a:t>.</a:t>
            </a:r>
          </a:p>
          <a:p>
            <a:pPr algn="just"/>
            <a:r>
              <a:rPr lang="ru-RU" dirty="0">
                <a:latin typeface="YS Text"/>
              </a:rPr>
              <a:t>Лямбда-функция </a:t>
            </a:r>
            <a:r>
              <a:rPr lang="ru-RU" b="1" dirty="0">
                <a:latin typeface="YS Text"/>
              </a:rPr>
              <a:t>автоматически возвращает </a:t>
            </a:r>
            <a:r>
              <a:rPr lang="ru-RU" dirty="0">
                <a:latin typeface="YS Text"/>
              </a:rPr>
              <a:t>значение того выражения, которое содержит; в лямбда-функциях </a:t>
            </a:r>
            <a:r>
              <a:rPr lang="ru-RU" b="1" dirty="0">
                <a:latin typeface="YS Text"/>
              </a:rPr>
              <a:t>не требуется </a:t>
            </a:r>
            <a:r>
              <a:rPr lang="ru-RU" dirty="0">
                <a:latin typeface="YS Text"/>
              </a:rPr>
              <a:t>ключевое слово </a:t>
            </a:r>
            <a:r>
              <a:rPr lang="ru-RU" b="1" dirty="0" err="1">
                <a:latin typeface="YS Text"/>
              </a:rPr>
              <a:t>return</a:t>
            </a:r>
            <a:r>
              <a:rPr lang="ru-RU" dirty="0">
                <a:latin typeface="YS Text"/>
              </a:rPr>
              <a:t>.</a:t>
            </a:r>
          </a:p>
        </p:txBody>
      </p:sp>
    </p:spTree>
    <p:extLst>
      <p:ext uri="{BB962C8B-B14F-4D97-AF65-F5344CB8AC3E}">
        <p14:creationId xmlns:p14="http://schemas.microsoft.com/office/powerpoint/2010/main" val="3555381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26124"/>
            <a:ext cx="10936304" cy="6616262"/>
          </a:xfrm>
        </p:spPr>
        <p:txBody>
          <a:bodyPr>
            <a:normAutofit lnSpcReduction="10000"/>
          </a:bodyPr>
          <a:lstStyle/>
          <a:p>
            <a:pPr marL="0" indent="0" algn="just">
              <a:buNone/>
            </a:pPr>
            <a:r>
              <a:rPr lang="ru-RU" dirty="0">
                <a:latin typeface="YS Text"/>
              </a:rPr>
              <a:t>Выражениями в лямбда-функциях могут быть, например:</a:t>
            </a:r>
          </a:p>
          <a:p>
            <a:pPr algn="just"/>
            <a:r>
              <a:rPr lang="ru-RU" dirty="0">
                <a:latin typeface="YS Text"/>
              </a:rPr>
              <a:t>арифметические и логические операции, такие как a + b и a &gt; b;</a:t>
            </a:r>
          </a:p>
          <a:p>
            <a:pPr algn="just"/>
            <a:r>
              <a:rPr lang="ru-RU" dirty="0">
                <a:latin typeface="YS Text"/>
              </a:rPr>
              <a:t>вызовы других функций, например </a:t>
            </a:r>
            <a:r>
              <a:rPr lang="ru-RU" dirty="0" err="1">
                <a:latin typeface="YS Text"/>
              </a:rPr>
              <a:t>sum</a:t>
            </a:r>
            <a:r>
              <a:rPr lang="ru-RU" dirty="0">
                <a:latin typeface="YS Text"/>
              </a:rPr>
              <a:t>(a, b).</a:t>
            </a:r>
            <a:endParaRPr lang="en-US" dirty="0">
              <a:latin typeface="YS Text"/>
            </a:endParaRPr>
          </a:p>
          <a:p>
            <a:pPr marL="0" indent="0" algn="just">
              <a:buNone/>
            </a:pPr>
            <a:endParaRPr lang="en-US" i="1" dirty="0">
              <a:latin typeface="YS Text"/>
            </a:endParaRPr>
          </a:p>
          <a:p>
            <a:pPr marL="0" indent="0" algn="just">
              <a:buNone/>
            </a:pPr>
            <a:r>
              <a:rPr lang="ru-RU" dirty="0">
                <a:latin typeface="YS Text"/>
              </a:rPr>
              <a:t>В приведённом коде определена лямбда-функция с параметрами x и y, она возвращает произведение аргументов.</a:t>
            </a:r>
            <a:r>
              <a:rPr lang="es-ES" b="0" i="0" dirty="0">
                <a:effectLst/>
                <a:latin typeface="Menlo"/>
              </a:rPr>
              <a:t> </a:t>
            </a:r>
          </a:p>
          <a:p>
            <a:pPr marL="0" indent="0" algn="just">
              <a:buNone/>
            </a:pPr>
            <a:r>
              <a:rPr lang="es-ES" dirty="0">
                <a:latin typeface="Menlo"/>
              </a:rPr>
              <a:t>	</a:t>
            </a:r>
            <a:r>
              <a:rPr lang="es-ES" b="0" i="0" dirty="0">
                <a:effectLst/>
                <a:latin typeface="Menlo"/>
              </a:rPr>
              <a:t>x = </a:t>
            </a:r>
            <a:r>
              <a:rPr lang="es-ES" b="0" i="0" dirty="0">
                <a:solidFill>
                  <a:srgbClr val="C678DD"/>
                </a:solidFill>
                <a:effectLst/>
                <a:latin typeface="Menlo"/>
              </a:rPr>
              <a:t>lambda</a:t>
            </a:r>
            <a:r>
              <a:rPr lang="es-ES" b="0" i="0" dirty="0">
                <a:effectLst/>
                <a:latin typeface="Menlo"/>
              </a:rPr>
              <a:t> x, y: x * y</a:t>
            </a:r>
          </a:p>
          <a:p>
            <a:pPr marL="0" indent="0" algn="just">
              <a:buNone/>
            </a:pPr>
            <a:r>
              <a:rPr lang="es-ES" dirty="0">
                <a:solidFill>
                  <a:srgbClr val="CA8D3D"/>
                </a:solidFill>
                <a:latin typeface="Menlo"/>
              </a:rPr>
              <a:t>	</a:t>
            </a:r>
            <a:r>
              <a:rPr lang="es-ES" b="0" i="0" dirty="0">
                <a:solidFill>
                  <a:srgbClr val="CA8D3D"/>
                </a:solidFill>
                <a:effectLst/>
                <a:latin typeface="Menlo"/>
              </a:rPr>
              <a:t>print</a:t>
            </a:r>
            <a:r>
              <a:rPr lang="es-ES" b="0" i="0" dirty="0">
                <a:effectLst/>
                <a:latin typeface="Menlo"/>
              </a:rPr>
              <a:t>(x(</a:t>
            </a:r>
            <a:r>
              <a:rPr lang="es-ES" b="0" i="0" dirty="0">
                <a:solidFill>
                  <a:srgbClr val="237B86"/>
                </a:solidFill>
                <a:effectLst/>
                <a:latin typeface="Menlo"/>
              </a:rPr>
              <a:t>5</a:t>
            </a:r>
            <a:r>
              <a:rPr lang="es-ES" b="0" i="0" dirty="0">
                <a:effectLst/>
                <a:latin typeface="Menlo"/>
              </a:rPr>
              <a:t>, </a:t>
            </a:r>
            <a:r>
              <a:rPr lang="es-ES" b="0" i="0" dirty="0">
                <a:solidFill>
                  <a:srgbClr val="237B86"/>
                </a:solidFill>
                <a:effectLst/>
                <a:latin typeface="Menlo"/>
              </a:rPr>
              <a:t>4</a:t>
            </a:r>
            <a:r>
              <a:rPr lang="es-ES" b="0" i="0" dirty="0">
                <a:effectLst/>
                <a:latin typeface="Menlo"/>
              </a:rPr>
              <a:t>))</a:t>
            </a:r>
          </a:p>
          <a:p>
            <a:pPr marL="0" indent="0" algn="just">
              <a:buNone/>
            </a:pPr>
            <a:r>
              <a:rPr lang="es-ES" dirty="0">
                <a:solidFill>
                  <a:srgbClr val="5C6370"/>
                </a:solidFill>
                <a:latin typeface="Menlo"/>
              </a:rPr>
              <a:t>	</a:t>
            </a:r>
            <a:r>
              <a:rPr lang="es-ES" b="0" i="1" dirty="0">
                <a:solidFill>
                  <a:srgbClr val="5C6370"/>
                </a:solidFill>
                <a:effectLst/>
                <a:latin typeface="Menlo"/>
              </a:rPr>
              <a:t># 20</a:t>
            </a:r>
            <a:r>
              <a:rPr lang="es-ES" b="0" i="0" dirty="0">
                <a:effectLst/>
                <a:latin typeface="Menlo"/>
              </a:rPr>
              <a:t> </a:t>
            </a:r>
            <a:endParaRPr lang="ru-RU" b="0" i="0" dirty="0">
              <a:effectLst/>
              <a:latin typeface="Menlo"/>
            </a:endParaRPr>
          </a:p>
          <a:p>
            <a:pPr marL="0" indent="0" algn="just">
              <a:buNone/>
            </a:pPr>
            <a:r>
              <a:rPr lang="ru-RU" dirty="0">
                <a:latin typeface="YS Text"/>
              </a:rPr>
              <a:t>При объявлении имя функции не указано, но функция присвоена переменной x, и в итоге к этой функции можно обратиться по имени: x(5, 4). Это противоречит канонам и логике: анонимная функция не может иметь имени! В такой ситуации лучше бы объявить обычную функцию.</a:t>
            </a:r>
          </a:p>
          <a:p>
            <a:pPr marL="0" indent="0" algn="just">
              <a:buNone/>
            </a:pPr>
            <a:r>
              <a:rPr lang="ru-RU" dirty="0">
                <a:latin typeface="YS Text"/>
              </a:rPr>
              <a:t>Аргументы в лямбда-функцию можно передать сразу при объявлении — для этого нужно заключить функцию в скобки, а аргументы записать в той же строке, тоже в скобках (т</a:t>
            </a:r>
            <a:r>
              <a:rPr lang="ru-RU" b="0" i="0" dirty="0">
                <a:effectLst/>
                <a:latin typeface="YS Text"/>
              </a:rPr>
              <a:t>у же запись можно сделать и без применения дополнительной переменной)</a:t>
            </a:r>
            <a:r>
              <a:rPr lang="ru-RU" dirty="0">
                <a:latin typeface="YS Text"/>
              </a:rPr>
              <a:t>:</a:t>
            </a:r>
          </a:p>
          <a:p>
            <a:pPr marL="0" indent="0" algn="just">
              <a:buNone/>
            </a:pPr>
            <a:r>
              <a:rPr lang="ru-RU" dirty="0">
                <a:latin typeface="YS Text"/>
              </a:rPr>
              <a:t>	</a:t>
            </a:r>
            <a:r>
              <a:rPr lang="ru-RU" b="0" i="0" dirty="0">
                <a:effectLst/>
                <a:latin typeface="Menlo"/>
              </a:rPr>
              <a:t>x = (</a:t>
            </a:r>
            <a:r>
              <a:rPr lang="ru-RU" b="0" i="0" dirty="0" err="1">
                <a:solidFill>
                  <a:srgbClr val="C678DD"/>
                </a:solidFill>
                <a:effectLst/>
                <a:latin typeface="Menlo"/>
              </a:rPr>
              <a:t>lambda</a:t>
            </a:r>
            <a:r>
              <a:rPr lang="ru-RU" b="0" i="0" dirty="0">
                <a:effectLst/>
                <a:latin typeface="Menlo"/>
              </a:rPr>
              <a:t> x, y: x * y)(</a:t>
            </a:r>
            <a:r>
              <a:rPr lang="ru-RU" b="0" i="0" dirty="0">
                <a:solidFill>
                  <a:srgbClr val="237B86"/>
                </a:solidFill>
                <a:effectLst/>
                <a:latin typeface="Menlo"/>
              </a:rPr>
              <a:t>2</a:t>
            </a:r>
            <a:r>
              <a:rPr lang="ru-RU" b="0" i="0" dirty="0">
                <a:effectLst/>
                <a:latin typeface="Menlo"/>
              </a:rPr>
              <a:t>, </a:t>
            </a:r>
            <a:r>
              <a:rPr lang="ru-RU" b="0" i="0" dirty="0">
                <a:solidFill>
                  <a:srgbClr val="237B86"/>
                </a:solidFill>
                <a:effectLst/>
                <a:latin typeface="Menlo"/>
              </a:rPr>
              <a:t>7</a:t>
            </a:r>
            <a:r>
              <a:rPr lang="ru-RU" b="0" i="0" dirty="0">
                <a:effectLst/>
                <a:latin typeface="Menlo"/>
              </a:rPr>
              <a:t>)</a:t>
            </a:r>
          </a:p>
          <a:p>
            <a:pPr marL="0" indent="0" algn="just">
              <a:buNone/>
            </a:pPr>
            <a:r>
              <a:rPr lang="ru-RU" b="0" i="0" dirty="0">
                <a:solidFill>
                  <a:srgbClr val="CA8D3D"/>
                </a:solidFill>
                <a:effectLst/>
                <a:latin typeface="Menlo"/>
              </a:rPr>
              <a:t>	</a:t>
            </a:r>
            <a:r>
              <a:rPr lang="ru-RU" b="0" i="0" dirty="0" err="1">
                <a:solidFill>
                  <a:srgbClr val="CA8D3D"/>
                </a:solidFill>
                <a:effectLst/>
                <a:latin typeface="Menlo"/>
              </a:rPr>
              <a:t>print</a:t>
            </a:r>
            <a:r>
              <a:rPr lang="ru-RU" b="0" i="0" dirty="0">
                <a:effectLst/>
                <a:latin typeface="Menlo"/>
              </a:rPr>
              <a:t>(x)</a:t>
            </a:r>
          </a:p>
          <a:p>
            <a:pPr marL="0" indent="0" algn="just">
              <a:buNone/>
            </a:pPr>
            <a:r>
              <a:rPr lang="ru-RU" b="0" i="1" dirty="0">
                <a:solidFill>
                  <a:srgbClr val="5C6370"/>
                </a:solidFill>
                <a:effectLst/>
                <a:latin typeface="Menlo"/>
              </a:rPr>
              <a:t>	# Будет напечатано: 14</a:t>
            </a:r>
            <a:r>
              <a:rPr lang="ru-RU" b="0" i="0" dirty="0">
                <a:effectLst/>
                <a:latin typeface="Menlo"/>
              </a:rPr>
              <a:t> </a:t>
            </a:r>
            <a:endParaRPr lang="ru-RU" dirty="0">
              <a:latin typeface="YS Text"/>
            </a:endParaRPr>
          </a:p>
        </p:txBody>
      </p:sp>
    </p:spTree>
    <p:extLst>
      <p:ext uri="{BB962C8B-B14F-4D97-AF65-F5344CB8AC3E}">
        <p14:creationId xmlns:p14="http://schemas.microsoft.com/office/powerpoint/2010/main" val="35975008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Когда и где применять лямбда-функции</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72510"/>
            <a:ext cx="10936304" cy="5896304"/>
          </a:xfrm>
        </p:spPr>
        <p:txBody>
          <a:bodyPr/>
          <a:lstStyle/>
          <a:p>
            <a:pPr marL="0" indent="0" algn="just">
              <a:buNone/>
            </a:pPr>
            <a:r>
              <a:rPr lang="ru-RU" dirty="0">
                <a:latin typeface="YS Text"/>
              </a:rPr>
              <a:t>В тех случаях, когда нужна простая функция, которая не будет повторно использоваться, лучше всего подойдёт лямбда-функция.</a:t>
            </a:r>
          </a:p>
          <a:p>
            <a:pPr marL="0" indent="0" algn="just">
              <a:buNone/>
            </a:pPr>
            <a:r>
              <a:rPr lang="ru-RU" dirty="0">
                <a:latin typeface="YS Text"/>
              </a:rPr>
              <a:t>Могут быть и другие основания для применения лямбда-функций:</a:t>
            </a:r>
          </a:p>
          <a:p>
            <a:pPr algn="just"/>
            <a:r>
              <a:rPr lang="ru-RU" dirty="0">
                <a:latin typeface="YS Text"/>
              </a:rPr>
              <a:t>В функции выполняется понятная и простая операция, и функции не нужно название.</a:t>
            </a:r>
          </a:p>
          <a:p>
            <a:pPr algn="just"/>
            <a:r>
              <a:rPr lang="ru-RU" dirty="0">
                <a:latin typeface="YS Text"/>
              </a:rPr>
              <a:t>Лямбда-функция делает код понятнее по сравнению с применением обычной функции.</a:t>
            </a:r>
          </a:p>
          <a:p>
            <a:pPr algn="just"/>
            <a:r>
              <a:rPr lang="ru-RU" dirty="0">
                <a:latin typeface="YS Text"/>
              </a:rPr>
              <a:t>В коде нет именованной функции, которая выполняет необходимую операцию.</a:t>
            </a:r>
          </a:p>
          <a:p>
            <a:pPr algn="just"/>
            <a:endParaRPr lang="ru-RU" i="1" dirty="0">
              <a:latin typeface="YS Text"/>
            </a:endParaRPr>
          </a:p>
          <a:p>
            <a:pPr marL="0" indent="0" algn="just">
              <a:buNone/>
            </a:pPr>
            <a:r>
              <a:rPr lang="ru-RU" sz="2400" i="1" dirty="0">
                <a:latin typeface="YS Text"/>
              </a:rPr>
              <a:t>Надо воспринимать лямбда-функцию как простую одноразовую функцию, которая может принять аргументы и выполнить с ними какое-то одно действие. Такой подход позволяет сократить код и повысить его читаемость.</a:t>
            </a:r>
          </a:p>
        </p:txBody>
      </p:sp>
    </p:spTree>
    <p:extLst>
      <p:ext uri="{BB962C8B-B14F-4D97-AF65-F5344CB8AC3E}">
        <p14:creationId xmlns:p14="http://schemas.microsoft.com/office/powerpoint/2010/main" val="2652552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75000"/>
              </a:schemeClr>
            </a:gs>
            <a:gs pos="100000">
              <a:schemeClr val="accent1">
                <a:lumMod val="45000"/>
                <a:lumOff val="55000"/>
              </a:schemeClr>
            </a:gs>
            <a:gs pos="100000">
              <a:schemeClr val="accent1">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CF4E8-1C9D-A69B-FD9A-4FD2FF691FFD}"/>
              </a:ext>
            </a:extLst>
          </p:cNvPr>
          <p:cNvSpPr>
            <a:spLocks noGrp="1"/>
          </p:cNvSpPr>
          <p:nvPr>
            <p:ph type="ctrTitle"/>
          </p:nvPr>
        </p:nvSpPr>
        <p:spPr>
          <a:xfrm>
            <a:off x="939800" y="2474254"/>
            <a:ext cx="10092265" cy="1404063"/>
          </a:xfrm>
        </p:spPr>
        <p:txBody>
          <a:bodyPr/>
          <a:lstStyle/>
          <a:p>
            <a:r>
              <a:rPr lang="ru-RU" sz="4400" b="1" dirty="0">
                <a:solidFill>
                  <a:schemeClr val="tx1">
                    <a:lumMod val="95000"/>
                    <a:lumOff val="5000"/>
                  </a:schemeClr>
                </a:solidFill>
                <a:latin typeface="YS Text"/>
              </a:rPr>
              <a:t>декораторы</a:t>
            </a:r>
            <a:endParaRPr lang="ru-RU" sz="4400" dirty="0">
              <a:solidFill>
                <a:schemeClr val="tx1">
                  <a:lumMod val="95000"/>
                  <a:lumOff val="5000"/>
                </a:schemeClr>
              </a:solidFill>
            </a:endParaRPr>
          </a:p>
        </p:txBody>
      </p:sp>
    </p:spTree>
    <p:extLst>
      <p:ext uri="{BB962C8B-B14F-4D97-AF65-F5344CB8AC3E}">
        <p14:creationId xmlns:p14="http://schemas.microsoft.com/office/powerpoint/2010/main" val="21038603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Декораторы для функций </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normAutofit/>
          </a:bodyPr>
          <a:lstStyle/>
          <a:p>
            <a:pPr marL="0" indent="0" algn="just">
              <a:buNone/>
            </a:pPr>
            <a:r>
              <a:rPr lang="ru-RU" b="1" dirty="0">
                <a:latin typeface="YS Text"/>
              </a:rPr>
              <a:t>Декораторы</a:t>
            </a:r>
            <a:r>
              <a:rPr lang="ru-RU" dirty="0">
                <a:latin typeface="YS Text"/>
              </a:rPr>
              <a:t> </a:t>
            </a:r>
            <a:r>
              <a:rPr lang="ru-RU" b="1" dirty="0">
                <a:latin typeface="YS Text"/>
              </a:rPr>
              <a:t>для функций </a:t>
            </a:r>
            <a:r>
              <a:rPr lang="ru-RU" dirty="0">
                <a:latin typeface="YS Text"/>
              </a:rPr>
              <a:t>позволяют добавить к функции определённые действия или изменить её поведение, не вмешиваясь в код самой функции. </a:t>
            </a:r>
          </a:p>
          <a:p>
            <a:pPr marL="0" indent="0" algn="just">
              <a:buNone/>
            </a:pPr>
            <a:r>
              <a:rPr lang="ru-RU" sz="2400" b="1" i="1" dirty="0">
                <a:solidFill>
                  <a:schemeClr val="accent6">
                    <a:lumMod val="50000"/>
                  </a:schemeClr>
                </a:solidFill>
                <a:latin typeface="YS Text"/>
              </a:rPr>
              <a:t>Фундамент декораторов</a:t>
            </a:r>
          </a:p>
          <a:p>
            <a:pPr marL="0" indent="0" algn="just">
              <a:buNone/>
            </a:pPr>
            <a:r>
              <a:rPr lang="ru-RU" dirty="0">
                <a:latin typeface="YS Text"/>
              </a:rPr>
              <a:t>Для начала стоит сформулировать и разобрать два важных принципа, они пригодятся в работе:</a:t>
            </a:r>
          </a:p>
          <a:p>
            <a:pPr marL="457200" indent="-457200" algn="just">
              <a:buFont typeface="+mj-lt"/>
              <a:buAutoNum type="arabicPeriod"/>
            </a:pPr>
            <a:r>
              <a:rPr lang="ru-RU" dirty="0">
                <a:latin typeface="YS Text"/>
              </a:rPr>
              <a:t>Функции в Python — это объекты.</a:t>
            </a:r>
          </a:p>
          <a:p>
            <a:pPr marL="457200" indent="-457200" algn="just">
              <a:buFont typeface="+mj-lt"/>
              <a:buAutoNum type="arabicPeriod"/>
            </a:pPr>
            <a:r>
              <a:rPr lang="ru-RU" dirty="0">
                <a:latin typeface="YS Text"/>
              </a:rPr>
              <a:t>Функции могут содержать в себе другие функции.</a:t>
            </a:r>
          </a:p>
          <a:p>
            <a:pPr marL="0" indent="0" algn="just">
              <a:buNone/>
            </a:pPr>
            <a:r>
              <a:rPr lang="ru-RU" b="1" dirty="0">
                <a:solidFill>
                  <a:schemeClr val="accent6">
                    <a:lumMod val="50000"/>
                  </a:schemeClr>
                </a:solidFill>
                <a:latin typeface="YS Text"/>
              </a:rPr>
              <a:t>Всё, с чем работает Python — это объекты</a:t>
            </a:r>
            <a:r>
              <a:rPr lang="ru-RU" dirty="0">
                <a:latin typeface="YS Text"/>
              </a:rPr>
              <a:t>. Числа, строки и значения любых других типов — это объекты определённых классов. Функции — это тоже объекты. Однако функция — особенный объект. Это как «коробочка с механизмом и с кнопкой»: она лежит и ждёт, когда «нажмут на кнопку» — вызовут функцию. Объект, который можно вызвать для выполнения какой-то работы, называется </a:t>
            </a:r>
            <a:r>
              <a:rPr lang="ru-RU" b="1" dirty="0" err="1">
                <a:solidFill>
                  <a:schemeClr val="accent6">
                    <a:lumMod val="50000"/>
                  </a:schemeClr>
                </a:solidFill>
                <a:latin typeface="YS Text"/>
              </a:rPr>
              <a:t>callable</a:t>
            </a:r>
            <a:r>
              <a:rPr lang="ru-RU" b="1" dirty="0">
                <a:solidFill>
                  <a:schemeClr val="accent6">
                    <a:lumMod val="50000"/>
                  </a:schemeClr>
                </a:solidFill>
                <a:latin typeface="YS Text"/>
              </a:rPr>
              <a:t> </a:t>
            </a:r>
            <a:r>
              <a:rPr lang="ru-RU" b="1" dirty="0" err="1">
                <a:solidFill>
                  <a:schemeClr val="accent6">
                    <a:lumMod val="50000"/>
                  </a:schemeClr>
                </a:solidFill>
                <a:latin typeface="YS Text"/>
              </a:rPr>
              <a:t>object</a:t>
            </a:r>
            <a:r>
              <a:rPr lang="ru-RU" dirty="0">
                <a:latin typeface="YS Text"/>
              </a:rPr>
              <a:t>. Функция как раз и относится к таким объектам. </a:t>
            </a:r>
          </a:p>
          <a:p>
            <a:pPr marL="0" indent="0" algn="just">
              <a:buNone/>
            </a:pPr>
            <a:r>
              <a:rPr lang="ru-RU" dirty="0">
                <a:latin typeface="YS Text"/>
              </a:rPr>
              <a:t>Однако кнопку можно и не нажимать, и тогда с функцией можно обращаться как с объектом любого другого типа. </a:t>
            </a:r>
          </a:p>
          <a:p>
            <a:pPr marL="0" indent="0" algn="just">
              <a:buNone/>
            </a:pPr>
            <a:r>
              <a:rPr lang="ru-RU" dirty="0">
                <a:latin typeface="YS Text"/>
              </a:rPr>
              <a:t>Функции принимают на вход объекты — например, числа, строки или списки. Раз функция — это тоже объект, значит, ничто не мешает передать на вход одной функции объект другой функции.</a:t>
            </a:r>
          </a:p>
        </p:txBody>
      </p:sp>
    </p:spTree>
    <p:extLst>
      <p:ext uri="{BB962C8B-B14F-4D97-AF65-F5344CB8AC3E}">
        <p14:creationId xmlns:p14="http://schemas.microsoft.com/office/powerpoint/2010/main" val="3940344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47297"/>
            <a:ext cx="10936304" cy="7005144"/>
          </a:xfrm>
        </p:spPr>
        <p:txBody>
          <a:bodyPr>
            <a:normAutofit fontScale="92500" lnSpcReduction="20000"/>
          </a:bodyPr>
          <a:lstStyle/>
          <a:p>
            <a:pPr marL="0" indent="0" algn="just">
              <a:buNone/>
            </a:pPr>
            <a:r>
              <a:rPr lang="ru-RU" sz="2100" dirty="0">
                <a:latin typeface="YS Text"/>
              </a:rPr>
              <a:t>И вот тут важно не запутаться. Функция — это объект. Но функция — это объект, который можно вызвать и получить результат вызова функции. Функция как объект и результат вызова функции — это совершенно разные сущности!</a:t>
            </a:r>
          </a:p>
          <a:p>
            <a:pPr marL="0" indent="0" algn="just">
              <a:buNone/>
            </a:pPr>
            <a:r>
              <a:rPr lang="ru-RU" sz="2100" dirty="0">
                <a:latin typeface="YS Text"/>
              </a:rPr>
              <a:t>Проверим на практике: сначала передадим в функцию </a:t>
            </a:r>
            <a:r>
              <a:rPr lang="ru-RU" sz="2100" dirty="0" err="1">
                <a:latin typeface="YS Text"/>
              </a:rPr>
              <a:t>print</a:t>
            </a:r>
            <a:r>
              <a:rPr lang="ru-RU" sz="2100" dirty="0">
                <a:latin typeface="YS Text"/>
              </a:rPr>
              <a:t>() результат вызова функции </a:t>
            </a:r>
            <a:r>
              <a:rPr lang="ru-RU" sz="2100" dirty="0" err="1">
                <a:latin typeface="YS Text"/>
              </a:rPr>
              <a:t>say_hello</a:t>
            </a:r>
            <a:r>
              <a:rPr lang="ru-RU" sz="2100" dirty="0">
                <a:latin typeface="YS Text"/>
              </a:rPr>
              <a:t>(), а затем — объект этой функции. </a:t>
            </a:r>
          </a:p>
          <a:p>
            <a:pPr marL="0" indent="0" algn="just">
              <a:buNone/>
            </a:pPr>
            <a:r>
              <a:rPr lang="en-US" sz="1600" dirty="0">
                <a:solidFill>
                  <a:srgbClr val="00B050"/>
                </a:solidFill>
                <a:latin typeface="YS Text"/>
              </a:rPr>
              <a:t>def </a:t>
            </a:r>
            <a:r>
              <a:rPr lang="en-US" sz="1600" dirty="0" err="1">
                <a:solidFill>
                  <a:srgbClr val="00B050"/>
                </a:solidFill>
                <a:latin typeface="YS Text"/>
              </a:rPr>
              <a:t>say_hello</a:t>
            </a:r>
            <a:r>
              <a:rPr lang="en-US" sz="1600" dirty="0">
                <a:solidFill>
                  <a:srgbClr val="00B050"/>
                </a:solidFill>
                <a:latin typeface="YS Text"/>
              </a:rPr>
              <a:t>():</a:t>
            </a:r>
          </a:p>
          <a:p>
            <a:pPr marL="0" indent="0" algn="just">
              <a:buNone/>
            </a:pPr>
            <a:r>
              <a:rPr lang="en-US" sz="1600" dirty="0">
                <a:solidFill>
                  <a:srgbClr val="00B050"/>
                </a:solidFill>
                <a:latin typeface="YS Text"/>
              </a:rPr>
              <a:t>    </a:t>
            </a:r>
            <a:r>
              <a:rPr lang="ru-RU" sz="1600" dirty="0">
                <a:solidFill>
                  <a:srgbClr val="00B050"/>
                </a:solidFill>
                <a:latin typeface="YS Text"/>
              </a:rPr>
              <a:t>    </a:t>
            </a:r>
            <a:r>
              <a:rPr lang="en-US" sz="1600" dirty="0">
                <a:solidFill>
                  <a:srgbClr val="00B050"/>
                </a:solidFill>
                <a:latin typeface="YS Text"/>
              </a:rPr>
              <a:t>return '</a:t>
            </a:r>
            <a:r>
              <a:rPr lang="ru-RU" sz="1600" dirty="0">
                <a:solidFill>
                  <a:srgbClr val="00B050"/>
                </a:solidFill>
                <a:latin typeface="YS Text"/>
              </a:rPr>
              <a:t>Привет!'</a:t>
            </a:r>
          </a:p>
          <a:p>
            <a:pPr marL="0" indent="0" algn="just">
              <a:buNone/>
            </a:pPr>
            <a:endParaRPr lang="ru-RU" sz="1600" dirty="0">
              <a:solidFill>
                <a:srgbClr val="00B050"/>
              </a:solidFill>
              <a:latin typeface="YS Text"/>
            </a:endParaRPr>
          </a:p>
          <a:p>
            <a:pPr marL="0" indent="0" algn="just">
              <a:buNone/>
            </a:pPr>
            <a:r>
              <a:rPr lang="ru-RU" sz="1600" dirty="0">
                <a:solidFill>
                  <a:schemeClr val="tx1"/>
                </a:solidFill>
                <a:latin typeface="YS Text"/>
              </a:rPr>
              <a:t># Передаём в </a:t>
            </a:r>
            <a:r>
              <a:rPr lang="en-US" sz="1600" dirty="0">
                <a:solidFill>
                  <a:schemeClr val="tx1"/>
                </a:solidFill>
                <a:latin typeface="YS Text"/>
              </a:rPr>
              <a:t>print() </a:t>
            </a:r>
            <a:r>
              <a:rPr lang="ru-RU" sz="1600" dirty="0">
                <a:solidFill>
                  <a:schemeClr val="tx1"/>
                </a:solidFill>
                <a:latin typeface="YS Text"/>
              </a:rPr>
              <a:t>результат вызова функции: вызов функции записывается с круглыми скобками после названия функции.</a:t>
            </a:r>
          </a:p>
          <a:p>
            <a:pPr marL="0" indent="0" algn="just">
              <a:buNone/>
            </a:pPr>
            <a:r>
              <a:rPr lang="en-US" sz="1600" dirty="0">
                <a:solidFill>
                  <a:srgbClr val="00B050"/>
                </a:solidFill>
                <a:latin typeface="YS Text"/>
              </a:rPr>
              <a:t>print('</a:t>
            </a:r>
            <a:r>
              <a:rPr lang="ru-RU" sz="1600" dirty="0">
                <a:solidFill>
                  <a:srgbClr val="00B050"/>
                </a:solidFill>
                <a:latin typeface="YS Text"/>
              </a:rPr>
              <a:t>Передали вызов функции:')</a:t>
            </a:r>
          </a:p>
          <a:p>
            <a:pPr marL="0" indent="0" algn="just">
              <a:buNone/>
            </a:pPr>
            <a:r>
              <a:rPr lang="en-US" sz="1600" dirty="0">
                <a:solidFill>
                  <a:srgbClr val="00B050"/>
                </a:solidFill>
                <a:latin typeface="YS Text"/>
              </a:rPr>
              <a:t>print(</a:t>
            </a:r>
            <a:r>
              <a:rPr lang="en-US" sz="1600" dirty="0" err="1">
                <a:solidFill>
                  <a:srgbClr val="00B050"/>
                </a:solidFill>
                <a:latin typeface="YS Text"/>
              </a:rPr>
              <a:t>say_hello</a:t>
            </a:r>
            <a:r>
              <a:rPr lang="en-US" sz="1600" dirty="0">
                <a:solidFill>
                  <a:srgbClr val="00B050"/>
                </a:solidFill>
                <a:latin typeface="YS Text"/>
              </a:rPr>
              <a:t>())</a:t>
            </a:r>
          </a:p>
          <a:p>
            <a:pPr marL="0" indent="0" algn="just">
              <a:buNone/>
            </a:pPr>
            <a:endParaRPr lang="en-US" sz="1600" dirty="0">
              <a:solidFill>
                <a:srgbClr val="00B050"/>
              </a:solidFill>
              <a:latin typeface="YS Text"/>
            </a:endParaRPr>
          </a:p>
          <a:p>
            <a:pPr marL="0" indent="0" algn="just">
              <a:buNone/>
            </a:pPr>
            <a:r>
              <a:rPr lang="en-US" sz="1600" dirty="0">
                <a:solidFill>
                  <a:schemeClr val="tx1"/>
                </a:solidFill>
                <a:latin typeface="YS Text"/>
              </a:rPr>
              <a:t># </a:t>
            </a:r>
            <a:r>
              <a:rPr lang="ru-RU" sz="1600" dirty="0">
                <a:solidFill>
                  <a:schemeClr val="tx1"/>
                </a:solidFill>
                <a:latin typeface="YS Text"/>
              </a:rPr>
              <a:t>Передаём в функцию </a:t>
            </a:r>
            <a:r>
              <a:rPr lang="en-US" sz="1600" dirty="0">
                <a:solidFill>
                  <a:schemeClr val="tx1"/>
                </a:solidFill>
                <a:latin typeface="YS Text"/>
              </a:rPr>
              <a:t>print() </a:t>
            </a:r>
            <a:r>
              <a:rPr lang="ru-RU" sz="1600" dirty="0">
                <a:solidFill>
                  <a:schemeClr val="tx1"/>
                </a:solidFill>
                <a:latin typeface="YS Text"/>
              </a:rPr>
              <a:t>объект функции: не ставим скобки после имени функции </a:t>
            </a:r>
            <a:r>
              <a:rPr lang="en-US" sz="1600" dirty="0" err="1">
                <a:solidFill>
                  <a:schemeClr val="tx1"/>
                </a:solidFill>
                <a:latin typeface="YS Text"/>
              </a:rPr>
              <a:t>say_hello</a:t>
            </a:r>
            <a:r>
              <a:rPr lang="en-US" sz="1600" dirty="0">
                <a:solidFill>
                  <a:schemeClr val="tx1"/>
                </a:solidFill>
                <a:latin typeface="YS Text"/>
              </a:rPr>
              <a:t>:</a:t>
            </a:r>
          </a:p>
          <a:p>
            <a:pPr marL="0" indent="0" algn="just">
              <a:buNone/>
            </a:pPr>
            <a:r>
              <a:rPr lang="en-US" sz="1600" dirty="0">
                <a:solidFill>
                  <a:srgbClr val="00B050"/>
                </a:solidFill>
                <a:latin typeface="YS Text"/>
              </a:rPr>
              <a:t>print('</a:t>
            </a:r>
            <a:r>
              <a:rPr lang="ru-RU" sz="1600" dirty="0">
                <a:solidFill>
                  <a:srgbClr val="00B050"/>
                </a:solidFill>
                <a:latin typeface="YS Text"/>
              </a:rPr>
              <a:t>Передали объект функции:')</a:t>
            </a:r>
          </a:p>
          <a:p>
            <a:pPr marL="0" indent="0" algn="just">
              <a:buNone/>
            </a:pPr>
            <a:r>
              <a:rPr lang="en-US" sz="1600" dirty="0">
                <a:solidFill>
                  <a:srgbClr val="00B050"/>
                </a:solidFill>
                <a:latin typeface="YS Text"/>
              </a:rPr>
              <a:t>print(</a:t>
            </a:r>
            <a:r>
              <a:rPr lang="en-US" sz="1600" dirty="0" err="1">
                <a:solidFill>
                  <a:srgbClr val="00B050"/>
                </a:solidFill>
                <a:latin typeface="YS Text"/>
              </a:rPr>
              <a:t>say_hello</a:t>
            </a:r>
            <a:r>
              <a:rPr lang="en-US" sz="1600" dirty="0">
                <a:solidFill>
                  <a:srgbClr val="00B050"/>
                </a:solidFill>
                <a:latin typeface="YS Text"/>
              </a:rPr>
              <a:t>)</a:t>
            </a:r>
            <a:endParaRPr lang="ru-RU" sz="1600" dirty="0">
              <a:solidFill>
                <a:srgbClr val="00B050"/>
              </a:solidFill>
              <a:latin typeface="YS Text"/>
            </a:endParaRPr>
          </a:p>
          <a:p>
            <a:pPr marL="0" indent="0" algn="just">
              <a:buNone/>
            </a:pPr>
            <a:r>
              <a:rPr lang="en-US" sz="1600" dirty="0">
                <a:solidFill>
                  <a:schemeClr val="tx1"/>
                </a:solidFill>
                <a:latin typeface="YS Text"/>
              </a:rPr>
              <a:t># </a:t>
            </a:r>
            <a:r>
              <a:rPr lang="ru-RU" sz="1600" dirty="0">
                <a:solidFill>
                  <a:schemeClr val="tx1"/>
                </a:solidFill>
                <a:latin typeface="YS Text"/>
              </a:rPr>
              <a:t>Вывод:</a:t>
            </a:r>
          </a:p>
          <a:p>
            <a:pPr marL="0" indent="0" algn="just">
              <a:buNone/>
            </a:pPr>
            <a:r>
              <a:rPr lang="ru-RU" sz="1600" dirty="0">
                <a:solidFill>
                  <a:srgbClr val="00B050"/>
                </a:solidFill>
                <a:latin typeface="YS Text"/>
              </a:rPr>
              <a:t>Передали вызов функции:</a:t>
            </a:r>
          </a:p>
          <a:p>
            <a:pPr marL="0" indent="0" algn="just">
              <a:buNone/>
            </a:pPr>
            <a:r>
              <a:rPr lang="ru-RU" sz="1600" dirty="0">
                <a:solidFill>
                  <a:srgbClr val="00B050"/>
                </a:solidFill>
                <a:latin typeface="YS Text"/>
              </a:rPr>
              <a:t>Привет!</a:t>
            </a:r>
          </a:p>
          <a:p>
            <a:pPr marL="0" indent="0" algn="just">
              <a:buNone/>
            </a:pPr>
            <a:r>
              <a:rPr lang="ru-RU" sz="1600" dirty="0">
                <a:solidFill>
                  <a:srgbClr val="00B050"/>
                </a:solidFill>
                <a:latin typeface="YS Text"/>
              </a:rPr>
              <a:t>Передали объект функции:</a:t>
            </a:r>
          </a:p>
          <a:p>
            <a:pPr marL="0" indent="0" algn="just">
              <a:buNone/>
            </a:pPr>
            <a:r>
              <a:rPr lang="ru-RU" sz="1600" dirty="0">
                <a:solidFill>
                  <a:srgbClr val="00B050"/>
                </a:solidFill>
                <a:latin typeface="YS Text"/>
              </a:rPr>
              <a:t>&lt;</a:t>
            </a:r>
            <a:r>
              <a:rPr lang="ru-RU" sz="1600" dirty="0" err="1">
                <a:solidFill>
                  <a:srgbClr val="00B050"/>
                </a:solidFill>
                <a:latin typeface="YS Text"/>
              </a:rPr>
              <a:t>function</a:t>
            </a:r>
            <a:r>
              <a:rPr lang="ru-RU" sz="1600" dirty="0">
                <a:solidFill>
                  <a:srgbClr val="00B050"/>
                </a:solidFill>
                <a:latin typeface="YS Text"/>
              </a:rPr>
              <a:t> </a:t>
            </a:r>
            <a:r>
              <a:rPr lang="ru-RU" sz="1600" dirty="0" err="1">
                <a:solidFill>
                  <a:srgbClr val="00B050"/>
                </a:solidFill>
                <a:latin typeface="YS Text"/>
              </a:rPr>
              <a:t>say_hello</a:t>
            </a:r>
            <a:r>
              <a:rPr lang="ru-RU" sz="1600" dirty="0">
                <a:solidFill>
                  <a:srgbClr val="00B050"/>
                </a:solidFill>
                <a:latin typeface="YS Text"/>
              </a:rPr>
              <a:t> </a:t>
            </a:r>
            <a:r>
              <a:rPr lang="ru-RU" sz="1600" dirty="0" err="1">
                <a:solidFill>
                  <a:srgbClr val="00B050"/>
                </a:solidFill>
                <a:latin typeface="YS Text"/>
              </a:rPr>
              <a:t>at</a:t>
            </a:r>
            <a:r>
              <a:rPr lang="ru-RU" sz="1600" dirty="0">
                <a:solidFill>
                  <a:srgbClr val="00B050"/>
                </a:solidFill>
                <a:latin typeface="YS Text"/>
              </a:rPr>
              <a:t> 0x7fa63e3a5ca0&gt;</a:t>
            </a:r>
          </a:p>
          <a:p>
            <a:pPr marL="0" indent="0" algn="just">
              <a:buNone/>
            </a:pPr>
            <a:r>
              <a:rPr lang="ru-RU" sz="2100" b="0" i="0" dirty="0">
                <a:effectLst/>
                <a:latin typeface="YS Text"/>
              </a:rPr>
              <a:t>Как и ожидалось — результаты отличаются: в первом случае напечатана строка, во втором — данные об объекте.</a:t>
            </a:r>
            <a:endParaRPr lang="ru-RU" sz="2100" dirty="0">
              <a:solidFill>
                <a:srgbClr val="00B050"/>
              </a:solidFill>
              <a:latin typeface="YS Text"/>
            </a:endParaRPr>
          </a:p>
        </p:txBody>
      </p:sp>
    </p:spTree>
    <p:extLst>
      <p:ext uri="{BB962C8B-B14F-4D97-AF65-F5344CB8AC3E}">
        <p14:creationId xmlns:p14="http://schemas.microsoft.com/office/powerpoint/2010/main" val="40211897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Функции внутри других функций</a:t>
            </a: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dirty="0">
                <a:latin typeface="YS Text"/>
              </a:rPr>
              <a:t>Объект функции можно передать как аргумент в другую функцию, доказано. А если уж передали — то почему бы и не вызвать функцию-аргумент внутри «внешней» функции? </a:t>
            </a:r>
          </a:p>
          <a:p>
            <a:pPr marL="0" indent="0" algn="just">
              <a:buNone/>
            </a:pPr>
            <a:r>
              <a:rPr lang="en-US" dirty="0">
                <a:solidFill>
                  <a:srgbClr val="00B050"/>
                </a:solidFill>
                <a:latin typeface="YS Text"/>
              </a:rPr>
              <a:t>def </a:t>
            </a:r>
            <a:r>
              <a:rPr lang="en-US" dirty="0" err="1">
                <a:solidFill>
                  <a:srgbClr val="00B050"/>
                </a:solidFill>
                <a:latin typeface="YS Text"/>
              </a:rPr>
              <a:t>outer_function</a:t>
            </a:r>
            <a:r>
              <a:rPr lang="en-US" dirty="0">
                <a:solidFill>
                  <a:srgbClr val="00B050"/>
                </a:solidFill>
                <a:latin typeface="YS Text"/>
              </a:rPr>
              <a:t>(</a:t>
            </a:r>
            <a:r>
              <a:rPr lang="en-US" dirty="0" err="1">
                <a:solidFill>
                  <a:srgbClr val="00B050"/>
                </a:solidFill>
                <a:latin typeface="YS Text"/>
              </a:rPr>
              <a:t>func</a:t>
            </a:r>
            <a:r>
              <a:rPr lang="en-US" dirty="0">
                <a:solidFill>
                  <a:srgbClr val="00B050"/>
                </a:solidFill>
                <a:latin typeface="YS Text"/>
              </a:rPr>
              <a:t>):</a:t>
            </a:r>
          </a:p>
          <a:p>
            <a:pPr marL="0" indent="0" algn="just">
              <a:buNone/>
            </a:pPr>
            <a:r>
              <a:rPr lang="en-US" dirty="0">
                <a:latin typeface="YS Text"/>
              </a:rPr>
              <a:t>    </a:t>
            </a:r>
            <a:r>
              <a:rPr lang="ru-RU" dirty="0">
                <a:latin typeface="YS Text"/>
              </a:rPr>
              <a:t>    </a:t>
            </a:r>
            <a:r>
              <a:rPr lang="en-US" dirty="0">
                <a:latin typeface="YS Text"/>
              </a:rPr>
              <a:t># </a:t>
            </a:r>
            <a:r>
              <a:rPr lang="ru-RU" dirty="0">
                <a:latin typeface="YS Text"/>
              </a:rPr>
              <a:t>Вызываем функцию, полученную в аргументе </a:t>
            </a:r>
            <a:r>
              <a:rPr lang="en-US" dirty="0" err="1">
                <a:latin typeface="YS Text"/>
              </a:rPr>
              <a:t>func</a:t>
            </a:r>
            <a:r>
              <a:rPr lang="en-US" dirty="0">
                <a:latin typeface="YS Text"/>
              </a:rPr>
              <a:t>:</a:t>
            </a:r>
          </a:p>
          <a:p>
            <a:pPr marL="0" indent="0" algn="just">
              <a:buNone/>
            </a:pPr>
            <a:r>
              <a:rPr lang="en-US" dirty="0">
                <a:latin typeface="YS Text"/>
              </a:rPr>
              <a:t>   </a:t>
            </a:r>
            <a:r>
              <a:rPr lang="ru-RU" dirty="0">
                <a:latin typeface="YS Text"/>
              </a:rPr>
              <a:t>    </a:t>
            </a:r>
            <a:r>
              <a:rPr lang="en-US" dirty="0">
                <a:latin typeface="YS Text"/>
              </a:rPr>
              <a:t> </a:t>
            </a:r>
            <a:r>
              <a:rPr lang="en-US" dirty="0">
                <a:solidFill>
                  <a:srgbClr val="00B050"/>
                </a:solidFill>
                <a:latin typeface="YS Text"/>
              </a:rPr>
              <a:t>result = </a:t>
            </a:r>
            <a:r>
              <a:rPr lang="en-US" dirty="0" err="1">
                <a:solidFill>
                  <a:srgbClr val="00B050"/>
                </a:solidFill>
                <a:latin typeface="YS Text"/>
              </a:rPr>
              <a:t>func</a:t>
            </a:r>
            <a:r>
              <a:rPr lang="en-US" dirty="0">
                <a:solidFill>
                  <a:srgbClr val="00B050"/>
                </a:solidFill>
                <a:latin typeface="YS Text"/>
              </a:rPr>
              <a:t>('</a:t>
            </a:r>
            <a:r>
              <a:rPr lang="ru-RU" dirty="0">
                <a:solidFill>
                  <a:srgbClr val="00B050"/>
                </a:solidFill>
                <a:latin typeface="YS Text"/>
              </a:rPr>
              <a:t>Стас')</a:t>
            </a:r>
          </a:p>
          <a:p>
            <a:pPr marL="0" indent="0" algn="just">
              <a:buNone/>
            </a:pPr>
            <a:r>
              <a:rPr lang="ru-RU" dirty="0">
                <a:solidFill>
                  <a:srgbClr val="00B050"/>
                </a:solidFill>
                <a:latin typeface="YS Text"/>
              </a:rPr>
              <a:t>        </a:t>
            </a:r>
            <a:r>
              <a:rPr lang="en-US" dirty="0">
                <a:solidFill>
                  <a:srgbClr val="00B050"/>
                </a:solidFill>
                <a:latin typeface="YS Text"/>
              </a:rPr>
              <a:t>print(result)</a:t>
            </a:r>
          </a:p>
          <a:p>
            <a:pPr marL="0" indent="0" algn="just">
              <a:buNone/>
            </a:pPr>
            <a:endParaRPr lang="en-US" dirty="0">
              <a:latin typeface="YS Text"/>
            </a:endParaRPr>
          </a:p>
          <a:p>
            <a:pPr marL="0" indent="0" algn="just">
              <a:buNone/>
            </a:pPr>
            <a:r>
              <a:rPr lang="en-US" dirty="0">
                <a:solidFill>
                  <a:srgbClr val="00B050"/>
                </a:solidFill>
                <a:latin typeface="YS Text"/>
              </a:rPr>
              <a:t>def </a:t>
            </a:r>
            <a:r>
              <a:rPr lang="en-US" dirty="0" err="1">
                <a:solidFill>
                  <a:srgbClr val="00B050"/>
                </a:solidFill>
                <a:latin typeface="YS Text"/>
              </a:rPr>
              <a:t>say_hello</a:t>
            </a:r>
            <a:r>
              <a:rPr lang="en-US" dirty="0">
                <a:solidFill>
                  <a:srgbClr val="00B050"/>
                </a:solidFill>
                <a:latin typeface="YS Text"/>
              </a:rPr>
              <a:t>(name):</a:t>
            </a:r>
          </a:p>
          <a:p>
            <a:pPr marL="0" indent="0" algn="just">
              <a:buNone/>
            </a:pPr>
            <a:r>
              <a:rPr lang="en-US" dirty="0">
                <a:solidFill>
                  <a:srgbClr val="00B050"/>
                </a:solidFill>
                <a:latin typeface="YS Text"/>
              </a:rPr>
              <a:t>   </a:t>
            </a:r>
            <a:r>
              <a:rPr lang="ru-RU" dirty="0">
                <a:solidFill>
                  <a:srgbClr val="00B050"/>
                </a:solidFill>
                <a:latin typeface="YS Text"/>
              </a:rPr>
              <a:t>    </a:t>
            </a:r>
            <a:r>
              <a:rPr lang="en-US" dirty="0">
                <a:solidFill>
                  <a:srgbClr val="00B050"/>
                </a:solidFill>
                <a:latin typeface="YS Text"/>
              </a:rPr>
              <a:t> return f'</a:t>
            </a:r>
            <a:r>
              <a:rPr lang="ru-RU" dirty="0">
                <a:solidFill>
                  <a:srgbClr val="00B050"/>
                </a:solidFill>
                <a:latin typeface="YS Text"/>
              </a:rPr>
              <a:t>Привет, {</a:t>
            </a:r>
            <a:r>
              <a:rPr lang="en-US" dirty="0">
                <a:solidFill>
                  <a:srgbClr val="00B050"/>
                </a:solidFill>
                <a:latin typeface="YS Text"/>
              </a:rPr>
              <a:t>name}!'</a:t>
            </a:r>
          </a:p>
          <a:p>
            <a:pPr marL="0" indent="0" algn="just">
              <a:buNone/>
            </a:pPr>
            <a:endParaRPr lang="en-US" dirty="0">
              <a:latin typeface="YS Text"/>
            </a:endParaRPr>
          </a:p>
          <a:p>
            <a:pPr marL="0" indent="0" algn="just">
              <a:buNone/>
            </a:pPr>
            <a:r>
              <a:rPr lang="en-US" dirty="0">
                <a:latin typeface="YS Text"/>
              </a:rPr>
              <a:t># </a:t>
            </a:r>
            <a:r>
              <a:rPr lang="ru-RU" dirty="0">
                <a:latin typeface="YS Text"/>
              </a:rPr>
              <a:t>Передаём </a:t>
            </a:r>
            <a:r>
              <a:rPr lang="en-US" dirty="0" err="1">
                <a:latin typeface="YS Text"/>
              </a:rPr>
              <a:t>say_hello</a:t>
            </a:r>
            <a:r>
              <a:rPr lang="en-US" dirty="0">
                <a:latin typeface="YS Text"/>
              </a:rPr>
              <a:t> </a:t>
            </a:r>
            <a:r>
              <a:rPr lang="ru-RU" dirty="0">
                <a:latin typeface="YS Text"/>
              </a:rPr>
              <a:t>как объект - без скобок!</a:t>
            </a:r>
          </a:p>
          <a:p>
            <a:pPr marL="0" indent="0" algn="just">
              <a:buNone/>
            </a:pPr>
            <a:r>
              <a:rPr lang="en-US" dirty="0" err="1">
                <a:solidFill>
                  <a:srgbClr val="00B050"/>
                </a:solidFill>
                <a:latin typeface="YS Text"/>
              </a:rPr>
              <a:t>outer_function</a:t>
            </a:r>
            <a:r>
              <a:rPr lang="en-US" dirty="0">
                <a:solidFill>
                  <a:srgbClr val="00B050"/>
                </a:solidFill>
                <a:latin typeface="YS Text"/>
              </a:rPr>
              <a:t>(</a:t>
            </a:r>
            <a:r>
              <a:rPr lang="en-US" dirty="0" err="1">
                <a:solidFill>
                  <a:srgbClr val="00B050"/>
                </a:solidFill>
                <a:latin typeface="YS Text"/>
              </a:rPr>
              <a:t>say_hello</a:t>
            </a:r>
            <a:r>
              <a:rPr lang="en-US" dirty="0">
                <a:solidFill>
                  <a:srgbClr val="00B050"/>
                </a:solidFill>
                <a:latin typeface="YS Text"/>
              </a:rPr>
              <a:t>)</a:t>
            </a:r>
            <a:endParaRPr lang="ru-RU" dirty="0">
              <a:solidFill>
                <a:srgbClr val="00B050"/>
              </a:solidFill>
              <a:latin typeface="YS Text"/>
            </a:endParaRPr>
          </a:p>
          <a:p>
            <a:pPr marL="0" indent="0" algn="just">
              <a:buNone/>
            </a:pPr>
            <a:r>
              <a:rPr lang="ru-RU" dirty="0">
                <a:latin typeface="YS Text"/>
              </a:rPr>
              <a:t>Так же поступали и с лямбдами, и с обычными функциями. И этот подход поможет в работе с декораторами.</a:t>
            </a:r>
          </a:p>
        </p:txBody>
      </p:sp>
    </p:spTree>
    <p:extLst>
      <p:ext uri="{BB962C8B-B14F-4D97-AF65-F5344CB8AC3E}">
        <p14:creationId xmlns:p14="http://schemas.microsoft.com/office/powerpoint/2010/main" val="34307387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69484"/>
            <a:ext cx="10936304" cy="626532"/>
          </a:xfrm>
        </p:spPr>
        <p:txBody>
          <a:bodyPr>
            <a:normAutofit fontScale="90000"/>
          </a:bodyPr>
          <a:lstStyle/>
          <a:p>
            <a:pPr algn="ctr"/>
            <a:r>
              <a:rPr lang="ru-RU" sz="4900" b="1" dirty="0">
                <a:effectLst/>
                <a:latin typeface="YS Text"/>
              </a:rPr>
              <a:t>Декораторы и </a:t>
            </a:r>
            <a:r>
              <a:rPr lang="ru-RU" sz="4900" b="1" dirty="0" err="1">
                <a:effectLst/>
                <a:latin typeface="YS Text"/>
              </a:rPr>
              <a:t>декокируемые</a:t>
            </a:r>
            <a:r>
              <a:rPr lang="ru-RU" sz="4900" b="1" dirty="0">
                <a:effectLst/>
                <a:latin typeface="YS Text"/>
              </a:rPr>
              <a:t> функции</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557047"/>
            <a:ext cx="10936304" cy="6421821"/>
          </a:xfrm>
        </p:spPr>
        <p:txBody>
          <a:bodyPr>
            <a:normAutofit/>
          </a:bodyPr>
          <a:lstStyle/>
          <a:p>
            <a:pPr marL="0" indent="0" algn="just">
              <a:buNone/>
            </a:pPr>
            <a:r>
              <a:rPr lang="ru-RU" dirty="0">
                <a:latin typeface="YS Text"/>
              </a:rPr>
              <a:t>Функция, которая принимает на вход другую функцию и определённым образом меняет её поведение, называют </a:t>
            </a:r>
            <a:r>
              <a:rPr lang="ru-RU" sz="2400" b="1" dirty="0">
                <a:solidFill>
                  <a:schemeClr val="accent6">
                    <a:lumMod val="50000"/>
                  </a:schemeClr>
                </a:solidFill>
                <a:latin typeface="YS Text"/>
              </a:rPr>
              <a:t>декоратор</a:t>
            </a:r>
            <a:r>
              <a:rPr lang="ru-RU" dirty="0">
                <a:latin typeface="YS Text"/>
              </a:rPr>
              <a:t>. В нашем примере кода декоратор — это функция </a:t>
            </a:r>
            <a:r>
              <a:rPr lang="ru-RU" b="1" dirty="0" err="1">
                <a:latin typeface="YS Text"/>
              </a:rPr>
              <a:t>time_of_function</a:t>
            </a:r>
            <a:r>
              <a:rPr lang="ru-RU" b="1" dirty="0">
                <a:latin typeface="YS Text"/>
              </a:rPr>
              <a:t>(). </a:t>
            </a:r>
            <a:r>
              <a:rPr lang="ru-RU" dirty="0">
                <a:latin typeface="YS Text"/>
              </a:rPr>
              <a:t>Функцию, поведение которой изменяет декоратор, называют «декорируемой функцией»; в нашем коде </a:t>
            </a:r>
            <a:r>
              <a:rPr lang="ru-RU" sz="2400" b="1" dirty="0">
                <a:solidFill>
                  <a:schemeClr val="accent6">
                    <a:lumMod val="50000"/>
                  </a:schemeClr>
                </a:solidFill>
                <a:latin typeface="YS Text"/>
              </a:rPr>
              <a:t>декорируемая функция </a:t>
            </a:r>
            <a:r>
              <a:rPr lang="ru-RU" dirty="0">
                <a:latin typeface="YS Text"/>
              </a:rPr>
              <a:t>— это </a:t>
            </a:r>
            <a:r>
              <a:rPr lang="ru-RU" b="1" dirty="0" err="1">
                <a:latin typeface="YS Text"/>
              </a:rPr>
              <a:t>sleep_one_sec</a:t>
            </a:r>
            <a:r>
              <a:rPr lang="ru-RU" b="1" dirty="0">
                <a:latin typeface="YS Text"/>
              </a:rPr>
              <a:t>()</a:t>
            </a:r>
            <a:r>
              <a:rPr lang="ru-RU" dirty="0">
                <a:latin typeface="YS Text"/>
              </a:rPr>
              <a:t>.</a:t>
            </a:r>
            <a:endParaRPr lang="en-US" sz="1200" i="1" dirty="0">
              <a:latin typeface="YS Text"/>
            </a:endParaRPr>
          </a:p>
          <a:p>
            <a:pPr marL="0" indent="0" algn="just">
              <a:buNone/>
            </a:pPr>
            <a:r>
              <a:rPr lang="en-US" sz="1200" b="1" dirty="0">
                <a:solidFill>
                  <a:srgbClr val="00B050"/>
                </a:solidFill>
                <a:latin typeface="YS Text"/>
              </a:rPr>
              <a:t>def </a:t>
            </a:r>
            <a:r>
              <a:rPr lang="en-US" sz="1200" b="1" dirty="0" err="1">
                <a:solidFill>
                  <a:srgbClr val="00B050"/>
                </a:solidFill>
                <a:latin typeface="YS Text"/>
              </a:rPr>
              <a:t>time_of_function</a:t>
            </a:r>
            <a:r>
              <a:rPr lang="en-US" sz="1200" b="1" dirty="0">
                <a:solidFill>
                  <a:srgbClr val="00B050"/>
                </a:solidFill>
                <a:latin typeface="YS Text"/>
              </a:rPr>
              <a:t>(</a:t>
            </a:r>
            <a:r>
              <a:rPr lang="en-US" sz="1200" b="1" dirty="0" err="1">
                <a:solidFill>
                  <a:srgbClr val="00B050"/>
                </a:solidFill>
                <a:latin typeface="YS Text"/>
              </a:rPr>
              <a:t>func</a:t>
            </a:r>
            <a:r>
              <a:rPr lang="en-US" sz="1200" b="1" dirty="0">
                <a:solidFill>
                  <a:srgbClr val="00B050"/>
                </a:solidFill>
                <a:latin typeface="YS Text"/>
              </a:rPr>
              <a:t>):</a:t>
            </a:r>
            <a:r>
              <a:rPr lang="ru-RU" sz="1200" b="1" dirty="0">
                <a:solidFill>
                  <a:srgbClr val="00B050"/>
                </a:solidFill>
                <a:latin typeface="YS Text"/>
              </a:rPr>
              <a:t>  </a:t>
            </a:r>
            <a:r>
              <a:rPr lang="en-US" sz="1200" i="1" dirty="0">
                <a:latin typeface="YS Text"/>
              </a:rPr>
              <a:t># </a:t>
            </a:r>
            <a:r>
              <a:rPr lang="ru-RU" sz="1200" i="1" dirty="0">
                <a:latin typeface="YS Text"/>
              </a:rPr>
              <a:t>Декоратор объявляется до декорируемой функции.</a:t>
            </a:r>
            <a:endParaRPr lang="en-US" sz="1200" i="1" dirty="0">
              <a:latin typeface="YS Text"/>
            </a:endParaRPr>
          </a:p>
          <a:p>
            <a:pPr marL="0" indent="0" algn="just">
              <a:buNone/>
            </a:pPr>
            <a:r>
              <a:rPr lang="en-US" sz="1200" b="1" dirty="0">
                <a:solidFill>
                  <a:srgbClr val="00B050"/>
                </a:solidFill>
                <a:latin typeface="YS Text"/>
              </a:rPr>
              <a:t>            def wrapper():</a:t>
            </a:r>
            <a:r>
              <a:rPr lang="ru-RU" sz="1200" b="1" dirty="0">
                <a:solidFill>
                  <a:srgbClr val="00B050"/>
                </a:solidFill>
                <a:latin typeface="YS Text"/>
              </a:rPr>
              <a:t>  </a:t>
            </a:r>
            <a:r>
              <a:rPr lang="en-US" sz="1200" i="1" dirty="0">
                <a:latin typeface="YS Text"/>
              </a:rPr>
              <a:t># </a:t>
            </a:r>
            <a:r>
              <a:rPr lang="ru-RU" sz="1200" i="1" dirty="0">
                <a:latin typeface="YS Text"/>
              </a:rPr>
              <a:t>В декораторе есть вложенная функция.</a:t>
            </a:r>
            <a:endParaRPr lang="en-US" sz="1200" i="1" dirty="0">
              <a:latin typeface="YS Text"/>
            </a:endParaRPr>
          </a:p>
          <a:p>
            <a:pPr marL="0" indent="0" algn="just">
              <a:buNone/>
            </a:pPr>
            <a:r>
              <a:rPr lang="en-US" sz="1200" i="1" dirty="0">
                <a:latin typeface="YS Text"/>
              </a:rPr>
              <a:t>        </a:t>
            </a:r>
            <a:r>
              <a:rPr lang="ru-RU" sz="1200" i="1" dirty="0">
                <a:latin typeface="YS Text"/>
              </a:rPr>
              <a:t>   </a:t>
            </a:r>
            <a:r>
              <a:rPr lang="en-US" sz="1200" i="1" dirty="0">
                <a:latin typeface="YS Text"/>
              </a:rPr>
              <a:t>            </a:t>
            </a:r>
            <a:r>
              <a:rPr lang="ru-RU" sz="1200" i="1" dirty="0">
                <a:latin typeface="YS Text"/>
              </a:rPr>
              <a:t> </a:t>
            </a:r>
            <a:r>
              <a:rPr lang="en-US" sz="1200" b="1" dirty="0" err="1">
                <a:solidFill>
                  <a:srgbClr val="00B050"/>
                </a:solidFill>
                <a:latin typeface="YS Text"/>
              </a:rPr>
              <a:t>start_time</a:t>
            </a:r>
            <a:r>
              <a:rPr lang="en-US" sz="1200" b="1" dirty="0">
                <a:solidFill>
                  <a:srgbClr val="00B050"/>
                </a:solidFill>
                <a:latin typeface="YS Text"/>
              </a:rPr>
              <a:t> = </a:t>
            </a:r>
            <a:r>
              <a:rPr lang="en-US" sz="1200" b="1" dirty="0" err="1">
                <a:solidFill>
                  <a:srgbClr val="00B050"/>
                </a:solidFill>
                <a:latin typeface="YS Text"/>
              </a:rPr>
              <a:t>time.time</a:t>
            </a:r>
            <a:r>
              <a:rPr lang="en-US" sz="1200" b="1" dirty="0">
                <a:solidFill>
                  <a:srgbClr val="00B050"/>
                </a:solidFill>
                <a:latin typeface="YS Text"/>
              </a:rPr>
              <a:t>()</a:t>
            </a:r>
          </a:p>
          <a:p>
            <a:pPr marL="0" indent="0" algn="just">
              <a:buNone/>
            </a:pPr>
            <a:r>
              <a:rPr lang="en-US" sz="1200" b="1" dirty="0">
                <a:solidFill>
                  <a:srgbClr val="00B050"/>
                </a:solidFill>
                <a:latin typeface="YS Text"/>
              </a:rPr>
              <a:t>       </a:t>
            </a:r>
            <a:r>
              <a:rPr lang="ru-RU" sz="1200" b="1" dirty="0">
                <a:solidFill>
                  <a:srgbClr val="00B050"/>
                </a:solidFill>
                <a:latin typeface="YS Text"/>
              </a:rPr>
              <a:t>    </a:t>
            </a:r>
            <a:r>
              <a:rPr lang="en-US" sz="1200" b="1" dirty="0">
                <a:solidFill>
                  <a:srgbClr val="00B050"/>
                </a:solidFill>
                <a:latin typeface="YS Text"/>
              </a:rPr>
              <a:t>             result = </a:t>
            </a:r>
            <a:r>
              <a:rPr lang="en-US" sz="1200" b="1" dirty="0" err="1">
                <a:solidFill>
                  <a:srgbClr val="00B050"/>
                </a:solidFill>
                <a:latin typeface="YS Text"/>
              </a:rPr>
              <a:t>func</a:t>
            </a:r>
            <a:r>
              <a:rPr lang="en-US" sz="1200" b="1" dirty="0">
                <a:solidFill>
                  <a:srgbClr val="00B050"/>
                </a:solidFill>
                <a:latin typeface="YS Text"/>
              </a:rPr>
              <a:t>()</a:t>
            </a:r>
          </a:p>
          <a:p>
            <a:pPr marL="0" indent="0" algn="just">
              <a:buNone/>
            </a:pPr>
            <a:r>
              <a:rPr lang="en-US" sz="1200" b="1" dirty="0">
                <a:solidFill>
                  <a:srgbClr val="00B050"/>
                </a:solidFill>
                <a:latin typeface="YS Text"/>
              </a:rPr>
              <a:t>        </a:t>
            </a:r>
            <a:r>
              <a:rPr lang="ru-RU" sz="1200" b="1" dirty="0">
                <a:solidFill>
                  <a:srgbClr val="00B050"/>
                </a:solidFill>
                <a:latin typeface="YS Text"/>
              </a:rPr>
              <a:t>    </a:t>
            </a:r>
            <a:r>
              <a:rPr lang="en-US" sz="1200" b="1" dirty="0">
                <a:solidFill>
                  <a:srgbClr val="00B050"/>
                </a:solidFill>
                <a:latin typeface="YS Text"/>
              </a:rPr>
              <a:t>            </a:t>
            </a:r>
            <a:r>
              <a:rPr lang="en-US" sz="1200" b="1" dirty="0" err="1">
                <a:solidFill>
                  <a:srgbClr val="00B050"/>
                </a:solidFill>
                <a:latin typeface="YS Text"/>
              </a:rPr>
              <a:t>execution_time</a:t>
            </a:r>
            <a:r>
              <a:rPr lang="en-US" sz="1200" b="1" dirty="0">
                <a:solidFill>
                  <a:srgbClr val="00B050"/>
                </a:solidFill>
                <a:latin typeface="YS Text"/>
              </a:rPr>
              <a:t> = round(</a:t>
            </a:r>
            <a:r>
              <a:rPr lang="en-US" sz="1200" b="1" dirty="0" err="1">
                <a:solidFill>
                  <a:srgbClr val="00B050"/>
                </a:solidFill>
                <a:latin typeface="YS Text"/>
              </a:rPr>
              <a:t>time.time</a:t>
            </a:r>
            <a:r>
              <a:rPr lang="en-US" sz="1200" b="1" dirty="0">
                <a:solidFill>
                  <a:srgbClr val="00B050"/>
                </a:solidFill>
                <a:latin typeface="YS Text"/>
              </a:rPr>
              <a:t>() - </a:t>
            </a:r>
            <a:r>
              <a:rPr lang="en-US" sz="1200" b="1" dirty="0" err="1">
                <a:solidFill>
                  <a:srgbClr val="00B050"/>
                </a:solidFill>
                <a:latin typeface="YS Text"/>
              </a:rPr>
              <a:t>start_time</a:t>
            </a:r>
            <a:r>
              <a:rPr lang="en-US" sz="1200" b="1" dirty="0">
                <a:solidFill>
                  <a:srgbClr val="00B050"/>
                </a:solidFill>
                <a:latin typeface="YS Text"/>
              </a:rPr>
              <a:t>, 3)</a:t>
            </a:r>
          </a:p>
          <a:p>
            <a:pPr marL="0" indent="0" algn="just">
              <a:buNone/>
            </a:pPr>
            <a:r>
              <a:rPr lang="en-US" sz="1200" b="1" dirty="0">
                <a:solidFill>
                  <a:srgbClr val="00B050"/>
                </a:solidFill>
                <a:latin typeface="YS Text"/>
              </a:rPr>
              <a:t>      </a:t>
            </a:r>
            <a:r>
              <a:rPr lang="ru-RU" sz="1200" b="1" dirty="0">
                <a:solidFill>
                  <a:srgbClr val="00B050"/>
                </a:solidFill>
                <a:latin typeface="YS Text"/>
              </a:rPr>
              <a:t>    </a:t>
            </a:r>
            <a:r>
              <a:rPr lang="en-US" sz="1200" b="1" dirty="0">
                <a:solidFill>
                  <a:srgbClr val="00B050"/>
                </a:solidFill>
                <a:latin typeface="YS Text"/>
              </a:rPr>
              <a:t>              print(f'</a:t>
            </a:r>
            <a:r>
              <a:rPr lang="ru-RU" sz="1200" b="1" dirty="0">
                <a:solidFill>
                  <a:srgbClr val="00B050"/>
                </a:solidFill>
                <a:latin typeface="YS Text"/>
              </a:rPr>
              <a:t>Время выполнения: {</a:t>
            </a:r>
            <a:r>
              <a:rPr lang="en-US" sz="1200" b="1" dirty="0" err="1">
                <a:solidFill>
                  <a:srgbClr val="00B050"/>
                </a:solidFill>
                <a:latin typeface="YS Text"/>
              </a:rPr>
              <a:t>execution_time</a:t>
            </a:r>
            <a:r>
              <a:rPr lang="en-US" sz="1200" b="1" dirty="0">
                <a:solidFill>
                  <a:srgbClr val="00B050"/>
                </a:solidFill>
                <a:latin typeface="YS Text"/>
              </a:rPr>
              <a:t>} </a:t>
            </a:r>
            <a:r>
              <a:rPr lang="ru-RU" sz="1200" b="1" dirty="0">
                <a:solidFill>
                  <a:srgbClr val="00B050"/>
                </a:solidFill>
                <a:latin typeface="YS Text"/>
              </a:rPr>
              <a:t>сек.')</a:t>
            </a:r>
          </a:p>
          <a:p>
            <a:pPr marL="0" indent="0" algn="just">
              <a:buNone/>
            </a:pPr>
            <a:r>
              <a:rPr lang="ru-RU" sz="1200" b="1" dirty="0">
                <a:solidFill>
                  <a:srgbClr val="00B050"/>
                </a:solidFill>
                <a:latin typeface="YS Text"/>
              </a:rPr>
              <a:t>            </a:t>
            </a:r>
            <a:r>
              <a:rPr lang="en-US" sz="1200" b="1" dirty="0">
                <a:solidFill>
                  <a:srgbClr val="00B050"/>
                </a:solidFill>
                <a:latin typeface="YS Text"/>
              </a:rPr>
              <a:t>            return result</a:t>
            </a:r>
          </a:p>
          <a:p>
            <a:pPr marL="0" indent="0" algn="just">
              <a:buNone/>
            </a:pPr>
            <a:r>
              <a:rPr lang="en-US" sz="1200" b="1" dirty="0">
                <a:solidFill>
                  <a:srgbClr val="00B050"/>
                </a:solidFill>
                <a:latin typeface="YS Text"/>
              </a:rPr>
              <a:t>            return wrapper</a:t>
            </a:r>
            <a:r>
              <a:rPr lang="ru-RU" sz="1200" b="1" dirty="0">
                <a:solidFill>
                  <a:srgbClr val="00B050"/>
                </a:solidFill>
                <a:latin typeface="YS Text"/>
              </a:rPr>
              <a:t>  </a:t>
            </a:r>
            <a:r>
              <a:rPr lang="en-US" sz="1200" b="1" dirty="0">
                <a:solidFill>
                  <a:srgbClr val="00B050"/>
                </a:solidFill>
                <a:latin typeface="YS Text"/>
              </a:rPr>
              <a:t> </a:t>
            </a:r>
            <a:r>
              <a:rPr lang="en-US" sz="1200" i="1" dirty="0">
                <a:latin typeface="YS Text"/>
              </a:rPr>
              <a:t># </a:t>
            </a:r>
            <a:r>
              <a:rPr lang="ru-RU" sz="1200" i="1" dirty="0">
                <a:latin typeface="YS Text"/>
              </a:rPr>
              <a:t>Декоратор возвращает вызываемый объект (</a:t>
            </a:r>
            <a:r>
              <a:rPr lang="en-US" sz="1200" i="1" dirty="0">
                <a:latin typeface="YS Text"/>
              </a:rPr>
              <a:t>callable object),</a:t>
            </a:r>
            <a:r>
              <a:rPr lang="ru-RU" sz="1200" i="1" dirty="0">
                <a:latin typeface="YS Text"/>
              </a:rPr>
              <a:t> в нашем случае - функцию.</a:t>
            </a:r>
            <a:endParaRPr lang="en-US" sz="1200" i="1" dirty="0">
              <a:latin typeface="YS Text"/>
            </a:endParaRPr>
          </a:p>
          <a:p>
            <a:pPr marL="0" indent="0" algn="just">
              <a:buNone/>
            </a:pPr>
            <a:endParaRPr lang="en-US" sz="1200" i="1" dirty="0">
              <a:latin typeface="YS Text"/>
            </a:endParaRPr>
          </a:p>
          <a:p>
            <a:pPr marL="0" indent="0" algn="just">
              <a:buNone/>
            </a:pPr>
            <a:r>
              <a:rPr lang="ru-RU" sz="1200" b="1" dirty="0">
                <a:solidFill>
                  <a:srgbClr val="00B050"/>
                </a:solidFill>
                <a:latin typeface="YS Text"/>
              </a:rPr>
              <a:t>@</a:t>
            </a:r>
            <a:r>
              <a:rPr lang="en-US" sz="1200" b="1" dirty="0" err="1">
                <a:solidFill>
                  <a:srgbClr val="00B050"/>
                </a:solidFill>
                <a:latin typeface="YS Text"/>
              </a:rPr>
              <a:t>time_of_function</a:t>
            </a:r>
            <a:r>
              <a:rPr lang="ru-RU" sz="1200" b="1" dirty="0">
                <a:solidFill>
                  <a:srgbClr val="00B050"/>
                </a:solidFill>
                <a:latin typeface="YS Text"/>
              </a:rPr>
              <a:t>  </a:t>
            </a:r>
            <a:r>
              <a:rPr lang="en-US" sz="1200" i="1" dirty="0">
                <a:latin typeface="YS Text"/>
              </a:rPr>
              <a:t># </a:t>
            </a:r>
            <a:r>
              <a:rPr lang="ru-RU" sz="1200" i="1" dirty="0">
                <a:latin typeface="YS Text"/>
              </a:rPr>
              <a:t>Имя функции-декоратора (с символом @) ставится перед объявлением декорируемой функции.</a:t>
            </a:r>
            <a:endParaRPr lang="en-US" sz="1200" i="1" dirty="0">
              <a:latin typeface="YS Text"/>
            </a:endParaRPr>
          </a:p>
          <a:p>
            <a:pPr marL="0" indent="0" algn="just">
              <a:buNone/>
            </a:pPr>
            <a:r>
              <a:rPr lang="en-US" sz="1200" b="1" dirty="0">
                <a:solidFill>
                  <a:srgbClr val="00B050"/>
                </a:solidFill>
                <a:latin typeface="YS Text"/>
              </a:rPr>
              <a:t>def </a:t>
            </a:r>
            <a:r>
              <a:rPr lang="en-US" sz="1200" b="1" dirty="0" err="1">
                <a:solidFill>
                  <a:srgbClr val="00B050"/>
                </a:solidFill>
                <a:latin typeface="YS Text"/>
              </a:rPr>
              <a:t>sleep_one_sec</a:t>
            </a:r>
            <a:r>
              <a:rPr lang="en-US" sz="1200" b="1" dirty="0">
                <a:solidFill>
                  <a:srgbClr val="00B050"/>
                </a:solidFill>
                <a:latin typeface="YS Text"/>
              </a:rPr>
              <a:t>():</a:t>
            </a:r>
          </a:p>
          <a:p>
            <a:pPr marL="0" indent="0" algn="just">
              <a:buNone/>
            </a:pPr>
            <a:r>
              <a:rPr lang="en-US" sz="1200" b="1" dirty="0">
                <a:solidFill>
                  <a:srgbClr val="00B050"/>
                </a:solidFill>
                <a:latin typeface="YS Text"/>
              </a:rPr>
              <a:t>   </a:t>
            </a:r>
            <a:r>
              <a:rPr lang="ru-RU" sz="1200" b="1" dirty="0">
                <a:solidFill>
                  <a:srgbClr val="00B050"/>
                </a:solidFill>
                <a:latin typeface="YS Text"/>
              </a:rPr>
              <a:t>       </a:t>
            </a:r>
            <a:r>
              <a:rPr lang="en-US" sz="1200" b="1" dirty="0">
                <a:solidFill>
                  <a:srgbClr val="00B050"/>
                </a:solidFill>
                <a:latin typeface="YS Text"/>
              </a:rPr>
              <a:t> </a:t>
            </a:r>
            <a:r>
              <a:rPr lang="en-US" sz="1200" b="1" dirty="0" err="1">
                <a:solidFill>
                  <a:srgbClr val="00B050"/>
                </a:solidFill>
                <a:latin typeface="YS Text"/>
              </a:rPr>
              <a:t>time.sleep</a:t>
            </a:r>
            <a:r>
              <a:rPr lang="en-US" sz="1200" b="1" dirty="0">
                <a:solidFill>
                  <a:srgbClr val="00B050"/>
                </a:solidFill>
                <a:latin typeface="YS Text"/>
              </a:rPr>
              <a:t>(1)</a:t>
            </a:r>
          </a:p>
          <a:p>
            <a:pPr marL="0" indent="0" algn="just">
              <a:buNone/>
            </a:pPr>
            <a:r>
              <a:rPr lang="en-US" sz="1200" b="1" dirty="0">
                <a:solidFill>
                  <a:srgbClr val="00B050"/>
                </a:solidFill>
                <a:latin typeface="YS Text"/>
              </a:rPr>
              <a:t>   </a:t>
            </a:r>
            <a:r>
              <a:rPr lang="ru-RU" sz="1200" b="1" dirty="0">
                <a:solidFill>
                  <a:srgbClr val="00B050"/>
                </a:solidFill>
                <a:latin typeface="YS Text"/>
              </a:rPr>
              <a:t>       </a:t>
            </a:r>
            <a:r>
              <a:rPr lang="en-US" sz="1200" b="1" dirty="0">
                <a:solidFill>
                  <a:srgbClr val="00B050"/>
                </a:solidFill>
                <a:latin typeface="YS Text"/>
              </a:rPr>
              <a:t> return '</a:t>
            </a:r>
            <a:r>
              <a:rPr lang="ru-RU" sz="1200" b="1" dirty="0">
                <a:solidFill>
                  <a:srgbClr val="00B050"/>
                </a:solidFill>
                <a:latin typeface="YS Text"/>
              </a:rPr>
              <a:t>Функция </a:t>
            </a:r>
            <a:r>
              <a:rPr lang="en-US" sz="1200" b="1" dirty="0" err="1">
                <a:solidFill>
                  <a:srgbClr val="00B050"/>
                </a:solidFill>
                <a:latin typeface="YS Text"/>
              </a:rPr>
              <a:t>sleep_one_sec</a:t>
            </a:r>
            <a:r>
              <a:rPr lang="en-US" sz="1200" b="1" dirty="0">
                <a:solidFill>
                  <a:srgbClr val="00B050"/>
                </a:solidFill>
                <a:latin typeface="YS Text"/>
              </a:rPr>
              <a:t>() </a:t>
            </a:r>
            <a:r>
              <a:rPr lang="ru-RU" sz="1200" b="1" dirty="0">
                <a:solidFill>
                  <a:srgbClr val="00B050"/>
                </a:solidFill>
                <a:latin typeface="YS Text"/>
              </a:rPr>
              <a:t>завершила вычисления.'</a:t>
            </a:r>
          </a:p>
          <a:p>
            <a:pPr marL="0" indent="0" algn="just">
              <a:buNone/>
            </a:pPr>
            <a:endParaRPr lang="ru-RU" sz="1200" i="1" dirty="0">
              <a:latin typeface="YS Text"/>
            </a:endParaRPr>
          </a:p>
          <a:p>
            <a:pPr marL="0" indent="0" algn="just">
              <a:buNone/>
            </a:pPr>
            <a:r>
              <a:rPr lang="en-US" sz="1200" b="1" dirty="0" err="1">
                <a:solidFill>
                  <a:srgbClr val="00B050"/>
                </a:solidFill>
                <a:latin typeface="YS Text"/>
              </a:rPr>
              <a:t>sleep_one_sec</a:t>
            </a:r>
            <a:r>
              <a:rPr lang="en-US" sz="1200" b="1" dirty="0">
                <a:solidFill>
                  <a:srgbClr val="00B050"/>
                </a:solidFill>
                <a:latin typeface="YS Text"/>
              </a:rPr>
              <a:t>()</a:t>
            </a:r>
            <a:r>
              <a:rPr lang="ru-RU" sz="1200" b="1" dirty="0">
                <a:solidFill>
                  <a:srgbClr val="00B050"/>
                </a:solidFill>
                <a:latin typeface="YS Text"/>
              </a:rPr>
              <a:t> </a:t>
            </a:r>
            <a:r>
              <a:rPr lang="ru-RU" sz="1200" i="1" dirty="0">
                <a:latin typeface="YS Text"/>
              </a:rPr>
              <a:t># После декорирования любой вызов функции </a:t>
            </a:r>
            <a:r>
              <a:rPr lang="en-US" sz="1200" i="1" dirty="0" err="1">
                <a:latin typeface="YS Text"/>
              </a:rPr>
              <a:t>sleep_one_sec</a:t>
            </a:r>
            <a:r>
              <a:rPr lang="en-US" sz="1200" i="1" dirty="0">
                <a:latin typeface="YS Text"/>
              </a:rPr>
              <a:t>()</a:t>
            </a:r>
            <a:r>
              <a:rPr lang="ru-RU" sz="1200" i="1" dirty="0">
                <a:latin typeface="YS Text"/>
              </a:rPr>
              <a:t> будет автоматически сопровождаться измерением времени её выполнения.</a:t>
            </a:r>
          </a:p>
          <a:p>
            <a:pPr marL="0" indent="0" algn="just">
              <a:buNone/>
            </a:pPr>
            <a:endParaRPr lang="ru-RU" sz="1200" i="1" dirty="0">
              <a:latin typeface="YS Text"/>
            </a:endParaRPr>
          </a:p>
        </p:txBody>
      </p:sp>
    </p:spTree>
    <p:extLst>
      <p:ext uri="{BB962C8B-B14F-4D97-AF65-F5344CB8AC3E}">
        <p14:creationId xmlns:p14="http://schemas.microsoft.com/office/powerpoint/2010/main" val="9610636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236483"/>
            <a:ext cx="10936304" cy="6432331"/>
          </a:xfrm>
        </p:spPr>
        <p:txBody>
          <a:bodyPr/>
          <a:lstStyle/>
          <a:p>
            <a:pPr marL="0" indent="0" algn="just">
              <a:buNone/>
            </a:pPr>
            <a:r>
              <a:rPr lang="ru-RU" dirty="0">
                <a:latin typeface="YS Text"/>
              </a:rPr>
              <a:t>Строка </a:t>
            </a:r>
            <a:r>
              <a:rPr lang="ru-RU" b="1" dirty="0">
                <a:solidFill>
                  <a:schemeClr val="accent6">
                    <a:lumMod val="50000"/>
                  </a:schemeClr>
                </a:solidFill>
                <a:latin typeface="YS Text"/>
              </a:rPr>
              <a:t>@имя_декоратора </a:t>
            </a:r>
            <a:r>
              <a:rPr lang="ru-RU" dirty="0">
                <a:latin typeface="YS Text"/>
              </a:rPr>
              <a:t>перед объявлением функции — это «</a:t>
            </a:r>
            <a:r>
              <a:rPr lang="ru-RU" b="1" dirty="0">
                <a:solidFill>
                  <a:schemeClr val="accent6">
                    <a:lumMod val="50000"/>
                  </a:schemeClr>
                </a:solidFill>
                <a:latin typeface="YS Text"/>
              </a:rPr>
              <a:t>синтаксический сахар</a:t>
            </a:r>
            <a:r>
              <a:rPr lang="ru-RU" dirty="0">
                <a:latin typeface="YS Text"/>
              </a:rPr>
              <a:t>», сокращённая инструкция для Python: «при вызове функции, которая объявлена ниже, передай её в декоратор, имя которого указано после символа @, и затем вызови ту функцию, которую вернёт декоратор».</a:t>
            </a:r>
          </a:p>
          <a:p>
            <a:pPr marL="0" indent="0" algn="just">
              <a:buNone/>
            </a:pPr>
            <a:r>
              <a:rPr lang="ru-RU" dirty="0">
                <a:latin typeface="YS Text"/>
              </a:rPr>
              <a:t>Таким образом, при любом вызове функции </a:t>
            </a:r>
            <a:r>
              <a:rPr lang="ru-RU" b="1" dirty="0" err="1">
                <a:latin typeface="YS Text"/>
              </a:rPr>
              <a:t>sleep_one_sec</a:t>
            </a:r>
            <a:r>
              <a:rPr lang="ru-RU" b="1" dirty="0">
                <a:latin typeface="YS Text"/>
              </a:rPr>
              <a:t>() </a:t>
            </a:r>
            <a:r>
              <a:rPr lang="ru-RU" dirty="0">
                <a:latin typeface="YS Text"/>
              </a:rPr>
              <a:t>она будет передана в декоратор </a:t>
            </a:r>
            <a:r>
              <a:rPr lang="ru-RU" b="1" dirty="0" err="1">
                <a:latin typeface="YS Text"/>
              </a:rPr>
              <a:t>time_of_function</a:t>
            </a:r>
            <a:r>
              <a:rPr lang="ru-RU" b="1" dirty="0">
                <a:latin typeface="YS Text"/>
              </a:rPr>
              <a:t>().</a:t>
            </a:r>
          </a:p>
          <a:p>
            <a:pPr marL="0" indent="0" algn="just">
              <a:buNone/>
            </a:pPr>
            <a:r>
              <a:rPr lang="ru-RU" dirty="0">
                <a:latin typeface="YS Text"/>
              </a:rPr>
              <a:t>Конструкцию @имя_декоратора в Python можно применять только в том случае, если функция-декоратор соответствует определённым </a:t>
            </a:r>
            <a:r>
              <a:rPr lang="ru-RU" b="1" dirty="0">
                <a:latin typeface="YS Text"/>
              </a:rPr>
              <a:t>правилам</a:t>
            </a:r>
            <a:r>
              <a:rPr lang="ru-RU" dirty="0">
                <a:latin typeface="YS Text"/>
              </a:rPr>
              <a:t>:</a:t>
            </a:r>
          </a:p>
          <a:p>
            <a:pPr algn="just"/>
            <a:r>
              <a:rPr lang="ru-RU" dirty="0">
                <a:latin typeface="YS Text"/>
              </a:rPr>
              <a:t>декоратор готов принять на вход исходную функцию;</a:t>
            </a:r>
          </a:p>
          <a:p>
            <a:pPr algn="just"/>
            <a:r>
              <a:rPr lang="ru-RU" dirty="0">
                <a:latin typeface="YS Text"/>
              </a:rPr>
              <a:t>в декораторе описана вложенная функция;</a:t>
            </a:r>
          </a:p>
          <a:p>
            <a:pPr algn="just"/>
            <a:r>
              <a:rPr lang="ru-RU" dirty="0">
                <a:latin typeface="YS Text"/>
              </a:rPr>
              <a:t>декоратор возвращает объект, который можно вызвать (</a:t>
            </a:r>
            <a:r>
              <a:rPr lang="ru-RU" b="1" dirty="0" err="1">
                <a:latin typeface="YS Text"/>
              </a:rPr>
              <a:t>callable</a:t>
            </a:r>
            <a:r>
              <a:rPr lang="ru-RU" b="1" dirty="0">
                <a:latin typeface="YS Text"/>
              </a:rPr>
              <a:t> </a:t>
            </a:r>
            <a:r>
              <a:rPr lang="ru-RU" b="1" dirty="0" err="1">
                <a:latin typeface="YS Text"/>
              </a:rPr>
              <a:t>object</a:t>
            </a:r>
            <a:r>
              <a:rPr lang="ru-RU" dirty="0">
                <a:latin typeface="YS Text"/>
              </a:rPr>
              <a:t>);</a:t>
            </a:r>
          </a:p>
          <a:p>
            <a:pPr algn="just"/>
            <a:r>
              <a:rPr lang="ru-RU" dirty="0">
                <a:latin typeface="YS Text"/>
              </a:rPr>
              <a:t>декоратор объявлен до декорируемой функции.</a:t>
            </a:r>
          </a:p>
          <a:p>
            <a:pPr marL="0" indent="0" algn="just">
              <a:buNone/>
            </a:pPr>
            <a:endParaRPr lang="ru-RU" dirty="0">
              <a:latin typeface="YS Text"/>
            </a:endParaRPr>
          </a:p>
          <a:p>
            <a:pPr marL="0" indent="0" algn="just">
              <a:buNone/>
            </a:pPr>
            <a:r>
              <a:rPr lang="ru-RU" sz="2400" b="1" i="1" dirty="0">
                <a:latin typeface="YS Text"/>
              </a:rPr>
              <a:t>1. Декоратор готов принять на вход исходную функцию</a:t>
            </a:r>
          </a:p>
          <a:p>
            <a:pPr marL="0" indent="0" algn="just">
              <a:buNone/>
            </a:pPr>
            <a:r>
              <a:rPr lang="ru-RU" dirty="0">
                <a:latin typeface="YS Text"/>
              </a:rPr>
              <a:t>Чтобы декорировать функцию — декоратор должен с ней поработать. Для этого надо передать исходную функцию в декоратор, а декоратор должен быть готов её принять. </a:t>
            </a:r>
          </a:p>
        </p:txBody>
      </p:sp>
    </p:spTree>
    <p:extLst>
      <p:ext uri="{BB962C8B-B14F-4D97-AF65-F5344CB8AC3E}">
        <p14:creationId xmlns:p14="http://schemas.microsoft.com/office/powerpoint/2010/main" val="36984688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236483"/>
            <a:ext cx="10936304" cy="6621518"/>
          </a:xfrm>
        </p:spPr>
        <p:txBody>
          <a:bodyPr>
            <a:normAutofit fontScale="85000" lnSpcReduction="20000"/>
          </a:bodyPr>
          <a:lstStyle/>
          <a:p>
            <a:pPr marL="0" indent="0" algn="just">
              <a:buNone/>
            </a:pPr>
            <a:r>
              <a:rPr lang="ru-RU" sz="2800" b="1" i="1" dirty="0">
                <a:latin typeface="YS Text"/>
              </a:rPr>
              <a:t>2. В декораторе описана вложенная функция</a:t>
            </a:r>
          </a:p>
          <a:p>
            <a:pPr marL="0" indent="0" algn="just">
              <a:buNone/>
            </a:pPr>
            <a:r>
              <a:rPr lang="ru-RU" sz="2200" dirty="0">
                <a:latin typeface="YS Text"/>
              </a:rPr>
              <a:t>В функции-декораторе должна быть объявлена вложенная функция (обычно её называют </a:t>
            </a:r>
            <a:r>
              <a:rPr lang="ru-RU" sz="2200" b="1" dirty="0" err="1">
                <a:solidFill>
                  <a:schemeClr val="accent6">
                    <a:lumMod val="50000"/>
                  </a:schemeClr>
                </a:solidFill>
                <a:latin typeface="YS Text"/>
              </a:rPr>
              <a:t>wrapper</a:t>
            </a:r>
            <a:r>
              <a:rPr lang="ru-RU" sz="2200" b="1" dirty="0">
                <a:solidFill>
                  <a:schemeClr val="accent6">
                    <a:lumMod val="50000"/>
                  </a:schemeClr>
                </a:solidFill>
                <a:latin typeface="YS Text"/>
              </a:rPr>
              <a:t>()</a:t>
            </a:r>
            <a:r>
              <a:rPr lang="ru-RU" sz="2200" dirty="0">
                <a:latin typeface="YS Text"/>
              </a:rPr>
              <a:t>). В этой вложенной функции описывают все действия, которые требуется выполнить дополнительно к действиям исходной функции. </a:t>
            </a:r>
          </a:p>
          <a:p>
            <a:pPr marL="0" indent="0" algn="just">
              <a:buNone/>
            </a:pPr>
            <a:r>
              <a:rPr lang="ru-RU" sz="2200" dirty="0">
                <a:latin typeface="YS Text"/>
              </a:rPr>
              <a:t>Именно внутри </a:t>
            </a:r>
            <a:r>
              <a:rPr lang="ru-RU" sz="2200" b="1" dirty="0" err="1">
                <a:solidFill>
                  <a:schemeClr val="accent6">
                    <a:lumMod val="50000"/>
                  </a:schemeClr>
                </a:solidFill>
                <a:latin typeface="YS Text"/>
              </a:rPr>
              <a:t>wrapper</a:t>
            </a:r>
            <a:r>
              <a:rPr lang="ru-RU" sz="2200" b="1" dirty="0">
                <a:solidFill>
                  <a:schemeClr val="accent6">
                    <a:lumMod val="50000"/>
                  </a:schemeClr>
                </a:solidFill>
                <a:latin typeface="YS Text"/>
              </a:rPr>
              <a:t>() </a:t>
            </a:r>
            <a:r>
              <a:rPr lang="ru-RU" sz="2200" dirty="0">
                <a:latin typeface="YS Text"/>
              </a:rPr>
              <a:t>обычно выполняют вызов и самой декорируемой функции.</a:t>
            </a:r>
          </a:p>
          <a:p>
            <a:pPr marL="0" indent="0" algn="just">
              <a:buNone/>
            </a:pPr>
            <a:r>
              <a:rPr lang="ru-RU" sz="2200" dirty="0">
                <a:latin typeface="YS Text"/>
              </a:rPr>
              <a:t>В нашем примере перед вызовом исходной функции и после него добавляется код для отсечки времени.</a:t>
            </a:r>
          </a:p>
          <a:p>
            <a:pPr marL="0" indent="0" algn="just">
              <a:buNone/>
            </a:pPr>
            <a:r>
              <a:rPr lang="ru-RU" sz="2600" b="1" i="1" dirty="0">
                <a:latin typeface="YS Text"/>
              </a:rPr>
              <a:t>3. Декоратор возвращает </a:t>
            </a:r>
            <a:r>
              <a:rPr lang="ru-RU" sz="2600" b="1" i="1" dirty="0" err="1">
                <a:latin typeface="YS Text"/>
              </a:rPr>
              <a:t>callable</a:t>
            </a:r>
            <a:r>
              <a:rPr lang="ru-RU" sz="2600" b="1" i="1" dirty="0">
                <a:latin typeface="YS Text"/>
              </a:rPr>
              <a:t> </a:t>
            </a:r>
            <a:r>
              <a:rPr lang="ru-RU" sz="2600" b="1" i="1" dirty="0" err="1">
                <a:latin typeface="YS Text"/>
              </a:rPr>
              <a:t>object</a:t>
            </a:r>
            <a:endParaRPr lang="ru-RU" sz="2600" b="1" i="1" dirty="0">
              <a:latin typeface="YS Text"/>
            </a:endParaRPr>
          </a:p>
          <a:p>
            <a:pPr marL="0" indent="0" algn="just">
              <a:buNone/>
            </a:pPr>
            <a:r>
              <a:rPr lang="ru-RU" sz="2200" dirty="0">
                <a:latin typeface="YS Text"/>
              </a:rPr>
              <a:t>Когда где-то в коде вызывается функция, перед которой стоит инструкция </a:t>
            </a:r>
            <a:r>
              <a:rPr lang="ru-RU" sz="2200" b="1" dirty="0">
                <a:solidFill>
                  <a:schemeClr val="accent6">
                    <a:lumMod val="50000"/>
                  </a:schemeClr>
                </a:solidFill>
                <a:latin typeface="YS Text"/>
              </a:rPr>
              <a:t>@имя_декоратора</a:t>
            </a:r>
            <a:r>
              <a:rPr lang="ru-RU" sz="2200" dirty="0">
                <a:latin typeface="YS Text"/>
              </a:rPr>
              <a:t>, Python, фактически, подменяет исходную (вызванную) функцию на другую, объявленную внутри декоратора — и вызывает эту «подменную» функцию.</a:t>
            </a:r>
          </a:p>
          <a:p>
            <a:pPr marL="0" indent="0" algn="just">
              <a:buNone/>
            </a:pPr>
            <a:r>
              <a:rPr lang="ru-RU" sz="2200" dirty="0">
                <a:latin typeface="YS Text"/>
              </a:rPr>
              <a:t>В приведённом коде вызвана функция </a:t>
            </a:r>
            <a:r>
              <a:rPr lang="ru-RU" sz="2200" b="1" dirty="0" err="1">
                <a:latin typeface="YS Text"/>
              </a:rPr>
              <a:t>sleep_one_sec</a:t>
            </a:r>
            <a:r>
              <a:rPr lang="ru-RU" sz="2200" b="1" dirty="0">
                <a:latin typeface="YS Text"/>
              </a:rPr>
              <a:t>() с декоратором @time_of_function</a:t>
            </a:r>
            <a:r>
              <a:rPr lang="ru-RU" sz="2200" dirty="0">
                <a:latin typeface="YS Text"/>
              </a:rPr>
              <a:t>, но «под капотом» Python произошло вот что:</a:t>
            </a:r>
          </a:p>
          <a:p>
            <a:pPr marL="457200" indent="-457200" algn="just">
              <a:buFont typeface="+mj-lt"/>
              <a:buAutoNum type="arabicPeriod"/>
            </a:pPr>
            <a:r>
              <a:rPr lang="ru-RU" sz="2200" dirty="0">
                <a:latin typeface="YS Text"/>
              </a:rPr>
              <a:t>Python видит инструкцию </a:t>
            </a:r>
            <a:r>
              <a:rPr lang="ru-RU" sz="2200" b="1" dirty="0">
                <a:latin typeface="YS Text"/>
              </a:rPr>
              <a:t>@time_of_function </a:t>
            </a:r>
            <a:r>
              <a:rPr lang="ru-RU" sz="2200" dirty="0">
                <a:latin typeface="YS Text"/>
              </a:rPr>
              <a:t>и вызывает функцию-декоратор </a:t>
            </a:r>
            <a:r>
              <a:rPr lang="ru-RU" sz="2200" b="1" dirty="0" err="1">
                <a:latin typeface="YS Text"/>
              </a:rPr>
              <a:t>time_of_function</a:t>
            </a:r>
            <a:r>
              <a:rPr lang="ru-RU" sz="2200" b="1" dirty="0">
                <a:latin typeface="YS Text"/>
              </a:rPr>
              <a:t>()</a:t>
            </a:r>
            <a:r>
              <a:rPr lang="ru-RU" sz="2200" dirty="0">
                <a:latin typeface="YS Text"/>
              </a:rPr>
              <a:t>, передавая в неё аргументом функцию </a:t>
            </a:r>
            <a:r>
              <a:rPr lang="ru-RU" sz="2200" b="1" dirty="0" err="1">
                <a:latin typeface="YS Text"/>
              </a:rPr>
              <a:t>sleep_one_sec</a:t>
            </a:r>
            <a:r>
              <a:rPr lang="ru-RU" sz="2200" dirty="0">
                <a:latin typeface="YS Text"/>
              </a:rPr>
              <a:t>.</a:t>
            </a:r>
          </a:p>
          <a:p>
            <a:pPr marL="457200" indent="-457200" algn="just">
              <a:buFont typeface="+mj-lt"/>
              <a:buAutoNum type="arabicPeriod"/>
            </a:pPr>
            <a:r>
              <a:rPr lang="ru-RU" sz="2200" dirty="0">
                <a:latin typeface="YS Text"/>
              </a:rPr>
              <a:t>Декоратор </a:t>
            </a:r>
            <a:r>
              <a:rPr lang="ru-RU" sz="2200" b="1" dirty="0" err="1">
                <a:latin typeface="YS Text"/>
              </a:rPr>
              <a:t>time_of_function</a:t>
            </a:r>
            <a:r>
              <a:rPr lang="ru-RU" sz="2200" b="1" dirty="0">
                <a:latin typeface="YS Text"/>
              </a:rPr>
              <a:t>() </a:t>
            </a:r>
            <a:r>
              <a:rPr lang="ru-RU" sz="2200" dirty="0">
                <a:latin typeface="YS Text"/>
              </a:rPr>
              <a:t>создаёт и возвращает собственную функцию </a:t>
            </a:r>
            <a:r>
              <a:rPr lang="ru-RU" sz="2200" b="1" dirty="0" err="1">
                <a:latin typeface="YS Text"/>
              </a:rPr>
              <a:t>wrapper</a:t>
            </a:r>
            <a:r>
              <a:rPr lang="ru-RU" sz="2200" b="1" dirty="0">
                <a:latin typeface="YS Text"/>
              </a:rPr>
              <a:t>.</a:t>
            </a:r>
            <a:r>
              <a:rPr lang="ru-RU" sz="2200" dirty="0">
                <a:latin typeface="YS Text"/>
              </a:rPr>
              <a:t> Когда эта функция будет вызвана — внутри неё запустится и декорируемая функция, и добавленный код.</a:t>
            </a:r>
          </a:p>
          <a:p>
            <a:pPr marL="457200" indent="-457200" algn="just">
              <a:buFont typeface="+mj-lt"/>
              <a:buAutoNum type="arabicPeriod"/>
            </a:pPr>
            <a:r>
              <a:rPr lang="ru-RU" sz="2200" dirty="0">
                <a:latin typeface="YS Text"/>
              </a:rPr>
              <a:t>Python вызывает функцию </a:t>
            </a:r>
            <a:r>
              <a:rPr lang="ru-RU" sz="2200" b="1" dirty="0" err="1">
                <a:latin typeface="YS Text"/>
              </a:rPr>
              <a:t>wrapper</a:t>
            </a:r>
            <a:r>
              <a:rPr lang="ru-RU" sz="2200" b="1" dirty="0">
                <a:latin typeface="YS Text"/>
              </a:rPr>
              <a:t>().</a:t>
            </a:r>
          </a:p>
          <a:p>
            <a:pPr marL="457200" indent="-457200" algn="just">
              <a:buFont typeface="+mj-lt"/>
              <a:buAutoNum type="arabicPeriod"/>
            </a:pPr>
            <a:r>
              <a:rPr lang="ru-RU" sz="2200" dirty="0">
                <a:latin typeface="YS Text"/>
              </a:rPr>
              <a:t>Функция </a:t>
            </a:r>
            <a:r>
              <a:rPr lang="ru-RU" sz="2200" b="1" dirty="0" err="1">
                <a:latin typeface="YS Text"/>
              </a:rPr>
              <a:t>wrapper</a:t>
            </a:r>
            <a:r>
              <a:rPr lang="ru-RU" sz="2200" b="1" dirty="0">
                <a:latin typeface="YS Text"/>
              </a:rPr>
              <a:t>() </a:t>
            </a:r>
            <a:r>
              <a:rPr lang="ru-RU" sz="2200" dirty="0">
                <a:latin typeface="YS Text"/>
              </a:rPr>
              <a:t>фиксирует текущее время, затем вызывает оригинальную функцию </a:t>
            </a:r>
            <a:r>
              <a:rPr lang="ru-RU" sz="2200" b="1" dirty="0" err="1">
                <a:latin typeface="YS Text"/>
              </a:rPr>
              <a:t>sleep_one_sec</a:t>
            </a:r>
            <a:r>
              <a:rPr lang="ru-RU" sz="2200" b="1" dirty="0">
                <a:latin typeface="YS Text"/>
              </a:rPr>
              <a:t>()</a:t>
            </a:r>
            <a:r>
              <a:rPr lang="ru-RU" sz="2200" dirty="0">
                <a:latin typeface="YS Text"/>
              </a:rPr>
              <a:t>, и после выполнения функции снова фиксирует время и вычисляет, сколько времени заняло выполнение.</a:t>
            </a:r>
          </a:p>
        </p:txBody>
      </p:sp>
    </p:spTree>
    <p:extLst>
      <p:ext uri="{BB962C8B-B14F-4D97-AF65-F5344CB8AC3E}">
        <p14:creationId xmlns:p14="http://schemas.microsoft.com/office/powerpoint/2010/main" val="16473295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1040526" y="57806"/>
            <a:ext cx="10936304" cy="6568966"/>
          </a:xfrm>
        </p:spPr>
        <p:txBody>
          <a:bodyPr/>
          <a:lstStyle/>
          <a:p>
            <a:pPr marL="0" indent="0" algn="just">
              <a:buNone/>
            </a:pPr>
            <a:r>
              <a:rPr lang="ru-RU" dirty="0">
                <a:latin typeface="YS Text"/>
              </a:rPr>
              <a:t>Таким образом исходная функция (</a:t>
            </a:r>
            <a:r>
              <a:rPr lang="ru-RU" dirty="0" err="1">
                <a:latin typeface="YS Text"/>
              </a:rPr>
              <a:t>callable</a:t>
            </a:r>
            <a:r>
              <a:rPr lang="ru-RU" dirty="0">
                <a:latin typeface="YS Text"/>
              </a:rPr>
              <a:t> </a:t>
            </a:r>
            <a:r>
              <a:rPr lang="ru-RU" dirty="0" err="1">
                <a:latin typeface="YS Text"/>
              </a:rPr>
              <a:t>object</a:t>
            </a:r>
            <a:r>
              <a:rPr lang="ru-RU" dirty="0">
                <a:latin typeface="YS Text"/>
              </a:rPr>
              <a:t>) </a:t>
            </a:r>
            <a:r>
              <a:rPr lang="ru-RU" dirty="0" err="1">
                <a:latin typeface="YS Text"/>
              </a:rPr>
              <a:t>sleep_one_sec</a:t>
            </a:r>
            <a:r>
              <a:rPr lang="ru-RU" dirty="0">
                <a:latin typeface="YS Text"/>
              </a:rPr>
              <a:t>() была подменена на другую — расширенную и изменённую функцию </a:t>
            </a:r>
            <a:r>
              <a:rPr lang="ru-RU" dirty="0" err="1">
                <a:latin typeface="YS Text"/>
              </a:rPr>
              <a:t>wrapper</a:t>
            </a:r>
            <a:r>
              <a:rPr lang="ru-RU" dirty="0">
                <a:latin typeface="YS Text"/>
              </a:rPr>
              <a:t>() (тоже </a:t>
            </a:r>
            <a:r>
              <a:rPr lang="ru-RU" dirty="0" err="1">
                <a:latin typeface="YS Text"/>
              </a:rPr>
              <a:t>callable</a:t>
            </a:r>
            <a:r>
              <a:rPr lang="ru-RU" dirty="0">
                <a:latin typeface="YS Text"/>
              </a:rPr>
              <a:t> </a:t>
            </a:r>
            <a:r>
              <a:rPr lang="ru-RU" dirty="0" err="1">
                <a:latin typeface="YS Text"/>
              </a:rPr>
              <a:t>object</a:t>
            </a:r>
            <a:r>
              <a:rPr lang="ru-RU" dirty="0">
                <a:latin typeface="YS Text"/>
              </a:rPr>
              <a:t>).</a:t>
            </a:r>
          </a:p>
          <a:p>
            <a:pPr marL="0" indent="0" algn="just">
              <a:buNone/>
            </a:pPr>
            <a:r>
              <a:rPr lang="ru-RU" dirty="0">
                <a:latin typeface="YS Text"/>
              </a:rPr>
              <a:t>Функция-декоратор должна возвращать объект того же типа, который принимает на вход — функцию. Что вошло — то и вышло.</a:t>
            </a:r>
          </a:p>
          <a:p>
            <a:pPr marL="0" indent="0" algn="just">
              <a:buNone/>
            </a:pPr>
            <a:r>
              <a:rPr lang="ru-RU" dirty="0">
                <a:latin typeface="YS Text"/>
              </a:rPr>
              <a:t>Функция должна быть вызвана — и функция вызвана. Произошла подмена, но никто ничего не заметил!</a:t>
            </a:r>
            <a:endParaRPr lang="ru-RU" i="1" dirty="0">
              <a:latin typeface="YS Text"/>
            </a:endParaRPr>
          </a:p>
        </p:txBody>
      </p:sp>
      <p:pic>
        <p:nvPicPr>
          <p:cNvPr id="6" name="Рисунок 5">
            <a:extLst>
              <a:ext uri="{FF2B5EF4-FFF2-40B4-BE49-F238E27FC236}">
                <a16:creationId xmlns:a16="http://schemas.microsoft.com/office/drawing/2014/main" id="{BE62BEAB-7A79-5A26-C17F-4039B4CDCF7A}"/>
              </a:ext>
            </a:extLst>
          </p:cNvPr>
          <p:cNvPicPr>
            <a:picLocks noChangeAspect="1"/>
          </p:cNvPicPr>
          <p:nvPr/>
        </p:nvPicPr>
        <p:blipFill>
          <a:blip r:embed="rId2"/>
          <a:stretch>
            <a:fillRect/>
          </a:stretch>
        </p:blipFill>
        <p:spPr>
          <a:xfrm>
            <a:off x="2979064" y="1846517"/>
            <a:ext cx="6522288" cy="4953677"/>
          </a:xfrm>
          <a:prstGeom prst="rect">
            <a:avLst/>
          </a:prstGeom>
        </p:spPr>
      </p:pic>
    </p:spTree>
    <p:extLst>
      <p:ext uri="{BB962C8B-B14F-4D97-AF65-F5344CB8AC3E}">
        <p14:creationId xmlns:p14="http://schemas.microsoft.com/office/powerpoint/2010/main" val="40457718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105103"/>
            <a:ext cx="10936304" cy="6563711"/>
          </a:xfrm>
        </p:spPr>
        <p:txBody>
          <a:bodyPr/>
          <a:lstStyle/>
          <a:p>
            <a:pPr marL="0" indent="0" algn="just">
              <a:buNone/>
            </a:pPr>
            <a:r>
              <a:rPr lang="ru-RU" sz="2400" b="1" i="1" dirty="0">
                <a:latin typeface="YS Text"/>
              </a:rPr>
              <a:t>4. Декоратор должен быть объявлен до декорируемой функции</a:t>
            </a:r>
          </a:p>
          <a:p>
            <a:pPr marL="0" indent="0" algn="just">
              <a:buNone/>
            </a:pPr>
            <a:r>
              <a:rPr lang="ru-RU" dirty="0">
                <a:latin typeface="YS Text"/>
              </a:rPr>
              <a:t>Интерпретатор Python читает исходный код программы последовательно, сверху вниз, и к тому моменту, когда он обнаружит задекорированную функцию (например, декоратором @my_decorator), Python уже должен знать, что такое </a:t>
            </a:r>
            <a:r>
              <a:rPr lang="ru-RU" dirty="0" err="1">
                <a:latin typeface="YS Text"/>
              </a:rPr>
              <a:t>my_decorator</a:t>
            </a:r>
            <a:r>
              <a:rPr lang="ru-RU" dirty="0">
                <a:latin typeface="YS Text"/>
              </a:rPr>
              <a:t>. </a:t>
            </a:r>
          </a:p>
          <a:p>
            <a:pPr marL="0" indent="0" algn="just">
              <a:buNone/>
            </a:pPr>
            <a:r>
              <a:rPr lang="ru-RU" dirty="0">
                <a:latin typeface="YS Text"/>
              </a:rPr>
              <a:t>Если же функция </a:t>
            </a:r>
            <a:r>
              <a:rPr lang="ru-RU" dirty="0" err="1">
                <a:latin typeface="YS Text"/>
              </a:rPr>
              <a:t>my_decorator</a:t>
            </a:r>
            <a:r>
              <a:rPr lang="ru-RU" dirty="0">
                <a:latin typeface="YS Text"/>
              </a:rPr>
              <a:t>() ещё не была определена в коде, Python выдаст ошибку </a:t>
            </a:r>
            <a:r>
              <a:rPr lang="ru-RU" dirty="0" err="1">
                <a:latin typeface="YS Text"/>
              </a:rPr>
              <a:t>NameError</a:t>
            </a:r>
            <a:r>
              <a:rPr lang="ru-RU" dirty="0">
                <a:latin typeface="YS Text"/>
              </a:rPr>
              <a:t>: «я не знаю, что такое </a:t>
            </a:r>
            <a:r>
              <a:rPr lang="ru-RU" dirty="0" err="1">
                <a:latin typeface="YS Text"/>
              </a:rPr>
              <a:t>my_decorator</a:t>
            </a:r>
            <a:r>
              <a:rPr lang="ru-RU" dirty="0">
                <a:latin typeface="YS Text"/>
              </a:rPr>
              <a:t>!».</a:t>
            </a:r>
          </a:p>
          <a:p>
            <a:pPr marL="0" indent="0" algn="just">
              <a:buNone/>
            </a:pPr>
            <a:r>
              <a:rPr lang="ru-RU" dirty="0">
                <a:latin typeface="YS Text"/>
              </a:rPr>
              <a:t>Декоратор может быть определен и в импортируемом модуле; при импортировании модуля всё его содержимое, включая функции-декораторы, становится доступным в точке импорта (как правило — в начале файла).</a:t>
            </a:r>
          </a:p>
          <a:p>
            <a:pPr marL="0" indent="0" algn="just">
              <a:buNone/>
            </a:pPr>
            <a:r>
              <a:rPr lang="ru-RU" dirty="0">
                <a:latin typeface="YS Text"/>
              </a:rPr>
              <a:t>Таким образом, если в файле есть такой код: </a:t>
            </a:r>
          </a:p>
          <a:p>
            <a:pPr marL="0" indent="0" algn="just">
              <a:buNone/>
            </a:pPr>
            <a:r>
              <a:rPr lang="ru-RU" b="0" i="0" dirty="0">
                <a:solidFill>
                  <a:srgbClr val="237B86"/>
                </a:solidFill>
                <a:effectLst/>
                <a:latin typeface="Menlo"/>
              </a:rPr>
              <a:t>	</a:t>
            </a:r>
            <a:r>
              <a:rPr lang="en-US" b="0" i="0" dirty="0">
                <a:solidFill>
                  <a:srgbClr val="237B86"/>
                </a:solidFill>
                <a:effectLst/>
                <a:latin typeface="Menlo"/>
              </a:rPr>
              <a:t>@my_decorator </a:t>
            </a:r>
            <a:r>
              <a:rPr lang="en-US" b="0" i="0" dirty="0">
                <a:effectLst/>
                <a:latin typeface="Menlo"/>
              </a:rPr>
              <a:t> </a:t>
            </a:r>
            <a:endParaRPr lang="ru-RU" b="0" i="0" dirty="0">
              <a:effectLst/>
              <a:latin typeface="Menlo"/>
            </a:endParaRPr>
          </a:p>
          <a:p>
            <a:pPr marL="0" indent="0" algn="just">
              <a:buNone/>
            </a:pPr>
            <a:r>
              <a:rPr lang="ru-RU" b="0" i="0" dirty="0">
                <a:solidFill>
                  <a:srgbClr val="C678DD"/>
                </a:solidFill>
                <a:effectLst/>
                <a:latin typeface="Menlo"/>
              </a:rPr>
              <a:t>	</a:t>
            </a:r>
            <a:r>
              <a:rPr lang="en-US" b="0" i="0" dirty="0">
                <a:solidFill>
                  <a:srgbClr val="C678DD"/>
                </a:solidFill>
                <a:effectLst/>
                <a:latin typeface="Menlo"/>
              </a:rPr>
              <a:t>def</a:t>
            </a:r>
            <a:r>
              <a:rPr lang="en-US" b="0" i="0" dirty="0">
                <a:effectLst/>
                <a:latin typeface="Menlo"/>
              </a:rPr>
              <a:t> </a:t>
            </a:r>
            <a:r>
              <a:rPr lang="en-US" b="0" i="0" dirty="0" err="1">
                <a:effectLst/>
                <a:latin typeface="Menlo"/>
              </a:rPr>
              <a:t>some_function</a:t>
            </a:r>
            <a:r>
              <a:rPr lang="en-US" b="0" i="0" dirty="0">
                <a:effectLst/>
                <a:latin typeface="Menlo"/>
              </a:rPr>
              <a:t>():  </a:t>
            </a:r>
            <a:endParaRPr lang="ru-RU" b="0" i="0" dirty="0">
              <a:effectLst/>
              <a:latin typeface="Menlo"/>
            </a:endParaRPr>
          </a:p>
          <a:p>
            <a:pPr marL="0" indent="0" algn="just">
              <a:buNone/>
            </a:pPr>
            <a:r>
              <a:rPr lang="ru-RU" dirty="0">
                <a:solidFill>
                  <a:srgbClr val="C678DD"/>
                </a:solidFill>
                <a:latin typeface="Menlo"/>
              </a:rPr>
              <a:t>		</a:t>
            </a:r>
            <a:r>
              <a:rPr lang="en-US" b="0" i="0" dirty="0">
                <a:solidFill>
                  <a:srgbClr val="C678DD"/>
                </a:solidFill>
                <a:effectLst/>
                <a:latin typeface="Menlo"/>
              </a:rPr>
              <a:t>pass</a:t>
            </a:r>
            <a:r>
              <a:rPr lang="en-US" b="0" i="0" dirty="0">
                <a:effectLst/>
                <a:latin typeface="Menlo"/>
              </a:rPr>
              <a:t> </a:t>
            </a:r>
            <a:endParaRPr lang="ru-RU" b="0" i="0" dirty="0">
              <a:effectLst/>
              <a:latin typeface="Menlo"/>
            </a:endParaRPr>
          </a:p>
          <a:p>
            <a:pPr marL="0" indent="0" algn="just">
              <a:buNone/>
            </a:pPr>
            <a:r>
              <a:rPr lang="ru-RU" dirty="0">
                <a:latin typeface="YS Text"/>
              </a:rPr>
              <a:t>То функция </a:t>
            </a:r>
            <a:r>
              <a:rPr lang="ru-RU" dirty="0" err="1">
                <a:latin typeface="YS Text"/>
              </a:rPr>
              <a:t>my_decorator</a:t>
            </a:r>
            <a:r>
              <a:rPr lang="ru-RU" dirty="0">
                <a:latin typeface="YS Text"/>
              </a:rPr>
              <a:t> должна быть определена где-то выше в этом же файле, </a:t>
            </a:r>
            <a:r>
              <a:rPr lang="ru-RU" b="0" i="0" dirty="0">
                <a:effectLst/>
                <a:latin typeface="YS Text"/>
              </a:rPr>
              <a:t>или импортироваться из другого файла или модуля.</a:t>
            </a:r>
            <a:endParaRPr lang="ru-RU" dirty="0">
              <a:latin typeface="YS Text"/>
            </a:endParaRPr>
          </a:p>
          <a:p>
            <a:pPr marL="0" indent="0" algn="just">
              <a:buNone/>
            </a:pPr>
            <a:endParaRPr lang="ru-RU" dirty="0">
              <a:latin typeface="YS Text"/>
            </a:endParaRPr>
          </a:p>
          <a:p>
            <a:pPr marL="0" indent="0" algn="just">
              <a:buNone/>
            </a:pPr>
            <a:endParaRPr lang="ru-RU" dirty="0">
              <a:latin typeface="YS Text"/>
            </a:endParaRPr>
          </a:p>
        </p:txBody>
      </p:sp>
    </p:spTree>
    <p:extLst>
      <p:ext uri="{BB962C8B-B14F-4D97-AF65-F5344CB8AC3E}">
        <p14:creationId xmlns:p14="http://schemas.microsoft.com/office/powerpoint/2010/main" val="22278576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5300" b="1" dirty="0">
                <a:effectLst/>
                <a:latin typeface="YS Text"/>
              </a:rPr>
              <a:t>Готовые декораторы</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72510"/>
            <a:ext cx="10936304" cy="5896304"/>
          </a:xfrm>
        </p:spPr>
        <p:txBody>
          <a:bodyPr/>
          <a:lstStyle/>
          <a:p>
            <a:pPr marL="0" indent="0" algn="just">
              <a:buNone/>
            </a:pPr>
            <a:r>
              <a:rPr lang="ru-RU" dirty="0">
                <a:latin typeface="YS Text"/>
              </a:rPr>
              <a:t>Декораторы в Python можно написать самостоятельно, а можно применить готовые, предоставленные внешними библиотеками и модулями. </a:t>
            </a:r>
          </a:p>
          <a:p>
            <a:pPr marL="0" indent="0" algn="just">
              <a:buNone/>
            </a:pPr>
            <a:r>
              <a:rPr lang="ru-RU" dirty="0">
                <a:latin typeface="YS Text"/>
              </a:rPr>
              <a:t>Например, </a:t>
            </a:r>
            <a:r>
              <a:rPr lang="ru-RU" b="1" dirty="0">
                <a:latin typeface="YS Text"/>
              </a:rPr>
              <a:t>декоратор @lru_cache из библиотеки </a:t>
            </a:r>
            <a:r>
              <a:rPr lang="ru-RU" b="1" dirty="0" err="1">
                <a:latin typeface="YS Text"/>
              </a:rPr>
              <a:t>functools</a:t>
            </a:r>
            <a:r>
              <a:rPr lang="ru-RU" b="1" dirty="0">
                <a:latin typeface="YS Text"/>
              </a:rPr>
              <a:t> </a:t>
            </a:r>
            <a:r>
              <a:rPr lang="ru-RU" dirty="0">
                <a:latin typeface="YS Text"/>
              </a:rPr>
              <a:t>кеширует результаты работы функции — сохраняет их для повторного применения. </a:t>
            </a:r>
          </a:p>
          <a:p>
            <a:pPr marL="0" indent="0" algn="just">
              <a:buNone/>
            </a:pPr>
            <a:r>
              <a:rPr lang="ru-RU" dirty="0">
                <a:latin typeface="YS Text"/>
              </a:rPr>
              <a:t>Если в ходе работы программы функция вызывается повторно с теми же аргументами, с которыми уже была однажды вызвана, вычисления в функции не проводятся, а сразу возвращается </a:t>
            </a:r>
            <a:r>
              <a:rPr lang="ru-RU" dirty="0" err="1">
                <a:latin typeface="YS Text"/>
              </a:rPr>
              <a:t>закешированный</a:t>
            </a:r>
            <a:r>
              <a:rPr lang="ru-RU" dirty="0">
                <a:latin typeface="YS Text"/>
              </a:rPr>
              <a:t> результат, сохранённый с прошлого вызова. </a:t>
            </a:r>
          </a:p>
          <a:p>
            <a:pPr marL="0" indent="0" algn="just">
              <a:buNone/>
            </a:pPr>
            <a:r>
              <a:rPr lang="ru-RU" dirty="0">
                <a:latin typeface="YS Text"/>
              </a:rPr>
              <a:t>Это бывает полезно для ускорения выполнения дорогостоящих по времени вычислений, результаты которых не изменяются при одних и тех же входных данных.</a:t>
            </a:r>
            <a:endParaRPr lang="ru-RU" i="1" dirty="0">
              <a:latin typeface="YS Text"/>
            </a:endParaRPr>
          </a:p>
        </p:txBody>
      </p:sp>
    </p:spTree>
    <p:extLst>
      <p:ext uri="{BB962C8B-B14F-4D97-AF65-F5344CB8AC3E}">
        <p14:creationId xmlns:p14="http://schemas.microsoft.com/office/powerpoint/2010/main" val="19604979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Декораторы для методов класса</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725214"/>
            <a:ext cx="10936304" cy="5943600"/>
          </a:xfrm>
        </p:spPr>
        <p:txBody>
          <a:bodyPr/>
          <a:lstStyle/>
          <a:p>
            <a:pPr marL="0" indent="0" algn="just">
              <a:buNone/>
            </a:pPr>
            <a:r>
              <a:rPr lang="ru-RU" sz="2800" b="1" i="1" dirty="0">
                <a:latin typeface="YS Text"/>
              </a:rPr>
              <a:t>Декоратор @classmethod</a:t>
            </a:r>
          </a:p>
          <a:p>
            <a:pPr marL="0" indent="0" algn="just">
              <a:buNone/>
            </a:pPr>
            <a:r>
              <a:rPr lang="ru-RU" dirty="0">
                <a:latin typeface="YS Text"/>
              </a:rPr>
              <a:t>По умолчанию все методы в классе привязаны к </a:t>
            </a:r>
            <a:r>
              <a:rPr lang="ru-RU" b="1" dirty="0">
                <a:latin typeface="YS Text"/>
              </a:rPr>
              <a:t>экземпляру</a:t>
            </a:r>
            <a:r>
              <a:rPr lang="ru-RU" dirty="0">
                <a:latin typeface="YS Text"/>
              </a:rPr>
              <a:t> класса, а не к самому классу. Однако с помощью </a:t>
            </a:r>
            <a:r>
              <a:rPr lang="ru-RU" b="1" dirty="0">
                <a:latin typeface="YS Text"/>
              </a:rPr>
              <a:t>декоратора </a:t>
            </a:r>
            <a:r>
              <a:rPr lang="ru-RU" b="1" dirty="0">
                <a:solidFill>
                  <a:schemeClr val="accent6">
                    <a:lumMod val="50000"/>
                  </a:schemeClr>
                </a:solidFill>
                <a:latin typeface="YS Text"/>
              </a:rPr>
              <a:t>@classmethod </a:t>
            </a:r>
            <a:r>
              <a:rPr lang="ru-RU" dirty="0">
                <a:latin typeface="YS Text"/>
              </a:rPr>
              <a:t>можно объявить метод, который привязан к классу, а не к его экземпляру. Такие методы называют </a:t>
            </a:r>
            <a:r>
              <a:rPr lang="ru-RU" sz="2400" b="1" dirty="0">
                <a:solidFill>
                  <a:schemeClr val="accent6">
                    <a:lumMod val="50000"/>
                  </a:schemeClr>
                </a:solidFill>
                <a:latin typeface="YS Text"/>
              </a:rPr>
              <a:t>методами класса</a:t>
            </a:r>
            <a:r>
              <a:rPr lang="ru-RU" dirty="0">
                <a:latin typeface="YS Text"/>
              </a:rPr>
              <a:t>.</a:t>
            </a:r>
          </a:p>
          <a:p>
            <a:pPr marL="0" indent="0" algn="just">
              <a:buNone/>
            </a:pPr>
            <a:r>
              <a:rPr lang="ru-RU" dirty="0">
                <a:latin typeface="YS Text"/>
              </a:rPr>
              <a:t>При объявлении методов класса первым параметром указывается </a:t>
            </a:r>
            <a:r>
              <a:rPr lang="ru-RU" b="1" dirty="0" err="1">
                <a:latin typeface="YS Text"/>
              </a:rPr>
              <a:t>cls</a:t>
            </a:r>
            <a:r>
              <a:rPr lang="ru-RU" dirty="0">
                <a:latin typeface="YS Text"/>
              </a:rPr>
              <a:t>. Этот параметр указывает на сам класс, а не на объект этого класса. Название </a:t>
            </a:r>
            <a:r>
              <a:rPr lang="ru-RU" b="1" dirty="0" err="1">
                <a:latin typeface="YS Text"/>
              </a:rPr>
              <a:t>cls</a:t>
            </a:r>
            <a:r>
              <a:rPr lang="ru-RU" dirty="0">
                <a:latin typeface="YS Text"/>
              </a:rPr>
              <a:t> — традиционно принятое: можно назвать его иначе, но лучше соблюдать традиции, так всем будет проще читать ваш код.</a:t>
            </a:r>
          </a:p>
          <a:p>
            <a:pPr marL="0" indent="0" algn="just">
              <a:buNone/>
            </a:pPr>
            <a:r>
              <a:rPr lang="ru-RU" i="1" dirty="0">
                <a:latin typeface="YS Text"/>
              </a:rPr>
              <a:t>	</a:t>
            </a:r>
            <a:r>
              <a:rPr lang="ru-RU" sz="1400" b="0" i="1" dirty="0">
                <a:solidFill>
                  <a:srgbClr val="5C6370"/>
                </a:solidFill>
                <a:effectLst/>
                <a:latin typeface="Menlo"/>
              </a:rPr>
              <a:t># Декорируем и изменяем метод </a:t>
            </a:r>
            <a:r>
              <a:rPr lang="en-US" sz="1400" b="0" i="1" dirty="0" err="1">
                <a:solidFill>
                  <a:srgbClr val="5C6370"/>
                </a:solidFill>
                <a:effectLst/>
                <a:latin typeface="Menlo"/>
              </a:rPr>
              <a:t>update_base_battery_status</a:t>
            </a:r>
            <a:r>
              <a:rPr lang="en-US" sz="1400" b="0" i="1" dirty="0">
                <a:solidFill>
                  <a:srgbClr val="5C6370"/>
                </a:solidFill>
                <a:effectLst/>
                <a:latin typeface="Menlo"/>
              </a:rPr>
              <a:t>(),</a:t>
            </a:r>
          </a:p>
          <a:p>
            <a:pPr marL="0" indent="0" algn="just">
              <a:buNone/>
            </a:pPr>
            <a:r>
              <a:rPr lang="en-US" sz="1400" i="1" dirty="0">
                <a:solidFill>
                  <a:srgbClr val="5C6370"/>
                </a:solidFill>
                <a:latin typeface="Menlo"/>
              </a:rPr>
              <a:t>	</a:t>
            </a:r>
            <a:r>
              <a:rPr lang="ru-RU" sz="1400" b="0" i="1" dirty="0">
                <a:solidFill>
                  <a:srgbClr val="5C6370"/>
                </a:solidFill>
                <a:effectLst/>
                <a:latin typeface="Menlo"/>
              </a:rPr>
              <a:t>чтобы менять значение атрибута не в объекте, а в классе:</a:t>
            </a:r>
            <a:endParaRPr lang="ru-RU" sz="1400" dirty="0">
              <a:solidFill>
                <a:srgbClr val="5C6370"/>
              </a:solidFill>
              <a:latin typeface="Menlo"/>
            </a:endParaRPr>
          </a:p>
          <a:p>
            <a:pPr marL="0" indent="0" algn="just">
              <a:buNone/>
            </a:pPr>
            <a:r>
              <a:rPr lang="ru-RU" sz="1800" b="0" i="0" dirty="0">
                <a:solidFill>
                  <a:srgbClr val="5C6370"/>
                </a:solidFill>
                <a:effectLst/>
                <a:latin typeface="Menlo"/>
              </a:rPr>
              <a:t>	</a:t>
            </a:r>
            <a:r>
              <a:rPr lang="ru-RU" sz="1800" b="0" i="0" dirty="0">
                <a:solidFill>
                  <a:srgbClr val="237B86"/>
                </a:solidFill>
                <a:effectLst/>
                <a:latin typeface="Menlo"/>
              </a:rPr>
              <a:t>@</a:t>
            </a:r>
            <a:r>
              <a:rPr lang="en-US" sz="1800" b="0" i="0" dirty="0" err="1">
                <a:solidFill>
                  <a:srgbClr val="237B86"/>
                </a:solidFill>
                <a:effectLst/>
                <a:latin typeface="Menlo"/>
              </a:rPr>
              <a:t>classmethod</a:t>
            </a:r>
            <a:endParaRPr lang="ru-RU" sz="1800" dirty="0">
              <a:solidFill>
                <a:srgbClr val="237B86"/>
              </a:solidFill>
              <a:latin typeface="Menlo"/>
            </a:endParaRPr>
          </a:p>
          <a:p>
            <a:pPr marL="0" indent="0" algn="just">
              <a:buNone/>
            </a:pPr>
            <a:r>
              <a:rPr lang="ru-RU" sz="1800" b="0" i="0" dirty="0">
                <a:solidFill>
                  <a:srgbClr val="237B86"/>
                </a:solidFill>
                <a:effectLst/>
                <a:latin typeface="Menlo"/>
              </a:rPr>
              <a:t>	</a:t>
            </a:r>
            <a:r>
              <a:rPr lang="en-US" sz="1800" b="0" i="0" dirty="0">
                <a:solidFill>
                  <a:srgbClr val="C678DD"/>
                </a:solidFill>
                <a:effectLst/>
                <a:latin typeface="Menlo"/>
              </a:rPr>
              <a:t>def</a:t>
            </a:r>
            <a:r>
              <a:rPr lang="en-US" sz="1800" b="0" i="0" dirty="0">
                <a:effectLst/>
                <a:latin typeface="Menlo"/>
              </a:rPr>
              <a:t> </a:t>
            </a:r>
            <a:r>
              <a:rPr lang="en-US" sz="1800" b="0" i="0" dirty="0" err="1">
                <a:effectLst/>
                <a:latin typeface="Menlo"/>
              </a:rPr>
              <a:t>update_base_battery_status</a:t>
            </a:r>
            <a:r>
              <a:rPr lang="en-US" sz="1800" b="0" i="0" dirty="0">
                <a:effectLst/>
                <a:latin typeface="Menlo"/>
              </a:rPr>
              <a:t>(</a:t>
            </a:r>
            <a:r>
              <a:rPr lang="en-US" sz="1800" b="0" i="0" dirty="0" err="1">
                <a:effectLst/>
                <a:latin typeface="Menlo"/>
              </a:rPr>
              <a:t>cls</a:t>
            </a:r>
            <a:r>
              <a:rPr lang="en-US" sz="1800" b="0" i="0" dirty="0">
                <a:effectLst/>
                <a:latin typeface="Menlo"/>
              </a:rPr>
              <a:t>, </a:t>
            </a:r>
            <a:r>
              <a:rPr lang="en-US" sz="1800" b="0" i="0" dirty="0" err="1">
                <a:effectLst/>
                <a:latin typeface="Menlo"/>
              </a:rPr>
              <a:t>new_status</a:t>
            </a:r>
            <a:r>
              <a:rPr lang="en-US" sz="1800" b="0" i="0" dirty="0">
                <a:effectLst/>
                <a:latin typeface="Menlo"/>
              </a:rPr>
              <a:t>):</a:t>
            </a:r>
            <a:r>
              <a:rPr lang="ru-RU" sz="1800" b="0" i="0" dirty="0">
                <a:effectLst/>
                <a:latin typeface="Menlo"/>
              </a:rPr>
              <a:t>   </a:t>
            </a:r>
            <a:r>
              <a:rPr lang="en-US" sz="1800" b="0" i="1" dirty="0">
                <a:solidFill>
                  <a:srgbClr val="5C6370"/>
                </a:solidFill>
                <a:effectLst/>
                <a:latin typeface="Menlo"/>
              </a:rPr>
              <a:t># </a:t>
            </a:r>
            <a:r>
              <a:rPr lang="ru-RU" sz="1800" b="0" i="1" dirty="0">
                <a:solidFill>
                  <a:srgbClr val="5C6370"/>
                </a:solidFill>
                <a:effectLst/>
                <a:latin typeface="Menlo"/>
              </a:rPr>
              <a:t>Указываем аргумент </a:t>
            </a:r>
            <a:r>
              <a:rPr lang="en-US" sz="1800" b="0" i="1" dirty="0" err="1">
                <a:solidFill>
                  <a:srgbClr val="5C6370"/>
                </a:solidFill>
                <a:effectLst/>
                <a:latin typeface="Menlo"/>
              </a:rPr>
              <a:t>cls</a:t>
            </a:r>
            <a:r>
              <a:rPr lang="en-US" sz="1800" b="0" i="1" dirty="0">
                <a:solidFill>
                  <a:srgbClr val="5C6370"/>
                </a:solidFill>
                <a:effectLst/>
                <a:latin typeface="Menlo"/>
              </a:rPr>
              <a:t>.</a:t>
            </a:r>
            <a:endParaRPr lang="ru-RU" sz="1800" b="0" i="0" dirty="0">
              <a:effectLst/>
              <a:latin typeface="Menlo"/>
            </a:endParaRPr>
          </a:p>
          <a:p>
            <a:pPr marL="0" indent="0" algn="just">
              <a:buNone/>
            </a:pPr>
            <a:r>
              <a:rPr lang="ru-RU" sz="1800" dirty="0">
                <a:solidFill>
                  <a:srgbClr val="5C6370"/>
                </a:solidFill>
                <a:latin typeface="Menlo"/>
              </a:rPr>
              <a:t>		</a:t>
            </a:r>
            <a:r>
              <a:rPr lang="en-US" sz="1800" b="0" i="0" dirty="0">
                <a:solidFill>
                  <a:srgbClr val="32A846"/>
                </a:solidFill>
                <a:effectLst/>
                <a:latin typeface="Menlo"/>
              </a:rPr>
              <a:t>"""</a:t>
            </a:r>
            <a:r>
              <a:rPr lang="ru-RU" sz="1800" b="0" i="0" dirty="0">
                <a:solidFill>
                  <a:srgbClr val="32A846"/>
                </a:solidFill>
                <a:effectLst/>
                <a:latin typeface="Menlo"/>
              </a:rPr>
              <a:t>Обновляет состояние батареи базовой станции.</a:t>
            </a:r>
            <a:r>
              <a:rPr lang="en-US" sz="1800" b="0" i="0" dirty="0">
                <a:solidFill>
                  <a:srgbClr val="32A846"/>
                </a:solidFill>
                <a:effectLst/>
                <a:latin typeface="Menlo"/>
              </a:rPr>
              <a:t> """</a:t>
            </a:r>
            <a:endParaRPr lang="ru-RU" sz="1800" dirty="0">
              <a:solidFill>
                <a:srgbClr val="32A846"/>
              </a:solidFill>
              <a:latin typeface="Menlo"/>
            </a:endParaRPr>
          </a:p>
          <a:p>
            <a:pPr marL="0" indent="0" algn="just">
              <a:buNone/>
            </a:pPr>
            <a:r>
              <a:rPr lang="ru-RU" sz="1800" b="0" i="1" dirty="0">
                <a:solidFill>
                  <a:srgbClr val="32A846"/>
                </a:solidFill>
                <a:effectLst/>
                <a:latin typeface="Menlo"/>
              </a:rPr>
              <a:t> 		</a:t>
            </a:r>
            <a:r>
              <a:rPr lang="ru-RU" sz="1800" b="0" i="1" dirty="0">
                <a:solidFill>
                  <a:srgbClr val="5C6370"/>
                </a:solidFill>
                <a:effectLst/>
                <a:latin typeface="Menlo"/>
              </a:rPr>
              <a:t># Присваиваем новое значение атрибуту класса.</a:t>
            </a:r>
            <a:endParaRPr lang="ru-RU" sz="1800" dirty="0">
              <a:solidFill>
                <a:srgbClr val="5C6370"/>
              </a:solidFill>
              <a:latin typeface="Menlo"/>
            </a:endParaRPr>
          </a:p>
          <a:p>
            <a:pPr marL="0" indent="0">
              <a:buNone/>
            </a:pPr>
            <a:r>
              <a:rPr lang="ru-RU" sz="1800" b="0" i="0" dirty="0">
                <a:solidFill>
                  <a:srgbClr val="5C6370"/>
                </a:solidFill>
                <a:effectLst/>
                <a:latin typeface="Menlo"/>
              </a:rPr>
              <a:t>		</a:t>
            </a:r>
            <a:r>
              <a:rPr lang="en-US" sz="1800" b="0" i="0" dirty="0" err="1">
                <a:effectLst/>
                <a:latin typeface="Menlo"/>
              </a:rPr>
              <a:t>cls.base_battery_status</a:t>
            </a:r>
            <a:r>
              <a:rPr lang="ru-RU" sz="1800" b="0" i="0" dirty="0">
                <a:effectLst/>
                <a:latin typeface="Menlo"/>
              </a:rPr>
              <a:t> </a:t>
            </a:r>
            <a:r>
              <a:rPr lang="en-US" sz="1800" b="0" i="0" dirty="0">
                <a:effectLst/>
                <a:latin typeface="Menlo"/>
              </a:rPr>
              <a:t>=</a:t>
            </a:r>
            <a:r>
              <a:rPr lang="ru-RU" sz="1800" b="0" i="0" dirty="0">
                <a:effectLst/>
                <a:latin typeface="Menlo"/>
              </a:rPr>
              <a:t> </a:t>
            </a:r>
            <a:r>
              <a:rPr lang="en-US" sz="1800" b="0" i="0" dirty="0" err="1">
                <a:effectLst/>
                <a:latin typeface="Menlo"/>
              </a:rPr>
              <a:t>new_status</a:t>
            </a:r>
            <a:r>
              <a:rPr lang="en-US" sz="1800" b="0" i="0" dirty="0">
                <a:effectLst/>
                <a:latin typeface="Menlo"/>
              </a:rPr>
              <a:t> </a:t>
            </a:r>
            <a:br>
              <a:rPr lang="en-US" sz="1800" dirty="0"/>
            </a:br>
            <a:endParaRPr lang="ru-RU" sz="1800" i="1" dirty="0">
              <a:latin typeface="YS Text"/>
            </a:endParaRPr>
          </a:p>
        </p:txBody>
      </p:sp>
    </p:spTree>
    <p:extLst>
      <p:ext uri="{BB962C8B-B14F-4D97-AF65-F5344CB8AC3E}">
        <p14:creationId xmlns:p14="http://schemas.microsoft.com/office/powerpoint/2010/main" val="4987588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1309704"/>
          </a:xfrm>
        </p:spPr>
        <p:txBody>
          <a:bodyPr>
            <a:normAutofit fontScale="90000"/>
          </a:bodyPr>
          <a:lstStyle/>
          <a:p>
            <a:pPr algn="ctr"/>
            <a:r>
              <a:rPr lang="ru-RU" sz="4900" b="1" dirty="0">
                <a:effectLst/>
                <a:latin typeface="YS Text"/>
              </a:rPr>
              <a:t>Статические методы класса</a:t>
            </a:r>
            <a:br>
              <a:rPr lang="ru-RU" sz="4900"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93682"/>
            <a:ext cx="10936304" cy="5975131"/>
          </a:xfrm>
        </p:spPr>
        <p:txBody>
          <a:bodyPr/>
          <a:lstStyle/>
          <a:p>
            <a:pPr marL="0" indent="0" algn="just">
              <a:buNone/>
            </a:pPr>
            <a:r>
              <a:rPr lang="ru-RU" sz="2800" b="1" i="1" dirty="0">
                <a:latin typeface="YS Text"/>
              </a:rPr>
              <a:t>Декоратор @</a:t>
            </a:r>
            <a:r>
              <a:rPr lang="en-US" sz="2800" b="1" i="1" dirty="0" err="1">
                <a:latin typeface="YS Text"/>
              </a:rPr>
              <a:t>staticmethod</a:t>
            </a:r>
            <a:endParaRPr lang="ru-RU" sz="2800" b="1" i="1" dirty="0">
              <a:latin typeface="YS Text"/>
            </a:endParaRPr>
          </a:p>
          <a:p>
            <a:pPr marL="0" indent="0" algn="just">
              <a:buNone/>
            </a:pPr>
            <a:r>
              <a:rPr lang="ru-RU" dirty="0">
                <a:latin typeface="YS Text"/>
              </a:rPr>
              <a:t>Статические методы в основном используются как вспомогательные функции и работают как обычные функции, обрабатывая данные, которые им переданы. Они описываются при помощи </a:t>
            </a:r>
            <a:r>
              <a:rPr lang="ru-RU" b="1" dirty="0">
                <a:latin typeface="YS Text"/>
              </a:rPr>
              <a:t>декоратора @staticmethod</a:t>
            </a:r>
            <a:r>
              <a:rPr lang="ru-RU" dirty="0">
                <a:latin typeface="YS Text"/>
              </a:rPr>
              <a:t>.</a:t>
            </a:r>
          </a:p>
          <a:p>
            <a:pPr marL="0" indent="0" algn="just">
              <a:buNone/>
            </a:pPr>
            <a:r>
              <a:rPr lang="ru-RU" dirty="0">
                <a:latin typeface="YS Text"/>
              </a:rPr>
              <a:t>При объявлении статического метода в него не нужно передавать параметр, указывающий на объект или класс: </a:t>
            </a:r>
            <a:r>
              <a:rPr lang="ru-RU" b="1" dirty="0">
                <a:latin typeface="YS Text"/>
              </a:rPr>
              <a:t>не нужен ни </a:t>
            </a:r>
            <a:r>
              <a:rPr lang="ru-RU" b="1" dirty="0" err="1">
                <a:latin typeface="YS Text"/>
              </a:rPr>
              <a:t>self</a:t>
            </a:r>
            <a:r>
              <a:rPr lang="ru-RU" b="1" dirty="0">
                <a:latin typeface="YS Text"/>
              </a:rPr>
              <a:t>, ни </a:t>
            </a:r>
            <a:r>
              <a:rPr lang="ru-RU" b="1" dirty="0" err="1">
                <a:latin typeface="YS Text"/>
              </a:rPr>
              <a:t>cls</a:t>
            </a:r>
            <a:r>
              <a:rPr lang="ru-RU" dirty="0">
                <a:latin typeface="YS Text"/>
              </a:rPr>
              <a:t>. Статические методы </a:t>
            </a:r>
            <a:r>
              <a:rPr lang="ru-RU" b="1" dirty="0">
                <a:latin typeface="YS Text"/>
              </a:rPr>
              <a:t>никак не привязаны к классу или объекту</a:t>
            </a:r>
            <a:r>
              <a:rPr lang="ru-RU" dirty="0">
                <a:latin typeface="YS Text"/>
              </a:rPr>
              <a:t>, их можно воспринимать как методы, которые «</a:t>
            </a:r>
            <a:r>
              <a:rPr lang="ru-RU" b="1" i="1" dirty="0">
                <a:solidFill>
                  <a:schemeClr val="accent6">
                    <a:lumMod val="50000"/>
                  </a:schemeClr>
                </a:solidFill>
                <a:latin typeface="YS Text"/>
              </a:rPr>
              <a:t>не знают, к какому классу относятся</a:t>
            </a:r>
            <a:r>
              <a:rPr lang="ru-RU" dirty="0">
                <a:latin typeface="YS Text"/>
              </a:rPr>
              <a:t>».</a:t>
            </a:r>
            <a:endParaRPr lang="en-US" b="0" i="0" dirty="0">
              <a:solidFill>
                <a:srgbClr val="237B86"/>
              </a:solidFill>
              <a:effectLst/>
              <a:latin typeface="YS Text"/>
            </a:endParaRPr>
          </a:p>
          <a:p>
            <a:pPr marL="0" indent="0" algn="just">
              <a:buNone/>
            </a:pPr>
            <a:r>
              <a:rPr lang="en-US" b="0" i="0" dirty="0">
                <a:solidFill>
                  <a:srgbClr val="237B86"/>
                </a:solidFill>
                <a:effectLst/>
                <a:latin typeface="Menlo"/>
              </a:rPr>
              <a:t> 	</a:t>
            </a:r>
            <a:r>
              <a:rPr lang="en-US" sz="1800" b="0" i="0" dirty="0">
                <a:solidFill>
                  <a:srgbClr val="237B86"/>
                </a:solidFill>
                <a:effectLst/>
                <a:latin typeface="Menlo"/>
              </a:rPr>
              <a:t>@staticmethod</a:t>
            </a:r>
            <a:r>
              <a:rPr lang="en-US" sz="1800" b="0" i="0" dirty="0">
                <a:effectLst/>
                <a:latin typeface="Menlo"/>
              </a:rPr>
              <a:t> </a:t>
            </a:r>
          </a:p>
          <a:p>
            <a:pPr marL="0" indent="0" algn="just">
              <a:buNone/>
            </a:pPr>
            <a:r>
              <a:rPr lang="en-US" sz="1800" dirty="0">
                <a:solidFill>
                  <a:srgbClr val="C678DD"/>
                </a:solidFill>
                <a:latin typeface="Menlo"/>
              </a:rPr>
              <a:t>                 </a:t>
            </a:r>
            <a:r>
              <a:rPr lang="en-US" sz="1800" b="0" i="0" dirty="0">
                <a:solidFill>
                  <a:srgbClr val="C678DD"/>
                </a:solidFill>
                <a:effectLst/>
                <a:latin typeface="Menlo"/>
              </a:rPr>
              <a:t>def</a:t>
            </a:r>
            <a:r>
              <a:rPr lang="en-US" sz="1800" b="0" i="0" dirty="0">
                <a:effectLst/>
                <a:latin typeface="Menlo"/>
              </a:rPr>
              <a:t> </a:t>
            </a:r>
            <a:r>
              <a:rPr lang="en-US" sz="1800" b="0" i="0" dirty="0" err="1">
                <a:effectLst/>
                <a:latin typeface="Menlo"/>
              </a:rPr>
              <a:t>predict_battery_lifetime</a:t>
            </a:r>
            <a:r>
              <a:rPr lang="en-US" sz="1800" b="0" i="0" dirty="0">
                <a:effectLst/>
                <a:latin typeface="Menlo"/>
              </a:rPr>
              <a:t>(</a:t>
            </a:r>
            <a:r>
              <a:rPr lang="en-US" sz="1800" b="0" i="0" dirty="0" err="1">
                <a:effectLst/>
                <a:latin typeface="Menlo"/>
              </a:rPr>
              <a:t>current_capacity</a:t>
            </a:r>
            <a:r>
              <a:rPr lang="en-US" sz="1800" b="0" i="0" dirty="0">
                <a:effectLst/>
                <a:latin typeface="Menlo"/>
              </a:rPr>
              <a:t>, </a:t>
            </a:r>
            <a:r>
              <a:rPr lang="en-US" sz="1800" b="0" i="0" dirty="0" err="1">
                <a:effectLst/>
                <a:latin typeface="Menlo"/>
              </a:rPr>
              <a:t>charge_cycles</a:t>
            </a:r>
            <a:r>
              <a:rPr lang="en-US" sz="1800" b="0" i="0" dirty="0">
                <a:effectLst/>
                <a:latin typeface="Menlo"/>
              </a:rPr>
              <a:t>):</a:t>
            </a:r>
          </a:p>
          <a:p>
            <a:pPr marL="0" indent="0" algn="just">
              <a:buNone/>
            </a:pPr>
            <a:r>
              <a:rPr lang="en-US" sz="1800" b="0" i="0" dirty="0">
                <a:solidFill>
                  <a:srgbClr val="32A846"/>
                </a:solidFill>
                <a:effectLst/>
                <a:latin typeface="Menlo"/>
              </a:rPr>
              <a:t>		"""</a:t>
            </a:r>
            <a:r>
              <a:rPr lang="ru-RU" sz="1800" b="0" i="0" dirty="0">
                <a:solidFill>
                  <a:srgbClr val="32A846"/>
                </a:solidFill>
                <a:effectLst/>
                <a:latin typeface="Menlo"/>
              </a:rPr>
              <a:t>Прогнозирует срок службы аккумулятора</a:t>
            </a:r>
            <a:endParaRPr lang="en-US" sz="1800" b="0" i="0" dirty="0">
              <a:solidFill>
                <a:srgbClr val="32A846"/>
              </a:solidFill>
              <a:effectLst/>
              <a:latin typeface="Menlo"/>
            </a:endParaRPr>
          </a:p>
          <a:p>
            <a:pPr marL="0" indent="0" algn="just">
              <a:buNone/>
            </a:pPr>
            <a:r>
              <a:rPr lang="en-US" sz="1800" dirty="0">
                <a:solidFill>
                  <a:srgbClr val="32A846"/>
                </a:solidFill>
                <a:latin typeface="Menlo"/>
              </a:rPr>
              <a:t>		</a:t>
            </a:r>
            <a:r>
              <a:rPr lang="ru-RU" sz="1800" b="0" i="0" dirty="0">
                <a:solidFill>
                  <a:srgbClr val="32A846"/>
                </a:solidFill>
                <a:effectLst/>
                <a:latin typeface="Menlo"/>
              </a:rPr>
              <a:t>на основе текущей ёмкости и количества циклов зарядки.</a:t>
            </a:r>
            <a:endParaRPr lang="en-US" sz="1800" b="0" i="0" dirty="0">
              <a:solidFill>
                <a:srgbClr val="32A846"/>
              </a:solidFill>
              <a:effectLst/>
              <a:latin typeface="Menlo"/>
            </a:endParaRPr>
          </a:p>
          <a:p>
            <a:pPr marL="0" indent="0" algn="just">
              <a:buNone/>
            </a:pPr>
            <a:r>
              <a:rPr lang="en-US" sz="1800" b="0" i="0" dirty="0">
                <a:solidFill>
                  <a:srgbClr val="32A846"/>
                </a:solidFill>
                <a:effectLst/>
                <a:latin typeface="Menlo"/>
              </a:rPr>
              <a:t>		""" </a:t>
            </a:r>
          </a:p>
          <a:p>
            <a:pPr marL="0" indent="0" algn="just">
              <a:buNone/>
            </a:pPr>
            <a:endParaRPr lang="en-US" sz="1800" dirty="0">
              <a:solidFill>
                <a:srgbClr val="32A846"/>
              </a:solidFill>
              <a:latin typeface="Menlo"/>
            </a:endParaRPr>
          </a:p>
          <a:p>
            <a:pPr marL="0" indent="0" algn="just">
              <a:buNone/>
            </a:pPr>
            <a:r>
              <a:rPr lang="en-US" sz="1800" b="0" i="1" dirty="0">
                <a:solidFill>
                  <a:srgbClr val="5C6370"/>
                </a:solidFill>
                <a:effectLst/>
                <a:latin typeface="Menlo"/>
              </a:rPr>
              <a:t>		</a:t>
            </a:r>
            <a:r>
              <a:rPr lang="ru-RU" sz="1800" b="0" i="1" dirty="0">
                <a:solidFill>
                  <a:srgbClr val="5C6370"/>
                </a:solidFill>
                <a:effectLst/>
                <a:latin typeface="Menlo"/>
              </a:rPr>
              <a:t># Пусть максимальная ёмкость нового аккумулятора будет равна 5000 мАч</a:t>
            </a:r>
            <a:endParaRPr lang="en-US" sz="1800" dirty="0">
              <a:solidFill>
                <a:srgbClr val="5C6370"/>
              </a:solidFill>
              <a:latin typeface="Menlo"/>
            </a:endParaRPr>
          </a:p>
          <a:p>
            <a:pPr marL="0" indent="0" algn="just">
              <a:buNone/>
            </a:pPr>
            <a:r>
              <a:rPr lang="en-US" sz="1800" b="0" i="0" dirty="0">
                <a:solidFill>
                  <a:srgbClr val="5C6370"/>
                </a:solidFill>
                <a:effectLst/>
                <a:latin typeface="Menlo"/>
              </a:rPr>
              <a:t>		</a:t>
            </a:r>
            <a:r>
              <a:rPr lang="en-US" sz="1800" b="0" i="0" dirty="0" err="1">
                <a:effectLst/>
                <a:latin typeface="Menlo"/>
              </a:rPr>
              <a:t>max_capacity</a:t>
            </a:r>
            <a:r>
              <a:rPr lang="en-US" sz="1800" b="0" i="0" dirty="0">
                <a:effectLst/>
                <a:latin typeface="Menlo"/>
              </a:rPr>
              <a:t> = </a:t>
            </a:r>
            <a:r>
              <a:rPr lang="en-US" sz="1800" b="0" i="0" dirty="0">
                <a:solidFill>
                  <a:srgbClr val="237B86"/>
                </a:solidFill>
                <a:effectLst/>
                <a:latin typeface="Menlo"/>
              </a:rPr>
              <a:t>5000</a:t>
            </a:r>
            <a:r>
              <a:rPr lang="en-US" sz="1800" b="0" i="0" dirty="0">
                <a:effectLst/>
                <a:latin typeface="Menlo"/>
              </a:rPr>
              <a:t> </a:t>
            </a:r>
            <a:r>
              <a:rPr lang="en-US" sz="1800" b="0" i="0" dirty="0">
                <a:solidFill>
                  <a:srgbClr val="C678DD"/>
                </a:solidFill>
                <a:effectLst/>
                <a:latin typeface="Menlo"/>
              </a:rPr>
              <a:t>return</a:t>
            </a:r>
            <a:r>
              <a:rPr lang="en-US" sz="1800" b="0" i="0" dirty="0">
                <a:effectLst/>
                <a:latin typeface="Menlo"/>
              </a:rPr>
              <a:t> (</a:t>
            </a:r>
            <a:r>
              <a:rPr lang="en-US" sz="1800" b="0" i="0" dirty="0" err="1">
                <a:effectLst/>
                <a:latin typeface="Menlo"/>
              </a:rPr>
              <a:t>current_capacity</a:t>
            </a:r>
            <a:r>
              <a:rPr lang="en-US" sz="1800" b="0" i="0" dirty="0">
                <a:effectLst/>
                <a:latin typeface="Menlo"/>
              </a:rPr>
              <a:t> / </a:t>
            </a:r>
            <a:r>
              <a:rPr lang="en-US" sz="1800" b="0" i="0" dirty="0" err="1">
                <a:effectLst/>
                <a:latin typeface="Menlo"/>
              </a:rPr>
              <a:t>max_capacity</a:t>
            </a:r>
            <a:r>
              <a:rPr lang="en-US" sz="1800" b="0" i="0" dirty="0">
                <a:effectLst/>
                <a:latin typeface="Menlo"/>
              </a:rPr>
              <a:t>) * (</a:t>
            </a:r>
            <a:r>
              <a:rPr lang="en-US" sz="1800" b="0" i="0" dirty="0">
                <a:solidFill>
                  <a:srgbClr val="237B86"/>
                </a:solidFill>
                <a:effectLst/>
                <a:latin typeface="Menlo"/>
              </a:rPr>
              <a:t>1000</a:t>
            </a:r>
            <a:r>
              <a:rPr lang="en-US" sz="1800" b="0" i="0" dirty="0">
                <a:effectLst/>
                <a:latin typeface="Menlo"/>
              </a:rPr>
              <a:t> - </a:t>
            </a:r>
            <a:r>
              <a:rPr lang="en-US" sz="1800" b="0" i="0" dirty="0" err="1">
                <a:effectLst/>
                <a:latin typeface="Menlo"/>
              </a:rPr>
              <a:t>charge_cycles</a:t>
            </a:r>
            <a:r>
              <a:rPr lang="en-US" sz="1800" b="0" i="0" dirty="0">
                <a:effectLst/>
                <a:latin typeface="Menlo"/>
              </a:rPr>
              <a:t>)</a:t>
            </a:r>
            <a:endParaRPr lang="ru-RU" sz="1800" dirty="0">
              <a:latin typeface="YS Text"/>
            </a:endParaRPr>
          </a:p>
        </p:txBody>
      </p:sp>
    </p:spTree>
    <p:extLst>
      <p:ext uri="{BB962C8B-B14F-4D97-AF65-F5344CB8AC3E}">
        <p14:creationId xmlns:p14="http://schemas.microsoft.com/office/powerpoint/2010/main" val="1348339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ru-RU" sz="4900" b="1" dirty="0">
                <a:effectLst/>
                <a:latin typeface="YS Text"/>
              </a:rPr>
              <a:t>Свойства объекта</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ru-RU" sz="2800" b="1" i="1" dirty="0">
                <a:latin typeface="YS Text"/>
              </a:rPr>
              <a:t>Декоратор @property</a:t>
            </a:r>
          </a:p>
          <a:p>
            <a:pPr marL="0" indent="0" algn="just">
              <a:buNone/>
            </a:pPr>
            <a:r>
              <a:rPr lang="ru-RU" dirty="0">
                <a:latin typeface="YS Text"/>
              </a:rPr>
              <a:t>Метод </a:t>
            </a:r>
            <a:r>
              <a:rPr lang="ru-RU" dirty="0" err="1">
                <a:latin typeface="YS Text"/>
              </a:rPr>
              <a:t>identifier</a:t>
            </a:r>
            <a:r>
              <a:rPr lang="ru-RU" dirty="0">
                <a:latin typeface="YS Text"/>
              </a:rPr>
              <a:t>() возвращает характеристику объекта — и обращаться к нему удобнее как к атрибуту. Для этого метод можно представить как </a:t>
            </a:r>
            <a:r>
              <a:rPr lang="ru-RU" b="1" dirty="0">
                <a:solidFill>
                  <a:schemeClr val="accent6">
                    <a:lumMod val="50000"/>
                  </a:schemeClr>
                </a:solidFill>
                <a:latin typeface="YS Text"/>
              </a:rPr>
              <a:t>свойство экземпляра класса</a:t>
            </a:r>
            <a:r>
              <a:rPr lang="ru-RU" dirty="0">
                <a:latin typeface="YS Text"/>
              </a:rPr>
              <a:t>.</a:t>
            </a:r>
          </a:p>
          <a:p>
            <a:pPr marL="0" indent="0" algn="just">
              <a:buNone/>
            </a:pPr>
            <a:r>
              <a:rPr lang="ru-RU" b="1" dirty="0">
                <a:latin typeface="YS Text"/>
              </a:rPr>
              <a:t>Свойством экземпляра </a:t>
            </a:r>
            <a:r>
              <a:rPr lang="ru-RU" dirty="0">
                <a:latin typeface="YS Text"/>
              </a:rPr>
              <a:t>называется такой метод, работа с которым подобна работе с атрибутом.</a:t>
            </a:r>
          </a:p>
          <a:p>
            <a:pPr marL="0" indent="0" algn="just">
              <a:buNone/>
            </a:pPr>
            <a:r>
              <a:rPr lang="ru-RU" dirty="0">
                <a:latin typeface="YS Text"/>
              </a:rPr>
              <a:t>Для определения метода как свойства применяют декоратор @property.</a:t>
            </a:r>
          </a:p>
          <a:p>
            <a:pPr marL="0" indent="0" algn="just">
              <a:buNone/>
            </a:pPr>
            <a:r>
              <a:rPr lang="en-US" b="1" i="1" dirty="0">
                <a:solidFill>
                  <a:srgbClr val="00B0F0"/>
                </a:solidFill>
                <a:latin typeface="YS Text"/>
              </a:rPr>
              <a:t>        </a:t>
            </a:r>
            <a:r>
              <a:rPr lang="ru-RU" b="1" i="1" dirty="0">
                <a:solidFill>
                  <a:srgbClr val="00B0F0"/>
                </a:solidFill>
                <a:latin typeface="YS Text"/>
              </a:rPr>
              <a:t>@property</a:t>
            </a:r>
          </a:p>
          <a:p>
            <a:pPr marL="0" indent="0" algn="just">
              <a:buNone/>
            </a:pPr>
            <a:r>
              <a:rPr lang="ru-RU" i="1" dirty="0">
                <a:solidFill>
                  <a:srgbClr val="00B050"/>
                </a:solidFill>
                <a:latin typeface="YS Text"/>
              </a:rPr>
              <a:t>        </a:t>
            </a:r>
            <a:r>
              <a:rPr lang="ru-RU" i="1" dirty="0" err="1">
                <a:solidFill>
                  <a:srgbClr val="00B050"/>
                </a:solidFill>
                <a:latin typeface="YS Text"/>
              </a:rPr>
              <a:t>def</a:t>
            </a:r>
            <a:r>
              <a:rPr lang="ru-RU" i="1" dirty="0">
                <a:solidFill>
                  <a:srgbClr val="00B050"/>
                </a:solidFill>
                <a:latin typeface="YS Text"/>
              </a:rPr>
              <a:t> </a:t>
            </a:r>
            <a:r>
              <a:rPr lang="ru-RU" i="1" dirty="0" err="1">
                <a:solidFill>
                  <a:srgbClr val="00B050"/>
                </a:solidFill>
                <a:latin typeface="YS Text"/>
              </a:rPr>
              <a:t>identifier</a:t>
            </a:r>
            <a:r>
              <a:rPr lang="ru-RU" i="1" dirty="0">
                <a:solidFill>
                  <a:srgbClr val="00B050"/>
                </a:solidFill>
                <a:latin typeface="YS Text"/>
              </a:rPr>
              <a:t>(</a:t>
            </a:r>
            <a:r>
              <a:rPr lang="ru-RU" i="1" dirty="0" err="1">
                <a:solidFill>
                  <a:srgbClr val="00B050"/>
                </a:solidFill>
                <a:latin typeface="YS Text"/>
              </a:rPr>
              <a:t>self</a:t>
            </a:r>
            <a:r>
              <a:rPr lang="ru-RU" i="1" dirty="0">
                <a:solidFill>
                  <a:srgbClr val="00B050"/>
                </a:solidFill>
                <a:latin typeface="YS Text"/>
              </a:rPr>
              <a:t>):</a:t>
            </a:r>
          </a:p>
          <a:p>
            <a:pPr marL="0" indent="0" algn="just">
              <a:buNone/>
            </a:pPr>
            <a:r>
              <a:rPr lang="ru-RU" i="1" dirty="0">
                <a:solidFill>
                  <a:srgbClr val="00B050"/>
                </a:solidFill>
                <a:latin typeface="YS Text"/>
              </a:rPr>
              <a:t>                </a:t>
            </a:r>
            <a:r>
              <a:rPr lang="ru-RU" i="1" dirty="0">
                <a:solidFill>
                  <a:srgbClr val="00B0F0"/>
                </a:solidFill>
                <a:latin typeface="YS Text"/>
              </a:rPr>
              <a:t>"""Вычисляет уникальный идентификатор робота на основе его имени."""</a:t>
            </a:r>
          </a:p>
          <a:p>
            <a:pPr marL="0" indent="0" algn="just">
              <a:buNone/>
            </a:pPr>
            <a:r>
              <a:rPr lang="ru-RU" i="1" dirty="0">
                <a:latin typeface="YS Text"/>
              </a:rPr>
              <a:t>                # Преобразование имени в числовое представление:</a:t>
            </a:r>
          </a:p>
          <a:p>
            <a:pPr marL="0" indent="0" algn="just">
              <a:buNone/>
            </a:pPr>
            <a:r>
              <a:rPr lang="ru-RU" i="1" dirty="0">
                <a:latin typeface="YS Text"/>
              </a:rPr>
              <a:t>                </a:t>
            </a:r>
            <a:r>
              <a:rPr lang="ru-RU" i="1" dirty="0" err="1">
                <a:solidFill>
                  <a:srgbClr val="00B050"/>
                </a:solidFill>
                <a:latin typeface="YS Text"/>
              </a:rPr>
              <a:t>return</a:t>
            </a:r>
            <a:r>
              <a:rPr lang="ru-RU" i="1" dirty="0">
                <a:solidFill>
                  <a:srgbClr val="00B050"/>
                </a:solidFill>
                <a:latin typeface="YS Text"/>
              </a:rPr>
              <a:t> </a:t>
            </a:r>
            <a:r>
              <a:rPr lang="ru-RU" i="1" dirty="0" err="1">
                <a:solidFill>
                  <a:srgbClr val="00B050"/>
                </a:solidFill>
                <a:latin typeface="YS Text"/>
              </a:rPr>
              <a:t>sum</a:t>
            </a:r>
            <a:r>
              <a:rPr lang="ru-RU" i="1" dirty="0">
                <a:solidFill>
                  <a:srgbClr val="00B050"/>
                </a:solidFill>
                <a:latin typeface="YS Text"/>
              </a:rPr>
              <a:t>(</a:t>
            </a:r>
            <a:r>
              <a:rPr lang="ru-RU" i="1" dirty="0" err="1">
                <a:solidFill>
                  <a:srgbClr val="00B050"/>
                </a:solidFill>
                <a:latin typeface="YS Text"/>
              </a:rPr>
              <a:t>ord</a:t>
            </a:r>
            <a:r>
              <a:rPr lang="ru-RU" i="1" dirty="0">
                <a:solidFill>
                  <a:srgbClr val="00B050"/>
                </a:solidFill>
                <a:latin typeface="YS Text"/>
              </a:rPr>
              <a:t>(</a:t>
            </a:r>
            <a:r>
              <a:rPr lang="ru-RU" i="1" dirty="0" err="1">
                <a:solidFill>
                  <a:srgbClr val="00B050"/>
                </a:solidFill>
                <a:latin typeface="YS Text"/>
              </a:rPr>
              <a:t>char</a:t>
            </a:r>
            <a:r>
              <a:rPr lang="ru-RU" i="1" dirty="0">
                <a:solidFill>
                  <a:srgbClr val="00B050"/>
                </a:solidFill>
                <a:latin typeface="YS Text"/>
              </a:rPr>
              <a:t>) </a:t>
            </a:r>
            <a:r>
              <a:rPr lang="ru-RU" i="1" dirty="0" err="1">
                <a:solidFill>
                  <a:srgbClr val="00B050"/>
                </a:solidFill>
                <a:latin typeface="YS Text"/>
              </a:rPr>
              <a:t>for</a:t>
            </a:r>
            <a:r>
              <a:rPr lang="ru-RU" i="1" dirty="0">
                <a:solidFill>
                  <a:srgbClr val="00B050"/>
                </a:solidFill>
                <a:latin typeface="YS Text"/>
              </a:rPr>
              <a:t> </a:t>
            </a:r>
            <a:r>
              <a:rPr lang="ru-RU" i="1" dirty="0" err="1">
                <a:solidFill>
                  <a:srgbClr val="00B050"/>
                </a:solidFill>
                <a:latin typeface="YS Text"/>
              </a:rPr>
              <a:t>char</a:t>
            </a:r>
            <a:r>
              <a:rPr lang="ru-RU" i="1" dirty="0">
                <a:solidFill>
                  <a:srgbClr val="00B050"/>
                </a:solidFill>
                <a:latin typeface="YS Text"/>
              </a:rPr>
              <a:t> </a:t>
            </a:r>
            <a:r>
              <a:rPr lang="ru-RU" i="1" dirty="0" err="1">
                <a:solidFill>
                  <a:srgbClr val="00B050"/>
                </a:solidFill>
                <a:latin typeface="YS Text"/>
              </a:rPr>
              <a:t>in</a:t>
            </a:r>
            <a:r>
              <a:rPr lang="ru-RU" i="1" dirty="0">
                <a:solidFill>
                  <a:srgbClr val="00B050"/>
                </a:solidFill>
                <a:latin typeface="YS Text"/>
              </a:rPr>
              <a:t> self.name)</a:t>
            </a:r>
            <a:endParaRPr lang="en-US" i="1" dirty="0">
              <a:solidFill>
                <a:srgbClr val="00B050"/>
              </a:solidFill>
              <a:latin typeface="YS Text"/>
            </a:endParaRPr>
          </a:p>
          <a:p>
            <a:pPr marL="0" indent="0" algn="just">
              <a:buNone/>
            </a:pPr>
            <a:r>
              <a:rPr lang="ru-RU" dirty="0">
                <a:solidFill>
                  <a:schemeClr val="tx1"/>
                </a:solidFill>
                <a:latin typeface="YS Text"/>
              </a:rPr>
              <a:t>Нюанс: В интерфейсе экземпляра класса </a:t>
            </a:r>
            <a:r>
              <a:rPr lang="ru-RU" dirty="0" err="1">
                <a:solidFill>
                  <a:schemeClr val="tx1"/>
                </a:solidFill>
                <a:latin typeface="YS Text"/>
              </a:rPr>
              <a:t>Robot</a:t>
            </a:r>
            <a:r>
              <a:rPr lang="ru-RU" dirty="0">
                <a:solidFill>
                  <a:schemeClr val="tx1"/>
                </a:solidFill>
                <a:latin typeface="YS Text"/>
              </a:rPr>
              <a:t> свойство </a:t>
            </a:r>
            <a:r>
              <a:rPr lang="ru-RU" dirty="0" err="1">
                <a:solidFill>
                  <a:schemeClr val="tx1"/>
                </a:solidFill>
                <a:latin typeface="YS Text"/>
              </a:rPr>
              <a:t>identifier</a:t>
            </a:r>
            <a:r>
              <a:rPr lang="ru-RU" dirty="0">
                <a:solidFill>
                  <a:schemeClr val="tx1"/>
                </a:solidFill>
                <a:latin typeface="YS Text"/>
              </a:rPr>
              <a:t> выглядит как </a:t>
            </a:r>
            <a:r>
              <a:rPr lang="ru-RU" b="1" dirty="0">
                <a:solidFill>
                  <a:schemeClr val="tx1"/>
                </a:solidFill>
                <a:latin typeface="YS Text"/>
              </a:rPr>
              <a:t>атрибут</a:t>
            </a:r>
            <a:r>
              <a:rPr lang="ru-RU" dirty="0">
                <a:solidFill>
                  <a:schemeClr val="tx1"/>
                </a:solidFill>
                <a:latin typeface="YS Text"/>
              </a:rPr>
              <a:t>. Обычные атрибуты экземпляров можно изменять, однако в такой реализации изменить свойство объекта не получится</a:t>
            </a:r>
          </a:p>
        </p:txBody>
      </p:sp>
    </p:spTree>
    <p:extLst>
      <p:ext uri="{BB962C8B-B14F-4D97-AF65-F5344CB8AC3E}">
        <p14:creationId xmlns:p14="http://schemas.microsoft.com/office/powerpoint/2010/main" val="16588916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C3E76-9C11-5BD5-CDFB-350EEC6EE1B5}"/>
              </a:ext>
            </a:extLst>
          </p:cNvPr>
          <p:cNvSpPr>
            <a:spLocks noGrp="1"/>
          </p:cNvSpPr>
          <p:nvPr>
            <p:ph type="title"/>
          </p:nvPr>
        </p:nvSpPr>
        <p:spPr>
          <a:xfrm>
            <a:off x="993229" y="98682"/>
            <a:ext cx="10936304" cy="626532"/>
          </a:xfrm>
        </p:spPr>
        <p:txBody>
          <a:bodyPr>
            <a:normAutofit fontScale="90000"/>
          </a:bodyPr>
          <a:lstStyle/>
          <a:p>
            <a:pPr algn="ctr"/>
            <a:r>
              <a:rPr lang="en-US" sz="4900" b="1" dirty="0">
                <a:effectLst/>
                <a:latin typeface="YS Text"/>
              </a:rPr>
              <a:t>123</a:t>
            </a:r>
            <a:br>
              <a:rPr lang="ru-RU" b="1" dirty="0">
                <a:effectLst/>
                <a:latin typeface="YS Text"/>
              </a:rPr>
            </a:br>
            <a:endParaRPr lang="ru-RU" dirty="0"/>
          </a:p>
        </p:txBody>
      </p:sp>
      <p:sp>
        <p:nvSpPr>
          <p:cNvPr id="5" name="Объект 4">
            <a:extLst>
              <a:ext uri="{FF2B5EF4-FFF2-40B4-BE49-F238E27FC236}">
                <a16:creationId xmlns:a16="http://schemas.microsoft.com/office/drawing/2014/main" id="{15B806A6-D758-BCD2-D8D1-77A5FA2E4F31}"/>
              </a:ext>
            </a:extLst>
          </p:cNvPr>
          <p:cNvSpPr>
            <a:spLocks noGrp="1"/>
          </p:cNvSpPr>
          <p:nvPr>
            <p:ph idx="1"/>
          </p:nvPr>
        </p:nvSpPr>
        <p:spPr>
          <a:xfrm>
            <a:off x="993229" y="635876"/>
            <a:ext cx="10936304" cy="6032938"/>
          </a:xfrm>
        </p:spPr>
        <p:txBody>
          <a:bodyPr/>
          <a:lstStyle/>
          <a:p>
            <a:pPr marL="0" indent="0" algn="just">
              <a:buNone/>
            </a:pPr>
            <a:r>
              <a:rPr lang="en-US" dirty="0">
                <a:latin typeface="YS Text"/>
              </a:rPr>
              <a:t>123</a:t>
            </a:r>
            <a:endParaRPr lang="ru-RU" i="1" dirty="0">
              <a:latin typeface="YS Text"/>
            </a:endParaRPr>
          </a:p>
        </p:txBody>
      </p:sp>
    </p:spTree>
    <p:extLst>
      <p:ext uri="{BB962C8B-B14F-4D97-AF65-F5344CB8AC3E}">
        <p14:creationId xmlns:p14="http://schemas.microsoft.com/office/powerpoint/2010/main" val="4223947002"/>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TM10001105[[fn=Уголки]]</Template>
  <TotalTime>5840</TotalTime>
  <Words>9880</Words>
  <Application>Microsoft Office PowerPoint</Application>
  <PresentationFormat>Широкоэкранный</PresentationFormat>
  <Paragraphs>744</Paragraphs>
  <Slides>80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80</vt:i4>
      </vt:variant>
    </vt:vector>
  </HeadingPairs>
  <TitlesOfParts>
    <vt:vector size="85" baseType="lpstr">
      <vt:lpstr>Franklin Gothic Book</vt:lpstr>
      <vt:lpstr>Google Sans</vt:lpstr>
      <vt:lpstr>Menlo</vt:lpstr>
      <vt:lpstr>YS Text</vt:lpstr>
      <vt:lpstr>Уголки</vt:lpstr>
      <vt:lpstr>Продвинутый Python</vt:lpstr>
      <vt:lpstr>Пользовательские модули </vt:lpstr>
      <vt:lpstr>Пользовательские модули и пакеты</vt:lpstr>
      <vt:lpstr>Первый пользовательский пакет </vt:lpstr>
      <vt:lpstr>Конструкция if __name__ == '__main__'</vt:lpstr>
      <vt:lpstr>Презентация PowerPoint</vt:lpstr>
      <vt:lpstr>Итог: пользовательские модули </vt:lpstr>
      <vt:lpstr>Интроспекция</vt:lpstr>
      <vt:lpstr>Коротко об интроспекции </vt:lpstr>
      <vt:lpstr>Как узнать тип объекта </vt:lpstr>
      <vt:lpstr>Функция dir()</vt:lpstr>
      <vt:lpstr>Словарь __dict__ </vt:lpstr>
      <vt:lpstr>Функция inspect.getsource(object)</vt:lpstr>
      <vt:lpstr>Документирование кода</vt:lpstr>
      <vt:lpstr>Докстринги </vt:lpstr>
      <vt:lpstr>Что и как можно документировать</vt:lpstr>
      <vt:lpstr>Основные правила оформления докстрингов </vt:lpstr>
      <vt:lpstr>Презентация PowerPoint</vt:lpstr>
      <vt:lpstr>Главное преимущество докстрингов </vt:lpstr>
      <vt:lpstr>Исключения</vt:lpstr>
      <vt:lpstr>Что такое исключения в Python </vt:lpstr>
      <vt:lpstr>Встроенные в Python исключения</vt:lpstr>
      <vt:lpstr>Как описать собственное исключение </vt:lpstr>
      <vt:lpstr>«Укрощение» исключений в Python </vt:lpstr>
      <vt:lpstr>Презентация PowerPoint</vt:lpstr>
      <vt:lpstr>Презентация PowerPoint</vt:lpstr>
      <vt:lpstr>Упрощаем работу </vt:lpstr>
      <vt:lpstr>Работа с файлами</vt:lpstr>
      <vt:lpstr>Работа с файлами: база</vt:lpstr>
      <vt:lpstr>Презентация PowerPoint</vt:lpstr>
      <vt:lpstr>Презентация PowerPoint</vt:lpstr>
      <vt:lpstr>Как прочитать данные из файла</vt:lpstr>
      <vt:lpstr>Контекстные менеджеры </vt:lpstr>
      <vt:lpstr>Встроенные контекстные менеджеры</vt:lpstr>
      <vt:lpstr>Новый интерфейс для проекта Библиотека pygame</vt:lpstr>
      <vt:lpstr>Установка Pygame</vt:lpstr>
      <vt:lpstr>Графический интерфейс с Pygame: основы </vt:lpstr>
      <vt:lpstr>Презентация PowerPoint</vt:lpstr>
      <vt:lpstr>Пространство имён и  области видимости</vt:lpstr>
      <vt:lpstr>Пространство имён</vt:lpstr>
      <vt:lpstr>Встроенное пространство имён</vt:lpstr>
      <vt:lpstr>Глобальное пространство имён</vt:lpstr>
      <vt:lpstr>Локальное пространство имён </vt:lpstr>
      <vt:lpstr>Презентация PowerPoint</vt:lpstr>
      <vt:lpstr>Области видимости переменной </vt:lpstr>
      <vt:lpstr>Локальная область видимости </vt:lpstr>
      <vt:lpstr>Внешняя (охватывающая) область видимости</vt:lpstr>
      <vt:lpstr>Глобальная область видимости</vt:lpstr>
      <vt:lpstr>Встроенная область видимости</vt:lpstr>
      <vt:lpstr>Инструкция global </vt:lpstr>
      <vt:lpstr>Презентация PowerPoint</vt:lpstr>
      <vt:lpstr>Инструкция nonlocal </vt:lpstr>
      <vt:lpstr>Презентация PowerPoint</vt:lpstr>
      <vt:lpstr>Словари пространств имён Python </vt:lpstr>
      <vt:lpstr>Итераторы и генераторы</vt:lpstr>
      <vt:lpstr>Итерация, итерируемый объект и итератор </vt:lpstr>
      <vt:lpstr>Что такое генератор</vt:lpstr>
      <vt:lpstr>Презентация PowerPoint</vt:lpstr>
      <vt:lpstr>Что такое генераторное выражение </vt:lpstr>
      <vt:lpstr>В чём разница между итератором и генератором</vt:lpstr>
      <vt:lpstr>Что в итоге</vt:lpstr>
      <vt:lpstr>lambda-функции</vt:lpstr>
      <vt:lpstr>Передаём функцию как аргумент другой функции</vt:lpstr>
      <vt:lpstr>Лямбда-функции </vt:lpstr>
      <vt:lpstr>Презентация PowerPoint</vt:lpstr>
      <vt:lpstr>Когда и где применять лямбда-функции</vt:lpstr>
      <vt:lpstr>декораторы</vt:lpstr>
      <vt:lpstr>Декораторы для функций  </vt:lpstr>
      <vt:lpstr>Презентация PowerPoint</vt:lpstr>
      <vt:lpstr>Функции внутри других функций</vt:lpstr>
      <vt:lpstr>Декораторы и декокируемые функции </vt:lpstr>
      <vt:lpstr>Презентация PowerPoint</vt:lpstr>
      <vt:lpstr>Презентация PowerPoint</vt:lpstr>
      <vt:lpstr>Презентация PowerPoint</vt:lpstr>
      <vt:lpstr>Презентация PowerPoint</vt:lpstr>
      <vt:lpstr>Готовые декораторы </vt:lpstr>
      <vt:lpstr>Декораторы для методов класса </vt:lpstr>
      <vt:lpstr>Статические методы класса </vt:lpstr>
      <vt:lpstr>Свойства объекта </vt:lpstr>
      <vt:lpstr>123 </vt:lpstr>
    </vt:vector>
  </TitlesOfParts>
  <Company>LightKey.Store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Илья Екимов</dc:creator>
  <cp:lastModifiedBy>Илья Екимов</cp:lastModifiedBy>
  <cp:revision>15</cp:revision>
  <dcterms:created xsi:type="dcterms:W3CDTF">2025-09-14T15:44:18Z</dcterms:created>
  <dcterms:modified xsi:type="dcterms:W3CDTF">2026-04-10T12:19:04Z</dcterms:modified>
</cp:coreProperties>
</file>